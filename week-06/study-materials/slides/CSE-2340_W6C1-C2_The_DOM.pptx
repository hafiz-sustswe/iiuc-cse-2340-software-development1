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deck for both classes. Slides 2-16 are C1 (teaching), 17-24 are C2 (practice). This is the week the course turns: pages stop being documents and start being programs. Say that in the first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0-5 min | Run the recall fast. The point of the amber card is honesty: last class they copied two lines on trust. Paying that debt now buys attention. The bottom card matters just as much - set the expectation that nothing is clickable today, or half the room will try addEventListener and get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5-8 min | This distinction is the whole class. Demonstrate it: open Elements, edit a heading live, show the page change, then reload and show it revert. Students who miss this spend Week 6 believing their script edits the HTML file and panic when nothing persists. The analogy that works: the HTML file is the recipe, the DOM is the meal on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8-11 min | Draw the tree on the board alongside this slide rather than only pointing at it. The payoff comes on slide 11: appendChild needs a parent, and students who never saw the tree treat appendChild as 'put it on the page' and then cannot explain where it landed. Keep the family vocabulary - parent, child, sibling - because every error message and every tutorial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11-14 min | Lead with the good news: this is Week 3 CSS selectors, reused. That reframing visibly relaxes a room. Then spend the time on null. Demonstrate querySelector with a deliberately wrong id, log the result, show null, then show the TypeError that comes on the next line. The habit to teach: when you see 'Cannot set properties of null', the bug is the selector above, not the line the Console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14-15 min | Short slide, one idea. The silent failure is what matters: assigning to a NodeList property throws nothing, changes nothing, and wastes ten minutes. Demonstrate it live, then fix it with a loop in the same breath. Mention Array.from only once; they need it in Week 7, not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15-18 min | Show both symptoms on the projector, one after the other. Tags appearing literally is the single most reported problem of this week and it is recognisable in two seconds once seen. On the security point, keep it to one sentence at this level: never put typed-in text into innerHTML. They do not need the term XSS today, but they do need the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18-21 min | The value trap comes back hard in Week 7 with forms, so plant it now even though there are no events today. dataset looks like a detail but it is the standard way to connect a DOM element to the data object it came from, and it will carry them through Mini Project 3. Show it once on the live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21-24 min | The rule to repeat: the stylesheet decides how it looks, JavaScript decides who gets the class. Students who learn .style first write unmaintainable code for the rest of the course and cannot use their Tailwind classes. The box.class bug is planted in the C2 starter, so plant the knowledge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24-27 min | Three steps, and they must say all three out loud: create, fill, append. Deliberately run the code without appendChild first, let the silence land, then add the line. That ten seconds of nothing-happening teaches more than the slide does. The string-to-appendChild error is planted in the C2 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27-30 min | This is the slide to photograph. It joins Week 5 C3 to Week 6 and it is the shape of Mini Project 3, Mini Project 4 and every React list later. Type it live, line by line, naming each of the three steps as you go. Do not rush it to reach the student build; if you must cut, cut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30-32 min | Do not present this as a style preference. Give them the default - createElement - and the condition for breaking it. Students who default to innerHTML string building hit the user-input problem in Mini Project 4 and have to relearn this. If you are behind on time, this is the slide to cut; it is covered in the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32-34 min | Show the finished board, then show the HTML file - an almost empty container. That contrast is the point of the whole class. Then open board.js and start from zero with them. Say that the CSS already contains .card and .top, so their job is only to decide who gets which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34-43 min | Nine minutes, four steps, roughly two each. Walk the room after step 2 specifically: that is where the page is still blank and anxious students assume they broke something. Say out loud that a blank page after step 2 means they are on track. Step 3 is where classList and the condition meet, and it is the part they must write rather than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43-47 min | Only the first two of these produce a Console error. Say that explicitly and let it sit: four of the six are silent. That is the shift from last week and it sets up C2. The new tool is the Elements tab, where you can see whether the element exists and what classes it carries.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48-50 min | Ask the conceptual question to two students by name, not the room. 'The HTML is the instruction, the DOM is what the browser built' is the answer you want. Then remind them to bring board.html and board.js to C2, because Exercise 1 extends it rather than starting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If C1 and C2 are the same day, take the break here. Tell students to open the starter folder before the break so the first five minutes are not spent on file hunting.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0-5 min | Post the timings. Exercise 3 is the one that matters most - it is the first time they write the data-to-DOM loop with no template on screen. Protect its twelve minutes by keeping Exercise 1 tight. Remind them again that nothing is clickable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5-23 min | The hardcoded count is the teaching moment in Exercise 1: it displays correctly, so students call it done, and then it is wrong the moment the array changes. Make them add a fifth student and watch it lie. Exercise 2's double toggle is deliberate; students who cannot explain why the class came back have not understood toggle.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23-35 min | Twelve minutes and the most valuable block of the hour. Insist that board.js is closed; copying it teaches nothing. Nesting is the new difficulty: two levels of appendChild. Students who append the h3 to #library instead of to the article get a flat list, which looks almost right and is worth catching on the projector.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35-46 min | Teach the Elements tab properly here; it is the real content of this exercise. Bug 3 is the one worth stopping on: querySelector(".book") returns null only because the earlier line used article.class instead of classList.add, so no element ever got the class. The error names the dataset line, twenty lines from the actual defect. That is the habit to leave them with - the error tells you where it hurt, not where it broke. One bug at a time, reload between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46-50 min | Mark Part 1 by circulating, not collecting. The renderBooks task is deliberate scaffolding: C3 adds an event listener that calls it, so students who do the home task start C3 one line from working. Say that out loud, it raises completion noticeably.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48-50 min | Close on the forward link. The sentence at the bottom is the one to say: today the script acted on the page, in C3 the person acts on the page. Remind them Mini Project 3 in Week 8 is a DOM application, so this week and next are its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39A18"/>
          </a:solidFill>
          <a:ln/>
        </p:spPr>
      </p:sp>
      <p:sp>
        <p:nvSpPr>
          <p:cNvPr id="3" name="Text 1"/>
          <p:cNvSpPr/>
          <p:nvPr/>
        </p:nvSpPr>
        <p:spPr>
          <a:xfrm>
            <a:off x="822960" y="1371600"/>
            <a:ext cx="10058400" cy="365760"/>
          </a:xfrm>
          <a:prstGeom prst="rect">
            <a:avLst/>
          </a:prstGeom>
          <a:noFill/>
          <a:ln/>
        </p:spPr>
        <p:txBody>
          <a:bodyPr wrap="square" rtlCol="0" anchor="ctr"/>
          <a:lstStyle/>
          <a:p>
            <a:pPr indent="0" marL="0">
              <a:buNone/>
            </a:pPr>
            <a:r>
              <a:rPr lang="en-US" sz="1500" b="1" spc="200" kern="0" dirty="0">
                <a:solidFill>
                  <a:srgbClr val="E39A18"/>
                </a:solidFill>
                <a:latin typeface="Arial" pitchFamily="34" charset="0"/>
                <a:ea typeface="Arial" pitchFamily="34" charset="-122"/>
                <a:cs typeface="Arial" pitchFamily="34" charset="-120"/>
              </a:rPr>
              <a:t>CSE-2340 · SOFTWARE DEVELOPMENT 1</a:t>
            </a:r>
            <a:endParaRPr lang="en-US" sz="1500" dirty="0"/>
          </a:p>
        </p:txBody>
      </p:sp>
      <p:sp>
        <p:nvSpPr>
          <p:cNvPr id="4" name="Text 2"/>
          <p:cNvSpPr/>
          <p:nvPr/>
        </p:nvSpPr>
        <p:spPr>
          <a:xfrm>
            <a:off x="822960" y="1783080"/>
            <a:ext cx="10058400" cy="365760"/>
          </a:xfrm>
          <a:prstGeom prst="rect">
            <a:avLst/>
          </a:prstGeom>
          <a:noFill/>
          <a:ln/>
        </p:spPr>
        <p:txBody>
          <a:bodyPr wrap="square" rtlCol="0" anchor="ctr"/>
          <a:lstStyle/>
          <a:p>
            <a:pPr indent="0" marL="0">
              <a:buNone/>
            </a:pPr>
            <a:r>
              <a:rPr lang="en-US" sz="1400" dirty="0">
                <a:solidFill>
                  <a:srgbClr val="AFC4D8"/>
                </a:solidFill>
                <a:latin typeface="Arial" pitchFamily="34" charset="0"/>
                <a:ea typeface="Arial" pitchFamily="34" charset="-122"/>
                <a:cs typeface="Arial" pitchFamily="34" charset="-120"/>
              </a:rPr>
              <a:t>Week 6 · Classes 1 and 2</a:t>
            </a:r>
            <a:endParaRPr lang="en-US" sz="1400" dirty="0"/>
          </a:p>
        </p:txBody>
      </p:sp>
      <p:sp>
        <p:nvSpPr>
          <p:cNvPr id="5" name="Text 3"/>
          <p:cNvSpPr/>
          <p:nvPr/>
        </p:nvSpPr>
        <p:spPr>
          <a:xfrm>
            <a:off x="822960" y="2286000"/>
            <a:ext cx="10332720" cy="1371600"/>
          </a:xfrm>
          <a:prstGeom prst="rect">
            <a:avLst/>
          </a:prstGeom>
          <a:noFill/>
          <a:ln/>
        </p:spPr>
        <p:txBody>
          <a:bodyPr wrap="square" rtlCol="0" anchor="t"/>
          <a:lstStyle/>
          <a:p>
            <a:pPr indent="0" marL="0">
              <a:buNone/>
            </a:pPr>
            <a:r>
              <a:rPr lang="en-US" sz="4000" b="1" dirty="0">
                <a:solidFill>
                  <a:srgbClr val="FFFFFF"/>
                </a:solidFill>
                <a:latin typeface="Arial" pitchFamily="34" charset="0"/>
                <a:ea typeface="Arial" pitchFamily="34" charset="-122"/>
                <a:cs typeface="Arial" pitchFamily="34" charset="-120"/>
              </a:rPr>
              <a:t>The DOM</a:t>
            </a:r>
            <a:endParaRPr lang="en-US" sz="4000" dirty="0"/>
          </a:p>
        </p:txBody>
      </p:sp>
      <p:sp>
        <p:nvSpPr>
          <p:cNvPr id="6" name="Text 4"/>
          <p:cNvSpPr/>
          <p:nvPr/>
        </p:nvSpPr>
        <p:spPr>
          <a:xfrm>
            <a:off x="822960" y="3749040"/>
            <a:ext cx="10058400" cy="457200"/>
          </a:xfrm>
          <a:prstGeom prst="rect">
            <a:avLst/>
          </a:prstGeom>
          <a:noFill/>
          <a:ln/>
        </p:spPr>
        <p:txBody>
          <a:bodyPr wrap="square" rtlCol="0" anchor="ctr"/>
          <a:lstStyle/>
          <a:p>
            <a:pPr indent="0" marL="0">
              <a:buNone/>
            </a:pPr>
            <a:r>
              <a:rPr lang="en-US" sz="1600" dirty="0">
                <a:solidFill>
                  <a:srgbClr val="C8D8E8"/>
                </a:solidFill>
                <a:latin typeface="Arial" pitchFamily="34" charset="0"/>
                <a:ea typeface="Arial" pitchFamily="34" charset="-122"/>
                <a:cs typeface="Arial" pitchFamily="34" charset="-120"/>
              </a:rPr>
              <a:t>Selectors, content, attributes, classList, createElement and appendChild</a:t>
            </a:r>
            <a:endParaRPr lang="en-US" sz="1600" dirty="0"/>
          </a:p>
        </p:txBody>
      </p:sp>
      <p:sp>
        <p:nvSpPr>
          <p:cNvPr id="7" name="Shape 5"/>
          <p:cNvSpPr/>
          <p:nvPr/>
        </p:nvSpPr>
        <p:spPr>
          <a:xfrm>
            <a:off x="822960" y="4526280"/>
            <a:ext cx="2926080" cy="0"/>
          </a:xfrm>
          <a:prstGeom prst="line">
            <a:avLst/>
          </a:prstGeom>
          <a:noFill/>
          <a:ln w="25400">
            <a:solidFill>
              <a:srgbClr val="E39A18"/>
            </a:solidFill>
            <a:prstDash val="solid"/>
          </a:ln>
        </p:spPr>
      </p:sp>
      <p:sp>
        <p:nvSpPr>
          <p:cNvPr id="8" name="Text 6"/>
          <p:cNvSpPr/>
          <p:nvPr/>
        </p:nvSpPr>
        <p:spPr>
          <a:xfrm>
            <a:off x="822960" y="4754880"/>
            <a:ext cx="73152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Md Sadman Hafiz</a:t>
            </a:r>
            <a:endParaRPr lang="en-US" sz="1600" dirty="0"/>
          </a:p>
        </p:txBody>
      </p:sp>
      <p:sp>
        <p:nvSpPr>
          <p:cNvPr id="9" name="Text 7"/>
          <p:cNvSpPr/>
          <p:nvPr/>
        </p:nvSpPr>
        <p:spPr>
          <a:xfrm>
            <a:off x="822960" y="5102352"/>
            <a:ext cx="7315200" cy="320040"/>
          </a:xfrm>
          <a:prstGeom prst="rect">
            <a:avLst/>
          </a:prstGeom>
          <a:noFill/>
          <a:ln/>
        </p:spPr>
        <p:txBody>
          <a:bodyPr wrap="square" rtlCol="0" anchor="ctr"/>
          <a:lstStyle/>
          <a:p>
            <a:pPr indent="0" marL="0">
              <a:buNone/>
            </a:pPr>
            <a:r>
              <a:rPr lang="en-US" sz="1300" dirty="0">
                <a:solidFill>
                  <a:srgbClr val="AFC4D8"/>
                </a:solidFill>
                <a:latin typeface="Arial" pitchFamily="34" charset="0"/>
                <a:ea typeface="Arial" pitchFamily="34" charset="-122"/>
                <a:cs typeface="Arial" pitchFamily="34" charset="-120"/>
              </a:rPr>
              <a:t>Lecturer, Dept. of CSE, IIUC</a:t>
            </a:r>
            <a:endParaRPr lang="en-US" sz="1300" dirty="0"/>
          </a:p>
        </p:txBody>
      </p:sp>
      <p:sp>
        <p:nvSpPr>
          <p:cNvPr id="10" name="Text 8"/>
          <p:cNvSpPr/>
          <p:nvPr/>
        </p:nvSpPr>
        <p:spPr>
          <a:xfrm>
            <a:off x="822960" y="5440680"/>
            <a:ext cx="7315200" cy="320040"/>
          </a:xfrm>
          <a:prstGeom prst="rect">
            <a:avLst/>
          </a:prstGeom>
          <a:noFill/>
          <a:ln/>
        </p:spPr>
        <p:txBody>
          <a:bodyPr wrap="square" rtlCol="0" anchor="ctr"/>
          <a:lstStyle/>
          <a:p>
            <a:pPr indent="0" marL="0">
              <a:buNone/>
            </a:pPr>
            <a:r>
              <a:rPr lang="en-US" sz="1200" dirty="0">
                <a:solidFill>
                  <a:srgbClr val="8FA6BC"/>
                </a:solidFill>
                <a:latin typeface="Arial" pitchFamily="34" charset="0"/>
                <a:ea typeface="Arial" pitchFamily="34" charset="-122"/>
                <a:cs typeface="Arial" pitchFamily="34" charset="-120"/>
              </a:rPr>
              <a:t>Autumn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0-5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Recall and today's outcome</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a:t>
            </a:r>
            <a:endParaRPr lang="en-US" sz="950" dirty="0"/>
          </a:p>
        </p:txBody>
      </p:sp>
      <p:sp>
        <p:nvSpPr>
          <p:cNvPr id="7" name="Shape 5"/>
          <p:cNvSpPr/>
          <p:nvPr/>
        </p:nvSpPr>
        <p:spPr>
          <a:xfrm>
            <a:off x="548640" y="1234440"/>
            <a:ext cx="5486400" cy="2240280"/>
          </a:xfrm>
          <a:prstGeom prst="rect">
            <a:avLst>
              <a:gd name="adj" fmla="val 2449"/>
            </a:avLst>
          </a:prstGeom>
          <a:solidFill>
            <a:srgbClr val="F2F5F8"/>
          </a:solidFill>
          <a:ln w="12700">
            <a:solidFill>
              <a:srgbClr val="D6DEE6"/>
            </a:solidFill>
            <a:prstDash val="solid"/>
          </a:ln>
        </p:spPr>
      </p:sp>
      <p:sp>
        <p:nvSpPr>
          <p:cNvPr id="8" name="Shape 6"/>
          <p:cNvSpPr/>
          <p:nvPr/>
        </p:nvSpPr>
        <p:spPr>
          <a:xfrm>
            <a:off x="713232" y="1399032"/>
            <a:ext cx="777240" cy="256032"/>
          </a:xfrm>
          <a:prstGeom prst="rect">
            <a:avLst>
              <a:gd name="adj" fmla="val 17857"/>
            </a:avLst>
          </a:prstGeom>
          <a:solidFill>
            <a:srgbClr val="003366"/>
          </a:solidFill>
          <a:ln/>
        </p:spPr>
      </p:sp>
      <p:sp>
        <p:nvSpPr>
          <p:cNvPr id="9" name="Text 7"/>
          <p:cNvSpPr/>
          <p:nvPr/>
        </p:nvSpPr>
        <p:spPr>
          <a:xfrm>
            <a:off x="713232" y="1399032"/>
            <a:ext cx="77724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RECALL</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From Class 3</a:t>
            </a:r>
            <a:endParaRPr lang="en-US" sz="1500" dirty="0"/>
          </a:p>
        </p:txBody>
      </p:sp>
      <p:sp>
        <p:nvSpPr>
          <p:cNvPr id="11" name="Text 9"/>
          <p:cNvSpPr/>
          <p:nvPr/>
        </p:nvSpPr>
        <p:spPr>
          <a:xfrm>
            <a:off x="713232" y="2112264"/>
            <a:ext cx="5157216" cy="12527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What do map, filter and find each do?</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What is the last index of an array of 4 items?</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Why did your function return undefined?</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What shape was the students data?</a:t>
            </a:r>
            <a:endParaRPr lang="en-US" sz="1250" dirty="0"/>
          </a:p>
        </p:txBody>
      </p:sp>
      <p:sp>
        <p:nvSpPr>
          <p:cNvPr id="12" name="Shape 10"/>
          <p:cNvSpPr/>
          <p:nvPr/>
        </p:nvSpPr>
        <p:spPr>
          <a:xfrm>
            <a:off x="6355080" y="1234440"/>
            <a:ext cx="5285232" cy="2240280"/>
          </a:xfrm>
          <a:prstGeom prst="rect">
            <a:avLst>
              <a:gd name="adj" fmla="val 2449"/>
            </a:avLst>
          </a:prstGeom>
          <a:solidFill>
            <a:srgbClr val="E7F4EE"/>
          </a:solidFill>
          <a:ln w="12700">
            <a:solidFill>
              <a:srgbClr val="1F7A55"/>
            </a:solidFill>
            <a:prstDash val="solid"/>
          </a:ln>
        </p:spPr>
      </p:sp>
      <p:sp>
        <p:nvSpPr>
          <p:cNvPr id="13" name="Shape 11"/>
          <p:cNvSpPr/>
          <p:nvPr/>
        </p:nvSpPr>
        <p:spPr>
          <a:xfrm>
            <a:off x="6519672" y="1399032"/>
            <a:ext cx="854964" cy="256032"/>
          </a:xfrm>
          <a:prstGeom prst="rect">
            <a:avLst>
              <a:gd name="adj" fmla="val 17857"/>
            </a:avLst>
          </a:prstGeom>
          <a:solidFill>
            <a:srgbClr val="1F7A55"/>
          </a:solidFill>
          <a:ln/>
        </p:spPr>
      </p:sp>
      <p:sp>
        <p:nvSpPr>
          <p:cNvPr id="14" name="Text 12"/>
          <p:cNvSpPr/>
          <p:nvPr/>
        </p:nvSpPr>
        <p:spPr>
          <a:xfrm>
            <a:off x="6519672" y="1399032"/>
            <a:ext cx="854964"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OUTCOME</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By 50 minutes you can</a:t>
            </a:r>
            <a:endParaRPr lang="en-US" sz="1500" dirty="0"/>
          </a:p>
        </p:txBody>
      </p:sp>
      <p:sp>
        <p:nvSpPr>
          <p:cNvPr id="16" name="Text 14"/>
          <p:cNvSpPr/>
          <p:nvPr/>
        </p:nvSpPr>
        <p:spPr>
          <a:xfrm>
            <a:off x="6519672" y="2112264"/>
            <a:ext cx="4956048" cy="12527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Find any element on a page with a CSS selector</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Read and change text, attributes and classes</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Build new elements in JavaScript and add them</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Turn an array of objects into a page</a:t>
            </a:r>
            <a:endParaRPr lang="en-US" sz="1250" dirty="0"/>
          </a:p>
        </p:txBody>
      </p:sp>
      <p:sp>
        <p:nvSpPr>
          <p:cNvPr id="17" name="Shape 15"/>
          <p:cNvSpPr/>
          <p:nvPr/>
        </p:nvSpPr>
        <p:spPr>
          <a:xfrm>
            <a:off x="548640" y="3657600"/>
            <a:ext cx="11064240" cy="1371600"/>
          </a:xfrm>
          <a:prstGeom prst="rect">
            <a:avLst>
              <a:gd name="adj" fmla="val 4000"/>
            </a:avLst>
          </a:prstGeom>
          <a:solidFill>
            <a:srgbClr val="FDF3E1"/>
          </a:solidFill>
          <a:ln w="12700">
            <a:solidFill>
              <a:srgbClr val="E39A18"/>
            </a:solidFill>
            <a:prstDash val="solid"/>
          </a:ln>
        </p:spPr>
      </p:sp>
      <p:sp>
        <p:nvSpPr>
          <p:cNvPr id="18" name="Text 16"/>
          <p:cNvSpPr/>
          <p:nvPr/>
        </p:nvSpPr>
        <p:spPr>
          <a:xfrm>
            <a:off x="713232" y="3822192"/>
            <a:ext cx="1073505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The two lines from last class get explained today</a:t>
            </a:r>
            <a:endParaRPr lang="en-US" sz="1500" dirty="0"/>
          </a:p>
        </p:txBody>
      </p:sp>
      <p:sp>
        <p:nvSpPr>
          <p:cNvPr id="19" name="Text 17"/>
          <p:cNvSpPr/>
          <p:nvPr/>
        </p:nvSpPr>
        <p:spPr>
          <a:xfrm>
            <a:off x="713232" y="4169664"/>
            <a:ext cx="10735056" cy="74980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document.querySelector("#results-body").innerHTML = rows;</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You wrote them, they worked, and nobody told you why. That ends now.</a:t>
            </a:r>
            <a:endParaRPr lang="en-US" sz="1250" dirty="0"/>
          </a:p>
        </p:txBody>
      </p:sp>
      <p:sp>
        <p:nvSpPr>
          <p:cNvPr id="20" name="Shape 18"/>
          <p:cNvSpPr/>
          <p:nvPr/>
        </p:nvSpPr>
        <p:spPr>
          <a:xfrm>
            <a:off x="548640" y="5212080"/>
            <a:ext cx="11064240" cy="914400"/>
          </a:xfrm>
          <a:prstGeom prst="rect">
            <a:avLst>
              <a:gd name="adj" fmla="val 6000"/>
            </a:avLst>
          </a:prstGeom>
          <a:solidFill>
            <a:srgbClr val="F2F5F8"/>
          </a:solidFill>
          <a:ln w="12700">
            <a:solidFill>
              <a:srgbClr val="D6DEE6"/>
            </a:solidFill>
            <a:prstDash val="solid"/>
          </a:ln>
        </p:spPr>
      </p:sp>
      <p:sp>
        <p:nvSpPr>
          <p:cNvPr id="21" name="Text 19"/>
          <p:cNvSpPr/>
          <p:nvPr/>
        </p:nvSpPr>
        <p:spPr>
          <a:xfrm>
            <a:off x="713232" y="5376672"/>
            <a:ext cx="10735056" cy="640080"/>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Not today: making things happen when the user clicks. That is Class 3. Today the script runs once, when the page loads.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5-15 MIN · CONCEPT</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The DOM is not your HTML file</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2</a:t>
            </a:r>
            <a:endParaRPr lang="en-US" sz="950" dirty="0"/>
          </a:p>
        </p:txBody>
      </p:sp>
      <p:sp>
        <p:nvSpPr>
          <p:cNvPr id="7" name="Shape 5"/>
          <p:cNvSpPr/>
          <p:nvPr/>
        </p:nvSpPr>
        <p:spPr>
          <a:xfrm>
            <a:off x="548640" y="1234440"/>
            <a:ext cx="3520440" cy="1828800"/>
          </a:xfrm>
          <a:prstGeom prst="rect">
            <a:avLst>
              <a:gd name="adj" fmla="val 3000"/>
            </a:avLst>
          </a:prstGeom>
          <a:solidFill>
            <a:srgbClr val="F2F5F8"/>
          </a:solidFill>
          <a:ln w="12700">
            <a:solidFill>
              <a:srgbClr val="D6DEE6"/>
            </a:solidFill>
            <a:prstDash val="solid"/>
          </a:ln>
        </p:spPr>
      </p:sp>
      <p:sp>
        <p:nvSpPr>
          <p:cNvPr id="8" name="Shape 6"/>
          <p:cNvSpPr/>
          <p:nvPr/>
        </p:nvSpPr>
        <p:spPr>
          <a:xfrm>
            <a:off x="713232" y="1399032"/>
            <a:ext cx="388620" cy="256032"/>
          </a:xfrm>
          <a:prstGeom prst="rect">
            <a:avLst>
              <a:gd name="adj" fmla="val 17857"/>
            </a:avLst>
          </a:prstGeom>
          <a:solidFill>
            <a:srgbClr val="003366"/>
          </a:solidFill>
          <a:ln/>
        </p:spPr>
      </p:sp>
      <p:sp>
        <p:nvSpPr>
          <p:cNvPr id="9" name="Text 7"/>
          <p:cNvSpPr/>
          <p:nvPr/>
        </p:nvSpPr>
        <p:spPr>
          <a:xfrm>
            <a:off x="713232" y="1399032"/>
            <a:ext cx="38862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a:t>
            </a:r>
            <a:endParaRPr lang="en-US" sz="950" dirty="0"/>
          </a:p>
        </p:txBody>
      </p:sp>
      <p:sp>
        <p:nvSpPr>
          <p:cNvPr id="10" name="Text 8"/>
          <p:cNvSpPr/>
          <p:nvPr/>
        </p:nvSpPr>
        <p:spPr>
          <a:xfrm>
            <a:off x="713232" y="1764792"/>
            <a:ext cx="319125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You write</a:t>
            </a:r>
            <a:endParaRPr lang="en-US" sz="1500" dirty="0"/>
          </a:p>
        </p:txBody>
      </p:sp>
      <p:sp>
        <p:nvSpPr>
          <p:cNvPr id="11" name="Text 9"/>
          <p:cNvSpPr/>
          <p:nvPr/>
        </p:nvSpPr>
        <p:spPr>
          <a:xfrm>
            <a:off x="713232" y="2112264"/>
            <a:ext cx="3191256" cy="8412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index.html, a text file sitting on disk</a:t>
            </a:r>
            <a:endParaRPr lang="en-US" sz="1250" dirty="0"/>
          </a:p>
        </p:txBody>
      </p:sp>
      <p:sp>
        <p:nvSpPr>
          <p:cNvPr id="12" name="Shape 10"/>
          <p:cNvSpPr/>
          <p:nvPr/>
        </p:nvSpPr>
        <p:spPr>
          <a:xfrm>
            <a:off x="4297680" y="1234440"/>
            <a:ext cx="3520440" cy="1828800"/>
          </a:xfrm>
          <a:prstGeom prst="rect">
            <a:avLst>
              <a:gd name="adj" fmla="val 3000"/>
            </a:avLst>
          </a:prstGeom>
          <a:solidFill>
            <a:srgbClr val="E8EEF4"/>
          </a:solidFill>
          <a:ln w="12700">
            <a:solidFill>
              <a:srgbClr val="D6DEE6"/>
            </a:solidFill>
            <a:prstDash val="solid"/>
          </a:ln>
        </p:spPr>
      </p:sp>
      <p:sp>
        <p:nvSpPr>
          <p:cNvPr id="13" name="Shape 11"/>
          <p:cNvSpPr/>
          <p:nvPr/>
        </p:nvSpPr>
        <p:spPr>
          <a:xfrm>
            <a:off x="4462272" y="1399032"/>
            <a:ext cx="388620" cy="256032"/>
          </a:xfrm>
          <a:prstGeom prst="rect">
            <a:avLst>
              <a:gd name="adj" fmla="val 17857"/>
            </a:avLst>
          </a:prstGeom>
          <a:solidFill>
            <a:srgbClr val="003366"/>
          </a:solidFill>
          <a:ln/>
        </p:spPr>
      </p:sp>
      <p:sp>
        <p:nvSpPr>
          <p:cNvPr id="14" name="Text 12"/>
          <p:cNvSpPr/>
          <p:nvPr/>
        </p:nvSpPr>
        <p:spPr>
          <a:xfrm>
            <a:off x="4462272" y="1399032"/>
            <a:ext cx="38862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2</a:t>
            </a:r>
            <a:endParaRPr lang="en-US" sz="950" dirty="0"/>
          </a:p>
        </p:txBody>
      </p:sp>
      <p:sp>
        <p:nvSpPr>
          <p:cNvPr id="15" name="Text 13"/>
          <p:cNvSpPr/>
          <p:nvPr/>
        </p:nvSpPr>
        <p:spPr>
          <a:xfrm>
            <a:off x="4462272" y="1764792"/>
            <a:ext cx="319125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The browser reads it</a:t>
            </a:r>
            <a:endParaRPr lang="en-US" sz="1500" dirty="0"/>
          </a:p>
        </p:txBody>
      </p:sp>
      <p:sp>
        <p:nvSpPr>
          <p:cNvPr id="16" name="Text 14"/>
          <p:cNvSpPr/>
          <p:nvPr/>
        </p:nvSpPr>
        <p:spPr>
          <a:xfrm>
            <a:off x="4462272" y="2112264"/>
            <a:ext cx="3191256" cy="8412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and builds a live tree of objects in memory</a:t>
            </a:r>
            <a:endParaRPr lang="en-US" sz="1250" dirty="0"/>
          </a:p>
        </p:txBody>
      </p:sp>
      <p:sp>
        <p:nvSpPr>
          <p:cNvPr id="17" name="Shape 15"/>
          <p:cNvSpPr/>
          <p:nvPr/>
        </p:nvSpPr>
        <p:spPr>
          <a:xfrm>
            <a:off x="8046720" y="1234440"/>
            <a:ext cx="3566160" cy="1828800"/>
          </a:xfrm>
          <a:prstGeom prst="rect">
            <a:avLst>
              <a:gd name="adj" fmla="val 3000"/>
            </a:avLst>
          </a:prstGeom>
          <a:solidFill>
            <a:srgbClr val="E7F4EE"/>
          </a:solidFill>
          <a:ln w="12700">
            <a:solidFill>
              <a:srgbClr val="1F7A55"/>
            </a:solidFill>
            <a:prstDash val="solid"/>
          </a:ln>
        </p:spPr>
      </p:sp>
      <p:sp>
        <p:nvSpPr>
          <p:cNvPr id="18" name="Shape 16"/>
          <p:cNvSpPr/>
          <p:nvPr/>
        </p:nvSpPr>
        <p:spPr>
          <a:xfrm>
            <a:off x="8211312" y="1399032"/>
            <a:ext cx="388620" cy="256032"/>
          </a:xfrm>
          <a:prstGeom prst="rect">
            <a:avLst>
              <a:gd name="adj" fmla="val 17857"/>
            </a:avLst>
          </a:prstGeom>
          <a:solidFill>
            <a:srgbClr val="1F7A55"/>
          </a:solidFill>
          <a:ln/>
        </p:spPr>
      </p:sp>
      <p:sp>
        <p:nvSpPr>
          <p:cNvPr id="19" name="Text 17"/>
          <p:cNvSpPr/>
          <p:nvPr/>
        </p:nvSpPr>
        <p:spPr>
          <a:xfrm>
            <a:off x="8211312" y="1399032"/>
            <a:ext cx="38862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3</a:t>
            </a:r>
            <a:endParaRPr lang="en-US" sz="950" dirty="0"/>
          </a:p>
        </p:txBody>
      </p:sp>
      <p:sp>
        <p:nvSpPr>
          <p:cNvPr id="20" name="Text 18"/>
          <p:cNvSpPr/>
          <p:nvPr/>
        </p:nvSpPr>
        <p:spPr>
          <a:xfrm>
            <a:off x="8211312" y="1764792"/>
            <a:ext cx="323697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That tree is the DOM</a:t>
            </a:r>
            <a:endParaRPr lang="en-US" sz="1500" dirty="0"/>
          </a:p>
        </p:txBody>
      </p:sp>
      <p:sp>
        <p:nvSpPr>
          <p:cNvPr id="21" name="Text 19"/>
          <p:cNvSpPr/>
          <p:nvPr/>
        </p:nvSpPr>
        <p:spPr>
          <a:xfrm>
            <a:off x="8211312" y="2112264"/>
            <a:ext cx="3236976" cy="8412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JavaScript changes the tree, and the page changes with it</a:t>
            </a:r>
            <a:endParaRPr lang="en-US" sz="1250" dirty="0"/>
          </a:p>
        </p:txBody>
      </p:sp>
      <p:sp>
        <p:nvSpPr>
          <p:cNvPr id="22" name="Shape 20"/>
          <p:cNvSpPr/>
          <p:nvPr/>
        </p:nvSpPr>
        <p:spPr>
          <a:xfrm>
            <a:off x="548640" y="3246120"/>
            <a:ext cx="5486400" cy="1600200"/>
          </a:xfrm>
          <a:prstGeom prst="rect">
            <a:avLst>
              <a:gd name="adj" fmla="val 3429"/>
            </a:avLst>
          </a:prstGeom>
          <a:solidFill>
            <a:srgbClr val="FDF3E1"/>
          </a:solidFill>
          <a:ln w="12700">
            <a:solidFill>
              <a:srgbClr val="E39A18"/>
            </a:solidFill>
            <a:prstDash val="solid"/>
          </a:ln>
        </p:spPr>
      </p:sp>
      <p:sp>
        <p:nvSpPr>
          <p:cNvPr id="23" name="Text 21"/>
          <p:cNvSpPr/>
          <p:nvPr/>
        </p:nvSpPr>
        <p:spPr>
          <a:xfrm>
            <a:off x="713232" y="3410712"/>
            <a:ext cx="515721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What this means in practice</a:t>
            </a:r>
            <a:endParaRPr lang="en-US" sz="1500" dirty="0"/>
          </a:p>
        </p:txBody>
      </p:sp>
      <p:sp>
        <p:nvSpPr>
          <p:cNvPr id="24" name="Text 22"/>
          <p:cNvSpPr/>
          <p:nvPr/>
        </p:nvSpPr>
        <p:spPr>
          <a:xfrm>
            <a:off x="713232" y="3758184"/>
            <a:ext cx="5157216" cy="97840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Your HTML file never changes</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Reload the page and everything resets</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The DOM only lives while the tab is open</a:t>
            </a:r>
            <a:endParaRPr lang="en-US" sz="1250" dirty="0"/>
          </a:p>
        </p:txBody>
      </p:sp>
      <p:sp>
        <p:nvSpPr>
          <p:cNvPr id="25" name="Shape 23"/>
          <p:cNvSpPr/>
          <p:nvPr/>
        </p:nvSpPr>
        <p:spPr>
          <a:xfrm>
            <a:off x="6355080" y="3246120"/>
            <a:ext cx="5285232" cy="1600200"/>
          </a:xfrm>
          <a:prstGeom prst="rect">
            <a:avLst>
              <a:gd name="adj" fmla="val 3429"/>
            </a:avLst>
          </a:prstGeom>
          <a:solidFill>
            <a:srgbClr val="F2F5F8"/>
          </a:solidFill>
          <a:ln w="12700">
            <a:solidFill>
              <a:srgbClr val="D6DEE6"/>
            </a:solidFill>
            <a:prstDash val="solid"/>
          </a:ln>
        </p:spPr>
      </p:sp>
      <p:sp>
        <p:nvSpPr>
          <p:cNvPr id="26" name="Text 24"/>
          <p:cNvSpPr/>
          <p:nvPr/>
        </p:nvSpPr>
        <p:spPr>
          <a:xfrm>
            <a:off x="6519672" y="3410712"/>
            <a:ext cx="495604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See it for yourself</a:t>
            </a:r>
            <a:endParaRPr lang="en-US" sz="1500" dirty="0"/>
          </a:p>
        </p:txBody>
      </p:sp>
      <p:sp>
        <p:nvSpPr>
          <p:cNvPr id="27" name="Text 25"/>
          <p:cNvSpPr/>
          <p:nvPr/>
        </p:nvSpPr>
        <p:spPr>
          <a:xfrm>
            <a:off x="6519672" y="3758184"/>
            <a:ext cx="4956048" cy="97840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F12, then the Elements tab</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That is the DOM, not your file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Right-click an element, Edit as HTML</a:t>
            </a:r>
            <a:endParaRPr lang="en-US" sz="1250" dirty="0"/>
          </a:p>
        </p:txBody>
      </p:sp>
      <p:sp>
        <p:nvSpPr>
          <p:cNvPr id="28" name="Shape 26"/>
          <p:cNvSpPr/>
          <p:nvPr/>
        </p:nvSpPr>
        <p:spPr>
          <a:xfrm>
            <a:off x="548640" y="5029200"/>
            <a:ext cx="11064240" cy="1097280"/>
          </a:xfrm>
          <a:prstGeom prst="rect">
            <a:avLst>
              <a:gd name="adj" fmla="val 5000"/>
            </a:avLst>
          </a:prstGeom>
          <a:solidFill>
            <a:srgbClr val="E7F4EE"/>
          </a:solidFill>
          <a:ln w="12700">
            <a:solidFill>
              <a:srgbClr val="1F7A55"/>
            </a:solidFill>
            <a:prstDash val="solid"/>
          </a:ln>
        </p:spPr>
      </p:sp>
      <p:sp>
        <p:nvSpPr>
          <p:cNvPr id="29" name="Text 27"/>
          <p:cNvSpPr/>
          <p:nvPr/>
        </p:nvSpPr>
        <p:spPr>
          <a:xfrm>
            <a:off x="713232" y="5193792"/>
            <a:ext cx="1073505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The one sentence</a:t>
            </a:r>
            <a:endParaRPr lang="en-US" sz="1500" dirty="0"/>
          </a:p>
        </p:txBody>
      </p:sp>
      <p:sp>
        <p:nvSpPr>
          <p:cNvPr id="30" name="Text 28"/>
          <p:cNvSpPr/>
          <p:nvPr/>
        </p:nvSpPr>
        <p:spPr>
          <a:xfrm>
            <a:off x="713232" y="5541264"/>
            <a:ext cx="10735056" cy="475488"/>
          </a:xfrm>
          <a:prstGeom prst="rect">
            <a:avLst/>
          </a:prstGeom>
          <a:noFill/>
          <a:ln/>
        </p:spPr>
        <p:txBody>
          <a:bodyPr wrap="square" rtlCol="0" anchor="t"/>
          <a:lstStyle/>
          <a:p>
            <a:pPr indent="0" marL="0">
              <a:lnSpc>
                <a:spcPct val="110000"/>
              </a:lnSpc>
              <a:spcAft>
                <a:spcPts val="432"/>
              </a:spcAft>
              <a:buNone/>
            </a:pPr>
            <a:r>
              <a:rPr lang="en-US" sz="1300" dirty="0">
                <a:solidFill>
                  <a:srgbClr val="3D4A57"/>
                </a:solidFill>
                <a:latin typeface="Arial" pitchFamily="34" charset="0"/>
                <a:ea typeface="Arial" pitchFamily="34" charset="-122"/>
                <a:cs typeface="Arial" pitchFamily="34" charset="-120"/>
              </a:rPr>
              <a:t>HTML is the instruction. The DOM is what the browser built from it. JavaScript edits what was built.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5-15 MIN · CONCEPT</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A page is a tree</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3</a:t>
            </a:r>
            <a:endParaRPr lang="en-US" sz="950" dirty="0"/>
          </a:p>
        </p:txBody>
      </p:sp>
      <p:sp>
        <p:nvSpPr>
          <p:cNvPr id="7" name="Shape 5"/>
          <p:cNvSpPr/>
          <p:nvPr/>
        </p:nvSpPr>
        <p:spPr>
          <a:xfrm>
            <a:off x="548640" y="1234440"/>
            <a:ext cx="5394960" cy="2330704"/>
          </a:xfrm>
          <a:prstGeom prst="rect">
            <a:avLst>
              <a:gd name="adj" fmla="val 1962"/>
            </a:avLst>
          </a:prstGeom>
          <a:solidFill>
            <a:srgbClr val="0D1B2A"/>
          </a:solidFill>
          <a:ln w="12700">
            <a:solidFill>
              <a:srgbClr val="0D1B2A"/>
            </a:solidFill>
            <a:prstDash val="solid"/>
          </a:ln>
        </p:spPr>
      </p:sp>
      <p:sp>
        <p:nvSpPr>
          <p:cNvPr id="8" name="Text 6"/>
          <p:cNvSpPr/>
          <p:nvPr/>
        </p:nvSpPr>
        <p:spPr>
          <a:xfrm>
            <a:off x="685800" y="1344168"/>
            <a:ext cx="5120640" cy="2111248"/>
          </a:xfrm>
          <a:prstGeom prst="rect">
            <a:avLst/>
          </a:prstGeom>
          <a:noFill/>
          <a:ln/>
        </p:spPr>
        <p:txBody>
          <a:bodyPr wrap="square" rtlCol="0" anchor="t"/>
          <a:lstStyle/>
          <a:p>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&lt;body</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&lt;header</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&lt;h1</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My Page</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&lt;/h1</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&lt;/header</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&lt;main</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&lt;ul</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 id=</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"list"</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&lt;li</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One</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&lt;/li</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&lt;li</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Two</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&lt;/li</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&lt;/ul</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&lt;/main</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&lt;/body</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p:txBody>
      </p:sp>
      <p:sp>
        <p:nvSpPr>
          <p:cNvPr id="9" name="Shape 7"/>
          <p:cNvSpPr/>
          <p:nvPr/>
        </p:nvSpPr>
        <p:spPr>
          <a:xfrm>
            <a:off x="8092440" y="1234440"/>
            <a:ext cx="1371600" cy="347472"/>
          </a:xfrm>
          <a:prstGeom prst="rect">
            <a:avLst>
              <a:gd name="adj" fmla="val 10526"/>
            </a:avLst>
          </a:prstGeom>
          <a:solidFill>
            <a:srgbClr val="003366"/>
          </a:solidFill>
          <a:ln w="12700">
            <a:solidFill>
              <a:srgbClr val="D6DEE6"/>
            </a:solidFill>
            <a:prstDash val="solid"/>
          </a:ln>
        </p:spPr>
      </p:sp>
      <p:sp>
        <p:nvSpPr>
          <p:cNvPr id="10" name="Text 8"/>
          <p:cNvSpPr/>
          <p:nvPr/>
        </p:nvSpPr>
        <p:spPr>
          <a:xfrm>
            <a:off x="8092440" y="1234440"/>
            <a:ext cx="1371600" cy="347472"/>
          </a:xfrm>
          <a:prstGeom prst="rect">
            <a:avLst/>
          </a:prstGeom>
          <a:noFill/>
          <a:ln/>
        </p:spPr>
        <p:txBody>
          <a:bodyPr wrap="square"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body</a:t>
            </a:r>
            <a:endParaRPr lang="en-US" sz="1100" dirty="0"/>
          </a:p>
        </p:txBody>
      </p:sp>
      <p:sp>
        <p:nvSpPr>
          <p:cNvPr id="11" name="Shape 9"/>
          <p:cNvSpPr/>
          <p:nvPr/>
        </p:nvSpPr>
        <p:spPr>
          <a:xfrm>
            <a:off x="8778240" y="1581912"/>
            <a:ext cx="-1417320" cy="384048"/>
          </a:xfrm>
          <a:prstGeom prst="line">
            <a:avLst/>
          </a:prstGeom>
          <a:noFill/>
          <a:ln w="12700">
            <a:solidFill>
              <a:srgbClr val="6B7A88"/>
            </a:solidFill>
            <a:prstDash val="solid"/>
          </a:ln>
        </p:spPr>
      </p:sp>
      <p:sp>
        <p:nvSpPr>
          <p:cNvPr id="12" name="Shape 10"/>
          <p:cNvSpPr/>
          <p:nvPr/>
        </p:nvSpPr>
        <p:spPr>
          <a:xfrm>
            <a:off x="8778240" y="1581912"/>
            <a:ext cx="1417320" cy="384048"/>
          </a:xfrm>
          <a:prstGeom prst="line">
            <a:avLst/>
          </a:prstGeom>
          <a:noFill/>
          <a:ln w="12700">
            <a:solidFill>
              <a:srgbClr val="6B7A88"/>
            </a:solidFill>
            <a:prstDash val="solid"/>
          </a:ln>
        </p:spPr>
      </p:sp>
      <p:sp>
        <p:nvSpPr>
          <p:cNvPr id="13" name="Shape 11"/>
          <p:cNvSpPr/>
          <p:nvPr/>
        </p:nvSpPr>
        <p:spPr>
          <a:xfrm>
            <a:off x="6675120" y="1965960"/>
            <a:ext cx="1371600" cy="347472"/>
          </a:xfrm>
          <a:prstGeom prst="rect">
            <a:avLst>
              <a:gd name="adj" fmla="val 10526"/>
            </a:avLst>
          </a:prstGeom>
          <a:solidFill>
            <a:srgbClr val="E8EEF4"/>
          </a:solidFill>
          <a:ln w="12700">
            <a:solidFill>
              <a:srgbClr val="D6DEE6"/>
            </a:solidFill>
            <a:prstDash val="solid"/>
          </a:ln>
        </p:spPr>
      </p:sp>
      <p:sp>
        <p:nvSpPr>
          <p:cNvPr id="14" name="Text 12"/>
          <p:cNvSpPr/>
          <p:nvPr/>
        </p:nvSpPr>
        <p:spPr>
          <a:xfrm>
            <a:off x="6675120" y="1965960"/>
            <a:ext cx="1371600" cy="347472"/>
          </a:xfrm>
          <a:prstGeom prst="rect">
            <a:avLst/>
          </a:prstGeom>
          <a:noFill/>
          <a:ln/>
        </p:spPr>
        <p:txBody>
          <a:bodyPr wrap="square" rtlCol="0" anchor="ctr"/>
          <a:lstStyle/>
          <a:p>
            <a:pPr algn="ctr" indent="0" marL="0">
              <a:buNone/>
            </a:pPr>
            <a:r>
              <a:rPr lang="en-US" sz="1100" dirty="0">
                <a:solidFill>
                  <a:srgbClr val="1A2733"/>
                </a:solidFill>
                <a:latin typeface="Courier New" pitchFamily="34" charset="0"/>
                <a:ea typeface="Courier New" pitchFamily="34" charset="-122"/>
                <a:cs typeface="Courier New" pitchFamily="34" charset="-120"/>
              </a:rPr>
              <a:t>header</a:t>
            </a:r>
            <a:endParaRPr lang="en-US" sz="1100" dirty="0"/>
          </a:p>
        </p:txBody>
      </p:sp>
      <p:sp>
        <p:nvSpPr>
          <p:cNvPr id="15" name="Shape 13"/>
          <p:cNvSpPr/>
          <p:nvPr/>
        </p:nvSpPr>
        <p:spPr>
          <a:xfrm>
            <a:off x="9509760" y="1965960"/>
            <a:ext cx="1371600" cy="347472"/>
          </a:xfrm>
          <a:prstGeom prst="rect">
            <a:avLst>
              <a:gd name="adj" fmla="val 10526"/>
            </a:avLst>
          </a:prstGeom>
          <a:solidFill>
            <a:srgbClr val="E8EEF4"/>
          </a:solidFill>
          <a:ln w="12700">
            <a:solidFill>
              <a:srgbClr val="D6DEE6"/>
            </a:solidFill>
            <a:prstDash val="solid"/>
          </a:ln>
        </p:spPr>
      </p:sp>
      <p:sp>
        <p:nvSpPr>
          <p:cNvPr id="16" name="Text 14"/>
          <p:cNvSpPr/>
          <p:nvPr/>
        </p:nvSpPr>
        <p:spPr>
          <a:xfrm>
            <a:off x="9509760" y="1965960"/>
            <a:ext cx="1371600" cy="347472"/>
          </a:xfrm>
          <a:prstGeom prst="rect">
            <a:avLst/>
          </a:prstGeom>
          <a:noFill/>
          <a:ln/>
        </p:spPr>
        <p:txBody>
          <a:bodyPr wrap="square" rtlCol="0" anchor="ctr"/>
          <a:lstStyle/>
          <a:p>
            <a:pPr algn="ctr" indent="0" marL="0">
              <a:buNone/>
            </a:pPr>
            <a:r>
              <a:rPr lang="en-US" sz="1100" dirty="0">
                <a:solidFill>
                  <a:srgbClr val="1A2733"/>
                </a:solidFill>
                <a:latin typeface="Courier New" pitchFamily="34" charset="0"/>
                <a:ea typeface="Courier New" pitchFamily="34" charset="-122"/>
                <a:cs typeface="Courier New" pitchFamily="34" charset="-120"/>
              </a:rPr>
              <a:t>main</a:t>
            </a:r>
            <a:endParaRPr lang="en-US" sz="1100" dirty="0"/>
          </a:p>
        </p:txBody>
      </p:sp>
      <p:sp>
        <p:nvSpPr>
          <p:cNvPr id="17" name="Shape 15"/>
          <p:cNvSpPr/>
          <p:nvPr/>
        </p:nvSpPr>
        <p:spPr>
          <a:xfrm>
            <a:off x="7360920" y="2313432"/>
            <a:ext cx="0" cy="384048"/>
          </a:xfrm>
          <a:prstGeom prst="line">
            <a:avLst/>
          </a:prstGeom>
          <a:noFill/>
          <a:ln w="12700">
            <a:solidFill>
              <a:srgbClr val="6B7A88"/>
            </a:solidFill>
            <a:prstDash val="solid"/>
          </a:ln>
        </p:spPr>
      </p:sp>
      <p:sp>
        <p:nvSpPr>
          <p:cNvPr id="18" name="Shape 16"/>
          <p:cNvSpPr/>
          <p:nvPr/>
        </p:nvSpPr>
        <p:spPr>
          <a:xfrm>
            <a:off x="10195560" y="2313432"/>
            <a:ext cx="0" cy="384048"/>
          </a:xfrm>
          <a:prstGeom prst="line">
            <a:avLst/>
          </a:prstGeom>
          <a:noFill/>
          <a:ln w="12700">
            <a:solidFill>
              <a:srgbClr val="6B7A88"/>
            </a:solidFill>
            <a:prstDash val="solid"/>
          </a:ln>
        </p:spPr>
      </p:sp>
      <p:sp>
        <p:nvSpPr>
          <p:cNvPr id="19" name="Shape 17"/>
          <p:cNvSpPr/>
          <p:nvPr/>
        </p:nvSpPr>
        <p:spPr>
          <a:xfrm>
            <a:off x="6675120" y="2697480"/>
            <a:ext cx="1371600" cy="347472"/>
          </a:xfrm>
          <a:prstGeom prst="rect">
            <a:avLst>
              <a:gd name="adj" fmla="val 10526"/>
            </a:avLst>
          </a:prstGeom>
          <a:solidFill>
            <a:srgbClr val="F2F5F8"/>
          </a:solidFill>
          <a:ln w="12700">
            <a:solidFill>
              <a:srgbClr val="D6DEE6"/>
            </a:solidFill>
            <a:prstDash val="solid"/>
          </a:ln>
        </p:spPr>
      </p:sp>
      <p:sp>
        <p:nvSpPr>
          <p:cNvPr id="20" name="Text 18"/>
          <p:cNvSpPr/>
          <p:nvPr/>
        </p:nvSpPr>
        <p:spPr>
          <a:xfrm>
            <a:off x="6675120" y="2697480"/>
            <a:ext cx="1371600" cy="347472"/>
          </a:xfrm>
          <a:prstGeom prst="rect">
            <a:avLst/>
          </a:prstGeom>
          <a:noFill/>
          <a:ln/>
        </p:spPr>
        <p:txBody>
          <a:bodyPr wrap="square" rtlCol="0" anchor="ctr"/>
          <a:lstStyle/>
          <a:p>
            <a:pPr algn="ctr" indent="0" marL="0">
              <a:buNone/>
            </a:pPr>
            <a:r>
              <a:rPr lang="en-US" sz="1100" dirty="0">
                <a:solidFill>
                  <a:srgbClr val="1A2733"/>
                </a:solidFill>
                <a:latin typeface="Courier New" pitchFamily="34" charset="0"/>
                <a:ea typeface="Courier New" pitchFamily="34" charset="-122"/>
                <a:cs typeface="Courier New" pitchFamily="34" charset="-120"/>
              </a:rPr>
              <a:t>h1</a:t>
            </a:r>
            <a:endParaRPr lang="en-US" sz="1100" dirty="0"/>
          </a:p>
        </p:txBody>
      </p:sp>
      <p:sp>
        <p:nvSpPr>
          <p:cNvPr id="21" name="Shape 19"/>
          <p:cNvSpPr/>
          <p:nvPr/>
        </p:nvSpPr>
        <p:spPr>
          <a:xfrm>
            <a:off x="9509760" y="2697480"/>
            <a:ext cx="1371600" cy="347472"/>
          </a:xfrm>
          <a:prstGeom prst="rect">
            <a:avLst>
              <a:gd name="adj" fmla="val 10526"/>
            </a:avLst>
          </a:prstGeom>
          <a:solidFill>
            <a:srgbClr val="FDF3E1"/>
          </a:solidFill>
          <a:ln w="12700">
            <a:solidFill>
              <a:srgbClr val="D6DEE6"/>
            </a:solidFill>
            <a:prstDash val="solid"/>
          </a:ln>
        </p:spPr>
      </p:sp>
      <p:sp>
        <p:nvSpPr>
          <p:cNvPr id="22" name="Text 20"/>
          <p:cNvSpPr/>
          <p:nvPr/>
        </p:nvSpPr>
        <p:spPr>
          <a:xfrm>
            <a:off x="9509760" y="2697480"/>
            <a:ext cx="1371600" cy="347472"/>
          </a:xfrm>
          <a:prstGeom prst="rect">
            <a:avLst/>
          </a:prstGeom>
          <a:noFill/>
          <a:ln/>
        </p:spPr>
        <p:txBody>
          <a:bodyPr wrap="square" rtlCol="0" anchor="ctr"/>
          <a:lstStyle/>
          <a:p>
            <a:pPr algn="ctr" indent="0" marL="0">
              <a:buNone/>
            </a:pPr>
            <a:r>
              <a:rPr lang="en-US" sz="1100" dirty="0">
                <a:solidFill>
                  <a:srgbClr val="1A2733"/>
                </a:solidFill>
                <a:latin typeface="Courier New" pitchFamily="34" charset="0"/>
                <a:ea typeface="Courier New" pitchFamily="34" charset="-122"/>
                <a:cs typeface="Courier New" pitchFamily="34" charset="-120"/>
              </a:rPr>
              <a:t>ul#list</a:t>
            </a:r>
            <a:endParaRPr lang="en-US" sz="1100" dirty="0"/>
          </a:p>
        </p:txBody>
      </p:sp>
      <p:sp>
        <p:nvSpPr>
          <p:cNvPr id="23" name="Shape 21"/>
          <p:cNvSpPr/>
          <p:nvPr/>
        </p:nvSpPr>
        <p:spPr>
          <a:xfrm>
            <a:off x="10195560" y="3044952"/>
            <a:ext cx="-640080" cy="384048"/>
          </a:xfrm>
          <a:prstGeom prst="line">
            <a:avLst/>
          </a:prstGeom>
          <a:noFill/>
          <a:ln w="12700">
            <a:solidFill>
              <a:srgbClr val="6B7A88"/>
            </a:solidFill>
            <a:prstDash val="solid"/>
          </a:ln>
        </p:spPr>
      </p:sp>
      <p:sp>
        <p:nvSpPr>
          <p:cNvPr id="24" name="Shape 22"/>
          <p:cNvSpPr/>
          <p:nvPr/>
        </p:nvSpPr>
        <p:spPr>
          <a:xfrm>
            <a:off x="10195560" y="3044952"/>
            <a:ext cx="640080" cy="384048"/>
          </a:xfrm>
          <a:prstGeom prst="line">
            <a:avLst/>
          </a:prstGeom>
          <a:noFill/>
          <a:ln w="12700">
            <a:solidFill>
              <a:srgbClr val="6B7A88"/>
            </a:solidFill>
            <a:prstDash val="solid"/>
          </a:ln>
        </p:spPr>
      </p:sp>
      <p:sp>
        <p:nvSpPr>
          <p:cNvPr id="25" name="Shape 23"/>
          <p:cNvSpPr/>
          <p:nvPr/>
        </p:nvSpPr>
        <p:spPr>
          <a:xfrm>
            <a:off x="8915400" y="3429000"/>
            <a:ext cx="1188720" cy="347472"/>
          </a:xfrm>
          <a:prstGeom prst="rect">
            <a:avLst>
              <a:gd name="adj" fmla="val 10526"/>
            </a:avLst>
          </a:prstGeom>
          <a:solidFill>
            <a:srgbClr val="F2F5F8"/>
          </a:solidFill>
          <a:ln w="12700">
            <a:solidFill>
              <a:srgbClr val="D6DEE6"/>
            </a:solidFill>
            <a:prstDash val="solid"/>
          </a:ln>
        </p:spPr>
      </p:sp>
      <p:sp>
        <p:nvSpPr>
          <p:cNvPr id="26" name="Text 24"/>
          <p:cNvSpPr/>
          <p:nvPr/>
        </p:nvSpPr>
        <p:spPr>
          <a:xfrm>
            <a:off x="8915400" y="3429000"/>
            <a:ext cx="1188720" cy="347472"/>
          </a:xfrm>
          <a:prstGeom prst="rect">
            <a:avLst/>
          </a:prstGeom>
          <a:noFill/>
          <a:ln/>
        </p:spPr>
        <p:txBody>
          <a:bodyPr wrap="square" rtlCol="0" anchor="ctr"/>
          <a:lstStyle/>
          <a:p>
            <a:pPr algn="ctr" indent="0" marL="0">
              <a:buNone/>
            </a:pPr>
            <a:r>
              <a:rPr lang="en-US" sz="1100" dirty="0">
                <a:solidFill>
                  <a:srgbClr val="1A2733"/>
                </a:solidFill>
                <a:latin typeface="Courier New" pitchFamily="34" charset="0"/>
                <a:ea typeface="Courier New" pitchFamily="34" charset="-122"/>
                <a:cs typeface="Courier New" pitchFamily="34" charset="-120"/>
              </a:rPr>
              <a:t>li</a:t>
            </a:r>
            <a:endParaRPr lang="en-US" sz="1100" dirty="0"/>
          </a:p>
        </p:txBody>
      </p:sp>
      <p:sp>
        <p:nvSpPr>
          <p:cNvPr id="27" name="Shape 25"/>
          <p:cNvSpPr/>
          <p:nvPr/>
        </p:nvSpPr>
        <p:spPr>
          <a:xfrm>
            <a:off x="10287000" y="3429000"/>
            <a:ext cx="1188720" cy="347472"/>
          </a:xfrm>
          <a:prstGeom prst="rect">
            <a:avLst>
              <a:gd name="adj" fmla="val 10526"/>
            </a:avLst>
          </a:prstGeom>
          <a:solidFill>
            <a:srgbClr val="F2F5F8"/>
          </a:solidFill>
          <a:ln w="12700">
            <a:solidFill>
              <a:srgbClr val="D6DEE6"/>
            </a:solidFill>
            <a:prstDash val="solid"/>
          </a:ln>
        </p:spPr>
      </p:sp>
      <p:sp>
        <p:nvSpPr>
          <p:cNvPr id="28" name="Text 26"/>
          <p:cNvSpPr/>
          <p:nvPr/>
        </p:nvSpPr>
        <p:spPr>
          <a:xfrm>
            <a:off x="10287000" y="3429000"/>
            <a:ext cx="1188720" cy="347472"/>
          </a:xfrm>
          <a:prstGeom prst="rect">
            <a:avLst/>
          </a:prstGeom>
          <a:noFill/>
          <a:ln/>
        </p:spPr>
        <p:txBody>
          <a:bodyPr wrap="square" rtlCol="0" anchor="ctr"/>
          <a:lstStyle/>
          <a:p>
            <a:pPr algn="ctr" indent="0" marL="0">
              <a:buNone/>
            </a:pPr>
            <a:r>
              <a:rPr lang="en-US" sz="1100" dirty="0">
                <a:solidFill>
                  <a:srgbClr val="1A2733"/>
                </a:solidFill>
                <a:latin typeface="Courier New" pitchFamily="34" charset="0"/>
                <a:ea typeface="Courier New" pitchFamily="34" charset="-122"/>
                <a:cs typeface="Courier New" pitchFamily="34" charset="-120"/>
              </a:rPr>
              <a:t>li</a:t>
            </a:r>
            <a:endParaRPr lang="en-US" sz="1100" dirty="0"/>
          </a:p>
        </p:txBody>
      </p:sp>
      <p:sp>
        <p:nvSpPr>
          <p:cNvPr id="29" name="Shape 27"/>
          <p:cNvSpPr/>
          <p:nvPr/>
        </p:nvSpPr>
        <p:spPr>
          <a:xfrm>
            <a:off x="548640" y="4206240"/>
            <a:ext cx="5486400" cy="1508760"/>
          </a:xfrm>
          <a:prstGeom prst="rect">
            <a:avLst>
              <a:gd name="adj" fmla="val 3636"/>
            </a:avLst>
          </a:prstGeom>
          <a:solidFill>
            <a:srgbClr val="F2F5F8"/>
          </a:solidFill>
          <a:ln w="12700">
            <a:solidFill>
              <a:srgbClr val="D6DEE6"/>
            </a:solidFill>
            <a:prstDash val="solid"/>
          </a:ln>
        </p:spPr>
      </p:sp>
      <p:sp>
        <p:nvSpPr>
          <p:cNvPr id="30" name="Text 28"/>
          <p:cNvSpPr/>
          <p:nvPr/>
        </p:nvSpPr>
        <p:spPr>
          <a:xfrm>
            <a:off x="713232" y="437083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The words you will hear</a:t>
            </a:r>
            <a:endParaRPr lang="en-US" sz="1500" dirty="0"/>
          </a:p>
        </p:txBody>
      </p:sp>
      <p:sp>
        <p:nvSpPr>
          <p:cNvPr id="31" name="Text 29"/>
          <p:cNvSpPr/>
          <p:nvPr/>
        </p:nvSpPr>
        <p:spPr>
          <a:xfrm>
            <a:off x="713232" y="4718304"/>
            <a:ext cx="5157216" cy="8869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Parent, child, sibling — the same family words</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ul is the parent of both li elements</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two li elements are siblings</a:t>
            </a:r>
            <a:endParaRPr lang="en-US" sz="1250" dirty="0"/>
          </a:p>
        </p:txBody>
      </p:sp>
      <p:sp>
        <p:nvSpPr>
          <p:cNvPr id="32" name="Shape 30"/>
          <p:cNvSpPr/>
          <p:nvPr/>
        </p:nvSpPr>
        <p:spPr>
          <a:xfrm>
            <a:off x="6355080" y="4206240"/>
            <a:ext cx="5285232" cy="1508760"/>
          </a:xfrm>
          <a:prstGeom prst="rect">
            <a:avLst>
              <a:gd name="adj" fmla="val 3636"/>
            </a:avLst>
          </a:prstGeom>
          <a:solidFill>
            <a:srgbClr val="E7F4EE"/>
          </a:solidFill>
          <a:ln w="12700">
            <a:solidFill>
              <a:srgbClr val="1F7A55"/>
            </a:solidFill>
            <a:prstDash val="solid"/>
          </a:ln>
        </p:spPr>
      </p:sp>
      <p:sp>
        <p:nvSpPr>
          <p:cNvPr id="33" name="Text 31"/>
          <p:cNvSpPr/>
          <p:nvPr/>
        </p:nvSpPr>
        <p:spPr>
          <a:xfrm>
            <a:off x="6519672" y="437083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Why a tree matters</a:t>
            </a:r>
            <a:endParaRPr lang="en-US" sz="1500" dirty="0"/>
          </a:p>
        </p:txBody>
      </p:sp>
      <p:sp>
        <p:nvSpPr>
          <p:cNvPr id="34" name="Text 32"/>
          <p:cNvSpPr/>
          <p:nvPr/>
        </p:nvSpPr>
        <p:spPr>
          <a:xfrm>
            <a:off x="6519672" y="4718304"/>
            <a:ext cx="4956048" cy="8869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add a child to a parent, never to the page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appendChild always needs somewhere to put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5-15 MIN · CONCEPT</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Finding an element: you already know the syntax</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4</a:t>
            </a:r>
            <a:endParaRPr lang="en-US" sz="950" dirty="0"/>
          </a:p>
        </p:txBody>
      </p:sp>
      <p:sp>
        <p:nvSpPr>
          <p:cNvPr id="7" name="Shape 5"/>
          <p:cNvSpPr/>
          <p:nvPr/>
        </p:nvSpPr>
        <p:spPr>
          <a:xfrm>
            <a:off x="548640" y="1234440"/>
            <a:ext cx="6766560" cy="1769872"/>
          </a:xfrm>
          <a:prstGeom prst="rect">
            <a:avLst>
              <a:gd name="adj" fmla="val 2583"/>
            </a:avLst>
          </a:prstGeom>
          <a:solidFill>
            <a:srgbClr val="0D1B2A"/>
          </a:solidFill>
          <a:ln w="12700">
            <a:solidFill>
              <a:srgbClr val="0D1B2A"/>
            </a:solidFill>
            <a:prstDash val="solid"/>
          </a:ln>
        </p:spPr>
      </p:sp>
      <p:sp>
        <p:nvSpPr>
          <p:cNvPr id="8" name="Text 6"/>
          <p:cNvSpPr/>
          <p:nvPr/>
        </p:nvSpPr>
        <p:spPr>
          <a:xfrm>
            <a:off x="685800" y="1344168"/>
            <a:ext cx="6492240" cy="1550416"/>
          </a:xfrm>
          <a:prstGeom prst="rect">
            <a:avLst/>
          </a:prstGeom>
          <a:noFill/>
          <a:ln/>
        </p:spPr>
        <p:txBody>
          <a:bodyPr wrap="square" rtlCol="0" anchor="t"/>
          <a:lstStyle/>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"#list"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id,     first match</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".card"</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class,  first match</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"h1"</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tag,    first match</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"nav a"</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any CSS selector works</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document.querySelectorAll(</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".card"</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ALL matches, as a NodeList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document.getElementById(</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"list"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older, id only, no #</a:t>
            </a:r>
            <a:endParaRPr lang="en-US" sz="1150" dirty="0"/>
          </a:p>
        </p:txBody>
      </p:sp>
      <p:sp>
        <p:nvSpPr>
          <p:cNvPr id="9" name="Shape 7"/>
          <p:cNvSpPr/>
          <p:nvPr/>
        </p:nvSpPr>
        <p:spPr>
          <a:xfrm>
            <a:off x="7635240" y="1234440"/>
            <a:ext cx="4553712" cy="2103120"/>
          </a:xfrm>
          <a:prstGeom prst="rect">
            <a:avLst>
              <a:gd name="adj" fmla="val 2609"/>
            </a:avLst>
          </a:prstGeom>
          <a:solidFill>
            <a:srgbClr val="E7F4EE"/>
          </a:solidFill>
          <a:ln w="12700">
            <a:solidFill>
              <a:srgbClr val="1F7A55"/>
            </a:solidFill>
            <a:prstDash val="solid"/>
          </a:ln>
        </p:spPr>
      </p:sp>
      <p:sp>
        <p:nvSpPr>
          <p:cNvPr id="10" name="Text 8"/>
          <p:cNvSpPr/>
          <p:nvPr/>
        </p:nvSpPr>
        <p:spPr>
          <a:xfrm>
            <a:off x="7799832" y="1399032"/>
            <a:ext cx="422452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The good news</a:t>
            </a:r>
            <a:endParaRPr lang="en-US" sz="1500" dirty="0"/>
          </a:p>
        </p:txBody>
      </p:sp>
      <p:sp>
        <p:nvSpPr>
          <p:cNvPr id="11" name="Text 9"/>
          <p:cNvSpPr/>
          <p:nvPr/>
        </p:nvSpPr>
        <p:spPr>
          <a:xfrm>
            <a:off x="7799832" y="1746504"/>
            <a:ext cx="4224528" cy="14813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It takes a CSS selector</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learned those in Week 3</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Nothing new to memorise</a:t>
            </a:r>
            <a:endParaRPr lang="en-US" sz="1250" dirty="0"/>
          </a:p>
        </p:txBody>
      </p:sp>
      <p:sp>
        <p:nvSpPr>
          <p:cNvPr id="12" name="Shape 10"/>
          <p:cNvSpPr/>
          <p:nvPr/>
        </p:nvSpPr>
        <p:spPr>
          <a:xfrm>
            <a:off x="7635240" y="3474720"/>
            <a:ext cx="4553712" cy="2194560"/>
          </a:xfrm>
          <a:prstGeom prst="rect">
            <a:avLst>
              <a:gd name="adj" fmla="val 2500"/>
            </a:avLst>
          </a:prstGeom>
          <a:solidFill>
            <a:srgbClr val="FBEAE8"/>
          </a:solidFill>
          <a:ln w="12700">
            <a:solidFill>
              <a:srgbClr val="B3261E"/>
            </a:solidFill>
            <a:prstDash val="solid"/>
          </a:ln>
        </p:spPr>
      </p:sp>
      <p:sp>
        <p:nvSpPr>
          <p:cNvPr id="13" name="Shape 11"/>
          <p:cNvSpPr/>
          <p:nvPr/>
        </p:nvSpPr>
        <p:spPr>
          <a:xfrm>
            <a:off x="7799832" y="3639312"/>
            <a:ext cx="932688" cy="256032"/>
          </a:xfrm>
          <a:prstGeom prst="rect">
            <a:avLst>
              <a:gd name="adj" fmla="val 17857"/>
            </a:avLst>
          </a:prstGeom>
          <a:solidFill>
            <a:srgbClr val="B3261E"/>
          </a:solidFill>
          <a:ln/>
        </p:spPr>
      </p:sp>
      <p:sp>
        <p:nvSpPr>
          <p:cNvPr id="14" name="Text 12"/>
          <p:cNvSpPr/>
          <p:nvPr/>
        </p:nvSpPr>
        <p:spPr>
          <a:xfrm>
            <a:off x="7799832" y="3639312"/>
            <a:ext cx="932688"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REMEMBER</a:t>
            </a:r>
            <a:endParaRPr lang="en-US" sz="950" dirty="0"/>
          </a:p>
        </p:txBody>
      </p:sp>
      <p:sp>
        <p:nvSpPr>
          <p:cNvPr id="15" name="Text 13"/>
          <p:cNvSpPr/>
          <p:nvPr/>
        </p:nvSpPr>
        <p:spPr>
          <a:xfrm>
            <a:off x="7799832" y="4005072"/>
            <a:ext cx="4224528"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The # and the dot</a:t>
            </a:r>
            <a:endParaRPr lang="en-US" sz="1500" dirty="0"/>
          </a:p>
        </p:txBody>
      </p:sp>
      <p:sp>
        <p:nvSpPr>
          <p:cNvPr id="16" name="Text 14"/>
          <p:cNvSpPr/>
          <p:nvPr/>
        </p:nvSpPr>
        <p:spPr>
          <a:xfrm>
            <a:off x="7799832" y="4352544"/>
            <a:ext cx="4224528" cy="120700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querySelector("#list") — with the hash</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getElementById("list") — without it</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Forgetting the # is the most common DOM bug of all</a:t>
            </a:r>
            <a:endParaRPr lang="en-US" sz="1250" dirty="0"/>
          </a:p>
        </p:txBody>
      </p:sp>
      <p:sp>
        <p:nvSpPr>
          <p:cNvPr id="17" name="Shape 15"/>
          <p:cNvSpPr/>
          <p:nvPr/>
        </p:nvSpPr>
        <p:spPr>
          <a:xfrm>
            <a:off x="548640" y="3566160"/>
            <a:ext cx="6766560" cy="1234440"/>
          </a:xfrm>
          <a:prstGeom prst="rect">
            <a:avLst>
              <a:gd name="adj" fmla="val 4444"/>
            </a:avLst>
          </a:prstGeom>
          <a:solidFill>
            <a:srgbClr val="FDF3E1"/>
          </a:solidFill>
          <a:ln w="12700">
            <a:solidFill>
              <a:srgbClr val="E39A18"/>
            </a:solidFill>
            <a:prstDash val="solid"/>
          </a:ln>
        </p:spPr>
      </p:sp>
      <p:sp>
        <p:nvSpPr>
          <p:cNvPr id="18" name="Text 16"/>
          <p:cNvSpPr/>
          <p:nvPr/>
        </p:nvSpPr>
        <p:spPr>
          <a:xfrm>
            <a:off x="713232" y="3730752"/>
            <a:ext cx="643737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No match? You get null</a:t>
            </a:r>
            <a:endParaRPr lang="en-US" sz="1500" dirty="0"/>
          </a:p>
        </p:txBody>
      </p:sp>
      <p:sp>
        <p:nvSpPr>
          <p:cNvPr id="19" name="Text 17"/>
          <p:cNvSpPr/>
          <p:nvPr/>
        </p:nvSpPr>
        <p:spPr>
          <a:xfrm>
            <a:off x="713232" y="4078224"/>
            <a:ext cx="6437376" cy="61264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querySelector never throws for a bad selector. It quietly returns null, and the error arrives one line later.</a:t>
            </a:r>
            <a:endParaRPr lang="en-US" sz="1250" dirty="0"/>
          </a:p>
        </p:txBody>
      </p:sp>
      <p:sp>
        <p:nvSpPr>
          <p:cNvPr id="20" name="Shape 18"/>
          <p:cNvSpPr/>
          <p:nvPr/>
        </p:nvSpPr>
        <p:spPr>
          <a:xfrm>
            <a:off x="548640" y="4937760"/>
            <a:ext cx="6766560" cy="777240"/>
          </a:xfrm>
          <a:prstGeom prst="rect">
            <a:avLst>
              <a:gd name="adj" fmla="val 7059"/>
            </a:avLst>
          </a:prstGeom>
          <a:solidFill>
            <a:srgbClr val="F2F5F8"/>
          </a:solidFill>
          <a:ln w="12700">
            <a:solidFill>
              <a:srgbClr val="D6DEE6"/>
            </a:solidFill>
            <a:prstDash val="solid"/>
          </a:ln>
        </p:spPr>
      </p:sp>
      <p:sp>
        <p:nvSpPr>
          <p:cNvPr id="21" name="Text 19"/>
          <p:cNvSpPr/>
          <p:nvPr/>
        </p:nvSpPr>
        <p:spPr>
          <a:xfrm>
            <a:off x="713232" y="5102352"/>
            <a:ext cx="6437376" cy="502920"/>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Use querySelector. getElementById is on the slide so you recognise it online.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5-15 MIN · CONCEPT</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querySelectorAll gives you a list, not an element</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5</a:t>
            </a:r>
            <a:endParaRPr lang="en-US" sz="950" dirty="0"/>
          </a:p>
        </p:txBody>
      </p:sp>
      <p:sp>
        <p:nvSpPr>
          <p:cNvPr id="7" name="Shape 5"/>
          <p:cNvSpPr/>
          <p:nvPr/>
        </p:nvSpPr>
        <p:spPr>
          <a:xfrm>
            <a:off x="548640" y="1234440"/>
            <a:ext cx="6766560" cy="2517648"/>
          </a:xfrm>
          <a:prstGeom prst="rect">
            <a:avLst>
              <a:gd name="adj" fmla="val 1816"/>
            </a:avLst>
          </a:prstGeom>
          <a:solidFill>
            <a:srgbClr val="0D1B2A"/>
          </a:solidFill>
          <a:ln w="12700">
            <a:solidFill>
              <a:srgbClr val="0D1B2A"/>
            </a:solidFill>
            <a:prstDash val="solid"/>
          </a:ln>
        </p:spPr>
      </p:sp>
      <p:sp>
        <p:nvSpPr>
          <p:cNvPr id="8" name="Text 6"/>
          <p:cNvSpPr/>
          <p:nvPr/>
        </p:nvSpPr>
        <p:spPr>
          <a:xfrm>
            <a:off x="685800" y="1344168"/>
            <a:ext cx="6492240" cy="2298192"/>
          </a:xfrm>
          <a:prstGeom prst="rect">
            <a:avLst/>
          </a:prstGeom>
          <a:noFill/>
          <a:ln/>
        </p:spPr>
        <p:txBody>
          <a:bodyPr wrap="square" rtlCol="0" anchor="t"/>
          <a:lstStyle/>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cards = document.querySelectorAll(</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".card"</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cards.length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3</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cards[</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0</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the first element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cards.textContent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"x"</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DOES NOTHING. Silent.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Change all of them: loop</a:t>
            </a:r>
            <a:endParaRPr lang="en-US" sz="1150" dirty="0"/>
          </a:p>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for</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c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of</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cards)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c.textContent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"Hello"</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cards.forEach(c =&gt; c.classList.add(</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"done"</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also fine</a:t>
            </a:r>
            <a:endParaRPr lang="en-US" sz="1150" dirty="0"/>
          </a:p>
        </p:txBody>
      </p:sp>
      <p:sp>
        <p:nvSpPr>
          <p:cNvPr id="9" name="Shape 7"/>
          <p:cNvSpPr/>
          <p:nvPr/>
        </p:nvSpPr>
        <p:spPr>
          <a:xfrm>
            <a:off x="7635240" y="1234440"/>
            <a:ext cx="4553712" cy="2148840"/>
          </a:xfrm>
          <a:prstGeom prst="rect">
            <a:avLst>
              <a:gd name="adj" fmla="val 2553"/>
            </a:avLst>
          </a:prstGeom>
          <a:solidFill>
            <a:srgbClr val="FBEAE8"/>
          </a:solidFill>
          <a:ln w="12700">
            <a:solidFill>
              <a:srgbClr val="B3261E"/>
            </a:solidFill>
            <a:prstDash val="solid"/>
          </a:ln>
        </p:spPr>
      </p:sp>
      <p:sp>
        <p:nvSpPr>
          <p:cNvPr id="10" name="Shape 8"/>
          <p:cNvSpPr/>
          <p:nvPr/>
        </p:nvSpPr>
        <p:spPr>
          <a:xfrm>
            <a:off x="7799832" y="1399032"/>
            <a:ext cx="1165860" cy="256032"/>
          </a:xfrm>
          <a:prstGeom prst="rect">
            <a:avLst>
              <a:gd name="adj" fmla="val 17857"/>
            </a:avLst>
          </a:prstGeom>
          <a:solidFill>
            <a:srgbClr val="B3261E"/>
          </a:solidFill>
          <a:ln/>
        </p:spPr>
      </p:sp>
      <p:sp>
        <p:nvSpPr>
          <p:cNvPr id="11" name="Text 9"/>
          <p:cNvSpPr/>
          <p:nvPr/>
        </p:nvSpPr>
        <p:spPr>
          <a:xfrm>
            <a:off x="7799832" y="1399032"/>
            <a:ext cx="116586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TOP MISTAKE</a:t>
            </a:r>
            <a:endParaRPr lang="en-US" sz="950" dirty="0"/>
          </a:p>
        </p:txBody>
      </p:sp>
      <p:sp>
        <p:nvSpPr>
          <p:cNvPr id="12" name="Text 10"/>
          <p:cNvSpPr/>
          <p:nvPr/>
        </p:nvSpPr>
        <p:spPr>
          <a:xfrm>
            <a:off x="7799832" y="1764792"/>
            <a:ext cx="4224528"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A list has no textContent</a:t>
            </a:r>
            <a:endParaRPr lang="en-US" sz="1500" dirty="0"/>
          </a:p>
        </p:txBody>
      </p:sp>
      <p:sp>
        <p:nvSpPr>
          <p:cNvPr id="13" name="Text 11"/>
          <p:cNvSpPr/>
          <p:nvPr/>
        </p:nvSpPr>
        <p:spPr>
          <a:xfrm>
            <a:off x="7799832" y="2112264"/>
            <a:ext cx="4224528" cy="116128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No error appears</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Nothing on the page changes</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You stare at it for ten minutes</a:t>
            </a:r>
            <a:endParaRPr lang="en-US" sz="1250" dirty="0"/>
          </a:p>
        </p:txBody>
      </p:sp>
      <p:sp>
        <p:nvSpPr>
          <p:cNvPr id="14" name="Shape 12"/>
          <p:cNvSpPr/>
          <p:nvPr/>
        </p:nvSpPr>
        <p:spPr>
          <a:xfrm>
            <a:off x="7635240" y="3520440"/>
            <a:ext cx="4553712" cy="2148840"/>
          </a:xfrm>
          <a:prstGeom prst="rect">
            <a:avLst>
              <a:gd name="adj" fmla="val 2553"/>
            </a:avLst>
          </a:prstGeom>
          <a:solidFill>
            <a:srgbClr val="F2F5F8"/>
          </a:solidFill>
          <a:ln w="12700">
            <a:solidFill>
              <a:srgbClr val="D6DEE6"/>
            </a:solidFill>
            <a:prstDash val="solid"/>
          </a:ln>
        </p:spPr>
      </p:sp>
      <p:sp>
        <p:nvSpPr>
          <p:cNvPr id="15" name="Text 13"/>
          <p:cNvSpPr/>
          <p:nvPr/>
        </p:nvSpPr>
        <p:spPr>
          <a:xfrm>
            <a:off x="7799832" y="3685032"/>
            <a:ext cx="422452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A NodeList is almost an array</a:t>
            </a:r>
            <a:endParaRPr lang="en-US" sz="1500" dirty="0"/>
          </a:p>
        </p:txBody>
      </p:sp>
      <p:sp>
        <p:nvSpPr>
          <p:cNvPr id="16" name="Text 14"/>
          <p:cNvSpPr/>
          <p:nvPr/>
        </p:nvSpPr>
        <p:spPr>
          <a:xfrm>
            <a:off x="7799832" y="4032504"/>
            <a:ext cx="4224528" cy="15270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It has length, indexes and forEach</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It has no map, filter or find</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Need those? Array.from(cards)</a:t>
            </a:r>
            <a:endParaRPr lang="en-US" sz="1250" dirty="0"/>
          </a:p>
        </p:txBody>
      </p:sp>
      <p:sp>
        <p:nvSpPr>
          <p:cNvPr id="17" name="Shape 15"/>
          <p:cNvSpPr/>
          <p:nvPr/>
        </p:nvSpPr>
        <p:spPr>
          <a:xfrm>
            <a:off x="548640" y="3931920"/>
            <a:ext cx="6766560" cy="1737360"/>
          </a:xfrm>
          <a:prstGeom prst="rect">
            <a:avLst>
              <a:gd name="adj" fmla="val 3158"/>
            </a:avLst>
          </a:prstGeom>
          <a:solidFill>
            <a:srgbClr val="E7F4EE"/>
          </a:solidFill>
          <a:ln w="12700">
            <a:solidFill>
              <a:srgbClr val="1F7A55"/>
            </a:solidFill>
            <a:prstDash val="solid"/>
          </a:ln>
        </p:spPr>
      </p:sp>
      <p:sp>
        <p:nvSpPr>
          <p:cNvPr id="18" name="Text 16"/>
          <p:cNvSpPr/>
          <p:nvPr/>
        </p:nvSpPr>
        <p:spPr>
          <a:xfrm>
            <a:off x="713232" y="4096512"/>
            <a:ext cx="643737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The rule</a:t>
            </a:r>
            <a:endParaRPr lang="en-US" sz="1500" dirty="0"/>
          </a:p>
        </p:txBody>
      </p:sp>
      <p:sp>
        <p:nvSpPr>
          <p:cNvPr id="19" name="Text 17"/>
          <p:cNvSpPr/>
          <p:nvPr/>
        </p:nvSpPr>
        <p:spPr>
          <a:xfrm>
            <a:off x="713232" y="4443984"/>
            <a:ext cx="6437376"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Singular name, singular result: querySelector gives one element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Plural name, plural result: querySelectorAll gives a list you must loop</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Reading and changing content</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6</a:t>
            </a:r>
            <a:endParaRPr lang="en-US" sz="950" dirty="0"/>
          </a:p>
        </p:txBody>
      </p:sp>
      <p:sp>
        <p:nvSpPr>
          <p:cNvPr id="7" name="Shape 5"/>
          <p:cNvSpPr/>
          <p:nvPr/>
        </p:nvSpPr>
        <p:spPr>
          <a:xfrm>
            <a:off x="548640" y="1234440"/>
            <a:ext cx="6766560" cy="2143760"/>
          </a:xfrm>
          <a:prstGeom prst="rect">
            <a:avLst>
              <a:gd name="adj" fmla="val 2133"/>
            </a:avLst>
          </a:prstGeom>
          <a:solidFill>
            <a:srgbClr val="0D1B2A"/>
          </a:solidFill>
          <a:ln w="12700">
            <a:solidFill>
              <a:srgbClr val="0D1B2A"/>
            </a:solidFill>
            <a:prstDash val="solid"/>
          </a:ln>
        </p:spPr>
      </p:sp>
      <p:sp>
        <p:nvSpPr>
          <p:cNvPr id="8" name="Text 6"/>
          <p:cNvSpPr/>
          <p:nvPr/>
        </p:nvSpPr>
        <p:spPr>
          <a:xfrm>
            <a:off x="685800" y="1344168"/>
            <a:ext cx="6492240" cy="1924304"/>
          </a:xfrm>
          <a:prstGeom prst="rect">
            <a:avLst/>
          </a:prstGeom>
          <a:noFill/>
          <a:ln/>
        </p:spPr>
        <p:txBody>
          <a:bodyPr wrap="square" rtlCol="0" anchor="t"/>
          <a:lstStyle/>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title = 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"#title"</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title.textContent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read it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title.textContent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"New title"</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replace it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textContent treats everything as plain text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title.textContent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"&lt;b&gt;Hi&lt;/b&gt;"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shows:  &lt;b&gt;Hi&lt;/b&gt;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innerHTML parses it as HTML</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title.innerHTML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"&lt;b&gt;Hi&lt;/b&gt;"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shows:  Hi  (in bold)</a:t>
            </a:r>
            <a:endParaRPr lang="en-US" sz="1150" dirty="0"/>
          </a:p>
        </p:txBody>
      </p:sp>
      <p:sp>
        <p:nvSpPr>
          <p:cNvPr id="9" name="Shape 7"/>
          <p:cNvSpPr/>
          <p:nvPr/>
        </p:nvSpPr>
        <p:spPr>
          <a:xfrm>
            <a:off x="7635240" y="1234440"/>
            <a:ext cx="4553712" cy="1920240"/>
          </a:xfrm>
          <a:prstGeom prst="rect">
            <a:avLst>
              <a:gd name="adj" fmla="val 2857"/>
            </a:avLst>
          </a:prstGeom>
          <a:solidFill>
            <a:srgbClr val="E7F4EE"/>
          </a:solidFill>
          <a:ln w="12700">
            <a:solidFill>
              <a:srgbClr val="1F7A55"/>
            </a:solidFill>
            <a:prstDash val="solid"/>
          </a:ln>
        </p:spPr>
      </p:sp>
      <p:sp>
        <p:nvSpPr>
          <p:cNvPr id="10" name="Text 8"/>
          <p:cNvSpPr/>
          <p:nvPr/>
        </p:nvSpPr>
        <p:spPr>
          <a:xfrm>
            <a:off x="7799832" y="1399032"/>
            <a:ext cx="422452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Use textContent</a:t>
            </a:r>
            <a:endParaRPr lang="en-US" sz="1500" dirty="0"/>
          </a:p>
        </p:txBody>
      </p:sp>
      <p:sp>
        <p:nvSpPr>
          <p:cNvPr id="11" name="Text 9"/>
          <p:cNvSpPr/>
          <p:nvPr/>
        </p:nvSpPr>
        <p:spPr>
          <a:xfrm>
            <a:off x="7799832" y="1746504"/>
            <a:ext cx="4224528" cy="12984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For anything that is just words</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Faster, and cannot break your page</a:t>
            </a:r>
            <a:endParaRPr lang="en-US" sz="1250" dirty="0"/>
          </a:p>
        </p:txBody>
      </p:sp>
      <p:sp>
        <p:nvSpPr>
          <p:cNvPr id="12" name="Shape 10"/>
          <p:cNvSpPr/>
          <p:nvPr/>
        </p:nvSpPr>
        <p:spPr>
          <a:xfrm>
            <a:off x="7635240" y="3291840"/>
            <a:ext cx="4553712" cy="2377440"/>
          </a:xfrm>
          <a:prstGeom prst="rect">
            <a:avLst>
              <a:gd name="adj" fmla="val 2308"/>
            </a:avLst>
          </a:prstGeom>
          <a:solidFill>
            <a:srgbClr val="FDF3E1"/>
          </a:solidFill>
          <a:ln w="12700">
            <a:solidFill>
              <a:srgbClr val="E39A18"/>
            </a:solidFill>
            <a:prstDash val="solid"/>
          </a:ln>
        </p:spPr>
      </p:sp>
      <p:sp>
        <p:nvSpPr>
          <p:cNvPr id="13" name="Text 11"/>
          <p:cNvSpPr/>
          <p:nvPr/>
        </p:nvSpPr>
        <p:spPr>
          <a:xfrm>
            <a:off x="7799832" y="3456432"/>
            <a:ext cx="4224528"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Use innerHTML carefully</a:t>
            </a:r>
            <a:endParaRPr lang="en-US" sz="1500" dirty="0"/>
          </a:p>
        </p:txBody>
      </p:sp>
      <p:sp>
        <p:nvSpPr>
          <p:cNvPr id="14" name="Text 12"/>
          <p:cNvSpPr/>
          <p:nvPr/>
        </p:nvSpPr>
        <p:spPr>
          <a:xfrm>
            <a:off x="7799832" y="3803904"/>
            <a:ext cx="4224528" cy="175564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Only when you are building real HTML</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Never with text a user typed</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A visitor can type a tag and run code on your page</a:t>
            </a:r>
            <a:endParaRPr lang="en-US" sz="1250" dirty="0"/>
          </a:p>
        </p:txBody>
      </p:sp>
      <p:sp>
        <p:nvSpPr>
          <p:cNvPr id="15" name="Shape 13"/>
          <p:cNvSpPr/>
          <p:nvPr/>
        </p:nvSpPr>
        <p:spPr>
          <a:xfrm>
            <a:off x="548640" y="3931920"/>
            <a:ext cx="6766560" cy="1737360"/>
          </a:xfrm>
          <a:prstGeom prst="rect">
            <a:avLst>
              <a:gd name="adj" fmla="val 3158"/>
            </a:avLst>
          </a:prstGeom>
          <a:solidFill>
            <a:srgbClr val="FBEAE8"/>
          </a:solidFill>
          <a:ln w="12700">
            <a:solidFill>
              <a:srgbClr val="B3261E"/>
            </a:solidFill>
            <a:prstDash val="solid"/>
          </a:ln>
        </p:spPr>
      </p:sp>
      <p:sp>
        <p:nvSpPr>
          <p:cNvPr id="16" name="Text 14"/>
          <p:cNvSpPr/>
          <p:nvPr/>
        </p:nvSpPr>
        <p:spPr>
          <a:xfrm>
            <a:off x="713232" y="4096512"/>
            <a:ext cx="6437376"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The symptom you will see</a:t>
            </a:r>
            <a:endParaRPr lang="en-US" sz="1500" dirty="0"/>
          </a:p>
        </p:txBody>
      </p:sp>
      <p:sp>
        <p:nvSpPr>
          <p:cNvPr id="17" name="Text 15"/>
          <p:cNvSpPr/>
          <p:nvPr/>
        </p:nvSpPr>
        <p:spPr>
          <a:xfrm>
            <a:off x="713232" y="4443984"/>
            <a:ext cx="6437376" cy="111556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Tags showing literally on the page means textContent where you wanted innerHTML</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Your layout silently breaking means innerHTML where you wanted textContent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Attributes and properties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7</a:t>
            </a:r>
            <a:endParaRPr lang="en-US" sz="950" dirty="0"/>
          </a:p>
        </p:txBody>
      </p:sp>
      <p:sp>
        <p:nvSpPr>
          <p:cNvPr id="7" name="Shape 5"/>
          <p:cNvSpPr/>
          <p:nvPr/>
        </p:nvSpPr>
        <p:spPr>
          <a:xfrm>
            <a:off x="548640" y="1234440"/>
            <a:ext cx="6766560" cy="2143760"/>
          </a:xfrm>
          <a:prstGeom prst="rect">
            <a:avLst>
              <a:gd name="adj" fmla="val 2133"/>
            </a:avLst>
          </a:prstGeom>
          <a:solidFill>
            <a:srgbClr val="0D1B2A"/>
          </a:solidFill>
          <a:ln w="12700">
            <a:solidFill>
              <a:srgbClr val="0D1B2A"/>
            </a:solidFill>
            <a:prstDash val="solid"/>
          </a:ln>
        </p:spPr>
      </p:sp>
      <p:sp>
        <p:nvSpPr>
          <p:cNvPr id="8" name="Text 6"/>
          <p:cNvSpPr/>
          <p:nvPr/>
        </p:nvSpPr>
        <p:spPr>
          <a:xfrm>
            <a:off x="685800" y="1344168"/>
            <a:ext cx="6492240" cy="1924304"/>
          </a:xfrm>
          <a:prstGeom prst="rect">
            <a:avLst/>
          </a:prstGeom>
          <a:noFill/>
          <a:ln/>
        </p:spPr>
        <p:txBody>
          <a:bodyPr wrap="square" rtlCol="0" anchor="t"/>
          <a:lstStyle/>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photo = 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"#photo"</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photo.setAttribute(</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"src"</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"images/new.jpg"</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photo.getAttribute(</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"alt"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photo.removeAttribute(</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"hidden"</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Common ones have a direct shortcut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photo.src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"images/new.jpg"</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link.href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"https://iiuc.ac.bd"</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input.value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"Rahim"</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not an attribute. A property.</a:t>
            </a:r>
            <a:endParaRPr lang="en-US" sz="1150" dirty="0"/>
          </a:p>
        </p:txBody>
      </p:sp>
      <p:sp>
        <p:nvSpPr>
          <p:cNvPr id="9" name="Shape 7"/>
          <p:cNvSpPr/>
          <p:nvPr/>
        </p:nvSpPr>
        <p:spPr>
          <a:xfrm>
            <a:off x="7635240" y="1234440"/>
            <a:ext cx="4553712" cy="2011680"/>
          </a:xfrm>
          <a:prstGeom prst="rect">
            <a:avLst>
              <a:gd name="adj" fmla="val 2727"/>
            </a:avLst>
          </a:prstGeom>
          <a:solidFill>
            <a:srgbClr val="F2F5F8"/>
          </a:solidFill>
          <a:ln w="12700">
            <a:solidFill>
              <a:srgbClr val="D6DEE6"/>
            </a:solidFill>
            <a:prstDash val="solid"/>
          </a:ln>
        </p:spPr>
      </p:sp>
      <p:sp>
        <p:nvSpPr>
          <p:cNvPr id="10" name="Text 8"/>
          <p:cNvSpPr/>
          <p:nvPr/>
        </p:nvSpPr>
        <p:spPr>
          <a:xfrm>
            <a:off x="7799832" y="1399032"/>
            <a:ext cx="422452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Which should I use?</a:t>
            </a:r>
            <a:endParaRPr lang="en-US" sz="1500" dirty="0"/>
          </a:p>
        </p:txBody>
      </p:sp>
      <p:sp>
        <p:nvSpPr>
          <p:cNvPr id="11" name="Text 9"/>
          <p:cNvSpPr/>
          <p:nvPr/>
        </p:nvSpPr>
        <p:spPr>
          <a:xfrm>
            <a:off x="7799832" y="1746504"/>
            <a:ext cx="4224528" cy="138988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shortcut, when there is one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setAttribute for anything custom</a:t>
            </a:r>
            <a:endParaRPr lang="en-US" sz="1250" dirty="0"/>
          </a:p>
        </p:txBody>
      </p:sp>
      <p:sp>
        <p:nvSpPr>
          <p:cNvPr id="12" name="Shape 10"/>
          <p:cNvSpPr/>
          <p:nvPr/>
        </p:nvSpPr>
        <p:spPr>
          <a:xfrm>
            <a:off x="7635240" y="3383280"/>
            <a:ext cx="4553712" cy="2286000"/>
          </a:xfrm>
          <a:prstGeom prst="rect">
            <a:avLst>
              <a:gd name="adj" fmla="val 2400"/>
            </a:avLst>
          </a:prstGeom>
          <a:solidFill>
            <a:srgbClr val="FBEAE8"/>
          </a:solidFill>
          <a:ln w="12700">
            <a:solidFill>
              <a:srgbClr val="B3261E"/>
            </a:solidFill>
            <a:prstDash val="solid"/>
          </a:ln>
        </p:spPr>
      </p:sp>
      <p:sp>
        <p:nvSpPr>
          <p:cNvPr id="13" name="Shape 11"/>
          <p:cNvSpPr/>
          <p:nvPr/>
        </p:nvSpPr>
        <p:spPr>
          <a:xfrm>
            <a:off x="7799832" y="3547872"/>
            <a:ext cx="621792" cy="256032"/>
          </a:xfrm>
          <a:prstGeom prst="rect">
            <a:avLst>
              <a:gd name="adj" fmla="val 17857"/>
            </a:avLst>
          </a:prstGeom>
          <a:solidFill>
            <a:srgbClr val="B3261E"/>
          </a:solidFill>
          <a:ln/>
        </p:spPr>
      </p:sp>
      <p:sp>
        <p:nvSpPr>
          <p:cNvPr id="14" name="Text 12"/>
          <p:cNvSpPr/>
          <p:nvPr/>
        </p:nvSpPr>
        <p:spPr>
          <a:xfrm>
            <a:off x="7799832" y="3547872"/>
            <a:ext cx="621792"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TRAP</a:t>
            </a:r>
            <a:endParaRPr lang="en-US" sz="950" dirty="0"/>
          </a:p>
        </p:txBody>
      </p:sp>
      <p:sp>
        <p:nvSpPr>
          <p:cNvPr id="15" name="Text 13"/>
          <p:cNvSpPr/>
          <p:nvPr/>
        </p:nvSpPr>
        <p:spPr>
          <a:xfrm>
            <a:off x="7799832" y="3913632"/>
            <a:ext cx="4224528"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input.value</a:t>
            </a:r>
            <a:endParaRPr lang="en-US" sz="1500" dirty="0"/>
          </a:p>
        </p:txBody>
      </p:sp>
      <p:sp>
        <p:nvSpPr>
          <p:cNvPr id="16" name="Text 14"/>
          <p:cNvSpPr/>
          <p:nvPr/>
        </p:nvSpPr>
        <p:spPr>
          <a:xfrm>
            <a:off x="7799832" y="4261104"/>
            <a:ext cx="4224528" cy="129844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getAttribute("value") gives what the HTML said</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input.value gives what the user typed</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You almost always want .value</a:t>
            </a:r>
            <a:endParaRPr lang="en-US" sz="1250" dirty="0"/>
          </a:p>
        </p:txBody>
      </p:sp>
      <p:sp>
        <p:nvSpPr>
          <p:cNvPr id="17" name="Shape 15"/>
          <p:cNvSpPr/>
          <p:nvPr/>
        </p:nvSpPr>
        <p:spPr>
          <a:xfrm>
            <a:off x="548640" y="3931920"/>
            <a:ext cx="6766560" cy="1737360"/>
          </a:xfrm>
          <a:prstGeom prst="rect">
            <a:avLst>
              <a:gd name="adj" fmla="val 3158"/>
            </a:avLst>
          </a:prstGeom>
          <a:solidFill>
            <a:srgbClr val="E7F4EE"/>
          </a:solidFill>
          <a:ln w="12700">
            <a:solidFill>
              <a:srgbClr val="1F7A55"/>
            </a:solidFill>
            <a:prstDash val="solid"/>
          </a:ln>
        </p:spPr>
      </p:sp>
      <p:sp>
        <p:nvSpPr>
          <p:cNvPr id="18" name="Text 16"/>
          <p:cNvSpPr/>
          <p:nvPr/>
        </p:nvSpPr>
        <p:spPr>
          <a:xfrm>
            <a:off x="713232" y="4096512"/>
            <a:ext cx="643737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Your own data on an element</a:t>
            </a:r>
            <a:endParaRPr lang="en-US" sz="1500" dirty="0"/>
          </a:p>
        </p:txBody>
      </p:sp>
      <p:sp>
        <p:nvSpPr>
          <p:cNvPr id="19" name="Text 17"/>
          <p:cNvSpPr/>
          <p:nvPr/>
        </p:nvSpPr>
        <p:spPr>
          <a:xfrm>
            <a:off x="713232" y="4443984"/>
            <a:ext cx="6437376"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&lt;li data-id="C241002"&gt;  →  li.dataset.id  gives "C241002"</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This is how you remember which item a row belongs to</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classList: change how something looks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8</a:t>
            </a:r>
            <a:endParaRPr lang="en-US" sz="950" dirty="0"/>
          </a:p>
        </p:txBody>
      </p:sp>
      <p:sp>
        <p:nvSpPr>
          <p:cNvPr id="7" name="Shape 5"/>
          <p:cNvSpPr/>
          <p:nvPr/>
        </p:nvSpPr>
        <p:spPr>
          <a:xfrm>
            <a:off x="548640" y="1234440"/>
            <a:ext cx="6766560" cy="1769872"/>
          </a:xfrm>
          <a:prstGeom prst="rect">
            <a:avLst>
              <a:gd name="adj" fmla="val 2583"/>
            </a:avLst>
          </a:prstGeom>
          <a:solidFill>
            <a:srgbClr val="0D1B2A"/>
          </a:solidFill>
          <a:ln w="12700">
            <a:solidFill>
              <a:srgbClr val="0D1B2A"/>
            </a:solidFill>
            <a:prstDash val="solid"/>
          </a:ln>
        </p:spPr>
      </p:sp>
      <p:sp>
        <p:nvSpPr>
          <p:cNvPr id="8" name="Text 6"/>
          <p:cNvSpPr/>
          <p:nvPr/>
        </p:nvSpPr>
        <p:spPr>
          <a:xfrm>
            <a:off x="685800" y="1344168"/>
            <a:ext cx="6492240" cy="1550416"/>
          </a:xfrm>
          <a:prstGeom prst="rect">
            <a:avLst/>
          </a:prstGeom>
          <a:noFill/>
          <a:ln/>
        </p:spPr>
        <p:txBody>
          <a:bodyPr wrap="square" rtlCol="0" anchor="t"/>
          <a:lstStyle/>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box = 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"#box"</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box.classList.add(</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"highlight"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box.classList.remove(</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"hidden"</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box.classList.toggle(</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"open"</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on if off, off if on</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box.classList.contains(</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"open"</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true / false</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box.classList.add(</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"a"</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"b"</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several at once</a:t>
            </a:r>
            <a:endParaRPr lang="en-US" sz="1150" dirty="0"/>
          </a:p>
        </p:txBody>
      </p:sp>
      <p:sp>
        <p:nvSpPr>
          <p:cNvPr id="9" name="Shape 7"/>
          <p:cNvSpPr/>
          <p:nvPr/>
        </p:nvSpPr>
        <p:spPr>
          <a:xfrm>
            <a:off x="7635240" y="1234440"/>
            <a:ext cx="4553712" cy="1920240"/>
          </a:xfrm>
          <a:prstGeom prst="rect">
            <a:avLst>
              <a:gd name="adj" fmla="val 2857"/>
            </a:avLst>
          </a:prstGeom>
          <a:solidFill>
            <a:srgbClr val="E7F4EE"/>
          </a:solidFill>
          <a:ln w="12700">
            <a:solidFill>
              <a:srgbClr val="1F7A55"/>
            </a:solidFill>
            <a:prstDash val="solid"/>
          </a:ln>
        </p:spPr>
      </p:sp>
      <p:sp>
        <p:nvSpPr>
          <p:cNvPr id="10" name="Text 8"/>
          <p:cNvSpPr/>
          <p:nvPr/>
        </p:nvSpPr>
        <p:spPr>
          <a:xfrm>
            <a:off x="7799832" y="1399032"/>
            <a:ext cx="422452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Keep CSS in the CSS</a:t>
            </a:r>
            <a:endParaRPr lang="en-US" sz="1500" dirty="0"/>
          </a:p>
        </p:txBody>
      </p:sp>
      <p:sp>
        <p:nvSpPr>
          <p:cNvPr id="11" name="Text 9"/>
          <p:cNvSpPr/>
          <p:nvPr/>
        </p:nvSpPr>
        <p:spPr>
          <a:xfrm>
            <a:off x="7799832" y="1746504"/>
            <a:ext cx="4224528" cy="12984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stylesheet decides how .highlight looks</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JavaScript only decides who gets it</a:t>
            </a:r>
            <a:endParaRPr lang="en-US" sz="1250" dirty="0"/>
          </a:p>
        </p:txBody>
      </p:sp>
      <p:sp>
        <p:nvSpPr>
          <p:cNvPr id="12" name="Shape 10"/>
          <p:cNvSpPr/>
          <p:nvPr/>
        </p:nvSpPr>
        <p:spPr>
          <a:xfrm>
            <a:off x="548640" y="2971800"/>
            <a:ext cx="6766560" cy="1395984"/>
          </a:xfrm>
          <a:prstGeom prst="rect">
            <a:avLst>
              <a:gd name="adj" fmla="val 3275"/>
            </a:avLst>
          </a:prstGeom>
          <a:solidFill>
            <a:srgbClr val="0D1B2A"/>
          </a:solidFill>
          <a:ln w="12700">
            <a:solidFill>
              <a:srgbClr val="0D1B2A"/>
            </a:solidFill>
            <a:prstDash val="solid"/>
          </a:ln>
        </p:spPr>
      </p:sp>
      <p:sp>
        <p:nvSpPr>
          <p:cNvPr id="13" name="Text 11"/>
          <p:cNvSpPr/>
          <p:nvPr/>
        </p:nvSpPr>
        <p:spPr>
          <a:xfrm>
            <a:off x="685800" y="3081528"/>
            <a:ext cx="6492240" cy="1176528"/>
          </a:xfrm>
          <a:prstGeom prst="rect">
            <a:avLst/>
          </a:prstGeom>
          <a:noFill/>
          <a:ln/>
        </p:spPr>
        <p:txBody>
          <a:bodyPr wrap="square" rtlCol="0" anchor="t"/>
          <a:lstStyle/>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Avoid this</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box.style.backgroundColor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"yellow"</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box.style.border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"2px solid orange"</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Prefer this</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box.classList.add(</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"highlight"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14" name="Shape 12"/>
          <p:cNvSpPr/>
          <p:nvPr/>
        </p:nvSpPr>
        <p:spPr>
          <a:xfrm>
            <a:off x="7635240" y="3291840"/>
            <a:ext cx="4553712" cy="2377440"/>
          </a:xfrm>
          <a:prstGeom prst="rect">
            <a:avLst>
              <a:gd name="adj" fmla="val 2308"/>
            </a:avLst>
          </a:prstGeom>
          <a:solidFill>
            <a:srgbClr val="FBEAE8"/>
          </a:solidFill>
          <a:ln w="12700">
            <a:solidFill>
              <a:srgbClr val="B3261E"/>
            </a:solidFill>
            <a:prstDash val="solid"/>
          </a:ln>
        </p:spPr>
      </p:sp>
      <p:sp>
        <p:nvSpPr>
          <p:cNvPr id="15" name="Shape 13"/>
          <p:cNvSpPr/>
          <p:nvPr/>
        </p:nvSpPr>
        <p:spPr>
          <a:xfrm>
            <a:off x="7799832" y="3456432"/>
            <a:ext cx="1321308" cy="256032"/>
          </a:xfrm>
          <a:prstGeom prst="rect">
            <a:avLst>
              <a:gd name="adj" fmla="val 17857"/>
            </a:avLst>
          </a:prstGeom>
          <a:solidFill>
            <a:srgbClr val="B3261E"/>
          </a:solidFill>
          <a:ln/>
        </p:spPr>
      </p:sp>
      <p:sp>
        <p:nvSpPr>
          <p:cNvPr id="16" name="Text 14"/>
          <p:cNvSpPr/>
          <p:nvPr/>
        </p:nvSpPr>
        <p:spPr>
          <a:xfrm>
            <a:off x="7799832" y="3456432"/>
            <a:ext cx="1321308"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DOES NOT WORK</a:t>
            </a:r>
            <a:endParaRPr lang="en-US" sz="950" dirty="0"/>
          </a:p>
        </p:txBody>
      </p:sp>
      <p:sp>
        <p:nvSpPr>
          <p:cNvPr id="17" name="Text 15"/>
          <p:cNvSpPr/>
          <p:nvPr/>
        </p:nvSpPr>
        <p:spPr>
          <a:xfrm>
            <a:off x="7799832" y="3822192"/>
            <a:ext cx="4224528"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box.class = "card"</a:t>
            </a:r>
            <a:endParaRPr lang="en-US" sz="1500" dirty="0"/>
          </a:p>
        </p:txBody>
      </p:sp>
      <p:sp>
        <p:nvSpPr>
          <p:cNvPr id="18" name="Text 16"/>
          <p:cNvSpPr/>
          <p:nvPr/>
        </p:nvSpPr>
        <p:spPr>
          <a:xfrm>
            <a:off x="7799832" y="4169664"/>
            <a:ext cx="4224528" cy="138988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class is a reserved word in JavaScript</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This sets a useless property and fails silently</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Use classList.add, or className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Making new elements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9</a:t>
            </a:r>
            <a:endParaRPr lang="en-US" sz="950" dirty="0"/>
          </a:p>
        </p:txBody>
      </p:sp>
      <p:sp>
        <p:nvSpPr>
          <p:cNvPr id="7" name="Shape 5"/>
          <p:cNvSpPr/>
          <p:nvPr/>
        </p:nvSpPr>
        <p:spPr>
          <a:xfrm>
            <a:off x="548640" y="1234440"/>
            <a:ext cx="6766560" cy="2143760"/>
          </a:xfrm>
          <a:prstGeom prst="rect">
            <a:avLst>
              <a:gd name="adj" fmla="val 2133"/>
            </a:avLst>
          </a:prstGeom>
          <a:solidFill>
            <a:srgbClr val="0D1B2A"/>
          </a:solidFill>
          <a:ln w="12700">
            <a:solidFill>
              <a:srgbClr val="0D1B2A"/>
            </a:solidFill>
            <a:prstDash val="solid"/>
          </a:ln>
        </p:spPr>
      </p:sp>
      <p:sp>
        <p:nvSpPr>
          <p:cNvPr id="8" name="Text 6"/>
          <p:cNvSpPr/>
          <p:nvPr/>
        </p:nvSpPr>
        <p:spPr>
          <a:xfrm>
            <a:off x="685800" y="1344168"/>
            <a:ext cx="6492240" cy="1924304"/>
          </a:xfrm>
          <a:prstGeom prst="rect">
            <a:avLst/>
          </a:prstGeom>
          <a:noFill/>
          <a:ln/>
        </p:spPr>
        <p:txBody>
          <a:bodyPr wrap="square" rtlCol="0" anchor="t"/>
          <a:lstStyle/>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1. create it   (it exists, but is nowhere)</a:t>
            </a:r>
            <a:endParaRPr lang="en-US" sz="1150" dirty="0"/>
          </a:p>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li = document.createElement(</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"li"</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2. fill it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li.textContent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"Nusrat Jahan"</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li.classList.add(</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"student"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3. put it somewhere   &lt;-- without this, nothing appears</a:t>
            </a:r>
            <a:endParaRPr lang="en-US" sz="1150" dirty="0"/>
          </a:p>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list = 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"#list"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list.appendChild(li);</a:t>
            </a:r>
            <a:endParaRPr lang="en-US" sz="1150" dirty="0"/>
          </a:p>
        </p:txBody>
      </p:sp>
      <p:sp>
        <p:nvSpPr>
          <p:cNvPr id="9" name="Shape 7"/>
          <p:cNvSpPr/>
          <p:nvPr/>
        </p:nvSpPr>
        <p:spPr>
          <a:xfrm>
            <a:off x="7635240" y="1234440"/>
            <a:ext cx="384048" cy="384048"/>
          </a:xfrm>
          <a:prstGeom prst="ellipse">
            <a:avLst/>
          </a:prstGeom>
          <a:solidFill>
            <a:srgbClr val="003366"/>
          </a:solidFill>
          <a:ln/>
        </p:spPr>
      </p:sp>
      <p:sp>
        <p:nvSpPr>
          <p:cNvPr id="10" name="Text 8"/>
          <p:cNvSpPr/>
          <p:nvPr/>
        </p:nvSpPr>
        <p:spPr>
          <a:xfrm>
            <a:off x="7635240" y="1234440"/>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9"/>
          <p:cNvSpPr/>
          <p:nvPr/>
        </p:nvSpPr>
        <p:spPr>
          <a:xfrm>
            <a:off x="8183880" y="1234440"/>
            <a:ext cx="4005072" cy="384048"/>
          </a:xfrm>
          <a:prstGeom prst="rect">
            <a:avLst>
              <a:gd name="adj" fmla="val 9524"/>
            </a:avLst>
          </a:prstGeom>
          <a:solidFill>
            <a:srgbClr val="E8EEF4"/>
          </a:solidFill>
          <a:ln w="12700">
            <a:solidFill>
              <a:srgbClr val="D6DEE6"/>
            </a:solidFill>
            <a:prstDash val="solid"/>
          </a:ln>
        </p:spPr>
      </p:sp>
      <p:sp>
        <p:nvSpPr>
          <p:cNvPr id="12" name="Text 10"/>
          <p:cNvSpPr/>
          <p:nvPr/>
        </p:nvSpPr>
        <p:spPr>
          <a:xfrm>
            <a:off x="8183880" y="1234440"/>
            <a:ext cx="4005072" cy="384048"/>
          </a:xfrm>
          <a:prstGeom prst="rect">
            <a:avLst/>
          </a:prstGeom>
          <a:noFill/>
          <a:ln/>
        </p:spPr>
        <p:txBody>
          <a:bodyPr wrap="square" rtlCol="0" anchor="ctr"/>
          <a:lstStyle/>
          <a:p>
            <a:pPr algn="ctr" indent="0" marL="0">
              <a:buNone/>
            </a:pPr>
            <a:r>
              <a:rPr lang="en-US" sz="1250" b="1" dirty="0">
                <a:solidFill>
                  <a:srgbClr val="003366"/>
                </a:solidFill>
                <a:latin typeface="Arial" pitchFamily="34" charset="0"/>
                <a:ea typeface="Arial" pitchFamily="34" charset="-122"/>
                <a:cs typeface="Arial" pitchFamily="34" charset="-120"/>
              </a:rPr>
              <a:t>create</a:t>
            </a:r>
            <a:endParaRPr lang="en-US" sz="1250" dirty="0"/>
          </a:p>
        </p:txBody>
      </p:sp>
      <p:sp>
        <p:nvSpPr>
          <p:cNvPr id="13" name="Shape 11"/>
          <p:cNvSpPr/>
          <p:nvPr/>
        </p:nvSpPr>
        <p:spPr>
          <a:xfrm>
            <a:off x="7635240" y="1947672"/>
            <a:ext cx="384048" cy="384048"/>
          </a:xfrm>
          <a:prstGeom prst="ellipse">
            <a:avLst/>
          </a:prstGeom>
          <a:solidFill>
            <a:srgbClr val="003366"/>
          </a:solidFill>
          <a:ln/>
        </p:spPr>
      </p:sp>
      <p:sp>
        <p:nvSpPr>
          <p:cNvPr id="14" name="Text 12"/>
          <p:cNvSpPr/>
          <p:nvPr/>
        </p:nvSpPr>
        <p:spPr>
          <a:xfrm>
            <a:off x="7635240" y="1947672"/>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Shape 13"/>
          <p:cNvSpPr/>
          <p:nvPr/>
        </p:nvSpPr>
        <p:spPr>
          <a:xfrm>
            <a:off x="8183880" y="1947672"/>
            <a:ext cx="4005072" cy="384048"/>
          </a:xfrm>
          <a:prstGeom prst="rect">
            <a:avLst>
              <a:gd name="adj" fmla="val 9524"/>
            </a:avLst>
          </a:prstGeom>
          <a:solidFill>
            <a:srgbClr val="E8EEF4"/>
          </a:solidFill>
          <a:ln w="12700">
            <a:solidFill>
              <a:srgbClr val="D6DEE6"/>
            </a:solidFill>
            <a:prstDash val="solid"/>
          </a:ln>
        </p:spPr>
      </p:sp>
      <p:sp>
        <p:nvSpPr>
          <p:cNvPr id="16" name="Text 14"/>
          <p:cNvSpPr/>
          <p:nvPr/>
        </p:nvSpPr>
        <p:spPr>
          <a:xfrm>
            <a:off x="8183880" y="1947672"/>
            <a:ext cx="4005072" cy="384048"/>
          </a:xfrm>
          <a:prstGeom prst="rect">
            <a:avLst/>
          </a:prstGeom>
          <a:noFill/>
          <a:ln/>
        </p:spPr>
        <p:txBody>
          <a:bodyPr wrap="square" rtlCol="0" anchor="ctr"/>
          <a:lstStyle/>
          <a:p>
            <a:pPr algn="ctr" indent="0" marL="0">
              <a:buNone/>
            </a:pPr>
            <a:r>
              <a:rPr lang="en-US" sz="1250" b="1" dirty="0">
                <a:solidFill>
                  <a:srgbClr val="003366"/>
                </a:solidFill>
                <a:latin typeface="Arial" pitchFamily="34" charset="0"/>
                <a:ea typeface="Arial" pitchFamily="34" charset="-122"/>
                <a:cs typeface="Arial" pitchFamily="34" charset="-120"/>
              </a:rPr>
              <a:t>fill</a:t>
            </a:r>
            <a:endParaRPr lang="en-US" sz="1250" dirty="0"/>
          </a:p>
        </p:txBody>
      </p:sp>
      <p:sp>
        <p:nvSpPr>
          <p:cNvPr id="17" name="Shape 15"/>
          <p:cNvSpPr/>
          <p:nvPr/>
        </p:nvSpPr>
        <p:spPr>
          <a:xfrm>
            <a:off x="7635240" y="2660904"/>
            <a:ext cx="384048" cy="384048"/>
          </a:xfrm>
          <a:prstGeom prst="ellipse">
            <a:avLst/>
          </a:prstGeom>
          <a:solidFill>
            <a:srgbClr val="003366"/>
          </a:solidFill>
          <a:ln/>
        </p:spPr>
      </p:sp>
      <p:sp>
        <p:nvSpPr>
          <p:cNvPr id="18" name="Text 16"/>
          <p:cNvSpPr/>
          <p:nvPr/>
        </p:nvSpPr>
        <p:spPr>
          <a:xfrm>
            <a:off x="7635240" y="2660904"/>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Shape 17"/>
          <p:cNvSpPr/>
          <p:nvPr/>
        </p:nvSpPr>
        <p:spPr>
          <a:xfrm>
            <a:off x="8183880" y="2660904"/>
            <a:ext cx="4005072" cy="384048"/>
          </a:xfrm>
          <a:prstGeom prst="rect">
            <a:avLst>
              <a:gd name="adj" fmla="val 9524"/>
            </a:avLst>
          </a:prstGeom>
          <a:solidFill>
            <a:srgbClr val="E7F4EE"/>
          </a:solidFill>
          <a:ln w="12700">
            <a:solidFill>
              <a:srgbClr val="D6DEE6"/>
            </a:solidFill>
            <a:prstDash val="solid"/>
          </a:ln>
        </p:spPr>
      </p:sp>
      <p:sp>
        <p:nvSpPr>
          <p:cNvPr id="20" name="Text 18"/>
          <p:cNvSpPr/>
          <p:nvPr/>
        </p:nvSpPr>
        <p:spPr>
          <a:xfrm>
            <a:off x="8183880" y="2660904"/>
            <a:ext cx="4005072" cy="384048"/>
          </a:xfrm>
          <a:prstGeom prst="rect">
            <a:avLst/>
          </a:prstGeom>
          <a:noFill/>
          <a:ln/>
        </p:spPr>
        <p:txBody>
          <a:bodyPr wrap="square" rtlCol="0" anchor="ctr"/>
          <a:lstStyle/>
          <a:p>
            <a:pPr algn="ctr" indent="0" marL="0">
              <a:buNone/>
            </a:pPr>
            <a:r>
              <a:rPr lang="en-US" sz="1250" b="1" dirty="0">
                <a:solidFill>
                  <a:srgbClr val="003366"/>
                </a:solidFill>
                <a:latin typeface="Arial" pitchFamily="34" charset="0"/>
                <a:ea typeface="Arial" pitchFamily="34" charset="-122"/>
                <a:cs typeface="Arial" pitchFamily="34" charset="-120"/>
              </a:rPr>
              <a:t>append</a:t>
            </a:r>
            <a:endParaRPr lang="en-US" sz="1250" dirty="0"/>
          </a:p>
        </p:txBody>
      </p:sp>
      <p:sp>
        <p:nvSpPr>
          <p:cNvPr id="21" name="Shape 19"/>
          <p:cNvSpPr/>
          <p:nvPr/>
        </p:nvSpPr>
        <p:spPr>
          <a:xfrm>
            <a:off x="7635240" y="3429000"/>
            <a:ext cx="4553712" cy="2240280"/>
          </a:xfrm>
          <a:prstGeom prst="rect">
            <a:avLst>
              <a:gd name="adj" fmla="val 2449"/>
            </a:avLst>
          </a:prstGeom>
          <a:solidFill>
            <a:srgbClr val="FBEAE8"/>
          </a:solidFill>
          <a:ln w="12700">
            <a:solidFill>
              <a:srgbClr val="B3261E"/>
            </a:solidFill>
            <a:prstDash val="solid"/>
          </a:ln>
        </p:spPr>
      </p:sp>
      <p:sp>
        <p:nvSpPr>
          <p:cNvPr id="22" name="Shape 20"/>
          <p:cNvSpPr/>
          <p:nvPr/>
        </p:nvSpPr>
        <p:spPr>
          <a:xfrm>
            <a:off x="7799832" y="3593592"/>
            <a:ext cx="1632204" cy="256032"/>
          </a:xfrm>
          <a:prstGeom prst="rect">
            <a:avLst>
              <a:gd name="adj" fmla="val 17857"/>
            </a:avLst>
          </a:prstGeom>
          <a:solidFill>
            <a:srgbClr val="B3261E"/>
          </a:solidFill>
          <a:ln/>
        </p:spPr>
      </p:sp>
      <p:sp>
        <p:nvSpPr>
          <p:cNvPr id="23" name="Text 21"/>
          <p:cNvSpPr/>
          <p:nvPr/>
        </p:nvSpPr>
        <p:spPr>
          <a:xfrm>
            <a:off x="7799832" y="3593592"/>
            <a:ext cx="1632204"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STEP 3 OR NOTHING</a:t>
            </a:r>
            <a:endParaRPr lang="en-US" sz="950" dirty="0"/>
          </a:p>
        </p:txBody>
      </p:sp>
      <p:sp>
        <p:nvSpPr>
          <p:cNvPr id="24" name="Text 22"/>
          <p:cNvSpPr/>
          <p:nvPr/>
        </p:nvSpPr>
        <p:spPr>
          <a:xfrm>
            <a:off x="7799832" y="3959352"/>
            <a:ext cx="4224528"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Created is not added</a:t>
            </a:r>
            <a:endParaRPr lang="en-US" sz="1500" dirty="0"/>
          </a:p>
        </p:txBody>
      </p:sp>
      <p:sp>
        <p:nvSpPr>
          <p:cNvPr id="25" name="Text 23"/>
          <p:cNvSpPr/>
          <p:nvPr/>
        </p:nvSpPr>
        <p:spPr>
          <a:xfrm>
            <a:off x="7799832" y="4306824"/>
            <a:ext cx="4224528" cy="125272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Forget appendChild and the element exists only in memory</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No error. Nothing on the page. The most frustrating bug of the week</a:t>
            </a:r>
            <a:endParaRPr lang="en-US" sz="1250" dirty="0"/>
          </a:p>
        </p:txBody>
      </p:sp>
      <p:sp>
        <p:nvSpPr>
          <p:cNvPr id="26" name="Shape 24"/>
          <p:cNvSpPr/>
          <p:nvPr/>
        </p:nvSpPr>
        <p:spPr>
          <a:xfrm>
            <a:off x="548640" y="3931920"/>
            <a:ext cx="6766560" cy="1737360"/>
          </a:xfrm>
          <a:prstGeom prst="rect">
            <a:avLst>
              <a:gd name="adj" fmla="val 3158"/>
            </a:avLst>
          </a:prstGeom>
          <a:solidFill>
            <a:srgbClr val="FDF3E1"/>
          </a:solidFill>
          <a:ln w="12700">
            <a:solidFill>
              <a:srgbClr val="E39A18"/>
            </a:solidFill>
            <a:prstDash val="solid"/>
          </a:ln>
        </p:spPr>
      </p:sp>
      <p:sp>
        <p:nvSpPr>
          <p:cNvPr id="27" name="Text 25"/>
          <p:cNvSpPr/>
          <p:nvPr/>
        </p:nvSpPr>
        <p:spPr>
          <a:xfrm>
            <a:off x="713232" y="4096512"/>
            <a:ext cx="643737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appendChild takes an element</a:t>
            </a:r>
            <a:endParaRPr lang="en-US" sz="1500" dirty="0"/>
          </a:p>
        </p:txBody>
      </p:sp>
      <p:sp>
        <p:nvSpPr>
          <p:cNvPr id="28" name="Text 26"/>
          <p:cNvSpPr/>
          <p:nvPr/>
        </p:nvSpPr>
        <p:spPr>
          <a:xfrm>
            <a:off x="713232" y="4443984"/>
            <a:ext cx="6437376" cy="111556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list.appendChild(li)        works</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list.appendChild("Hello")   throws: parameter 1 is not of type 'Node'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The pattern: data in, elements out</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10</a:t>
            </a:r>
            <a:endParaRPr lang="en-US" sz="950" dirty="0"/>
          </a:p>
        </p:txBody>
      </p:sp>
      <p:sp>
        <p:nvSpPr>
          <p:cNvPr id="7" name="Shape 5"/>
          <p:cNvSpPr/>
          <p:nvPr/>
        </p:nvSpPr>
        <p:spPr>
          <a:xfrm>
            <a:off x="548640" y="1234440"/>
            <a:ext cx="11064240" cy="2891536"/>
          </a:xfrm>
          <a:prstGeom prst="rect">
            <a:avLst>
              <a:gd name="adj" fmla="val 1581"/>
            </a:avLst>
          </a:prstGeom>
          <a:solidFill>
            <a:srgbClr val="0D1B2A"/>
          </a:solidFill>
          <a:ln w="12700">
            <a:solidFill>
              <a:srgbClr val="0D1B2A"/>
            </a:solidFill>
            <a:prstDash val="solid"/>
          </a:ln>
        </p:spPr>
      </p:sp>
      <p:sp>
        <p:nvSpPr>
          <p:cNvPr id="8" name="Text 6"/>
          <p:cNvSpPr/>
          <p:nvPr/>
        </p:nvSpPr>
        <p:spPr>
          <a:xfrm>
            <a:off x="685800" y="1344168"/>
            <a:ext cx="10789920" cy="2672080"/>
          </a:xfrm>
          <a:prstGeom prst="rect">
            <a:avLst/>
          </a:prstGeom>
          <a:noFill/>
          <a:ln/>
        </p:spPr>
        <p:txBody>
          <a:bodyPr wrap="square" rtlCol="0" anchor="t"/>
          <a:lstStyle/>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students =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 name: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"Rahim"</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id: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"C241001"</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marks: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78</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 name: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"Karim"</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id: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"C241002"</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marks: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92</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list = document.querySelector(</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"#student-list"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for</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s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of</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students) {</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li = document.createElement(</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"li"</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create</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li.textContent = </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`${s.name} — ${s.marks}`</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fill</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li.dataset.id = s.id;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remember where it came from</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FFC46B"/>
                </a:solidFill>
                <a:latin typeface="Courier New" pitchFamily="34" charset="0"/>
                <a:ea typeface="Courier New" pitchFamily="34" charset="-122"/>
                <a:cs typeface="Courier New" pitchFamily="34" charset="-120"/>
              </a:rPr>
              <a:t>if</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(s.marks &gt;= </a:t>
            </a:r>
            <a:pPr indent="0" marL="0">
              <a:lnSpc>
                <a:spcPct val="105000"/>
              </a:lnSpc>
              <a:buNone/>
            </a:pPr>
            <a:r>
              <a:rPr lang="en-US" sz="1150" dirty="0">
                <a:solidFill>
                  <a:srgbClr val="8FD3FF"/>
                </a:solidFill>
                <a:latin typeface="Courier New" pitchFamily="34" charset="0"/>
                <a:ea typeface="Courier New" pitchFamily="34" charset="-122"/>
                <a:cs typeface="Courier New" pitchFamily="34" charset="-120"/>
              </a:rPr>
              <a:t>80</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li.classList.add(</a:t>
            </a:r>
            <a:pPr indent="0" marL="0">
              <a:lnSpc>
                <a:spcPct val="105000"/>
              </a:lnSpc>
              <a:buNone/>
            </a:pPr>
            <a:r>
              <a:rPr lang="en-US" sz="1150" dirty="0">
                <a:solidFill>
                  <a:srgbClr val="A8E6A3"/>
                </a:solidFill>
                <a:latin typeface="Courier New" pitchFamily="34" charset="0"/>
                <a:ea typeface="Courier New" pitchFamily="34" charset="-122"/>
                <a:cs typeface="Courier New" pitchFamily="34" charset="-120"/>
              </a:rPr>
              <a:t>"top"</a:t>
            </a:r>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decide its look</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  list.appendChild(li);                         </a:t>
            </a:r>
            <a:pPr indent="0" marL="0">
              <a:lnSpc>
                <a:spcPct val="105000"/>
              </a:lnSpc>
              <a:buNone/>
            </a:pPr>
            <a:r>
              <a:rPr lang="en-US" sz="1150" dirty="0">
                <a:solidFill>
                  <a:srgbClr val="8296A8"/>
                </a:solidFill>
                <a:latin typeface="Courier New" pitchFamily="34" charset="0"/>
                <a:ea typeface="Courier New" pitchFamily="34" charset="-122"/>
                <a:cs typeface="Courier New" pitchFamily="34" charset="-120"/>
              </a:rPr>
              <a:t> // append</a:t>
            </a:r>
            <a:endParaRPr lang="en-US" sz="1150" dirty="0"/>
          </a:p>
          <a:p>
            <a:pPr indent="0" marL="0">
              <a:lnSpc>
                <a:spcPct val="105000"/>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9" name="Shape 7"/>
          <p:cNvSpPr/>
          <p:nvPr/>
        </p:nvSpPr>
        <p:spPr>
          <a:xfrm>
            <a:off x="548640" y="4526280"/>
            <a:ext cx="11064240" cy="914400"/>
          </a:xfrm>
          <a:prstGeom prst="rect">
            <a:avLst>
              <a:gd name="adj" fmla="val 6000"/>
            </a:avLst>
          </a:prstGeom>
          <a:solidFill>
            <a:srgbClr val="E7F4EE"/>
          </a:solidFill>
          <a:ln w="12700">
            <a:solidFill>
              <a:srgbClr val="1F7A55"/>
            </a:solidFill>
            <a:prstDash val="solid"/>
          </a:ln>
        </p:spPr>
      </p:sp>
      <p:sp>
        <p:nvSpPr>
          <p:cNvPr id="10" name="Text 8"/>
          <p:cNvSpPr/>
          <p:nvPr/>
        </p:nvSpPr>
        <p:spPr>
          <a:xfrm>
            <a:off x="713232" y="4690872"/>
            <a:ext cx="1073505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This loop is the rest of the course</a:t>
            </a:r>
            <a:endParaRPr lang="en-US" sz="1500" dirty="0"/>
          </a:p>
        </p:txBody>
      </p:sp>
      <p:sp>
        <p:nvSpPr>
          <p:cNvPr id="11" name="Text 9"/>
          <p:cNvSpPr/>
          <p:nvPr/>
        </p:nvSpPr>
        <p:spPr>
          <a:xfrm>
            <a:off x="713232" y="5038344"/>
            <a:ext cx="10735056" cy="29260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Products, comments, search results, API responses. Different words, identical shape.</a:t>
            </a:r>
            <a:endParaRPr lang="en-US" sz="1250" dirty="0"/>
          </a:p>
        </p:txBody>
      </p:sp>
      <p:sp>
        <p:nvSpPr>
          <p:cNvPr id="12" name="Shape 10"/>
          <p:cNvSpPr/>
          <p:nvPr/>
        </p:nvSpPr>
        <p:spPr>
          <a:xfrm>
            <a:off x="548640" y="5577840"/>
            <a:ext cx="11064240" cy="685800"/>
          </a:xfrm>
          <a:prstGeom prst="rect">
            <a:avLst>
              <a:gd name="adj" fmla="val 8000"/>
            </a:avLst>
          </a:prstGeom>
          <a:solidFill>
            <a:srgbClr val="F2F5F8"/>
          </a:solidFill>
          <a:ln w="12700">
            <a:solidFill>
              <a:srgbClr val="D6DEE6"/>
            </a:solidFill>
            <a:prstDash val="solid"/>
          </a:ln>
        </p:spPr>
      </p:sp>
      <p:sp>
        <p:nvSpPr>
          <p:cNvPr id="13" name="Text 11"/>
          <p:cNvSpPr/>
          <p:nvPr/>
        </p:nvSpPr>
        <p:spPr>
          <a:xfrm>
            <a:off x="713232" y="5742432"/>
            <a:ext cx="10735056" cy="411480"/>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Last class you had the array. This class you have the loop. That is a working page.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15-30 MIN · LIVE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innerHTML or createElement?</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11</a:t>
            </a:r>
            <a:endParaRPr lang="en-US" sz="950" dirty="0"/>
          </a:p>
        </p:txBody>
      </p:sp>
      <p:sp>
        <p:nvSpPr>
          <p:cNvPr id="7" name="Shape 5"/>
          <p:cNvSpPr/>
          <p:nvPr/>
        </p:nvSpPr>
        <p:spPr>
          <a:xfrm>
            <a:off x="548640" y="1234440"/>
            <a:ext cx="5486400" cy="989584"/>
          </a:xfrm>
          <a:prstGeom prst="rect">
            <a:avLst>
              <a:gd name="adj" fmla="val 4620"/>
            </a:avLst>
          </a:prstGeom>
          <a:solidFill>
            <a:srgbClr val="0D1B2A"/>
          </a:solidFill>
          <a:ln w="12700">
            <a:solidFill>
              <a:srgbClr val="0D1B2A"/>
            </a:solidFill>
            <a:prstDash val="solid"/>
          </a:ln>
        </p:spPr>
      </p:sp>
      <p:sp>
        <p:nvSpPr>
          <p:cNvPr id="8" name="Text 6"/>
          <p:cNvSpPr/>
          <p:nvPr/>
        </p:nvSpPr>
        <p:spPr>
          <a:xfrm>
            <a:off x="685800" y="1344168"/>
            <a:ext cx="5212080" cy="770128"/>
          </a:xfrm>
          <a:prstGeom prst="rect">
            <a:avLst/>
          </a:prstGeom>
          <a:noFill/>
          <a:ln/>
        </p:spPr>
        <p:txBody>
          <a:bodyPr wrap="square" rtlCol="0" anchor="t"/>
          <a:lstStyle/>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innerHTML: short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list.innerHTML = students</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.map(s =&gt;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`&lt;li&gt;${s.name}&lt;/li&gt;`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.join(</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p:txBody>
      </p:sp>
      <p:sp>
        <p:nvSpPr>
          <p:cNvPr id="9" name="Shape 7"/>
          <p:cNvSpPr/>
          <p:nvPr/>
        </p:nvSpPr>
        <p:spPr>
          <a:xfrm>
            <a:off x="6355080" y="1234440"/>
            <a:ext cx="5285232" cy="1347216"/>
          </a:xfrm>
          <a:prstGeom prst="rect">
            <a:avLst>
              <a:gd name="adj" fmla="val 3394"/>
            </a:avLst>
          </a:prstGeom>
          <a:solidFill>
            <a:srgbClr val="0D1B2A"/>
          </a:solidFill>
          <a:ln w="12700">
            <a:solidFill>
              <a:srgbClr val="0D1B2A"/>
            </a:solidFill>
            <a:prstDash val="solid"/>
          </a:ln>
        </p:spPr>
      </p:sp>
      <p:sp>
        <p:nvSpPr>
          <p:cNvPr id="10" name="Text 8"/>
          <p:cNvSpPr/>
          <p:nvPr/>
        </p:nvSpPr>
        <p:spPr>
          <a:xfrm>
            <a:off x="6492240" y="1344168"/>
            <a:ext cx="5010912" cy="1127760"/>
          </a:xfrm>
          <a:prstGeom prst="rect">
            <a:avLst/>
          </a:prstGeom>
          <a:noFill/>
          <a:ln/>
        </p:spPr>
        <p:txBody>
          <a:bodyPr wrap="square" rtlCol="0" anchor="t"/>
          <a:lstStyle/>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createElement: controlled</a:t>
            </a:r>
            <a:endParaRPr lang="en-US" sz="1100" dirty="0"/>
          </a:p>
          <a:p>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for</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s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of</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students)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li = document.createElement(</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"li"</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li.textContent = s.name;</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list.appendChild(li);</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548640" y="2880360"/>
            <a:ext cx="5486400" cy="1783080"/>
          </a:xfrm>
          <a:prstGeom prst="rect">
            <a:avLst>
              <a:gd name="adj" fmla="val 3077"/>
            </a:avLst>
          </a:prstGeom>
          <a:solidFill>
            <a:srgbClr val="F2F5F8"/>
          </a:solidFill>
          <a:ln w="12700">
            <a:solidFill>
              <a:srgbClr val="D6DEE6"/>
            </a:solidFill>
            <a:prstDash val="solid"/>
          </a:ln>
        </p:spPr>
      </p:sp>
      <p:sp>
        <p:nvSpPr>
          <p:cNvPr id="12" name="Text 10"/>
          <p:cNvSpPr/>
          <p:nvPr/>
        </p:nvSpPr>
        <p:spPr>
          <a:xfrm>
            <a:off x="713232" y="304495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innerHTML wins when</a:t>
            </a:r>
            <a:endParaRPr lang="en-US" sz="1500" dirty="0"/>
          </a:p>
        </p:txBody>
      </p:sp>
      <p:sp>
        <p:nvSpPr>
          <p:cNvPr id="13" name="Text 11"/>
          <p:cNvSpPr/>
          <p:nvPr/>
        </p:nvSpPr>
        <p:spPr>
          <a:xfrm>
            <a:off x="713232" y="3392424"/>
            <a:ext cx="5157216" cy="116128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are writing the whole block at once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content is yours, not typed by a user</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want fewer lines</a:t>
            </a:r>
            <a:endParaRPr lang="en-US" sz="1250" dirty="0"/>
          </a:p>
        </p:txBody>
      </p:sp>
      <p:sp>
        <p:nvSpPr>
          <p:cNvPr id="14" name="Shape 12"/>
          <p:cNvSpPr/>
          <p:nvPr/>
        </p:nvSpPr>
        <p:spPr>
          <a:xfrm>
            <a:off x="6355080" y="2880360"/>
            <a:ext cx="5285232" cy="1783080"/>
          </a:xfrm>
          <a:prstGeom prst="rect">
            <a:avLst>
              <a:gd name="adj" fmla="val 3077"/>
            </a:avLst>
          </a:prstGeom>
          <a:solidFill>
            <a:srgbClr val="E7F4EE"/>
          </a:solidFill>
          <a:ln w="12700">
            <a:solidFill>
              <a:srgbClr val="1F7A55"/>
            </a:solidFill>
            <a:prstDash val="solid"/>
          </a:ln>
        </p:spPr>
      </p:sp>
      <p:sp>
        <p:nvSpPr>
          <p:cNvPr id="15" name="Text 13"/>
          <p:cNvSpPr/>
          <p:nvPr/>
        </p:nvSpPr>
        <p:spPr>
          <a:xfrm>
            <a:off x="6519672" y="304495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createElement wins when</a:t>
            </a:r>
            <a:endParaRPr lang="en-US" sz="1500" dirty="0"/>
          </a:p>
        </p:txBody>
      </p:sp>
      <p:sp>
        <p:nvSpPr>
          <p:cNvPr id="16" name="Text 14"/>
          <p:cNvSpPr/>
          <p:nvPr/>
        </p:nvSpPr>
        <p:spPr>
          <a:xfrm>
            <a:off x="6519672" y="3392424"/>
            <a:ext cx="4956048" cy="116128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text came from a person</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need dataset or classList on each item</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 are adding to a list, not replacing it</a:t>
            </a:r>
            <a:endParaRPr lang="en-US" sz="1250" dirty="0"/>
          </a:p>
        </p:txBody>
      </p:sp>
      <p:sp>
        <p:nvSpPr>
          <p:cNvPr id="17" name="Shape 15"/>
          <p:cNvSpPr/>
          <p:nvPr/>
        </p:nvSpPr>
        <p:spPr>
          <a:xfrm>
            <a:off x="548640" y="4846320"/>
            <a:ext cx="11064240" cy="1280160"/>
          </a:xfrm>
          <a:prstGeom prst="rect">
            <a:avLst>
              <a:gd name="adj" fmla="val 4286"/>
            </a:avLst>
          </a:prstGeom>
          <a:solidFill>
            <a:srgbClr val="FBEAE8"/>
          </a:solidFill>
          <a:ln w="12700">
            <a:solidFill>
              <a:srgbClr val="B3261E"/>
            </a:solidFill>
            <a:prstDash val="solid"/>
          </a:ln>
        </p:spPr>
      </p:sp>
      <p:sp>
        <p:nvSpPr>
          <p:cNvPr id="18" name="Text 16"/>
          <p:cNvSpPr/>
          <p:nvPr/>
        </p:nvSpPr>
        <p:spPr>
          <a:xfrm>
            <a:off x="713232" y="5010912"/>
            <a:ext cx="10735056"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The trap with innerHTML</a:t>
            </a:r>
            <a:endParaRPr lang="en-US" sz="1500" dirty="0"/>
          </a:p>
        </p:txBody>
      </p:sp>
      <p:sp>
        <p:nvSpPr>
          <p:cNvPr id="19" name="Text 17"/>
          <p:cNvSpPr/>
          <p:nvPr/>
        </p:nvSpPr>
        <p:spPr>
          <a:xfrm>
            <a:off x="713232" y="5358384"/>
            <a:ext cx="10735056" cy="65836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list.innerHTML = ... replaces everything inside, every time. Use += and you rebuild the whole list on each pass.</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This course uses createElement by default. Use innerHTML when you can say why.</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30-43 MIN · STUDENT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Live build: a student card board</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12</a:t>
            </a:r>
            <a:endParaRPr lang="en-US" sz="950" dirty="0"/>
          </a:p>
        </p:txBody>
      </p:sp>
      <p:sp>
        <p:nvSpPr>
          <p:cNvPr id="7" name="Shape 5"/>
          <p:cNvSpPr/>
          <p:nvPr/>
        </p:nvSpPr>
        <p:spPr>
          <a:xfrm>
            <a:off x="548640" y="1298448"/>
            <a:ext cx="6675120" cy="4754880"/>
          </a:xfrm>
          <a:prstGeom prst="rect">
            <a:avLst>
              <a:gd name="adj" fmla="val 962"/>
            </a:avLst>
          </a:prstGeom>
          <a:solidFill>
            <a:srgbClr val="FFFFFF"/>
          </a:solidFill>
          <a:ln w="12700">
            <a:solidFill>
              <a:srgbClr val="D6DEE6"/>
            </a:solidFill>
            <a:prstDash val="solid"/>
          </a:ln>
        </p:spPr>
      </p:sp>
      <p:sp>
        <p:nvSpPr>
          <p:cNvPr id="8" name="Shape 6"/>
          <p:cNvSpPr/>
          <p:nvPr/>
        </p:nvSpPr>
        <p:spPr>
          <a:xfrm>
            <a:off x="548640" y="1298448"/>
            <a:ext cx="6675120" cy="274320"/>
          </a:xfrm>
          <a:prstGeom prst="rect">
            <a:avLst/>
          </a:prstGeom>
          <a:solidFill>
            <a:srgbClr val="E8EEF4"/>
          </a:solidFill>
          <a:ln w="12700">
            <a:solidFill>
              <a:srgbClr val="D6DEE6"/>
            </a:solidFill>
            <a:prstDash val="solid"/>
          </a:ln>
        </p:spPr>
      </p:sp>
      <p:sp>
        <p:nvSpPr>
          <p:cNvPr id="9" name="Shape 7"/>
          <p:cNvSpPr/>
          <p:nvPr/>
        </p:nvSpPr>
        <p:spPr>
          <a:xfrm>
            <a:off x="658368" y="1380744"/>
            <a:ext cx="109728" cy="109728"/>
          </a:xfrm>
          <a:prstGeom prst="ellipse">
            <a:avLst/>
          </a:prstGeom>
          <a:solidFill>
            <a:srgbClr val="E06C5A"/>
          </a:solidFill>
          <a:ln w="12700">
            <a:solidFill>
              <a:srgbClr val="333333"/>
            </a:solidFill>
            <a:prstDash val="solid"/>
          </a:ln>
        </p:spPr>
      </p:sp>
      <p:sp>
        <p:nvSpPr>
          <p:cNvPr id="10" name="Shape 8"/>
          <p:cNvSpPr/>
          <p:nvPr/>
        </p:nvSpPr>
        <p:spPr>
          <a:xfrm>
            <a:off x="822960" y="1380744"/>
            <a:ext cx="109728" cy="109728"/>
          </a:xfrm>
          <a:prstGeom prst="ellipse">
            <a:avLst/>
          </a:prstGeom>
          <a:solidFill>
            <a:srgbClr val="E3B341"/>
          </a:solidFill>
          <a:ln w="12700">
            <a:solidFill>
              <a:srgbClr val="333333"/>
            </a:solidFill>
            <a:prstDash val="solid"/>
          </a:ln>
        </p:spPr>
      </p:sp>
      <p:sp>
        <p:nvSpPr>
          <p:cNvPr id="11" name="Shape 9"/>
          <p:cNvSpPr/>
          <p:nvPr/>
        </p:nvSpPr>
        <p:spPr>
          <a:xfrm>
            <a:off x="987552" y="1380744"/>
            <a:ext cx="109728" cy="109728"/>
          </a:xfrm>
          <a:prstGeom prst="ellipse">
            <a:avLst/>
          </a:prstGeom>
          <a:solidFill>
            <a:srgbClr val="6FBF73"/>
          </a:solidFill>
          <a:ln w="12700">
            <a:solidFill>
              <a:srgbClr val="333333"/>
            </a:solidFill>
            <a:prstDash val="solid"/>
          </a:ln>
        </p:spPr>
      </p:sp>
      <p:sp>
        <p:nvSpPr>
          <p:cNvPr id="12" name="Text 10"/>
          <p:cNvSpPr/>
          <p:nvPr/>
        </p:nvSpPr>
        <p:spPr>
          <a:xfrm>
            <a:off x="1234440" y="1316736"/>
            <a:ext cx="5852160" cy="237744"/>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board.html</a:t>
            </a:r>
            <a:endParaRPr lang="en-US" sz="950" dirty="0"/>
          </a:p>
        </p:txBody>
      </p:sp>
      <p:sp>
        <p:nvSpPr>
          <p:cNvPr id="13" name="Text 11"/>
          <p:cNvSpPr/>
          <p:nvPr/>
        </p:nvSpPr>
        <p:spPr>
          <a:xfrm>
            <a:off x="868680" y="1783080"/>
            <a:ext cx="6035040" cy="347472"/>
          </a:xfrm>
          <a:prstGeom prst="rect">
            <a:avLst/>
          </a:prstGeom>
          <a:noFill/>
          <a:ln/>
        </p:spPr>
        <p:txBody>
          <a:bodyPr wrap="square" rtlCol="0" anchor="ctr"/>
          <a:lstStyle/>
          <a:p>
            <a:pPr indent="0" marL="0">
              <a:buNone/>
            </a:pPr>
            <a:r>
              <a:rPr lang="en-US" sz="1800" b="1" dirty="0">
                <a:solidFill>
                  <a:srgbClr val="003366"/>
                </a:solidFill>
                <a:latin typeface="Arial" pitchFamily="34" charset="0"/>
                <a:ea typeface="Arial" pitchFamily="34" charset="-122"/>
                <a:cs typeface="Arial" pitchFamily="34" charset="-120"/>
              </a:rPr>
              <a:t>Class Board</a:t>
            </a:r>
            <a:endParaRPr lang="en-US" sz="1800" dirty="0"/>
          </a:p>
        </p:txBody>
      </p:sp>
      <p:sp>
        <p:nvSpPr>
          <p:cNvPr id="14" name="Shape 12"/>
          <p:cNvSpPr/>
          <p:nvPr/>
        </p:nvSpPr>
        <p:spPr>
          <a:xfrm>
            <a:off x="868680" y="2286000"/>
            <a:ext cx="2834640" cy="960120"/>
          </a:xfrm>
          <a:prstGeom prst="rect">
            <a:avLst>
              <a:gd name="adj" fmla="val 4762"/>
            </a:avLst>
          </a:prstGeom>
          <a:solidFill>
            <a:srgbClr val="F2F5F8"/>
          </a:solidFill>
          <a:ln w="12700">
            <a:solidFill>
              <a:srgbClr val="D6DEE6"/>
            </a:solidFill>
            <a:prstDash val="solid"/>
          </a:ln>
        </p:spPr>
      </p:sp>
      <p:sp>
        <p:nvSpPr>
          <p:cNvPr id="15" name="Text 13"/>
          <p:cNvSpPr/>
          <p:nvPr/>
        </p:nvSpPr>
        <p:spPr>
          <a:xfrm>
            <a:off x="1033272" y="2395728"/>
            <a:ext cx="1828800" cy="274320"/>
          </a:xfrm>
          <a:prstGeom prst="rect">
            <a:avLst/>
          </a:prstGeom>
          <a:noFill/>
          <a:ln/>
        </p:spPr>
        <p:txBody>
          <a:bodyPr wrap="square" rtlCol="0" anchor="ctr"/>
          <a:lstStyle/>
          <a:p>
            <a:pPr indent="0" marL="0">
              <a:buNone/>
            </a:pPr>
            <a:r>
              <a:rPr lang="en-US" sz="1300" b="1" dirty="0">
                <a:solidFill>
                  <a:srgbClr val="003366"/>
                </a:solidFill>
                <a:latin typeface="Arial" pitchFamily="34" charset="0"/>
                <a:ea typeface="Arial" pitchFamily="34" charset="-122"/>
                <a:cs typeface="Arial" pitchFamily="34" charset="-120"/>
              </a:rPr>
              <a:t>Rahim</a:t>
            </a:r>
            <a:endParaRPr lang="en-US" sz="1300" dirty="0"/>
          </a:p>
        </p:txBody>
      </p:sp>
      <p:sp>
        <p:nvSpPr>
          <p:cNvPr id="16" name="Text 14"/>
          <p:cNvSpPr/>
          <p:nvPr/>
        </p:nvSpPr>
        <p:spPr>
          <a:xfrm>
            <a:off x="1033272" y="2697480"/>
            <a:ext cx="1828800" cy="274320"/>
          </a:xfrm>
          <a:prstGeom prst="rect">
            <a:avLst/>
          </a:prstGeom>
          <a:noFill/>
          <a:ln/>
        </p:spPr>
        <p:txBody>
          <a:bodyPr wrap="square" rtlCol="0" anchor="ctr"/>
          <a:lstStyle/>
          <a:p>
            <a:pPr indent="0" marL="0">
              <a:buNone/>
            </a:pPr>
            <a:r>
              <a:rPr lang="en-US" sz="1100" dirty="0">
                <a:solidFill>
                  <a:srgbClr val="3D4A57"/>
                </a:solidFill>
                <a:latin typeface="Arial" pitchFamily="34" charset="0"/>
                <a:ea typeface="Arial" pitchFamily="34" charset="-122"/>
                <a:cs typeface="Arial" pitchFamily="34" charset="-120"/>
              </a:rPr>
              <a:t>78 marks</a:t>
            </a:r>
            <a:endParaRPr lang="en-US" sz="1100" dirty="0"/>
          </a:p>
        </p:txBody>
      </p:sp>
      <p:sp>
        <p:nvSpPr>
          <p:cNvPr id="17" name="Shape 15"/>
          <p:cNvSpPr/>
          <p:nvPr/>
        </p:nvSpPr>
        <p:spPr>
          <a:xfrm>
            <a:off x="3931920" y="2286000"/>
            <a:ext cx="2834640" cy="960120"/>
          </a:xfrm>
          <a:prstGeom prst="rect">
            <a:avLst>
              <a:gd name="adj" fmla="val 4762"/>
            </a:avLst>
          </a:prstGeom>
          <a:solidFill>
            <a:srgbClr val="E7F4EE"/>
          </a:solidFill>
          <a:ln w="12700">
            <a:solidFill>
              <a:srgbClr val="1F7A55"/>
            </a:solidFill>
            <a:prstDash val="solid"/>
          </a:ln>
        </p:spPr>
      </p:sp>
      <p:sp>
        <p:nvSpPr>
          <p:cNvPr id="18" name="Text 16"/>
          <p:cNvSpPr/>
          <p:nvPr/>
        </p:nvSpPr>
        <p:spPr>
          <a:xfrm>
            <a:off x="4096512" y="2395728"/>
            <a:ext cx="1828800" cy="274320"/>
          </a:xfrm>
          <a:prstGeom prst="rect">
            <a:avLst/>
          </a:prstGeom>
          <a:noFill/>
          <a:ln/>
        </p:spPr>
        <p:txBody>
          <a:bodyPr wrap="square" rtlCol="0" anchor="ctr"/>
          <a:lstStyle/>
          <a:p>
            <a:pPr indent="0" marL="0">
              <a:buNone/>
            </a:pPr>
            <a:r>
              <a:rPr lang="en-US" sz="1300" b="1" dirty="0">
                <a:solidFill>
                  <a:srgbClr val="003366"/>
                </a:solidFill>
                <a:latin typeface="Arial" pitchFamily="34" charset="0"/>
                <a:ea typeface="Arial" pitchFamily="34" charset="-122"/>
                <a:cs typeface="Arial" pitchFamily="34" charset="-120"/>
              </a:rPr>
              <a:t>Karim</a:t>
            </a:r>
            <a:endParaRPr lang="en-US" sz="1300" dirty="0"/>
          </a:p>
        </p:txBody>
      </p:sp>
      <p:sp>
        <p:nvSpPr>
          <p:cNvPr id="19" name="Text 17"/>
          <p:cNvSpPr/>
          <p:nvPr/>
        </p:nvSpPr>
        <p:spPr>
          <a:xfrm>
            <a:off x="4096512" y="2697480"/>
            <a:ext cx="1828800" cy="274320"/>
          </a:xfrm>
          <a:prstGeom prst="rect">
            <a:avLst/>
          </a:prstGeom>
          <a:noFill/>
          <a:ln/>
        </p:spPr>
        <p:txBody>
          <a:bodyPr wrap="square" rtlCol="0" anchor="ctr"/>
          <a:lstStyle/>
          <a:p>
            <a:pPr indent="0" marL="0">
              <a:buNone/>
            </a:pPr>
            <a:r>
              <a:rPr lang="en-US" sz="1100" dirty="0">
                <a:solidFill>
                  <a:srgbClr val="3D4A57"/>
                </a:solidFill>
                <a:latin typeface="Arial" pitchFamily="34" charset="0"/>
                <a:ea typeface="Arial" pitchFamily="34" charset="-122"/>
                <a:cs typeface="Arial" pitchFamily="34" charset="-120"/>
              </a:rPr>
              <a:t>92 marks</a:t>
            </a:r>
            <a:endParaRPr lang="en-US" sz="1100" dirty="0"/>
          </a:p>
        </p:txBody>
      </p:sp>
      <p:sp>
        <p:nvSpPr>
          <p:cNvPr id="20" name="Shape 18"/>
          <p:cNvSpPr/>
          <p:nvPr/>
        </p:nvSpPr>
        <p:spPr>
          <a:xfrm>
            <a:off x="5989320" y="2414016"/>
            <a:ext cx="621792" cy="237744"/>
          </a:xfrm>
          <a:prstGeom prst="rect">
            <a:avLst>
              <a:gd name="adj" fmla="val 15385"/>
            </a:avLst>
          </a:prstGeom>
          <a:solidFill>
            <a:srgbClr val="1F7A55"/>
          </a:solidFill>
          <a:ln/>
        </p:spPr>
      </p:sp>
      <p:sp>
        <p:nvSpPr>
          <p:cNvPr id="21" name="Text 19"/>
          <p:cNvSpPr/>
          <p:nvPr/>
        </p:nvSpPr>
        <p:spPr>
          <a:xfrm>
            <a:off x="5989320" y="2414016"/>
            <a:ext cx="621792"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TOP</a:t>
            </a:r>
            <a:endParaRPr lang="en-US" sz="850" dirty="0"/>
          </a:p>
        </p:txBody>
      </p:sp>
      <p:sp>
        <p:nvSpPr>
          <p:cNvPr id="22" name="Shape 20"/>
          <p:cNvSpPr/>
          <p:nvPr/>
        </p:nvSpPr>
        <p:spPr>
          <a:xfrm>
            <a:off x="868680" y="3429000"/>
            <a:ext cx="2834640" cy="960120"/>
          </a:xfrm>
          <a:prstGeom prst="rect">
            <a:avLst>
              <a:gd name="adj" fmla="val 4762"/>
            </a:avLst>
          </a:prstGeom>
          <a:solidFill>
            <a:srgbClr val="F2F5F8"/>
          </a:solidFill>
          <a:ln w="12700">
            <a:solidFill>
              <a:srgbClr val="D6DEE6"/>
            </a:solidFill>
            <a:prstDash val="solid"/>
          </a:ln>
        </p:spPr>
      </p:sp>
      <p:sp>
        <p:nvSpPr>
          <p:cNvPr id="23" name="Text 21"/>
          <p:cNvSpPr/>
          <p:nvPr/>
        </p:nvSpPr>
        <p:spPr>
          <a:xfrm>
            <a:off x="1033272" y="3538728"/>
            <a:ext cx="1828800" cy="274320"/>
          </a:xfrm>
          <a:prstGeom prst="rect">
            <a:avLst/>
          </a:prstGeom>
          <a:noFill/>
          <a:ln/>
        </p:spPr>
        <p:txBody>
          <a:bodyPr wrap="square" rtlCol="0" anchor="ctr"/>
          <a:lstStyle/>
          <a:p>
            <a:pPr indent="0" marL="0">
              <a:buNone/>
            </a:pPr>
            <a:r>
              <a:rPr lang="en-US" sz="1300" b="1" dirty="0">
                <a:solidFill>
                  <a:srgbClr val="003366"/>
                </a:solidFill>
                <a:latin typeface="Arial" pitchFamily="34" charset="0"/>
                <a:ea typeface="Arial" pitchFamily="34" charset="-122"/>
                <a:cs typeface="Arial" pitchFamily="34" charset="-120"/>
              </a:rPr>
              <a:t>Nusrat</a:t>
            </a:r>
            <a:endParaRPr lang="en-US" sz="1300" dirty="0"/>
          </a:p>
        </p:txBody>
      </p:sp>
      <p:sp>
        <p:nvSpPr>
          <p:cNvPr id="24" name="Text 22"/>
          <p:cNvSpPr/>
          <p:nvPr/>
        </p:nvSpPr>
        <p:spPr>
          <a:xfrm>
            <a:off x="1033272" y="3840480"/>
            <a:ext cx="1828800" cy="274320"/>
          </a:xfrm>
          <a:prstGeom prst="rect">
            <a:avLst/>
          </a:prstGeom>
          <a:noFill/>
          <a:ln/>
        </p:spPr>
        <p:txBody>
          <a:bodyPr wrap="square" rtlCol="0" anchor="ctr"/>
          <a:lstStyle/>
          <a:p>
            <a:pPr indent="0" marL="0">
              <a:buNone/>
            </a:pPr>
            <a:r>
              <a:rPr lang="en-US" sz="1100" dirty="0">
                <a:solidFill>
                  <a:srgbClr val="3D4A57"/>
                </a:solidFill>
                <a:latin typeface="Arial" pitchFamily="34" charset="0"/>
                <a:ea typeface="Arial" pitchFamily="34" charset="-122"/>
                <a:cs typeface="Arial" pitchFamily="34" charset="-120"/>
              </a:rPr>
              <a:t>65 marks</a:t>
            </a:r>
            <a:endParaRPr lang="en-US" sz="1100" dirty="0"/>
          </a:p>
        </p:txBody>
      </p:sp>
      <p:sp>
        <p:nvSpPr>
          <p:cNvPr id="25" name="Shape 23"/>
          <p:cNvSpPr/>
          <p:nvPr/>
        </p:nvSpPr>
        <p:spPr>
          <a:xfrm>
            <a:off x="3931920" y="3429000"/>
            <a:ext cx="2834640" cy="960120"/>
          </a:xfrm>
          <a:prstGeom prst="rect">
            <a:avLst>
              <a:gd name="adj" fmla="val 4762"/>
            </a:avLst>
          </a:prstGeom>
          <a:solidFill>
            <a:srgbClr val="E7F4EE"/>
          </a:solidFill>
          <a:ln w="12700">
            <a:solidFill>
              <a:srgbClr val="1F7A55"/>
            </a:solidFill>
            <a:prstDash val="solid"/>
          </a:ln>
        </p:spPr>
      </p:sp>
      <p:sp>
        <p:nvSpPr>
          <p:cNvPr id="26" name="Text 24"/>
          <p:cNvSpPr/>
          <p:nvPr/>
        </p:nvSpPr>
        <p:spPr>
          <a:xfrm>
            <a:off x="4096512" y="3538728"/>
            <a:ext cx="1828800" cy="274320"/>
          </a:xfrm>
          <a:prstGeom prst="rect">
            <a:avLst/>
          </a:prstGeom>
          <a:noFill/>
          <a:ln/>
        </p:spPr>
        <p:txBody>
          <a:bodyPr wrap="square" rtlCol="0" anchor="ctr"/>
          <a:lstStyle/>
          <a:p>
            <a:pPr indent="0" marL="0">
              <a:buNone/>
            </a:pPr>
            <a:r>
              <a:rPr lang="en-US" sz="1300" b="1" dirty="0">
                <a:solidFill>
                  <a:srgbClr val="003366"/>
                </a:solidFill>
                <a:latin typeface="Arial" pitchFamily="34" charset="0"/>
                <a:ea typeface="Arial" pitchFamily="34" charset="-122"/>
                <a:cs typeface="Arial" pitchFamily="34" charset="-120"/>
              </a:rPr>
              <a:t>Tasnim</a:t>
            </a:r>
            <a:endParaRPr lang="en-US" sz="1300" dirty="0"/>
          </a:p>
        </p:txBody>
      </p:sp>
      <p:sp>
        <p:nvSpPr>
          <p:cNvPr id="27" name="Text 25"/>
          <p:cNvSpPr/>
          <p:nvPr/>
        </p:nvSpPr>
        <p:spPr>
          <a:xfrm>
            <a:off x="4096512" y="3840480"/>
            <a:ext cx="1828800" cy="274320"/>
          </a:xfrm>
          <a:prstGeom prst="rect">
            <a:avLst/>
          </a:prstGeom>
          <a:noFill/>
          <a:ln/>
        </p:spPr>
        <p:txBody>
          <a:bodyPr wrap="square" rtlCol="0" anchor="ctr"/>
          <a:lstStyle/>
          <a:p>
            <a:pPr indent="0" marL="0">
              <a:buNone/>
            </a:pPr>
            <a:r>
              <a:rPr lang="en-US" sz="1100" dirty="0">
                <a:solidFill>
                  <a:srgbClr val="3D4A57"/>
                </a:solidFill>
                <a:latin typeface="Arial" pitchFamily="34" charset="0"/>
                <a:ea typeface="Arial" pitchFamily="34" charset="-122"/>
                <a:cs typeface="Arial" pitchFamily="34" charset="-120"/>
              </a:rPr>
              <a:t>88 marks</a:t>
            </a:r>
            <a:endParaRPr lang="en-US" sz="1100" dirty="0"/>
          </a:p>
        </p:txBody>
      </p:sp>
      <p:sp>
        <p:nvSpPr>
          <p:cNvPr id="28" name="Shape 26"/>
          <p:cNvSpPr/>
          <p:nvPr/>
        </p:nvSpPr>
        <p:spPr>
          <a:xfrm>
            <a:off x="5989320" y="3557016"/>
            <a:ext cx="621792" cy="237744"/>
          </a:xfrm>
          <a:prstGeom prst="rect">
            <a:avLst>
              <a:gd name="adj" fmla="val 15385"/>
            </a:avLst>
          </a:prstGeom>
          <a:solidFill>
            <a:srgbClr val="1F7A55"/>
          </a:solidFill>
          <a:ln/>
        </p:spPr>
      </p:sp>
      <p:sp>
        <p:nvSpPr>
          <p:cNvPr id="29" name="Text 27"/>
          <p:cNvSpPr/>
          <p:nvPr/>
        </p:nvSpPr>
        <p:spPr>
          <a:xfrm>
            <a:off x="5989320" y="3557016"/>
            <a:ext cx="621792"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TOP</a:t>
            </a:r>
            <a:endParaRPr lang="en-US" sz="850" dirty="0"/>
          </a:p>
        </p:txBody>
      </p:sp>
      <p:sp>
        <p:nvSpPr>
          <p:cNvPr id="30" name="Text 28"/>
          <p:cNvSpPr/>
          <p:nvPr/>
        </p:nvSpPr>
        <p:spPr>
          <a:xfrm>
            <a:off x="868680" y="4663440"/>
            <a:ext cx="6035040" cy="292608"/>
          </a:xfrm>
          <a:prstGeom prst="rect">
            <a:avLst/>
          </a:prstGeom>
          <a:noFill/>
          <a:ln/>
        </p:spPr>
        <p:txBody>
          <a:bodyPr wrap="square" rtlCol="0" anchor="ctr"/>
          <a:lstStyle/>
          <a:p>
            <a:pPr indent="0" marL="0">
              <a:buNone/>
            </a:pPr>
            <a:r>
              <a:rPr lang="en-US" sz="1150" b="1" dirty="0">
                <a:solidFill>
                  <a:srgbClr val="003366"/>
                </a:solidFill>
                <a:latin typeface="Arial" pitchFamily="34" charset="0"/>
                <a:ea typeface="Arial" pitchFamily="34" charset="-122"/>
                <a:cs typeface="Arial" pitchFamily="34" charset="-120"/>
              </a:rPr>
              <a:t>4 students · 2 toppers · average 80.75</a:t>
            </a:r>
            <a:endParaRPr lang="en-US" sz="1150" dirty="0"/>
          </a:p>
        </p:txBody>
      </p:sp>
      <p:sp>
        <p:nvSpPr>
          <p:cNvPr id="31" name="Shape 29"/>
          <p:cNvSpPr/>
          <p:nvPr/>
        </p:nvSpPr>
        <p:spPr>
          <a:xfrm>
            <a:off x="7543800" y="1298448"/>
            <a:ext cx="4645152" cy="2331720"/>
          </a:xfrm>
          <a:prstGeom prst="rect">
            <a:avLst>
              <a:gd name="adj" fmla="val 2353"/>
            </a:avLst>
          </a:prstGeom>
          <a:solidFill>
            <a:srgbClr val="F2F5F8"/>
          </a:solidFill>
          <a:ln w="12700">
            <a:solidFill>
              <a:srgbClr val="D6DEE6"/>
            </a:solidFill>
            <a:prstDash val="solid"/>
          </a:ln>
        </p:spPr>
      </p:sp>
      <p:sp>
        <p:nvSpPr>
          <p:cNvPr id="32" name="Text 30"/>
          <p:cNvSpPr/>
          <p:nvPr/>
        </p:nvSpPr>
        <p:spPr>
          <a:xfrm>
            <a:off x="7708392" y="1463040"/>
            <a:ext cx="4315968"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Every piece is from today</a:t>
            </a:r>
            <a:endParaRPr lang="en-US" sz="1500" dirty="0"/>
          </a:p>
        </p:txBody>
      </p:sp>
      <p:sp>
        <p:nvSpPr>
          <p:cNvPr id="33" name="Text 31"/>
          <p:cNvSpPr/>
          <p:nvPr/>
        </p:nvSpPr>
        <p:spPr>
          <a:xfrm>
            <a:off x="7708392" y="1810512"/>
            <a:ext cx="4315968" cy="17099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querySelector finds the container</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createElement builds each card</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classList adds the top style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dataset remembers the student id</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appendChild puts it on the page</a:t>
            </a:r>
            <a:endParaRPr lang="en-US" sz="1250" dirty="0"/>
          </a:p>
        </p:txBody>
      </p:sp>
      <p:sp>
        <p:nvSpPr>
          <p:cNvPr id="34" name="Shape 32"/>
          <p:cNvSpPr/>
          <p:nvPr/>
        </p:nvSpPr>
        <p:spPr>
          <a:xfrm>
            <a:off x="7543800" y="3767328"/>
            <a:ext cx="4645152" cy="2286000"/>
          </a:xfrm>
          <a:prstGeom prst="rect">
            <a:avLst>
              <a:gd name="adj" fmla="val 2400"/>
            </a:avLst>
          </a:prstGeom>
          <a:solidFill>
            <a:srgbClr val="E7F4EE"/>
          </a:solidFill>
          <a:ln w="12700">
            <a:solidFill>
              <a:srgbClr val="1F7A55"/>
            </a:solidFill>
            <a:prstDash val="solid"/>
          </a:ln>
        </p:spPr>
      </p:sp>
      <p:sp>
        <p:nvSpPr>
          <p:cNvPr id="35" name="Text 33"/>
          <p:cNvSpPr/>
          <p:nvPr/>
        </p:nvSpPr>
        <p:spPr>
          <a:xfrm>
            <a:off x="7708392" y="3931920"/>
            <a:ext cx="431596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The HTML is almost empty</a:t>
            </a:r>
            <a:endParaRPr lang="en-US" sz="1500" dirty="0"/>
          </a:p>
        </p:txBody>
      </p:sp>
      <p:sp>
        <p:nvSpPr>
          <p:cNvPr id="36" name="Text 34"/>
          <p:cNvSpPr/>
          <p:nvPr/>
        </p:nvSpPr>
        <p:spPr>
          <a:xfrm>
            <a:off x="7708392" y="4279392"/>
            <a:ext cx="4315968" cy="166420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One container div and nothing inside it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The CSS is written for you</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Every card you see was made by the script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30-43 MIN · STUDENT BUILD</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Build it in four steps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13</a:t>
            </a:r>
            <a:endParaRPr lang="en-US" sz="950" dirty="0"/>
          </a:p>
        </p:txBody>
      </p:sp>
      <p:sp>
        <p:nvSpPr>
          <p:cNvPr id="7" name="Shape 5"/>
          <p:cNvSpPr/>
          <p:nvPr/>
        </p:nvSpPr>
        <p:spPr>
          <a:xfrm>
            <a:off x="548640" y="1463040"/>
            <a:ext cx="457200" cy="457200"/>
          </a:xfrm>
          <a:prstGeom prst="ellipse">
            <a:avLst/>
          </a:prstGeom>
          <a:solidFill>
            <a:srgbClr val="003366"/>
          </a:solidFill>
          <a:ln/>
        </p:spPr>
      </p:sp>
      <p:sp>
        <p:nvSpPr>
          <p:cNvPr id="8" name="Text 6"/>
          <p:cNvSpPr/>
          <p:nvPr/>
        </p:nvSpPr>
        <p:spPr>
          <a:xfrm>
            <a:off x="548640" y="1463040"/>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1207008" y="1389888"/>
            <a:ext cx="3017520" cy="292608"/>
          </a:xfrm>
          <a:prstGeom prst="rect">
            <a:avLst/>
          </a:prstGeom>
          <a:noFill/>
          <a:ln/>
        </p:spPr>
        <p:txBody>
          <a:bodyPr wrap="square" rtlCol="0" anchor="ctr"/>
          <a:lstStyle/>
          <a:p>
            <a:pPr indent="0" marL="0">
              <a:buNone/>
            </a:pPr>
            <a:r>
              <a:rPr lang="en-US" sz="1400" b="1" dirty="0">
                <a:solidFill>
                  <a:srgbClr val="003366"/>
                </a:solidFill>
                <a:latin typeface="Arial" pitchFamily="34" charset="0"/>
                <a:ea typeface="Arial" pitchFamily="34" charset="-122"/>
                <a:cs typeface="Arial" pitchFamily="34" charset="-120"/>
              </a:rPr>
              <a:t>Find the container</a:t>
            </a:r>
            <a:endParaRPr lang="en-US" sz="1400" dirty="0"/>
          </a:p>
        </p:txBody>
      </p:sp>
      <p:sp>
        <p:nvSpPr>
          <p:cNvPr id="10" name="Text 8"/>
          <p:cNvSpPr/>
          <p:nvPr/>
        </p:nvSpPr>
        <p:spPr>
          <a:xfrm>
            <a:off x="1207008" y="1737360"/>
            <a:ext cx="3017520" cy="457200"/>
          </a:xfrm>
          <a:prstGeom prst="rect">
            <a:avLst/>
          </a:prstGeom>
          <a:noFill/>
          <a:ln/>
        </p:spPr>
        <p:txBody>
          <a:bodyPr wrap="square" rtlCol="0" anchor="t"/>
          <a:lstStyle/>
          <a:p>
            <a:pPr indent="0" marL="0">
              <a:buNone/>
            </a:pPr>
            <a:r>
              <a:rPr lang="en-US" sz="1100" dirty="0">
                <a:solidFill>
                  <a:srgbClr val="6B7A88"/>
                </a:solidFill>
                <a:latin typeface="Arial" pitchFamily="34" charset="0"/>
                <a:ea typeface="Arial" pitchFamily="34" charset="-122"/>
                <a:cs typeface="Arial" pitchFamily="34" charset="-120"/>
              </a:rPr>
              <a:t>Log it. If it is null, your selector is wrong.</a:t>
            </a:r>
            <a:endParaRPr lang="en-US" sz="1100" dirty="0"/>
          </a:p>
        </p:txBody>
      </p:sp>
      <p:sp>
        <p:nvSpPr>
          <p:cNvPr id="11" name="Shape 9"/>
          <p:cNvSpPr/>
          <p:nvPr/>
        </p:nvSpPr>
        <p:spPr>
          <a:xfrm>
            <a:off x="4389120" y="1371600"/>
            <a:ext cx="7223760" cy="445008"/>
          </a:xfrm>
          <a:prstGeom prst="rect">
            <a:avLst>
              <a:gd name="adj" fmla="val 10274"/>
            </a:avLst>
          </a:prstGeom>
          <a:solidFill>
            <a:srgbClr val="0D1B2A"/>
          </a:solidFill>
          <a:ln w="12700">
            <a:solidFill>
              <a:srgbClr val="0D1B2A"/>
            </a:solidFill>
            <a:prstDash val="solid"/>
          </a:ln>
        </p:spPr>
      </p:sp>
      <p:sp>
        <p:nvSpPr>
          <p:cNvPr id="12" name="Text 10"/>
          <p:cNvSpPr/>
          <p:nvPr/>
        </p:nvSpPr>
        <p:spPr>
          <a:xfrm>
            <a:off x="4526280" y="1481328"/>
            <a:ext cx="6949440" cy="225552"/>
          </a:xfrm>
          <a:prstGeom prst="rect">
            <a:avLst/>
          </a:prstGeom>
          <a:noFill/>
          <a:ln/>
        </p:spPr>
        <p:txBody>
          <a:bodyPr wrap="square" rtlCol="0" anchor="t"/>
          <a:lstStyle/>
          <a:p>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board = document.querySelector(</a:t>
            </a:r>
            <a:pPr indent="0" marL="0">
              <a:lnSpc>
                <a:spcPct val="105000"/>
              </a:lnSpc>
              <a:buNone/>
            </a:pPr>
            <a:r>
              <a:rPr lang="en-US" sz="1050" dirty="0">
                <a:solidFill>
                  <a:srgbClr val="A8E6A3"/>
                </a:solidFill>
                <a:latin typeface="Courier New" pitchFamily="34" charset="0"/>
                <a:ea typeface="Courier New" pitchFamily="34" charset="-122"/>
                <a:cs typeface="Courier New" pitchFamily="34" charset="-120"/>
              </a:rPr>
              <a:t>"#board"</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a:t>
            </a:r>
            <a:endParaRPr lang="en-US" sz="1050" dirty="0"/>
          </a:p>
        </p:txBody>
      </p:sp>
      <p:sp>
        <p:nvSpPr>
          <p:cNvPr id="13" name="Shape 11"/>
          <p:cNvSpPr/>
          <p:nvPr/>
        </p:nvSpPr>
        <p:spPr>
          <a:xfrm>
            <a:off x="548640" y="2679192"/>
            <a:ext cx="457200" cy="457200"/>
          </a:xfrm>
          <a:prstGeom prst="ellipse">
            <a:avLst/>
          </a:prstGeom>
          <a:solidFill>
            <a:srgbClr val="003366"/>
          </a:solidFill>
          <a:ln/>
        </p:spPr>
      </p:sp>
      <p:sp>
        <p:nvSpPr>
          <p:cNvPr id="14" name="Text 12"/>
          <p:cNvSpPr/>
          <p:nvPr/>
        </p:nvSpPr>
        <p:spPr>
          <a:xfrm>
            <a:off x="548640" y="2679192"/>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1207008" y="2606040"/>
            <a:ext cx="3017520" cy="292608"/>
          </a:xfrm>
          <a:prstGeom prst="rect">
            <a:avLst/>
          </a:prstGeom>
          <a:noFill/>
          <a:ln/>
        </p:spPr>
        <p:txBody>
          <a:bodyPr wrap="square" rtlCol="0" anchor="ctr"/>
          <a:lstStyle/>
          <a:p>
            <a:pPr indent="0" marL="0">
              <a:buNone/>
            </a:pPr>
            <a:r>
              <a:rPr lang="en-US" sz="1400" b="1" dirty="0">
                <a:solidFill>
                  <a:srgbClr val="003366"/>
                </a:solidFill>
                <a:latin typeface="Arial" pitchFamily="34" charset="0"/>
                <a:ea typeface="Arial" pitchFamily="34" charset="-122"/>
                <a:cs typeface="Arial" pitchFamily="34" charset="-120"/>
              </a:rPr>
              <a:t>Loop and create</a:t>
            </a:r>
            <a:endParaRPr lang="en-US" sz="1400" dirty="0"/>
          </a:p>
        </p:txBody>
      </p:sp>
      <p:sp>
        <p:nvSpPr>
          <p:cNvPr id="16" name="Text 14"/>
          <p:cNvSpPr/>
          <p:nvPr/>
        </p:nvSpPr>
        <p:spPr>
          <a:xfrm>
            <a:off x="1207008" y="2953512"/>
            <a:ext cx="3017520" cy="457200"/>
          </a:xfrm>
          <a:prstGeom prst="rect">
            <a:avLst/>
          </a:prstGeom>
          <a:noFill/>
          <a:ln/>
        </p:spPr>
        <p:txBody>
          <a:bodyPr wrap="square" rtlCol="0" anchor="t"/>
          <a:lstStyle/>
          <a:p>
            <a:pPr indent="0" marL="0">
              <a:buNone/>
            </a:pPr>
            <a:r>
              <a:rPr lang="en-US" sz="1100" dirty="0">
                <a:solidFill>
                  <a:srgbClr val="6B7A88"/>
                </a:solidFill>
                <a:latin typeface="Arial" pitchFamily="34" charset="0"/>
                <a:ea typeface="Arial" pitchFamily="34" charset="-122"/>
                <a:cs typeface="Arial" pitchFamily="34" charset="-120"/>
              </a:rPr>
              <a:t>Nothing will appear yet. That is correct.</a:t>
            </a:r>
            <a:endParaRPr lang="en-US" sz="1100" dirty="0"/>
          </a:p>
        </p:txBody>
      </p:sp>
      <p:sp>
        <p:nvSpPr>
          <p:cNvPr id="17" name="Shape 15"/>
          <p:cNvSpPr/>
          <p:nvPr/>
        </p:nvSpPr>
        <p:spPr>
          <a:xfrm>
            <a:off x="4389120" y="2587752"/>
            <a:ext cx="7223760" cy="445008"/>
          </a:xfrm>
          <a:prstGeom prst="rect">
            <a:avLst>
              <a:gd name="adj" fmla="val 10274"/>
            </a:avLst>
          </a:prstGeom>
          <a:solidFill>
            <a:srgbClr val="0D1B2A"/>
          </a:solidFill>
          <a:ln w="12700">
            <a:solidFill>
              <a:srgbClr val="0D1B2A"/>
            </a:solidFill>
            <a:prstDash val="solid"/>
          </a:ln>
        </p:spPr>
      </p:sp>
      <p:sp>
        <p:nvSpPr>
          <p:cNvPr id="18" name="Text 16"/>
          <p:cNvSpPr/>
          <p:nvPr/>
        </p:nvSpPr>
        <p:spPr>
          <a:xfrm>
            <a:off x="4526280" y="2697480"/>
            <a:ext cx="6949440" cy="225552"/>
          </a:xfrm>
          <a:prstGeom prst="rect">
            <a:avLst/>
          </a:prstGeom>
          <a:noFill/>
          <a:ln/>
        </p:spPr>
        <p:txBody>
          <a:bodyPr wrap="square" rtlCol="0" anchor="t"/>
          <a:lstStyle/>
          <a:p>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for</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s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of</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students) { </a:t>
            </a:r>
            <a:pPr indent="0" marL="0">
              <a:lnSpc>
                <a:spcPct val="105000"/>
              </a:lnSpc>
              <a:buNone/>
            </a:pPr>
            <a:r>
              <a:rPr lang="en-US" sz="105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card = document.createElement(</a:t>
            </a:r>
            <a:pPr indent="0" marL="0">
              <a:lnSpc>
                <a:spcPct val="105000"/>
              </a:lnSpc>
              <a:buNone/>
            </a:pPr>
            <a:r>
              <a:rPr lang="en-US" sz="1050" dirty="0">
                <a:solidFill>
                  <a:srgbClr val="A8E6A3"/>
                </a:solidFill>
                <a:latin typeface="Courier New" pitchFamily="34" charset="0"/>
                <a:ea typeface="Courier New" pitchFamily="34" charset="-122"/>
                <a:cs typeface="Courier New" pitchFamily="34" charset="-120"/>
              </a:rPr>
              <a:t>"div"</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 }</a:t>
            </a:r>
            <a:endParaRPr lang="en-US" sz="1050" dirty="0"/>
          </a:p>
        </p:txBody>
      </p:sp>
      <p:sp>
        <p:nvSpPr>
          <p:cNvPr id="19" name="Shape 17"/>
          <p:cNvSpPr/>
          <p:nvPr/>
        </p:nvSpPr>
        <p:spPr>
          <a:xfrm>
            <a:off x="548640" y="3895344"/>
            <a:ext cx="457200" cy="457200"/>
          </a:xfrm>
          <a:prstGeom prst="ellipse">
            <a:avLst/>
          </a:prstGeom>
          <a:solidFill>
            <a:srgbClr val="003366"/>
          </a:solidFill>
          <a:ln/>
        </p:spPr>
      </p:sp>
      <p:sp>
        <p:nvSpPr>
          <p:cNvPr id="20" name="Text 18"/>
          <p:cNvSpPr/>
          <p:nvPr/>
        </p:nvSpPr>
        <p:spPr>
          <a:xfrm>
            <a:off x="548640" y="3895344"/>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1207008" y="3822192"/>
            <a:ext cx="3017520" cy="292608"/>
          </a:xfrm>
          <a:prstGeom prst="rect">
            <a:avLst/>
          </a:prstGeom>
          <a:noFill/>
          <a:ln/>
        </p:spPr>
        <p:txBody>
          <a:bodyPr wrap="square" rtlCol="0" anchor="ctr"/>
          <a:lstStyle/>
          <a:p>
            <a:pPr indent="0" marL="0">
              <a:buNone/>
            </a:pPr>
            <a:r>
              <a:rPr lang="en-US" sz="1400" b="1" dirty="0">
                <a:solidFill>
                  <a:srgbClr val="003366"/>
                </a:solidFill>
                <a:latin typeface="Arial" pitchFamily="34" charset="0"/>
                <a:ea typeface="Arial" pitchFamily="34" charset="-122"/>
                <a:cs typeface="Arial" pitchFamily="34" charset="-120"/>
              </a:rPr>
              <a:t>Fill and classify</a:t>
            </a:r>
            <a:endParaRPr lang="en-US" sz="1400" dirty="0"/>
          </a:p>
        </p:txBody>
      </p:sp>
      <p:sp>
        <p:nvSpPr>
          <p:cNvPr id="22" name="Text 20"/>
          <p:cNvSpPr/>
          <p:nvPr/>
        </p:nvSpPr>
        <p:spPr>
          <a:xfrm>
            <a:off x="1207008" y="4169664"/>
            <a:ext cx="3017520" cy="457200"/>
          </a:xfrm>
          <a:prstGeom prst="rect">
            <a:avLst/>
          </a:prstGeom>
          <a:noFill/>
          <a:ln/>
        </p:spPr>
        <p:txBody>
          <a:bodyPr wrap="square" rtlCol="0" anchor="t"/>
          <a:lstStyle/>
          <a:p>
            <a:pPr indent="0" marL="0">
              <a:buNone/>
            </a:pPr>
            <a:r>
              <a:rPr lang="en-US" sz="1100" dirty="0">
                <a:solidFill>
                  <a:srgbClr val="6B7A88"/>
                </a:solidFill>
                <a:latin typeface="Arial" pitchFamily="34" charset="0"/>
                <a:ea typeface="Arial" pitchFamily="34" charset="-122"/>
                <a:cs typeface="Arial" pitchFamily="34" charset="-120"/>
              </a:rPr>
              <a:t>Add the top class only when marks are 80 or more.</a:t>
            </a:r>
            <a:endParaRPr lang="en-US" sz="1100" dirty="0"/>
          </a:p>
        </p:txBody>
      </p:sp>
      <p:sp>
        <p:nvSpPr>
          <p:cNvPr id="23" name="Shape 21"/>
          <p:cNvSpPr/>
          <p:nvPr/>
        </p:nvSpPr>
        <p:spPr>
          <a:xfrm>
            <a:off x="4389120" y="3803904"/>
            <a:ext cx="7223760" cy="445008"/>
          </a:xfrm>
          <a:prstGeom prst="rect">
            <a:avLst>
              <a:gd name="adj" fmla="val 10274"/>
            </a:avLst>
          </a:prstGeom>
          <a:solidFill>
            <a:srgbClr val="0D1B2A"/>
          </a:solidFill>
          <a:ln w="12700">
            <a:solidFill>
              <a:srgbClr val="0D1B2A"/>
            </a:solidFill>
            <a:prstDash val="solid"/>
          </a:ln>
        </p:spPr>
      </p:sp>
      <p:sp>
        <p:nvSpPr>
          <p:cNvPr id="24" name="Text 22"/>
          <p:cNvSpPr/>
          <p:nvPr/>
        </p:nvSpPr>
        <p:spPr>
          <a:xfrm>
            <a:off x="4526280" y="3913632"/>
            <a:ext cx="6949440" cy="225552"/>
          </a:xfrm>
          <a:prstGeom prst="rect">
            <a:avLst/>
          </a:prstGeom>
          <a:noFill/>
          <a:ln/>
        </p:spPr>
        <p:txBody>
          <a:bodyPr wrap="square" rtlCol="0" anchor="t"/>
          <a:lstStyle/>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card.textContent = s.name;  card.classList.add(</a:t>
            </a:r>
            <a:pPr indent="0" marL="0">
              <a:lnSpc>
                <a:spcPct val="105000"/>
              </a:lnSpc>
              <a:buNone/>
            </a:pPr>
            <a:r>
              <a:rPr lang="en-US" sz="1050" dirty="0">
                <a:solidFill>
                  <a:srgbClr val="A8E6A3"/>
                </a:solidFill>
                <a:latin typeface="Courier New" pitchFamily="34" charset="0"/>
                <a:ea typeface="Courier New" pitchFamily="34" charset="-122"/>
                <a:cs typeface="Courier New" pitchFamily="34" charset="-120"/>
              </a:rPr>
              <a:t>"card"</a:t>
            </a:r>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a:t>
            </a:r>
            <a:endParaRPr lang="en-US" sz="1050" dirty="0"/>
          </a:p>
        </p:txBody>
      </p:sp>
      <p:sp>
        <p:nvSpPr>
          <p:cNvPr id="25" name="Shape 23"/>
          <p:cNvSpPr/>
          <p:nvPr/>
        </p:nvSpPr>
        <p:spPr>
          <a:xfrm>
            <a:off x="548640" y="5111496"/>
            <a:ext cx="457200" cy="457200"/>
          </a:xfrm>
          <a:prstGeom prst="ellipse">
            <a:avLst/>
          </a:prstGeom>
          <a:solidFill>
            <a:srgbClr val="003366"/>
          </a:solidFill>
          <a:ln/>
        </p:spPr>
      </p:sp>
      <p:sp>
        <p:nvSpPr>
          <p:cNvPr id="26" name="Text 24"/>
          <p:cNvSpPr/>
          <p:nvPr/>
        </p:nvSpPr>
        <p:spPr>
          <a:xfrm>
            <a:off x="548640" y="5111496"/>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7" name="Text 25"/>
          <p:cNvSpPr/>
          <p:nvPr/>
        </p:nvSpPr>
        <p:spPr>
          <a:xfrm>
            <a:off x="1207008" y="5038344"/>
            <a:ext cx="3017520" cy="292608"/>
          </a:xfrm>
          <a:prstGeom prst="rect">
            <a:avLst/>
          </a:prstGeom>
          <a:noFill/>
          <a:ln/>
        </p:spPr>
        <p:txBody>
          <a:bodyPr wrap="square" rtlCol="0" anchor="ctr"/>
          <a:lstStyle/>
          <a:p>
            <a:pPr indent="0" marL="0">
              <a:buNone/>
            </a:pPr>
            <a:r>
              <a:rPr lang="en-US" sz="1400" b="1" dirty="0">
                <a:solidFill>
                  <a:srgbClr val="003366"/>
                </a:solidFill>
                <a:latin typeface="Arial" pitchFamily="34" charset="0"/>
                <a:ea typeface="Arial" pitchFamily="34" charset="-122"/>
                <a:cs typeface="Arial" pitchFamily="34" charset="-120"/>
              </a:rPr>
              <a:t>Append</a:t>
            </a:r>
            <a:endParaRPr lang="en-US" sz="1400" dirty="0"/>
          </a:p>
        </p:txBody>
      </p:sp>
      <p:sp>
        <p:nvSpPr>
          <p:cNvPr id="28" name="Text 26"/>
          <p:cNvSpPr/>
          <p:nvPr/>
        </p:nvSpPr>
        <p:spPr>
          <a:xfrm>
            <a:off x="1207008" y="5385816"/>
            <a:ext cx="3017520" cy="457200"/>
          </a:xfrm>
          <a:prstGeom prst="rect">
            <a:avLst/>
          </a:prstGeom>
          <a:noFill/>
          <a:ln/>
        </p:spPr>
        <p:txBody>
          <a:bodyPr wrap="square" rtlCol="0" anchor="t"/>
          <a:lstStyle/>
          <a:p>
            <a:pPr indent="0" marL="0">
              <a:buNone/>
            </a:pPr>
            <a:r>
              <a:rPr lang="en-US" sz="1100" dirty="0">
                <a:solidFill>
                  <a:srgbClr val="6B7A88"/>
                </a:solidFill>
                <a:latin typeface="Arial" pitchFamily="34" charset="0"/>
                <a:ea typeface="Arial" pitchFamily="34" charset="-122"/>
                <a:cs typeface="Arial" pitchFamily="34" charset="-120"/>
              </a:rPr>
              <a:t>Now the page fills. Four cards, in order.</a:t>
            </a:r>
            <a:endParaRPr lang="en-US" sz="1100" dirty="0"/>
          </a:p>
        </p:txBody>
      </p:sp>
      <p:sp>
        <p:nvSpPr>
          <p:cNvPr id="29" name="Shape 27"/>
          <p:cNvSpPr/>
          <p:nvPr/>
        </p:nvSpPr>
        <p:spPr>
          <a:xfrm>
            <a:off x="4389120" y="5020056"/>
            <a:ext cx="7223760" cy="445008"/>
          </a:xfrm>
          <a:prstGeom prst="rect">
            <a:avLst>
              <a:gd name="adj" fmla="val 10274"/>
            </a:avLst>
          </a:prstGeom>
          <a:solidFill>
            <a:srgbClr val="0D1B2A"/>
          </a:solidFill>
          <a:ln w="12700">
            <a:solidFill>
              <a:srgbClr val="0D1B2A"/>
            </a:solidFill>
            <a:prstDash val="solid"/>
          </a:ln>
        </p:spPr>
      </p:sp>
      <p:sp>
        <p:nvSpPr>
          <p:cNvPr id="30" name="Text 28"/>
          <p:cNvSpPr/>
          <p:nvPr/>
        </p:nvSpPr>
        <p:spPr>
          <a:xfrm>
            <a:off x="4526280" y="5129784"/>
            <a:ext cx="6949440" cy="225552"/>
          </a:xfrm>
          <a:prstGeom prst="rect">
            <a:avLst/>
          </a:prstGeom>
          <a:noFill/>
          <a:ln/>
        </p:spPr>
        <p:txBody>
          <a:bodyPr wrap="square" rtlCol="0" anchor="t"/>
          <a:lstStyle/>
          <a:p>
            <a:pPr indent="0" marL="0">
              <a:lnSpc>
                <a:spcPct val="105000"/>
              </a:lnSpc>
              <a:buNone/>
            </a:pPr>
            <a:r>
              <a:rPr lang="en-US" sz="1050" dirty="0">
                <a:solidFill>
                  <a:srgbClr val="E8EEF7"/>
                </a:solidFill>
                <a:latin typeface="Courier New" pitchFamily="34" charset="0"/>
                <a:ea typeface="Courier New" pitchFamily="34" charset="-122"/>
                <a:cs typeface="Courier New" pitchFamily="34" charset="-120"/>
              </a:rPr>
              <a:t>board.appendChild(card);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43-48 MIN · DEBUG</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Mistakes you will make today</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14</a:t>
            </a:r>
            <a:endParaRPr lang="en-US" sz="950" dirty="0"/>
          </a:p>
        </p:txBody>
      </p:sp>
      <p:sp>
        <p:nvSpPr>
          <p:cNvPr id="7" name="Shape 5"/>
          <p:cNvSpPr/>
          <p:nvPr/>
        </p:nvSpPr>
        <p:spPr>
          <a:xfrm>
            <a:off x="548640" y="1234440"/>
            <a:ext cx="5285232" cy="1463040"/>
          </a:xfrm>
          <a:prstGeom prst="rect">
            <a:avLst>
              <a:gd name="adj" fmla="val 3750"/>
            </a:avLst>
          </a:prstGeom>
          <a:solidFill>
            <a:srgbClr val="FBEAE8"/>
          </a:solidFill>
          <a:ln w="12700">
            <a:solidFill>
              <a:srgbClr val="B3261E"/>
            </a:solidFill>
            <a:prstDash val="solid"/>
          </a:ln>
        </p:spPr>
      </p:sp>
      <p:sp>
        <p:nvSpPr>
          <p:cNvPr id="8" name="Text 6"/>
          <p:cNvSpPr/>
          <p:nvPr/>
        </p:nvSpPr>
        <p:spPr>
          <a:xfrm>
            <a:off x="713232" y="1399032"/>
            <a:ext cx="4956048" cy="310896"/>
          </a:xfrm>
          <a:prstGeom prst="rect">
            <a:avLst/>
          </a:prstGeom>
          <a:noFill/>
          <a:ln/>
        </p:spPr>
        <p:txBody>
          <a:bodyPr wrap="square" rtlCol="0" anchor="t"/>
          <a:lstStyle/>
          <a:p>
            <a:pPr indent="0" marL="0">
              <a:buNone/>
            </a:pPr>
            <a:r>
              <a:rPr lang="en-US" sz="1300" b="1" dirty="0">
                <a:solidFill>
                  <a:srgbClr val="B3261E"/>
                </a:solidFill>
                <a:latin typeface="Arial" pitchFamily="34" charset="0"/>
                <a:ea typeface="Arial" pitchFamily="34" charset="-122"/>
                <a:cs typeface="Arial" pitchFamily="34" charset="-120"/>
              </a:rPr>
              <a:t>Cannot set properties of null</a:t>
            </a:r>
            <a:endParaRPr lang="en-US" sz="1300" dirty="0"/>
          </a:p>
        </p:txBody>
      </p:sp>
      <p:sp>
        <p:nvSpPr>
          <p:cNvPr id="9" name="Text 7"/>
          <p:cNvSpPr/>
          <p:nvPr/>
        </p:nvSpPr>
        <p:spPr>
          <a:xfrm>
            <a:off x="713232" y="1746504"/>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6B1A14"/>
                </a:solidFill>
                <a:latin typeface="Arial" pitchFamily="34" charset="0"/>
                <a:ea typeface="Arial" pitchFamily="34" charset="-122"/>
                <a:cs typeface="Arial" pitchFamily="34" charset="-120"/>
              </a:rPr>
              <a:t>querySelector matched nothing. Check the # and the spelling.</a:t>
            </a:r>
            <a:endParaRPr lang="en-US" sz="1200" dirty="0"/>
          </a:p>
        </p:txBody>
      </p:sp>
      <p:sp>
        <p:nvSpPr>
          <p:cNvPr id="10" name="Shape 8"/>
          <p:cNvSpPr/>
          <p:nvPr/>
        </p:nvSpPr>
        <p:spPr>
          <a:xfrm>
            <a:off x="6355080" y="1234440"/>
            <a:ext cx="5285232" cy="1463040"/>
          </a:xfrm>
          <a:prstGeom prst="rect">
            <a:avLst>
              <a:gd name="adj" fmla="val 3750"/>
            </a:avLst>
          </a:prstGeom>
          <a:solidFill>
            <a:srgbClr val="FBEAE8"/>
          </a:solidFill>
          <a:ln w="12700">
            <a:solidFill>
              <a:srgbClr val="B3261E"/>
            </a:solidFill>
            <a:prstDash val="solid"/>
          </a:ln>
        </p:spPr>
      </p:sp>
      <p:sp>
        <p:nvSpPr>
          <p:cNvPr id="11" name="Text 9"/>
          <p:cNvSpPr/>
          <p:nvPr/>
        </p:nvSpPr>
        <p:spPr>
          <a:xfrm>
            <a:off x="6519672" y="1399032"/>
            <a:ext cx="4956048" cy="310896"/>
          </a:xfrm>
          <a:prstGeom prst="rect">
            <a:avLst/>
          </a:prstGeom>
          <a:noFill/>
          <a:ln/>
        </p:spPr>
        <p:txBody>
          <a:bodyPr wrap="square" rtlCol="0" anchor="t"/>
          <a:lstStyle/>
          <a:p>
            <a:pPr indent="0" marL="0">
              <a:buNone/>
            </a:pPr>
            <a:r>
              <a:rPr lang="en-US" sz="1300" b="1" dirty="0">
                <a:solidFill>
                  <a:srgbClr val="B3261E"/>
                </a:solidFill>
                <a:latin typeface="Arial" pitchFamily="34" charset="0"/>
                <a:ea typeface="Arial" pitchFamily="34" charset="-122"/>
                <a:cs typeface="Arial" pitchFamily="34" charset="-120"/>
              </a:rPr>
              <a:t>parameter 1 is not of type 'Node'</a:t>
            </a:r>
            <a:endParaRPr lang="en-US" sz="1300" dirty="0"/>
          </a:p>
        </p:txBody>
      </p:sp>
      <p:sp>
        <p:nvSpPr>
          <p:cNvPr id="12" name="Text 10"/>
          <p:cNvSpPr/>
          <p:nvPr/>
        </p:nvSpPr>
        <p:spPr>
          <a:xfrm>
            <a:off x="6519672" y="1746504"/>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6B1A14"/>
                </a:solidFill>
                <a:latin typeface="Arial" pitchFamily="34" charset="0"/>
                <a:ea typeface="Arial" pitchFamily="34" charset="-122"/>
                <a:cs typeface="Arial" pitchFamily="34" charset="-120"/>
              </a:rPr>
              <a:t>You passed appendChild a string. It wants the element.</a:t>
            </a:r>
            <a:endParaRPr lang="en-US" sz="1200" dirty="0"/>
          </a:p>
        </p:txBody>
      </p:sp>
      <p:sp>
        <p:nvSpPr>
          <p:cNvPr id="13" name="Shape 11"/>
          <p:cNvSpPr/>
          <p:nvPr/>
        </p:nvSpPr>
        <p:spPr>
          <a:xfrm>
            <a:off x="548640" y="2862072"/>
            <a:ext cx="5285232" cy="1463040"/>
          </a:xfrm>
          <a:prstGeom prst="rect">
            <a:avLst>
              <a:gd name="adj" fmla="val 3750"/>
            </a:avLst>
          </a:prstGeom>
          <a:solidFill>
            <a:srgbClr val="FDF3E1"/>
          </a:solidFill>
          <a:ln w="12700">
            <a:solidFill>
              <a:srgbClr val="E39A18"/>
            </a:solidFill>
            <a:prstDash val="solid"/>
          </a:ln>
        </p:spPr>
      </p:sp>
      <p:sp>
        <p:nvSpPr>
          <p:cNvPr id="14" name="Text 12"/>
          <p:cNvSpPr/>
          <p:nvPr/>
        </p:nvSpPr>
        <p:spPr>
          <a:xfrm>
            <a:off x="713232" y="3026664"/>
            <a:ext cx="4956048" cy="310896"/>
          </a:xfrm>
          <a:prstGeom prst="rect">
            <a:avLst/>
          </a:prstGeom>
          <a:noFill/>
          <a:ln/>
        </p:spPr>
        <p:txBody>
          <a:bodyPr wrap="square" rtlCol="0" anchor="t"/>
          <a:lstStyle/>
          <a:p>
            <a:pPr indent="0" marL="0">
              <a:buNone/>
            </a:pPr>
            <a:r>
              <a:rPr lang="en-US" sz="1300" b="1" dirty="0">
                <a:solidFill>
                  <a:srgbClr val="4A3000"/>
                </a:solidFill>
                <a:latin typeface="Arial" pitchFamily="34" charset="0"/>
                <a:ea typeface="Arial" pitchFamily="34" charset="-122"/>
                <a:cs typeface="Arial" pitchFamily="34" charset="-120"/>
              </a:rPr>
              <a:t>Nothing appears, no error</a:t>
            </a:r>
            <a:endParaRPr lang="en-US" sz="1300" dirty="0"/>
          </a:p>
        </p:txBody>
      </p:sp>
      <p:sp>
        <p:nvSpPr>
          <p:cNvPr id="15" name="Text 13"/>
          <p:cNvSpPr/>
          <p:nvPr/>
        </p:nvSpPr>
        <p:spPr>
          <a:xfrm>
            <a:off x="713232" y="3374136"/>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4A3000"/>
                </a:solidFill>
                <a:latin typeface="Arial" pitchFamily="34" charset="0"/>
                <a:ea typeface="Arial" pitchFamily="34" charset="-122"/>
                <a:cs typeface="Arial" pitchFamily="34" charset="-120"/>
              </a:rPr>
              <a:t>You created the element but never appended it.</a:t>
            </a:r>
            <a:endParaRPr lang="en-US" sz="1200" dirty="0"/>
          </a:p>
        </p:txBody>
      </p:sp>
      <p:sp>
        <p:nvSpPr>
          <p:cNvPr id="16" name="Shape 14"/>
          <p:cNvSpPr/>
          <p:nvPr/>
        </p:nvSpPr>
        <p:spPr>
          <a:xfrm>
            <a:off x="6355080" y="2862072"/>
            <a:ext cx="5285232" cy="1463040"/>
          </a:xfrm>
          <a:prstGeom prst="rect">
            <a:avLst>
              <a:gd name="adj" fmla="val 3750"/>
            </a:avLst>
          </a:prstGeom>
          <a:solidFill>
            <a:srgbClr val="FDF3E1"/>
          </a:solidFill>
          <a:ln w="12700">
            <a:solidFill>
              <a:srgbClr val="E39A18"/>
            </a:solidFill>
            <a:prstDash val="solid"/>
          </a:ln>
        </p:spPr>
      </p:sp>
      <p:sp>
        <p:nvSpPr>
          <p:cNvPr id="17" name="Text 15"/>
          <p:cNvSpPr/>
          <p:nvPr/>
        </p:nvSpPr>
        <p:spPr>
          <a:xfrm>
            <a:off x="6519672" y="3026664"/>
            <a:ext cx="4956048" cy="310896"/>
          </a:xfrm>
          <a:prstGeom prst="rect">
            <a:avLst/>
          </a:prstGeom>
          <a:noFill/>
          <a:ln/>
        </p:spPr>
        <p:txBody>
          <a:bodyPr wrap="square" rtlCol="0" anchor="t"/>
          <a:lstStyle/>
          <a:p>
            <a:pPr indent="0" marL="0">
              <a:buNone/>
            </a:pPr>
            <a:r>
              <a:rPr lang="en-US" sz="1300" b="1" dirty="0">
                <a:solidFill>
                  <a:srgbClr val="4A3000"/>
                </a:solidFill>
                <a:latin typeface="Arial" pitchFamily="34" charset="0"/>
                <a:ea typeface="Arial" pitchFamily="34" charset="-122"/>
                <a:cs typeface="Arial" pitchFamily="34" charset="-120"/>
              </a:rPr>
              <a:t>Only the first one changed</a:t>
            </a:r>
            <a:endParaRPr lang="en-US" sz="1300" dirty="0"/>
          </a:p>
        </p:txBody>
      </p:sp>
      <p:sp>
        <p:nvSpPr>
          <p:cNvPr id="18" name="Text 16"/>
          <p:cNvSpPr/>
          <p:nvPr/>
        </p:nvSpPr>
        <p:spPr>
          <a:xfrm>
            <a:off x="6519672" y="3374136"/>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4A3000"/>
                </a:solidFill>
                <a:latin typeface="Arial" pitchFamily="34" charset="0"/>
                <a:ea typeface="Arial" pitchFamily="34" charset="-122"/>
                <a:cs typeface="Arial" pitchFamily="34" charset="-120"/>
              </a:rPr>
              <a:t>querySelector gives one. You wanted querySelectorAll and a loop.</a:t>
            </a:r>
            <a:endParaRPr lang="en-US" sz="1200" dirty="0"/>
          </a:p>
        </p:txBody>
      </p:sp>
      <p:sp>
        <p:nvSpPr>
          <p:cNvPr id="19" name="Shape 17"/>
          <p:cNvSpPr/>
          <p:nvPr/>
        </p:nvSpPr>
        <p:spPr>
          <a:xfrm>
            <a:off x="548640" y="4489704"/>
            <a:ext cx="5285232" cy="1463040"/>
          </a:xfrm>
          <a:prstGeom prst="rect">
            <a:avLst>
              <a:gd name="adj" fmla="val 3750"/>
            </a:avLst>
          </a:prstGeom>
          <a:solidFill>
            <a:srgbClr val="F2F5F8"/>
          </a:solidFill>
          <a:ln w="12700">
            <a:solidFill>
              <a:srgbClr val="D6DEE6"/>
            </a:solidFill>
            <a:prstDash val="solid"/>
          </a:ln>
        </p:spPr>
      </p:sp>
      <p:sp>
        <p:nvSpPr>
          <p:cNvPr id="20" name="Text 18"/>
          <p:cNvSpPr/>
          <p:nvPr/>
        </p:nvSpPr>
        <p:spPr>
          <a:xfrm>
            <a:off x="713232" y="4654296"/>
            <a:ext cx="4956048" cy="310896"/>
          </a:xfrm>
          <a:prstGeom prst="rect">
            <a:avLst/>
          </a:prstGeom>
          <a:noFill/>
          <a:ln/>
        </p:spPr>
        <p:txBody>
          <a:bodyPr wrap="square" rtlCol="0" anchor="t"/>
          <a:lstStyle/>
          <a:p>
            <a:pPr indent="0" marL="0">
              <a:buNone/>
            </a:pPr>
            <a:r>
              <a:rPr lang="en-US" sz="1300" b="1" dirty="0">
                <a:solidFill>
                  <a:srgbClr val="003366"/>
                </a:solidFill>
                <a:latin typeface="Arial" pitchFamily="34" charset="0"/>
                <a:ea typeface="Arial" pitchFamily="34" charset="-122"/>
                <a:cs typeface="Arial" pitchFamily="34" charset="-120"/>
              </a:rPr>
              <a:t>Tags showing as text</a:t>
            </a:r>
            <a:endParaRPr lang="en-US" sz="1300" dirty="0"/>
          </a:p>
        </p:txBody>
      </p:sp>
      <p:sp>
        <p:nvSpPr>
          <p:cNvPr id="21" name="Text 19"/>
          <p:cNvSpPr/>
          <p:nvPr/>
        </p:nvSpPr>
        <p:spPr>
          <a:xfrm>
            <a:off x="713232" y="5001768"/>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textContent where you wanted innerHTML.</a:t>
            </a:r>
            <a:endParaRPr lang="en-US" sz="1200" dirty="0"/>
          </a:p>
        </p:txBody>
      </p:sp>
      <p:sp>
        <p:nvSpPr>
          <p:cNvPr id="22" name="Shape 20"/>
          <p:cNvSpPr/>
          <p:nvPr/>
        </p:nvSpPr>
        <p:spPr>
          <a:xfrm>
            <a:off x="6355080" y="4489704"/>
            <a:ext cx="5285232" cy="1463040"/>
          </a:xfrm>
          <a:prstGeom prst="rect">
            <a:avLst>
              <a:gd name="adj" fmla="val 3750"/>
            </a:avLst>
          </a:prstGeom>
          <a:solidFill>
            <a:srgbClr val="F2F5F8"/>
          </a:solidFill>
          <a:ln w="12700">
            <a:solidFill>
              <a:srgbClr val="D6DEE6"/>
            </a:solidFill>
            <a:prstDash val="solid"/>
          </a:ln>
        </p:spPr>
      </p:sp>
      <p:sp>
        <p:nvSpPr>
          <p:cNvPr id="23" name="Text 21"/>
          <p:cNvSpPr/>
          <p:nvPr/>
        </p:nvSpPr>
        <p:spPr>
          <a:xfrm>
            <a:off x="6519672" y="4654296"/>
            <a:ext cx="4956048" cy="310896"/>
          </a:xfrm>
          <a:prstGeom prst="rect">
            <a:avLst/>
          </a:prstGeom>
          <a:noFill/>
          <a:ln/>
        </p:spPr>
        <p:txBody>
          <a:bodyPr wrap="square" rtlCol="0" anchor="t"/>
          <a:lstStyle/>
          <a:p>
            <a:pPr indent="0" marL="0">
              <a:buNone/>
            </a:pPr>
            <a:r>
              <a:rPr lang="en-US" sz="1300" b="1" dirty="0">
                <a:solidFill>
                  <a:srgbClr val="003366"/>
                </a:solidFill>
                <a:latin typeface="Arial" pitchFamily="34" charset="0"/>
                <a:ea typeface="Arial" pitchFamily="34" charset="-122"/>
                <a:cs typeface="Arial" pitchFamily="34" charset="-120"/>
              </a:rPr>
              <a:t>My class did nothing</a:t>
            </a:r>
            <a:endParaRPr lang="en-US" sz="1300" dirty="0"/>
          </a:p>
        </p:txBody>
      </p:sp>
      <p:sp>
        <p:nvSpPr>
          <p:cNvPr id="24" name="Text 22"/>
          <p:cNvSpPr/>
          <p:nvPr/>
        </p:nvSpPr>
        <p:spPr>
          <a:xfrm>
            <a:off x="6519672" y="5001768"/>
            <a:ext cx="4956048" cy="841248"/>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box.class = ... is silent. Use classList.add.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C1 · 48-50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Exit check</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15</a:t>
            </a:r>
            <a:endParaRPr lang="en-US" sz="950" dirty="0"/>
          </a:p>
        </p:txBody>
      </p:sp>
      <p:sp>
        <p:nvSpPr>
          <p:cNvPr id="7" name="Shape 5"/>
          <p:cNvSpPr/>
          <p:nvPr/>
        </p:nvSpPr>
        <p:spPr>
          <a:xfrm>
            <a:off x="548640" y="1234440"/>
            <a:ext cx="5486400" cy="2103120"/>
          </a:xfrm>
          <a:prstGeom prst="rect">
            <a:avLst>
              <a:gd name="adj" fmla="val 2609"/>
            </a:avLst>
          </a:prstGeom>
          <a:solidFill>
            <a:srgbClr val="F2F5F8"/>
          </a:solidFill>
          <a:ln w="12700">
            <a:solidFill>
              <a:srgbClr val="D6DEE6"/>
            </a:solidFill>
            <a:prstDash val="solid"/>
          </a:ln>
        </p:spPr>
      </p:sp>
      <p:sp>
        <p:nvSpPr>
          <p:cNvPr id="8" name="Shape 6"/>
          <p:cNvSpPr/>
          <p:nvPr/>
        </p:nvSpPr>
        <p:spPr>
          <a:xfrm>
            <a:off x="713232" y="1399032"/>
            <a:ext cx="1088136" cy="256032"/>
          </a:xfrm>
          <a:prstGeom prst="rect">
            <a:avLst>
              <a:gd name="adj" fmla="val 17857"/>
            </a:avLst>
          </a:prstGeom>
          <a:solidFill>
            <a:srgbClr val="003366"/>
          </a:solidFill>
          <a:ln/>
        </p:spPr>
      </p:sp>
      <p:sp>
        <p:nvSpPr>
          <p:cNvPr id="9" name="Text 7"/>
          <p:cNvSpPr/>
          <p:nvPr/>
        </p:nvSpPr>
        <p:spPr>
          <a:xfrm>
            <a:off x="713232" y="1399032"/>
            <a:ext cx="1088136"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CONCEPTUAL</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Answer in one sentence</a:t>
            </a:r>
            <a:endParaRPr lang="en-US" sz="1500" dirty="0"/>
          </a:p>
        </p:txBody>
      </p:sp>
      <p:sp>
        <p:nvSpPr>
          <p:cNvPr id="11" name="Text 9"/>
          <p:cNvSpPr/>
          <p:nvPr/>
        </p:nvSpPr>
        <p:spPr>
          <a:xfrm>
            <a:off x="713232" y="2112264"/>
            <a:ext cx="5157216"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What is the difference between your HTML file and the DOM?</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Why does reloading undo everything your script did?</a:t>
            </a:r>
            <a:endParaRPr lang="en-US" sz="1250" dirty="0"/>
          </a:p>
        </p:txBody>
      </p:sp>
      <p:sp>
        <p:nvSpPr>
          <p:cNvPr id="12" name="Shape 10"/>
          <p:cNvSpPr/>
          <p:nvPr/>
        </p:nvSpPr>
        <p:spPr>
          <a:xfrm>
            <a:off x="6355080" y="1234440"/>
            <a:ext cx="5285232" cy="2103120"/>
          </a:xfrm>
          <a:prstGeom prst="rect">
            <a:avLst>
              <a:gd name="adj" fmla="val 2609"/>
            </a:avLst>
          </a:prstGeom>
          <a:solidFill>
            <a:srgbClr val="E7F4EE"/>
          </a:solidFill>
          <a:ln w="12700">
            <a:solidFill>
              <a:srgbClr val="1F7A55"/>
            </a:solidFill>
            <a:prstDash val="solid"/>
          </a:ln>
        </p:spPr>
      </p:sp>
      <p:sp>
        <p:nvSpPr>
          <p:cNvPr id="13" name="Shape 11"/>
          <p:cNvSpPr/>
          <p:nvPr/>
        </p:nvSpPr>
        <p:spPr>
          <a:xfrm>
            <a:off x="6519672" y="1399032"/>
            <a:ext cx="1010412" cy="256032"/>
          </a:xfrm>
          <a:prstGeom prst="rect">
            <a:avLst>
              <a:gd name="adj" fmla="val 17857"/>
            </a:avLst>
          </a:prstGeom>
          <a:solidFill>
            <a:srgbClr val="1F7A55"/>
          </a:solidFill>
          <a:ln/>
        </p:spPr>
      </p:sp>
      <p:sp>
        <p:nvSpPr>
          <p:cNvPr id="14" name="Text 12"/>
          <p:cNvSpPr/>
          <p:nvPr/>
        </p:nvSpPr>
        <p:spPr>
          <a:xfrm>
            <a:off x="6519672" y="1399032"/>
            <a:ext cx="1010412"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PRACTICAL</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Show me</a:t>
            </a:r>
            <a:endParaRPr lang="en-US" sz="1500" dirty="0"/>
          </a:p>
        </p:txBody>
      </p:sp>
      <p:sp>
        <p:nvSpPr>
          <p:cNvPr id="16" name="Text 14"/>
          <p:cNvSpPr/>
          <p:nvPr/>
        </p:nvSpPr>
        <p:spPr>
          <a:xfrm>
            <a:off x="6519672" y="2112264"/>
            <a:ext cx="4956048"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Your board with four cards and two marked top</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One card inspected in the Elements tab</a:t>
            </a:r>
            <a:endParaRPr lang="en-US" sz="1250" dirty="0"/>
          </a:p>
        </p:txBody>
      </p:sp>
      <p:sp>
        <p:nvSpPr>
          <p:cNvPr id="17" name="Shape 15"/>
          <p:cNvSpPr/>
          <p:nvPr/>
        </p:nvSpPr>
        <p:spPr>
          <a:xfrm>
            <a:off x="548640" y="3520440"/>
            <a:ext cx="11064240" cy="1371600"/>
          </a:xfrm>
          <a:prstGeom prst="rect">
            <a:avLst>
              <a:gd name="adj" fmla="val 4000"/>
            </a:avLst>
          </a:prstGeom>
          <a:solidFill>
            <a:srgbClr val="FDF3E1"/>
          </a:solidFill>
          <a:ln w="12700">
            <a:solidFill>
              <a:srgbClr val="E39A18"/>
            </a:solidFill>
            <a:prstDash val="solid"/>
          </a:ln>
        </p:spPr>
      </p:sp>
      <p:sp>
        <p:nvSpPr>
          <p:cNvPr id="18" name="Text 16"/>
          <p:cNvSpPr/>
          <p:nvPr/>
        </p:nvSpPr>
        <p:spPr>
          <a:xfrm>
            <a:off x="713232" y="3685032"/>
            <a:ext cx="1073505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The three steps, out loud</a:t>
            </a:r>
            <a:endParaRPr lang="en-US" sz="1500" dirty="0"/>
          </a:p>
        </p:txBody>
      </p:sp>
      <p:sp>
        <p:nvSpPr>
          <p:cNvPr id="19" name="Text 17"/>
          <p:cNvSpPr/>
          <p:nvPr/>
        </p:nvSpPr>
        <p:spPr>
          <a:xfrm>
            <a:off x="713232" y="4032504"/>
            <a:ext cx="10735056" cy="749808"/>
          </a:xfrm>
          <a:prstGeom prst="rect">
            <a:avLst/>
          </a:prstGeom>
          <a:noFill/>
          <a:ln/>
        </p:spPr>
        <p:txBody>
          <a:bodyPr wrap="square" rtlCol="0" anchor="t"/>
          <a:lstStyle/>
          <a:p>
            <a:pPr indent="0" marL="0">
              <a:lnSpc>
                <a:spcPct val="110000"/>
              </a:lnSpc>
              <a:spcAft>
                <a:spcPts val="432"/>
              </a:spcAft>
              <a:buNone/>
            </a:pPr>
            <a:r>
              <a:rPr lang="en-US" sz="1300" dirty="0">
                <a:solidFill>
                  <a:srgbClr val="4A3000"/>
                </a:solidFill>
                <a:latin typeface="Arial" pitchFamily="34" charset="0"/>
                <a:ea typeface="Arial" pitchFamily="34" charset="-122"/>
                <a:cs typeface="Arial" pitchFamily="34" charset="-120"/>
              </a:rPr>
              <a:t>create  →  fill  →  append.   Miss the third and nothing happens, and nothing tells you.</a:t>
            </a:r>
            <a:endParaRPr lang="en-US" sz="1300" dirty="0"/>
          </a:p>
        </p:txBody>
      </p:sp>
      <p:sp>
        <p:nvSpPr>
          <p:cNvPr id="20" name="Shape 18"/>
          <p:cNvSpPr/>
          <p:nvPr/>
        </p:nvSpPr>
        <p:spPr>
          <a:xfrm>
            <a:off x="548640" y="5074920"/>
            <a:ext cx="11064240" cy="1051560"/>
          </a:xfrm>
          <a:prstGeom prst="rect">
            <a:avLst>
              <a:gd name="adj" fmla="val 5217"/>
            </a:avLst>
          </a:prstGeom>
          <a:solidFill>
            <a:srgbClr val="F2F5F8"/>
          </a:solidFill>
          <a:ln w="12700">
            <a:solidFill>
              <a:srgbClr val="D6DEE6"/>
            </a:solidFill>
            <a:prstDash val="solid"/>
          </a:ln>
        </p:spPr>
      </p:sp>
      <p:sp>
        <p:nvSpPr>
          <p:cNvPr id="21" name="Text 19"/>
          <p:cNvSpPr/>
          <p:nvPr/>
        </p:nvSpPr>
        <p:spPr>
          <a:xfrm>
            <a:off x="713232" y="5239512"/>
            <a:ext cx="1073505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Next class</a:t>
            </a:r>
            <a:endParaRPr lang="en-US" sz="1500" dirty="0"/>
          </a:p>
        </p:txBody>
      </p:sp>
      <p:sp>
        <p:nvSpPr>
          <p:cNvPr id="22" name="Text 20"/>
          <p:cNvSpPr/>
          <p:nvPr/>
        </p:nvSpPr>
        <p:spPr>
          <a:xfrm>
            <a:off x="713232" y="5586984"/>
            <a:ext cx="10735056" cy="4297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C2 is practice: four exercises and six planted bugs. Bring today's board file. Nothing is clickable until C3.</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39A18"/>
          </a:solidFill>
          <a:ln/>
        </p:spPr>
      </p:sp>
      <p:sp>
        <p:nvSpPr>
          <p:cNvPr id="3" name="Text 1"/>
          <p:cNvSpPr/>
          <p:nvPr/>
        </p:nvSpPr>
        <p:spPr>
          <a:xfrm>
            <a:off x="1097280" y="2514600"/>
            <a:ext cx="10058400" cy="320040"/>
          </a:xfrm>
          <a:prstGeom prst="rect">
            <a:avLst/>
          </a:prstGeom>
          <a:noFill/>
          <a:ln/>
        </p:spPr>
        <p:txBody>
          <a:bodyPr wrap="square" rtlCol="0" anchor="ctr"/>
          <a:lstStyle/>
          <a:p>
            <a:pPr indent="0" marL="0">
              <a:buNone/>
            </a:pPr>
            <a:r>
              <a:rPr lang="en-US" sz="1300" b="1" spc="200" kern="0" dirty="0">
                <a:solidFill>
                  <a:srgbClr val="E39A18"/>
                </a:solidFill>
                <a:latin typeface="Arial" pitchFamily="34" charset="0"/>
                <a:ea typeface="Arial" pitchFamily="34" charset="-122"/>
                <a:cs typeface="Arial" pitchFamily="34" charset="-120"/>
              </a:rPr>
              <a:t>WEEK 6 · CLASS 2</a:t>
            </a:r>
            <a:endParaRPr lang="en-US" sz="1300" dirty="0"/>
          </a:p>
        </p:txBody>
      </p:sp>
      <p:sp>
        <p:nvSpPr>
          <p:cNvPr id="4" name="Text 2"/>
          <p:cNvSpPr/>
          <p:nvPr/>
        </p:nvSpPr>
        <p:spPr>
          <a:xfrm>
            <a:off x="1097280" y="2880360"/>
            <a:ext cx="10058400" cy="82296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Practice: manipulating the DOM</a:t>
            </a:r>
            <a:endParaRPr lang="en-US" sz="3600" dirty="0"/>
          </a:p>
        </p:txBody>
      </p:sp>
      <p:sp>
        <p:nvSpPr>
          <p:cNvPr id="5" name="Text 3"/>
          <p:cNvSpPr/>
          <p:nvPr/>
        </p:nvSpPr>
        <p:spPr>
          <a:xfrm>
            <a:off x="1097280" y="3794760"/>
            <a:ext cx="9601200" cy="548640"/>
          </a:xfrm>
          <a:prstGeom prst="rect">
            <a:avLst/>
          </a:prstGeom>
          <a:noFill/>
          <a:ln/>
        </p:spPr>
        <p:txBody>
          <a:bodyPr wrap="square" rtlCol="0" anchor="ctr"/>
          <a:lstStyle/>
          <a:p>
            <a:pPr indent="0" marL="0">
              <a:buNone/>
            </a:pPr>
            <a:r>
              <a:rPr lang="en-US" sz="1500" dirty="0">
                <a:solidFill>
                  <a:srgbClr val="C8D8E8"/>
                </a:solidFill>
                <a:latin typeface="Arial" pitchFamily="34" charset="0"/>
                <a:ea typeface="Arial" pitchFamily="34" charset="-122"/>
                <a:cs typeface="Arial" pitchFamily="34" charset="-120"/>
              </a:rPr>
              <a:t>Four exercises, six planted bugs, and a new debugging tool</a:t>
            </a:r>
            <a:endParaRPr lang="en-US" sz="150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E8CA8"/>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C2 · 0-5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The plan for this hour</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17</a:t>
            </a:r>
            <a:endParaRPr lang="en-US" sz="950" dirty="0"/>
          </a:p>
        </p:txBody>
      </p:sp>
      <p:sp>
        <p:nvSpPr>
          <p:cNvPr id="7" name="Shape 5"/>
          <p:cNvSpPr/>
          <p:nvPr/>
        </p:nvSpPr>
        <p:spPr>
          <a:xfrm>
            <a:off x="548640" y="1444752"/>
            <a:ext cx="457200" cy="457200"/>
          </a:xfrm>
          <a:prstGeom prst="ellipse">
            <a:avLst/>
          </a:prstGeom>
          <a:solidFill>
            <a:srgbClr val="003366"/>
          </a:solidFill>
          <a:ln/>
        </p:spPr>
      </p:sp>
      <p:sp>
        <p:nvSpPr>
          <p:cNvPr id="8" name="Text 6"/>
          <p:cNvSpPr/>
          <p:nvPr/>
        </p:nvSpPr>
        <p:spPr>
          <a:xfrm>
            <a:off x="548640" y="1444752"/>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1234440" y="1408176"/>
            <a:ext cx="3657600" cy="310896"/>
          </a:xfrm>
          <a:prstGeom prst="rect">
            <a:avLst/>
          </a:prstGeom>
          <a:noFill/>
          <a:ln/>
        </p:spPr>
        <p:txBody>
          <a:bodyPr wrap="square" rtlCol="0" anchor="ctr"/>
          <a:lstStyle/>
          <a:p>
            <a:pPr indent="0" marL="0">
              <a:buNone/>
            </a:pPr>
            <a:r>
              <a:rPr lang="en-US" sz="1500" b="1" dirty="0">
                <a:solidFill>
                  <a:srgbClr val="003366"/>
                </a:solidFill>
                <a:latin typeface="Arial" pitchFamily="34" charset="0"/>
                <a:ea typeface="Arial" pitchFamily="34" charset="-122"/>
                <a:cs typeface="Arial" pitchFamily="34" charset="-120"/>
              </a:rPr>
              <a:t>Extend the board</a:t>
            </a:r>
            <a:endParaRPr lang="en-US" sz="1500" dirty="0"/>
          </a:p>
        </p:txBody>
      </p:sp>
      <p:sp>
        <p:nvSpPr>
          <p:cNvPr id="10" name="Shape 8"/>
          <p:cNvSpPr/>
          <p:nvPr/>
        </p:nvSpPr>
        <p:spPr>
          <a:xfrm>
            <a:off x="5029200" y="1444752"/>
            <a:ext cx="868680" cy="274320"/>
          </a:xfrm>
          <a:prstGeom prst="rect">
            <a:avLst>
              <a:gd name="adj" fmla="val 13333"/>
            </a:avLst>
          </a:prstGeom>
          <a:solidFill>
            <a:srgbClr val="FDF3E1"/>
          </a:solidFill>
          <a:ln w="12700">
            <a:solidFill>
              <a:srgbClr val="E39A18"/>
            </a:solidFill>
            <a:prstDash val="solid"/>
          </a:ln>
        </p:spPr>
      </p:sp>
      <p:sp>
        <p:nvSpPr>
          <p:cNvPr id="11" name="Text 9"/>
          <p:cNvSpPr/>
          <p:nvPr/>
        </p:nvSpPr>
        <p:spPr>
          <a:xfrm>
            <a:off x="5029200" y="1444752"/>
            <a:ext cx="868680" cy="274320"/>
          </a:xfrm>
          <a:prstGeom prst="rect">
            <a:avLst/>
          </a:prstGeom>
          <a:noFill/>
          <a:ln/>
        </p:spPr>
        <p:txBody>
          <a:bodyPr wrap="square" rtlCol="0" anchor="ctr"/>
          <a:lstStyle/>
          <a:p>
            <a:pPr algn="ctr" indent="0" marL="0">
              <a:buNone/>
            </a:pPr>
            <a:r>
              <a:rPr lang="en-US" sz="950" dirty="0">
                <a:solidFill>
                  <a:srgbClr val="4A3000"/>
                </a:solidFill>
                <a:latin typeface="Arial" pitchFamily="34" charset="0"/>
                <a:ea typeface="Arial" pitchFamily="34" charset="-122"/>
                <a:cs typeface="Arial" pitchFamily="34" charset="-120"/>
              </a:rPr>
              <a:t>5-15 min</a:t>
            </a:r>
            <a:endParaRPr lang="en-US" sz="950" dirty="0"/>
          </a:p>
        </p:txBody>
      </p:sp>
      <p:sp>
        <p:nvSpPr>
          <p:cNvPr id="12" name="Text 10"/>
          <p:cNvSpPr/>
          <p:nvPr/>
        </p:nvSpPr>
        <p:spPr>
          <a:xfrm>
            <a:off x="6126480" y="1389888"/>
            <a:ext cx="5486400" cy="640080"/>
          </a:xfrm>
          <a:prstGeom prst="rect">
            <a:avLst/>
          </a:prstGeom>
          <a:noFill/>
          <a:ln/>
        </p:spPr>
        <p:txBody>
          <a:bodyPr wrap="square" rtlCol="0" anchor="t"/>
          <a:lstStyle/>
          <a:p>
            <a:pPr indent="0" marL="0">
              <a:buNone/>
            </a:pPr>
            <a:r>
              <a:rPr lang="en-US" sz="1200" dirty="0">
                <a:solidFill>
                  <a:srgbClr val="3D4A57"/>
                </a:solidFill>
                <a:latin typeface="Arial" pitchFamily="34" charset="0"/>
                <a:ea typeface="Arial" pitchFamily="34" charset="-122"/>
                <a:cs typeface="Arial" pitchFamily="34" charset="-120"/>
              </a:rPr>
              <a:t>Add a count, a search field's value, and an image per card</a:t>
            </a:r>
            <a:endParaRPr lang="en-US" sz="1200" dirty="0"/>
          </a:p>
        </p:txBody>
      </p:sp>
      <p:sp>
        <p:nvSpPr>
          <p:cNvPr id="13" name="Shape 11"/>
          <p:cNvSpPr/>
          <p:nvPr/>
        </p:nvSpPr>
        <p:spPr>
          <a:xfrm>
            <a:off x="548640" y="2249424"/>
            <a:ext cx="11064240" cy="0"/>
          </a:xfrm>
          <a:prstGeom prst="line">
            <a:avLst/>
          </a:prstGeom>
          <a:noFill/>
          <a:ln w="9525">
            <a:solidFill>
              <a:srgbClr val="D6DEE6"/>
            </a:solidFill>
            <a:prstDash val="solid"/>
          </a:ln>
        </p:spPr>
      </p:sp>
      <p:sp>
        <p:nvSpPr>
          <p:cNvPr id="14" name="Shape 12"/>
          <p:cNvSpPr/>
          <p:nvPr/>
        </p:nvSpPr>
        <p:spPr>
          <a:xfrm>
            <a:off x="548640" y="2523744"/>
            <a:ext cx="457200" cy="457200"/>
          </a:xfrm>
          <a:prstGeom prst="ellipse">
            <a:avLst/>
          </a:prstGeom>
          <a:solidFill>
            <a:srgbClr val="003366"/>
          </a:solidFill>
          <a:ln/>
        </p:spPr>
      </p:sp>
      <p:sp>
        <p:nvSpPr>
          <p:cNvPr id="15" name="Text 13"/>
          <p:cNvSpPr/>
          <p:nvPr/>
        </p:nvSpPr>
        <p:spPr>
          <a:xfrm>
            <a:off x="548640" y="2523744"/>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6" name="Text 14"/>
          <p:cNvSpPr/>
          <p:nvPr/>
        </p:nvSpPr>
        <p:spPr>
          <a:xfrm>
            <a:off x="1234440" y="2487168"/>
            <a:ext cx="3657600" cy="310896"/>
          </a:xfrm>
          <a:prstGeom prst="rect">
            <a:avLst/>
          </a:prstGeom>
          <a:noFill/>
          <a:ln/>
        </p:spPr>
        <p:txBody>
          <a:bodyPr wrap="square" rtlCol="0" anchor="ctr"/>
          <a:lstStyle/>
          <a:p>
            <a:pPr indent="0" marL="0">
              <a:buNone/>
            </a:pPr>
            <a:r>
              <a:rPr lang="en-US" sz="1500" b="1" dirty="0">
                <a:solidFill>
                  <a:srgbClr val="003366"/>
                </a:solidFill>
                <a:latin typeface="Arial" pitchFamily="34" charset="0"/>
                <a:ea typeface="Arial" pitchFamily="34" charset="-122"/>
                <a:cs typeface="Arial" pitchFamily="34" charset="-120"/>
              </a:rPr>
              <a:t>classList drills</a:t>
            </a:r>
            <a:endParaRPr lang="en-US" sz="1500" dirty="0"/>
          </a:p>
        </p:txBody>
      </p:sp>
      <p:sp>
        <p:nvSpPr>
          <p:cNvPr id="17" name="Shape 15"/>
          <p:cNvSpPr/>
          <p:nvPr/>
        </p:nvSpPr>
        <p:spPr>
          <a:xfrm>
            <a:off x="5029200" y="2523744"/>
            <a:ext cx="868680" cy="274320"/>
          </a:xfrm>
          <a:prstGeom prst="rect">
            <a:avLst>
              <a:gd name="adj" fmla="val 13333"/>
            </a:avLst>
          </a:prstGeom>
          <a:solidFill>
            <a:srgbClr val="FDF3E1"/>
          </a:solidFill>
          <a:ln w="12700">
            <a:solidFill>
              <a:srgbClr val="E39A18"/>
            </a:solidFill>
            <a:prstDash val="solid"/>
          </a:ln>
        </p:spPr>
      </p:sp>
      <p:sp>
        <p:nvSpPr>
          <p:cNvPr id="18" name="Text 16"/>
          <p:cNvSpPr/>
          <p:nvPr/>
        </p:nvSpPr>
        <p:spPr>
          <a:xfrm>
            <a:off x="5029200" y="2523744"/>
            <a:ext cx="868680" cy="274320"/>
          </a:xfrm>
          <a:prstGeom prst="rect">
            <a:avLst/>
          </a:prstGeom>
          <a:noFill/>
          <a:ln/>
        </p:spPr>
        <p:txBody>
          <a:bodyPr wrap="square" rtlCol="0" anchor="ctr"/>
          <a:lstStyle/>
          <a:p>
            <a:pPr algn="ctr" indent="0" marL="0">
              <a:buNone/>
            </a:pPr>
            <a:r>
              <a:rPr lang="en-US" sz="950" dirty="0">
                <a:solidFill>
                  <a:srgbClr val="4A3000"/>
                </a:solidFill>
                <a:latin typeface="Arial" pitchFamily="34" charset="0"/>
                <a:ea typeface="Arial" pitchFamily="34" charset="-122"/>
                <a:cs typeface="Arial" pitchFamily="34" charset="-120"/>
              </a:rPr>
              <a:t>15-23 min</a:t>
            </a:r>
            <a:endParaRPr lang="en-US" sz="950" dirty="0"/>
          </a:p>
        </p:txBody>
      </p:sp>
      <p:sp>
        <p:nvSpPr>
          <p:cNvPr id="19" name="Text 17"/>
          <p:cNvSpPr/>
          <p:nvPr/>
        </p:nvSpPr>
        <p:spPr>
          <a:xfrm>
            <a:off x="6126480" y="2468880"/>
            <a:ext cx="5486400" cy="640080"/>
          </a:xfrm>
          <a:prstGeom prst="rect">
            <a:avLst/>
          </a:prstGeom>
          <a:noFill/>
          <a:ln/>
        </p:spPr>
        <p:txBody>
          <a:bodyPr wrap="square" rtlCol="0" anchor="t"/>
          <a:lstStyle/>
          <a:p>
            <a:pPr indent="0" marL="0">
              <a:buNone/>
            </a:pPr>
            <a:r>
              <a:rPr lang="en-US" sz="1200" dirty="0">
                <a:solidFill>
                  <a:srgbClr val="3D4A57"/>
                </a:solidFill>
                <a:latin typeface="Arial" pitchFamily="34" charset="0"/>
                <a:ea typeface="Arial" pitchFamily="34" charset="-122"/>
                <a:cs typeface="Arial" pitchFamily="34" charset="-120"/>
              </a:rPr>
              <a:t>Mark, unmark and toggle, then read the result back</a:t>
            </a:r>
            <a:endParaRPr lang="en-US" sz="1200" dirty="0"/>
          </a:p>
        </p:txBody>
      </p:sp>
      <p:sp>
        <p:nvSpPr>
          <p:cNvPr id="20" name="Shape 18"/>
          <p:cNvSpPr/>
          <p:nvPr/>
        </p:nvSpPr>
        <p:spPr>
          <a:xfrm>
            <a:off x="548640" y="3328416"/>
            <a:ext cx="11064240" cy="0"/>
          </a:xfrm>
          <a:prstGeom prst="line">
            <a:avLst/>
          </a:prstGeom>
          <a:noFill/>
          <a:ln w="9525">
            <a:solidFill>
              <a:srgbClr val="D6DEE6"/>
            </a:solidFill>
            <a:prstDash val="solid"/>
          </a:ln>
        </p:spPr>
      </p:sp>
      <p:sp>
        <p:nvSpPr>
          <p:cNvPr id="21" name="Shape 19"/>
          <p:cNvSpPr/>
          <p:nvPr/>
        </p:nvSpPr>
        <p:spPr>
          <a:xfrm>
            <a:off x="548640" y="3602736"/>
            <a:ext cx="457200" cy="457200"/>
          </a:xfrm>
          <a:prstGeom prst="ellipse">
            <a:avLst/>
          </a:prstGeom>
          <a:solidFill>
            <a:srgbClr val="003366"/>
          </a:solidFill>
          <a:ln/>
        </p:spPr>
      </p:sp>
      <p:sp>
        <p:nvSpPr>
          <p:cNvPr id="22" name="Text 20"/>
          <p:cNvSpPr/>
          <p:nvPr/>
        </p:nvSpPr>
        <p:spPr>
          <a:xfrm>
            <a:off x="548640" y="3602736"/>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3" name="Text 21"/>
          <p:cNvSpPr/>
          <p:nvPr/>
        </p:nvSpPr>
        <p:spPr>
          <a:xfrm>
            <a:off x="1234440" y="3566160"/>
            <a:ext cx="3657600" cy="310896"/>
          </a:xfrm>
          <a:prstGeom prst="rect">
            <a:avLst/>
          </a:prstGeom>
          <a:noFill/>
          <a:ln/>
        </p:spPr>
        <p:txBody>
          <a:bodyPr wrap="square" rtlCol="0" anchor="ctr"/>
          <a:lstStyle/>
          <a:p>
            <a:pPr indent="0" marL="0">
              <a:buNone/>
            </a:pPr>
            <a:r>
              <a:rPr lang="en-US" sz="1500" b="1" dirty="0">
                <a:solidFill>
                  <a:srgbClr val="003366"/>
                </a:solidFill>
                <a:latin typeface="Arial" pitchFamily="34" charset="0"/>
                <a:ea typeface="Arial" pitchFamily="34" charset="-122"/>
                <a:cs typeface="Arial" pitchFamily="34" charset="-120"/>
              </a:rPr>
              <a:t>Build from new data</a:t>
            </a:r>
            <a:endParaRPr lang="en-US" sz="1500" dirty="0"/>
          </a:p>
        </p:txBody>
      </p:sp>
      <p:sp>
        <p:nvSpPr>
          <p:cNvPr id="24" name="Shape 22"/>
          <p:cNvSpPr/>
          <p:nvPr/>
        </p:nvSpPr>
        <p:spPr>
          <a:xfrm>
            <a:off x="5029200" y="3602736"/>
            <a:ext cx="868680" cy="274320"/>
          </a:xfrm>
          <a:prstGeom prst="rect">
            <a:avLst>
              <a:gd name="adj" fmla="val 13333"/>
            </a:avLst>
          </a:prstGeom>
          <a:solidFill>
            <a:srgbClr val="FDF3E1"/>
          </a:solidFill>
          <a:ln w="12700">
            <a:solidFill>
              <a:srgbClr val="E39A18"/>
            </a:solidFill>
            <a:prstDash val="solid"/>
          </a:ln>
        </p:spPr>
      </p:sp>
      <p:sp>
        <p:nvSpPr>
          <p:cNvPr id="25" name="Text 23"/>
          <p:cNvSpPr/>
          <p:nvPr/>
        </p:nvSpPr>
        <p:spPr>
          <a:xfrm>
            <a:off x="5029200" y="3602736"/>
            <a:ext cx="868680" cy="274320"/>
          </a:xfrm>
          <a:prstGeom prst="rect">
            <a:avLst/>
          </a:prstGeom>
          <a:noFill/>
          <a:ln/>
        </p:spPr>
        <p:txBody>
          <a:bodyPr wrap="square" rtlCol="0" anchor="ctr"/>
          <a:lstStyle/>
          <a:p>
            <a:pPr algn="ctr" indent="0" marL="0">
              <a:buNone/>
            </a:pPr>
            <a:r>
              <a:rPr lang="en-US" sz="950" dirty="0">
                <a:solidFill>
                  <a:srgbClr val="4A3000"/>
                </a:solidFill>
                <a:latin typeface="Arial" pitchFamily="34" charset="0"/>
                <a:ea typeface="Arial" pitchFamily="34" charset="-122"/>
                <a:cs typeface="Arial" pitchFamily="34" charset="-120"/>
              </a:rPr>
              <a:t>23-35 min</a:t>
            </a:r>
            <a:endParaRPr lang="en-US" sz="950" dirty="0"/>
          </a:p>
        </p:txBody>
      </p:sp>
      <p:sp>
        <p:nvSpPr>
          <p:cNvPr id="26" name="Text 24"/>
          <p:cNvSpPr/>
          <p:nvPr/>
        </p:nvSpPr>
        <p:spPr>
          <a:xfrm>
            <a:off x="6126480" y="3547872"/>
            <a:ext cx="5486400" cy="640080"/>
          </a:xfrm>
          <a:prstGeom prst="rect">
            <a:avLst/>
          </a:prstGeom>
          <a:noFill/>
          <a:ln/>
        </p:spPr>
        <p:txBody>
          <a:bodyPr wrap="square" rtlCol="0" anchor="t"/>
          <a:lstStyle/>
          <a:p>
            <a:pPr indent="0" marL="0">
              <a:buNone/>
            </a:pPr>
            <a:r>
              <a:rPr lang="en-US" sz="1200" dirty="0">
                <a:solidFill>
                  <a:srgbClr val="3D4A57"/>
                </a:solidFill>
                <a:latin typeface="Arial" pitchFamily="34" charset="0"/>
                <a:ea typeface="Arial" pitchFamily="34" charset="-122"/>
                <a:cs typeface="Arial" pitchFamily="34" charset="-120"/>
              </a:rPr>
              <a:t>A different array, a different element type, your own code</a:t>
            </a:r>
            <a:endParaRPr lang="en-US" sz="1200" dirty="0"/>
          </a:p>
        </p:txBody>
      </p:sp>
      <p:sp>
        <p:nvSpPr>
          <p:cNvPr id="27" name="Shape 25"/>
          <p:cNvSpPr/>
          <p:nvPr/>
        </p:nvSpPr>
        <p:spPr>
          <a:xfrm>
            <a:off x="548640" y="4407408"/>
            <a:ext cx="11064240" cy="0"/>
          </a:xfrm>
          <a:prstGeom prst="line">
            <a:avLst/>
          </a:prstGeom>
          <a:noFill/>
          <a:ln w="9525">
            <a:solidFill>
              <a:srgbClr val="D6DEE6"/>
            </a:solidFill>
            <a:prstDash val="solid"/>
          </a:ln>
        </p:spPr>
      </p:sp>
      <p:sp>
        <p:nvSpPr>
          <p:cNvPr id="28" name="Shape 26"/>
          <p:cNvSpPr/>
          <p:nvPr/>
        </p:nvSpPr>
        <p:spPr>
          <a:xfrm>
            <a:off x="548640" y="4681728"/>
            <a:ext cx="457200" cy="457200"/>
          </a:xfrm>
          <a:prstGeom prst="ellipse">
            <a:avLst/>
          </a:prstGeom>
          <a:solidFill>
            <a:srgbClr val="003366"/>
          </a:solidFill>
          <a:ln/>
        </p:spPr>
      </p:sp>
      <p:sp>
        <p:nvSpPr>
          <p:cNvPr id="29" name="Text 27"/>
          <p:cNvSpPr/>
          <p:nvPr/>
        </p:nvSpPr>
        <p:spPr>
          <a:xfrm>
            <a:off x="548640" y="4681728"/>
            <a:ext cx="45720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30" name="Text 28"/>
          <p:cNvSpPr/>
          <p:nvPr/>
        </p:nvSpPr>
        <p:spPr>
          <a:xfrm>
            <a:off x="1234440" y="4645152"/>
            <a:ext cx="3657600" cy="310896"/>
          </a:xfrm>
          <a:prstGeom prst="rect">
            <a:avLst/>
          </a:prstGeom>
          <a:noFill/>
          <a:ln/>
        </p:spPr>
        <p:txBody>
          <a:bodyPr wrap="square" rtlCol="0" anchor="ctr"/>
          <a:lstStyle/>
          <a:p>
            <a:pPr indent="0" marL="0">
              <a:buNone/>
            </a:pPr>
            <a:r>
              <a:rPr lang="en-US" sz="1500" b="1" dirty="0">
                <a:solidFill>
                  <a:srgbClr val="003366"/>
                </a:solidFill>
                <a:latin typeface="Arial" pitchFamily="34" charset="0"/>
                <a:ea typeface="Arial" pitchFamily="34" charset="-122"/>
                <a:cs typeface="Arial" pitchFamily="34" charset="-120"/>
              </a:rPr>
              <a:t>Six planted bugs</a:t>
            </a:r>
            <a:endParaRPr lang="en-US" sz="1500" dirty="0"/>
          </a:p>
        </p:txBody>
      </p:sp>
      <p:sp>
        <p:nvSpPr>
          <p:cNvPr id="31" name="Shape 29"/>
          <p:cNvSpPr/>
          <p:nvPr/>
        </p:nvSpPr>
        <p:spPr>
          <a:xfrm>
            <a:off x="5029200" y="4681728"/>
            <a:ext cx="868680" cy="274320"/>
          </a:xfrm>
          <a:prstGeom prst="rect">
            <a:avLst>
              <a:gd name="adj" fmla="val 13333"/>
            </a:avLst>
          </a:prstGeom>
          <a:solidFill>
            <a:srgbClr val="FDF3E1"/>
          </a:solidFill>
          <a:ln w="12700">
            <a:solidFill>
              <a:srgbClr val="E39A18"/>
            </a:solidFill>
            <a:prstDash val="solid"/>
          </a:ln>
        </p:spPr>
      </p:sp>
      <p:sp>
        <p:nvSpPr>
          <p:cNvPr id="32" name="Text 30"/>
          <p:cNvSpPr/>
          <p:nvPr/>
        </p:nvSpPr>
        <p:spPr>
          <a:xfrm>
            <a:off x="5029200" y="4681728"/>
            <a:ext cx="868680" cy="274320"/>
          </a:xfrm>
          <a:prstGeom prst="rect">
            <a:avLst/>
          </a:prstGeom>
          <a:noFill/>
          <a:ln/>
        </p:spPr>
        <p:txBody>
          <a:bodyPr wrap="square" rtlCol="0" anchor="ctr"/>
          <a:lstStyle/>
          <a:p>
            <a:pPr algn="ctr" indent="0" marL="0">
              <a:buNone/>
            </a:pPr>
            <a:r>
              <a:rPr lang="en-US" sz="950" dirty="0">
                <a:solidFill>
                  <a:srgbClr val="4A3000"/>
                </a:solidFill>
                <a:latin typeface="Arial" pitchFamily="34" charset="0"/>
                <a:ea typeface="Arial" pitchFamily="34" charset="-122"/>
                <a:cs typeface="Arial" pitchFamily="34" charset="-120"/>
              </a:rPr>
              <a:t>35-46 min</a:t>
            </a:r>
            <a:endParaRPr lang="en-US" sz="950" dirty="0"/>
          </a:p>
        </p:txBody>
      </p:sp>
      <p:sp>
        <p:nvSpPr>
          <p:cNvPr id="33" name="Text 31"/>
          <p:cNvSpPr/>
          <p:nvPr/>
        </p:nvSpPr>
        <p:spPr>
          <a:xfrm>
            <a:off x="6126480" y="4626864"/>
            <a:ext cx="5486400" cy="640080"/>
          </a:xfrm>
          <a:prstGeom prst="rect">
            <a:avLst/>
          </a:prstGeom>
          <a:noFill/>
          <a:ln/>
        </p:spPr>
        <p:txBody>
          <a:bodyPr wrap="square" rtlCol="0" anchor="t"/>
          <a:lstStyle/>
          <a:p>
            <a:pPr indent="0" marL="0">
              <a:buNone/>
            </a:pPr>
            <a:r>
              <a:rPr lang="en-US" sz="1200" dirty="0">
                <a:solidFill>
                  <a:srgbClr val="3D4A57"/>
                </a:solidFill>
                <a:latin typeface="Arial" pitchFamily="34" charset="0"/>
                <a:ea typeface="Arial" pitchFamily="34" charset="-122"/>
                <a:cs typeface="Arial" pitchFamily="34" charset="-120"/>
              </a:rPr>
              <a:t>Four of them are silent. The Elements tab is your tool</a:t>
            </a:r>
            <a:endParaRPr lang="en-US" sz="1200" dirty="0"/>
          </a:p>
        </p:txBody>
      </p:sp>
      <p:sp>
        <p:nvSpPr>
          <p:cNvPr id="34" name="Shape 32"/>
          <p:cNvSpPr/>
          <p:nvPr/>
        </p:nvSpPr>
        <p:spPr>
          <a:xfrm>
            <a:off x="548640" y="5669280"/>
            <a:ext cx="11064240" cy="548640"/>
          </a:xfrm>
          <a:prstGeom prst="rect">
            <a:avLst>
              <a:gd name="adj" fmla="val 10000"/>
            </a:avLst>
          </a:prstGeom>
          <a:solidFill>
            <a:srgbClr val="F2F5F8"/>
          </a:solidFill>
          <a:ln w="12700">
            <a:solidFill>
              <a:srgbClr val="D6DEE6"/>
            </a:solidFill>
            <a:prstDash val="solid"/>
          </a:ln>
        </p:spPr>
      </p:sp>
      <p:sp>
        <p:nvSpPr>
          <p:cNvPr id="35" name="Text 33"/>
          <p:cNvSpPr/>
          <p:nvPr/>
        </p:nvSpPr>
        <p:spPr>
          <a:xfrm>
            <a:off x="713232" y="5833872"/>
            <a:ext cx="10735056" cy="274320"/>
          </a:xfrm>
          <a:prstGeom prst="rect">
            <a:avLst/>
          </a:prstGeom>
          <a:noFill/>
          <a:ln/>
        </p:spPr>
        <p:txBody>
          <a:bodyPr wrap="square" rtlCol="0" anchor="t"/>
          <a:lstStyle/>
          <a:p>
            <a:pPr indent="0" marL="0">
              <a:lnSpc>
                <a:spcPct val="110000"/>
              </a:lnSpc>
              <a:spcAft>
                <a:spcPts val="432"/>
              </a:spcAft>
              <a:buNone/>
            </a:pPr>
            <a:r>
              <a:rPr lang="en-US" sz="1200" dirty="0">
                <a:solidFill>
                  <a:srgbClr val="3D4A57"/>
                </a:solidFill>
                <a:latin typeface="Arial" pitchFamily="34" charset="0"/>
                <a:ea typeface="Arial" pitchFamily="34" charset="-122"/>
                <a:cs typeface="Arial" pitchFamily="34" charset="-120"/>
              </a:rPr>
              <a:t>Last 4 minutes: assignment Part 1 check. Nothing today responds to a click. That is Class 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C2 · 5-23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Exercises 1 and 2</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18</a:t>
            </a:r>
            <a:endParaRPr lang="en-US" sz="950" dirty="0"/>
          </a:p>
        </p:txBody>
      </p:sp>
      <p:sp>
        <p:nvSpPr>
          <p:cNvPr id="7" name="Shape 5"/>
          <p:cNvSpPr/>
          <p:nvPr/>
        </p:nvSpPr>
        <p:spPr>
          <a:xfrm>
            <a:off x="548640" y="1234440"/>
            <a:ext cx="5486400" cy="2514600"/>
          </a:xfrm>
          <a:prstGeom prst="rect">
            <a:avLst>
              <a:gd name="adj" fmla="val 2182"/>
            </a:avLst>
          </a:prstGeom>
          <a:solidFill>
            <a:srgbClr val="F2F5F8"/>
          </a:solidFill>
          <a:ln w="12700">
            <a:solidFill>
              <a:srgbClr val="D6DEE6"/>
            </a:solidFill>
            <a:prstDash val="solid"/>
          </a:ln>
        </p:spPr>
      </p:sp>
      <p:sp>
        <p:nvSpPr>
          <p:cNvPr id="8" name="Shape 6"/>
          <p:cNvSpPr/>
          <p:nvPr/>
        </p:nvSpPr>
        <p:spPr>
          <a:xfrm>
            <a:off x="713232" y="1399032"/>
            <a:ext cx="1088136" cy="256032"/>
          </a:xfrm>
          <a:prstGeom prst="rect">
            <a:avLst>
              <a:gd name="adj" fmla="val 17857"/>
            </a:avLst>
          </a:prstGeom>
          <a:solidFill>
            <a:srgbClr val="003366"/>
          </a:solidFill>
          <a:ln/>
        </p:spPr>
      </p:sp>
      <p:sp>
        <p:nvSpPr>
          <p:cNvPr id="9" name="Text 7"/>
          <p:cNvSpPr/>
          <p:nvPr/>
        </p:nvSpPr>
        <p:spPr>
          <a:xfrm>
            <a:off x="713232" y="1399032"/>
            <a:ext cx="1088136"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EXERCISE 1</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Extend the board</a:t>
            </a:r>
            <a:endParaRPr lang="en-US" sz="1500" dirty="0"/>
          </a:p>
        </p:txBody>
      </p:sp>
      <p:sp>
        <p:nvSpPr>
          <p:cNvPr id="11" name="Text 9"/>
          <p:cNvSpPr/>
          <p:nvPr/>
        </p:nvSpPr>
        <p:spPr>
          <a:xfrm>
            <a:off x="713232" y="2112264"/>
            <a:ext cx="5157216" cy="15270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Show the real count in the heading, read from the array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Give every card an image with a proper alt text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Put the student id on each card with dataset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Read one card's dataset back and log it</a:t>
            </a:r>
            <a:endParaRPr lang="en-US" sz="1250" dirty="0"/>
          </a:p>
        </p:txBody>
      </p:sp>
      <p:sp>
        <p:nvSpPr>
          <p:cNvPr id="12" name="Shape 10"/>
          <p:cNvSpPr/>
          <p:nvPr/>
        </p:nvSpPr>
        <p:spPr>
          <a:xfrm>
            <a:off x="6355080" y="1234440"/>
            <a:ext cx="5285232" cy="2514600"/>
          </a:xfrm>
          <a:prstGeom prst="rect">
            <a:avLst>
              <a:gd name="adj" fmla="val 2182"/>
            </a:avLst>
          </a:prstGeom>
          <a:solidFill>
            <a:srgbClr val="E7F4EE"/>
          </a:solidFill>
          <a:ln w="12700">
            <a:solidFill>
              <a:srgbClr val="1F7A55"/>
            </a:solidFill>
            <a:prstDash val="solid"/>
          </a:ln>
        </p:spPr>
      </p:sp>
      <p:sp>
        <p:nvSpPr>
          <p:cNvPr id="13" name="Shape 11"/>
          <p:cNvSpPr/>
          <p:nvPr/>
        </p:nvSpPr>
        <p:spPr>
          <a:xfrm>
            <a:off x="6519672" y="1399032"/>
            <a:ext cx="1088136" cy="256032"/>
          </a:xfrm>
          <a:prstGeom prst="rect">
            <a:avLst>
              <a:gd name="adj" fmla="val 17857"/>
            </a:avLst>
          </a:prstGeom>
          <a:solidFill>
            <a:srgbClr val="1F7A55"/>
          </a:solidFill>
          <a:ln/>
        </p:spPr>
      </p:sp>
      <p:sp>
        <p:nvSpPr>
          <p:cNvPr id="14" name="Text 12"/>
          <p:cNvSpPr/>
          <p:nvPr/>
        </p:nvSpPr>
        <p:spPr>
          <a:xfrm>
            <a:off x="6519672" y="1399032"/>
            <a:ext cx="1088136"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EXERCISE 2</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classList drills</a:t>
            </a:r>
            <a:endParaRPr lang="en-US" sz="1500" dirty="0"/>
          </a:p>
        </p:txBody>
      </p:sp>
      <p:sp>
        <p:nvSpPr>
          <p:cNvPr id="16" name="Text 14"/>
          <p:cNvSpPr/>
          <p:nvPr/>
        </p:nvSpPr>
        <p:spPr>
          <a:xfrm>
            <a:off x="6519672" y="2112264"/>
            <a:ext cx="4956048" cy="15270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Add .top to every student at 80 or above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Remove it from one of them again</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toggle .compact on every card, twice, and explain the result</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Log classList.contains for one card before and after</a:t>
            </a:r>
            <a:endParaRPr lang="en-US" sz="1250" dirty="0"/>
          </a:p>
        </p:txBody>
      </p:sp>
      <p:sp>
        <p:nvSpPr>
          <p:cNvPr id="17" name="Shape 15"/>
          <p:cNvSpPr/>
          <p:nvPr/>
        </p:nvSpPr>
        <p:spPr>
          <a:xfrm>
            <a:off x="548640" y="3931920"/>
            <a:ext cx="11064240" cy="1168400"/>
          </a:xfrm>
          <a:prstGeom prst="rect">
            <a:avLst>
              <a:gd name="adj" fmla="val 3913"/>
            </a:avLst>
          </a:prstGeom>
          <a:solidFill>
            <a:srgbClr val="0D1B2A"/>
          </a:solidFill>
          <a:ln w="12700">
            <a:solidFill>
              <a:srgbClr val="0D1B2A"/>
            </a:solidFill>
            <a:prstDash val="solid"/>
          </a:ln>
        </p:spPr>
      </p:sp>
      <p:sp>
        <p:nvSpPr>
          <p:cNvPr id="18" name="Text 16"/>
          <p:cNvSpPr/>
          <p:nvPr/>
        </p:nvSpPr>
        <p:spPr>
          <a:xfrm>
            <a:off x="685800" y="4041648"/>
            <a:ext cx="10789920" cy="948944"/>
          </a:xfrm>
          <a:prstGeom prst="rect">
            <a:avLst/>
          </a:prstGeom>
          <a:noFill/>
          <a:ln/>
        </p:spPr>
        <p:txBody>
          <a:bodyPr wrap="square" rtlCol="0" anchor="t"/>
          <a:lstStyle/>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Exercise 1, the count. Why is this wrong?</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document.querySelector(</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"#count"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).textContent =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"4 students"</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Exercise 2, the thing to notice</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card.classList.toggle(</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"compact"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 run it twice. What happened, and why?</a:t>
            </a:r>
            <a:endParaRPr lang="en-US" sz="1100" dirty="0"/>
          </a:p>
        </p:txBody>
      </p:sp>
      <p:sp>
        <p:nvSpPr>
          <p:cNvPr id="19" name="Shape 17"/>
          <p:cNvSpPr/>
          <p:nvPr/>
        </p:nvSpPr>
        <p:spPr>
          <a:xfrm>
            <a:off x="548640" y="5349240"/>
            <a:ext cx="11064240" cy="777240"/>
          </a:xfrm>
          <a:prstGeom prst="rect">
            <a:avLst>
              <a:gd name="adj" fmla="val 7059"/>
            </a:avLst>
          </a:prstGeom>
          <a:solidFill>
            <a:srgbClr val="FDF3E1"/>
          </a:solidFill>
          <a:ln w="12700">
            <a:solidFill>
              <a:srgbClr val="E39A18"/>
            </a:solidFill>
            <a:prstDash val="solid"/>
          </a:ln>
        </p:spPr>
      </p:sp>
      <p:sp>
        <p:nvSpPr>
          <p:cNvPr id="20" name="Text 18"/>
          <p:cNvSpPr/>
          <p:nvPr/>
        </p:nvSpPr>
        <p:spPr>
          <a:xfrm>
            <a:off x="713232" y="5513832"/>
            <a:ext cx="10735056" cy="502920"/>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A hardcoded 4 is wrong even when it is right. Add a student and find out why.</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C2 · 23-35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Exercise 3: build it yourself</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19</a:t>
            </a:r>
            <a:endParaRPr lang="en-US" sz="950" dirty="0"/>
          </a:p>
        </p:txBody>
      </p:sp>
      <p:sp>
        <p:nvSpPr>
          <p:cNvPr id="7" name="Shape 5"/>
          <p:cNvSpPr/>
          <p:nvPr/>
        </p:nvSpPr>
        <p:spPr>
          <a:xfrm>
            <a:off x="548640" y="1234440"/>
            <a:ext cx="6766560" cy="1883664"/>
          </a:xfrm>
          <a:prstGeom prst="rect">
            <a:avLst>
              <a:gd name="adj" fmla="val 2427"/>
            </a:avLst>
          </a:prstGeom>
          <a:solidFill>
            <a:srgbClr val="0D1B2A"/>
          </a:solidFill>
          <a:ln w="12700">
            <a:solidFill>
              <a:srgbClr val="0D1B2A"/>
            </a:solidFill>
            <a:prstDash val="solid"/>
          </a:ln>
        </p:spPr>
      </p:sp>
      <p:sp>
        <p:nvSpPr>
          <p:cNvPr id="8" name="Text 6"/>
          <p:cNvSpPr/>
          <p:nvPr/>
        </p:nvSpPr>
        <p:spPr>
          <a:xfrm>
            <a:off x="685800" y="1344168"/>
            <a:ext cx="6492240" cy="1664208"/>
          </a:xfrm>
          <a:prstGeom prst="rect">
            <a:avLst/>
          </a:prstGeom>
          <a:noFill/>
          <a:ln/>
        </p:spPr>
        <p:txBody>
          <a:bodyPr wrap="square" rtlCol="0" anchor="t"/>
          <a:lstStyle/>
          <a:p>
            <a:pPr indent="0" marL="0">
              <a:lnSpc>
                <a:spcPct val="105000"/>
              </a:lnSpc>
              <a:buNone/>
            </a:pPr>
            <a:r>
              <a:rPr lang="en-US" sz="1100" dirty="0">
                <a:solidFill>
                  <a:srgbClr val="FFC46B"/>
                </a:solidFill>
                <a:latin typeface="Courier New" pitchFamily="34" charset="0"/>
                <a:ea typeface="Courier New" pitchFamily="34" charset="-122"/>
                <a:cs typeface="Courier New" pitchFamily="34" charset="-120"/>
              </a:rPr>
              <a:t>const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books =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 title: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"Eloquent JavaScript"</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author: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"Haverbeke"</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year: </a:t>
            </a:r>
            <a:pPr indent="0" marL="0">
              <a:lnSpc>
                <a:spcPct val="105000"/>
              </a:lnSpc>
              <a:buNone/>
            </a:pPr>
            <a:r>
              <a:rPr lang="en-US" sz="1100" dirty="0">
                <a:solidFill>
                  <a:srgbClr val="8FD3FF"/>
                </a:solidFill>
                <a:latin typeface="Courier New" pitchFamily="34" charset="0"/>
                <a:ea typeface="Courier New" pitchFamily="34" charset="-122"/>
                <a:cs typeface="Courier New" pitchFamily="34" charset="-120"/>
              </a:rPr>
              <a:t>2018</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 title: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"You Don't Know JS"</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author: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"Simpson"</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year: </a:t>
            </a:r>
            <a:pPr indent="0" marL="0">
              <a:lnSpc>
                <a:spcPct val="105000"/>
              </a:lnSpc>
              <a:buNone/>
            </a:pPr>
            <a:r>
              <a:rPr lang="en-US" sz="1100" dirty="0">
                <a:solidFill>
                  <a:srgbClr val="8FD3FF"/>
                </a:solidFill>
                <a:latin typeface="Courier New" pitchFamily="34" charset="0"/>
                <a:ea typeface="Courier New" pitchFamily="34" charset="-122"/>
                <a:cs typeface="Courier New" pitchFamily="34" charset="-120"/>
              </a:rPr>
              <a:t>2020</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 title: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"Refactoring UI"</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author: </a:t>
            </a:r>
            <a:pPr indent="0" marL="0">
              <a:lnSpc>
                <a:spcPct val="105000"/>
              </a:lnSpc>
              <a:buNone/>
            </a:pPr>
            <a:r>
              <a:rPr lang="en-US" sz="1100" dirty="0">
                <a:solidFill>
                  <a:srgbClr val="A8E6A3"/>
                </a:solidFill>
                <a:latin typeface="Courier New" pitchFamily="34" charset="0"/>
                <a:ea typeface="Courier New" pitchFamily="34" charset="-122"/>
                <a:cs typeface="Courier New" pitchFamily="34" charset="-120"/>
              </a:rPr>
              <a:t>"Wathan"</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year: </a:t>
            </a:r>
            <a:pPr indent="0" marL="0">
              <a:lnSpc>
                <a:spcPct val="105000"/>
              </a:lnSpc>
              <a:buNone/>
            </a:pPr>
            <a:r>
              <a:rPr lang="en-US" sz="1100" dirty="0">
                <a:solidFill>
                  <a:srgbClr val="8FD3FF"/>
                </a:solidFill>
                <a:latin typeface="Courier New" pitchFamily="34" charset="0"/>
                <a:ea typeface="Courier New" pitchFamily="34" charset="-122"/>
                <a:cs typeface="Courier New" pitchFamily="34" charset="-120"/>
              </a:rPr>
              <a:t>2018</a:t>
            </a:r>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Build one &lt;article&gt; per book inside #library</a:t>
            </a:r>
            <a:endParaRPr lang="en-US" sz="1100" dirty="0"/>
          </a:p>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Each one needs: an h3 with the title, a p with the author,</a:t>
            </a:r>
            <a:endParaRPr lang="en-US" sz="1100" dirty="0"/>
          </a:p>
          <a:p>
            <a:pPr indent="0" marL="0">
              <a:lnSpc>
                <a:spcPct val="105000"/>
              </a:lnSpc>
              <a:buNone/>
            </a:pPr>
            <a:r>
              <a:rPr lang="en-US" sz="1100" dirty="0">
                <a:solidFill>
                  <a:srgbClr val="8296A8"/>
                </a:solidFill>
                <a:latin typeface="Courier New" pitchFamily="34" charset="0"/>
                <a:ea typeface="Courier New" pitchFamily="34" charset="-122"/>
                <a:cs typeface="Courier New" pitchFamily="34" charset="-120"/>
              </a:rPr>
              <a:t>// a data-year attribute, and the class .old when year &lt; 2019</a:t>
            </a:r>
            <a:endParaRPr lang="en-US" sz="1100" dirty="0"/>
          </a:p>
        </p:txBody>
      </p:sp>
      <p:sp>
        <p:nvSpPr>
          <p:cNvPr id="9" name="Shape 7"/>
          <p:cNvSpPr/>
          <p:nvPr/>
        </p:nvSpPr>
        <p:spPr>
          <a:xfrm>
            <a:off x="7635240" y="1234440"/>
            <a:ext cx="4553712" cy="2194560"/>
          </a:xfrm>
          <a:prstGeom prst="rect">
            <a:avLst>
              <a:gd name="adj" fmla="val 2500"/>
            </a:avLst>
          </a:prstGeom>
          <a:solidFill>
            <a:srgbClr val="FBEAE8"/>
          </a:solidFill>
          <a:ln w="12700">
            <a:solidFill>
              <a:srgbClr val="B3261E"/>
            </a:solidFill>
            <a:prstDash val="solid"/>
          </a:ln>
        </p:spPr>
      </p:sp>
      <p:sp>
        <p:nvSpPr>
          <p:cNvPr id="10" name="Shape 8"/>
          <p:cNvSpPr/>
          <p:nvPr/>
        </p:nvSpPr>
        <p:spPr>
          <a:xfrm>
            <a:off x="7799832" y="1399032"/>
            <a:ext cx="621792" cy="256032"/>
          </a:xfrm>
          <a:prstGeom prst="rect">
            <a:avLst>
              <a:gd name="adj" fmla="val 17857"/>
            </a:avLst>
          </a:prstGeom>
          <a:solidFill>
            <a:srgbClr val="B3261E"/>
          </a:solidFill>
          <a:ln/>
        </p:spPr>
      </p:sp>
      <p:sp>
        <p:nvSpPr>
          <p:cNvPr id="11" name="Text 9"/>
          <p:cNvSpPr/>
          <p:nvPr/>
        </p:nvSpPr>
        <p:spPr>
          <a:xfrm>
            <a:off x="7799832" y="1399032"/>
            <a:ext cx="621792"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RULE</a:t>
            </a:r>
            <a:endParaRPr lang="en-US" sz="950" dirty="0"/>
          </a:p>
        </p:txBody>
      </p:sp>
      <p:sp>
        <p:nvSpPr>
          <p:cNvPr id="12" name="Text 10"/>
          <p:cNvSpPr/>
          <p:nvPr/>
        </p:nvSpPr>
        <p:spPr>
          <a:xfrm>
            <a:off x="7799832" y="1764792"/>
            <a:ext cx="4224528"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No copying from C1</a:t>
            </a:r>
            <a:endParaRPr lang="en-US" sz="1500" dirty="0"/>
          </a:p>
        </p:txBody>
      </p:sp>
      <p:sp>
        <p:nvSpPr>
          <p:cNvPr id="13" name="Text 11"/>
          <p:cNvSpPr/>
          <p:nvPr/>
        </p:nvSpPr>
        <p:spPr>
          <a:xfrm>
            <a:off x="7799832" y="2112264"/>
            <a:ext cx="4224528" cy="120700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Close board.js</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Write it from the three steps</a:t>
            </a:r>
            <a:endParaRPr lang="en-US" sz="1250" dirty="0"/>
          </a:p>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 The handout is allowed, your old code is not</a:t>
            </a:r>
            <a:endParaRPr lang="en-US" sz="1250" dirty="0"/>
          </a:p>
        </p:txBody>
      </p:sp>
      <p:sp>
        <p:nvSpPr>
          <p:cNvPr id="14" name="Shape 12"/>
          <p:cNvSpPr/>
          <p:nvPr/>
        </p:nvSpPr>
        <p:spPr>
          <a:xfrm>
            <a:off x="7635240" y="3566160"/>
            <a:ext cx="4553712" cy="2103120"/>
          </a:xfrm>
          <a:prstGeom prst="rect">
            <a:avLst>
              <a:gd name="adj" fmla="val 2609"/>
            </a:avLst>
          </a:prstGeom>
          <a:solidFill>
            <a:srgbClr val="E7F4EE"/>
          </a:solidFill>
          <a:ln w="12700">
            <a:solidFill>
              <a:srgbClr val="1F7A55"/>
            </a:solidFill>
            <a:prstDash val="solid"/>
          </a:ln>
        </p:spPr>
      </p:sp>
      <p:sp>
        <p:nvSpPr>
          <p:cNvPr id="15" name="Text 13"/>
          <p:cNvSpPr/>
          <p:nvPr/>
        </p:nvSpPr>
        <p:spPr>
          <a:xfrm>
            <a:off x="7799832" y="3730752"/>
            <a:ext cx="422452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Nested elements</a:t>
            </a:r>
            <a:endParaRPr lang="en-US" sz="1500" dirty="0"/>
          </a:p>
        </p:txBody>
      </p:sp>
      <p:sp>
        <p:nvSpPr>
          <p:cNvPr id="16" name="Text 14"/>
          <p:cNvSpPr/>
          <p:nvPr/>
        </p:nvSpPr>
        <p:spPr>
          <a:xfrm>
            <a:off x="7799832" y="4078224"/>
            <a:ext cx="4224528" cy="148132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An article holds an h3 and a p</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So you append twice: into the article, then the article into the page</a:t>
            </a:r>
            <a:endParaRPr lang="en-US" sz="1250" dirty="0"/>
          </a:p>
        </p:txBody>
      </p:sp>
      <p:sp>
        <p:nvSpPr>
          <p:cNvPr id="17" name="Shape 15"/>
          <p:cNvSpPr/>
          <p:nvPr/>
        </p:nvSpPr>
        <p:spPr>
          <a:xfrm>
            <a:off x="548640" y="3657600"/>
            <a:ext cx="6766560" cy="2011680"/>
          </a:xfrm>
          <a:prstGeom prst="rect">
            <a:avLst>
              <a:gd name="adj" fmla="val 2727"/>
            </a:avLst>
          </a:prstGeom>
          <a:solidFill>
            <a:srgbClr val="F2F5F8"/>
          </a:solidFill>
          <a:ln w="12700">
            <a:solidFill>
              <a:srgbClr val="D6DEE6"/>
            </a:solidFill>
            <a:prstDash val="solid"/>
          </a:ln>
        </p:spPr>
      </p:sp>
      <p:sp>
        <p:nvSpPr>
          <p:cNvPr id="18" name="Text 16"/>
          <p:cNvSpPr/>
          <p:nvPr/>
        </p:nvSpPr>
        <p:spPr>
          <a:xfrm>
            <a:off x="713232" y="3822192"/>
            <a:ext cx="643737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The order that works</a:t>
            </a:r>
            <a:endParaRPr lang="en-US" sz="1500" dirty="0"/>
          </a:p>
        </p:txBody>
      </p:sp>
      <p:sp>
        <p:nvSpPr>
          <p:cNvPr id="19" name="Text 17"/>
          <p:cNvSpPr/>
          <p:nvPr/>
        </p:nvSpPr>
        <p:spPr>
          <a:xfrm>
            <a:off x="713232" y="4169664"/>
            <a:ext cx="6437376" cy="138988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Create the article, the h3 and the p</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Fill all three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article.appendChild(h3), then article.appendChild(p)</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Finally library.appendChild(article)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C2 · 35-46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Exercise 4: six planted bugs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20</a:t>
            </a:r>
            <a:endParaRPr lang="en-US" sz="950" dirty="0"/>
          </a:p>
        </p:txBody>
      </p:sp>
      <p:sp>
        <p:nvSpPr>
          <p:cNvPr id="7" name="Shape 5"/>
          <p:cNvSpPr/>
          <p:nvPr/>
        </p:nvSpPr>
        <p:spPr>
          <a:xfrm>
            <a:off x="548640" y="1234440"/>
            <a:ext cx="11064240" cy="914400"/>
          </a:xfrm>
          <a:prstGeom prst="rect">
            <a:avLst>
              <a:gd name="adj" fmla="val 6000"/>
            </a:avLst>
          </a:prstGeom>
          <a:solidFill>
            <a:srgbClr val="FBEAE8"/>
          </a:solidFill>
          <a:ln w="12700">
            <a:solidFill>
              <a:srgbClr val="B3261E"/>
            </a:solidFill>
            <a:prstDash val="solid"/>
          </a:ln>
        </p:spPr>
      </p:sp>
      <p:sp>
        <p:nvSpPr>
          <p:cNvPr id="8" name="Text 6"/>
          <p:cNvSpPr/>
          <p:nvPr/>
        </p:nvSpPr>
        <p:spPr>
          <a:xfrm>
            <a:off x="713232" y="1399032"/>
            <a:ext cx="10735056" cy="310896"/>
          </a:xfrm>
          <a:prstGeom prst="rect">
            <a:avLst/>
          </a:prstGeom>
          <a:noFill/>
          <a:ln/>
        </p:spPr>
        <p:txBody>
          <a:bodyPr wrap="square" rtlCol="0" anchor="t"/>
          <a:lstStyle/>
          <a:p>
            <a:pPr indent="0" marL="0">
              <a:buNone/>
            </a:pPr>
            <a:r>
              <a:rPr lang="en-US" sz="1500" b="1" dirty="0">
                <a:solidFill>
                  <a:srgbClr val="B3261E"/>
                </a:solidFill>
                <a:latin typeface="Arial" pitchFamily="34" charset="0"/>
                <a:ea typeface="Arial" pitchFamily="34" charset="-122"/>
                <a:cs typeface="Arial" pitchFamily="34" charset="-120"/>
              </a:rPr>
              <a:t>Three name themselves, but never all at once</a:t>
            </a:r>
            <a:endParaRPr lang="en-US" sz="1500" dirty="0"/>
          </a:p>
        </p:txBody>
      </p:sp>
      <p:sp>
        <p:nvSpPr>
          <p:cNvPr id="9" name="Text 7"/>
          <p:cNvSpPr/>
          <p:nvPr/>
        </p:nvSpPr>
        <p:spPr>
          <a:xfrm>
            <a:off x="713232" y="1746504"/>
            <a:ext cx="10735056" cy="292608"/>
          </a:xfrm>
          <a:prstGeom prst="rect">
            <a:avLst/>
          </a:prstGeom>
          <a:noFill/>
          <a:ln/>
        </p:spPr>
        <p:txBody>
          <a:bodyPr wrap="square" rtlCol="0" anchor="t"/>
          <a:lstStyle/>
          <a:p>
            <a:pPr indent="0" marL="0">
              <a:lnSpc>
                <a:spcPct val="110000"/>
              </a:lnSpc>
              <a:spcAft>
                <a:spcPts val="432"/>
              </a:spcAft>
              <a:buNone/>
            </a:pPr>
            <a:r>
              <a:rPr lang="en-US" sz="1250" dirty="0">
                <a:solidFill>
                  <a:srgbClr val="6B1A14"/>
                </a:solidFill>
                <a:latin typeface="Arial" pitchFamily="34" charset="0"/>
                <a:ea typeface="Arial" pitchFamily="34" charset="-122"/>
                <a:cs typeface="Arial" pitchFamily="34" charset="-120"/>
              </a:rPr>
              <a:t>You will see one error. Fix it and a different one appears. The page stays blank until the third is gone.</a:t>
            </a:r>
            <a:endParaRPr lang="en-US" sz="1250" dirty="0"/>
          </a:p>
        </p:txBody>
      </p:sp>
      <p:sp>
        <p:nvSpPr>
          <p:cNvPr id="10" name="Shape 8"/>
          <p:cNvSpPr/>
          <p:nvPr/>
        </p:nvSpPr>
        <p:spPr>
          <a:xfrm>
            <a:off x="548640" y="2331720"/>
            <a:ext cx="5285232" cy="694944"/>
          </a:xfrm>
          <a:prstGeom prst="rect">
            <a:avLst>
              <a:gd name="adj" fmla="val 6579"/>
            </a:avLst>
          </a:prstGeom>
          <a:solidFill>
            <a:srgbClr val="FBEAE8"/>
          </a:solidFill>
          <a:ln w="12700">
            <a:solidFill>
              <a:srgbClr val="B3261E"/>
            </a:solidFill>
            <a:prstDash val="solid"/>
          </a:ln>
        </p:spPr>
      </p:sp>
      <p:sp>
        <p:nvSpPr>
          <p:cNvPr id="11" name="Shape 9"/>
          <p:cNvSpPr/>
          <p:nvPr/>
        </p:nvSpPr>
        <p:spPr>
          <a:xfrm>
            <a:off x="694944" y="2514600"/>
            <a:ext cx="329184" cy="329184"/>
          </a:xfrm>
          <a:prstGeom prst="ellipse">
            <a:avLst/>
          </a:prstGeom>
          <a:solidFill>
            <a:srgbClr val="003366"/>
          </a:solidFill>
          <a:ln/>
        </p:spPr>
      </p:sp>
      <p:sp>
        <p:nvSpPr>
          <p:cNvPr id="12" name="Text 10"/>
          <p:cNvSpPr/>
          <p:nvPr/>
        </p:nvSpPr>
        <p:spPr>
          <a:xfrm>
            <a:off x="694944" y="2514600"/>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13" name="Text 11"/>
          <p:cNvSpPr/>
          <p:nvPr/>
        </p:nvSpPr>
        <p:spPr>
          <a:xfrm>
            <a:off x="1115568" y="2331720"/>
            <a:ext cx="3794760" cy="694944"/>
          </a:xfrm>
          <a:prstGeom prst="rect">
            <a:avLst/>
          </a:prstGeom>
          <a:noFill/>
          <a:ln/>
        </p:spPr>
        <p:txBody>
          <a:bodyPr wrap="square" rtlCol="0" anchor="ctr"/>
          <a:lstStyle/>
          <a:p>
            <a:pPr indent="0" marL="0">
              <a:buNone/>
            </a:pPr>
            <a:r>
              <a:rPr lang="en-US" sz="1150" dirty="0">
                <a:solidFill>
                  <a:srgbClr val="6B1A14"/>
                </a:solidFill>
                <a:latin typeface="Arial" pitchFamily="34" charset="0"/>
                <a:ea typeface="Arial" pitchFamily="34" charset="-122"/>
                <a:cs typeface="Arial" pitchFamily="34" charset="-120"/>
              </a:rPr>
              <a:t>parameter 1 is not of type 'Node'</a:t>
            </a:r>
            <a:endParaRPr lang="en-US" sz="1150" dirty="0"/>
          </a:p>
        </p:txBody>
      </p:sp>
      <p:sp>
        <p:nvSpPr>
          <p:cNvPr id="14" name="Text 12"/>
          <p:cNvSpPr/>
          <p:nvPr/>
        </p:nvSpPr>
        <p:spPr>
          <a:xfrm>
            <a:off x="4937760" y="2551176"/>
            <a:ext cx="777240" cy="256032"/>
          </a:xfrm>
          <a:prstGeom prst="rect">
            <a:avLst/>
          </a:prstGeom>
          <a:noFill/>
          <a:ln/>
        </p:spPr>
        <p:txBody>
          <a:bodyPr wrap="square" rtlCol="0" anchor="ctr"/>
          <a:lstStyle/>
          <a:p>
            <a:pPr algn="r" indent="0" marL="0">
              <a:buNone/>
            </a:pPr>
            <a:r>
              <a:rPr lang="en-US" sz="900" b="1" dirty="0">
                <a:solidFill>
                  <a:srgbClr val="B3261E"/>
                </a:solidFill>
                <a:latin typeface="Arial" pitchFamily="34" charset="0"/>
                <a:ea typeface="Arial" pitchFamily="34" charset="-122"/>
                <a:cs typeface="Arial" pitchFamily="34" charset="-120"/>
              </a:rPr>
              <a:t>Console</a:t>
            </a:r>
            <a:endParaRPr lang="en-US" sz="900" dirty="0"/>
          </a:p>
        </p:txBody>
      </p:sp>
      <p:sp>
        <p:nvSpPr>
          <p:cNvPr id="15" name="Shape 13"/>
          <p:cNvSpPr/>
          <p:nvPr/>
        </p:nvSpPr>
        <p:spPr>
          <a:xfrm>
            <a:off x="6355080" y="2331720"/>
            <a:ext cx="5285232" cy="694944"/>
          </a:xfrm>
          <a:prstGeom prst="rect">
            <a:avLst>
              <a:gd name="adj" fmla="val 6579"/>
            </a:avLst>
          </a:prstGeom>
          <a:solidFill>
            <a:srgbClr val="FBEAE8"/>
          </a:solidFill>
          <a:ln w="12700">
            <a:solidFill>
              <a:srgbClr val="B3261E"/>
            </a:solidFill>
            <a:prstDash val="solid"/>
          </a:ln>
        </p:spPr>
      </p:sp>
      <p:sp>
        <p:nvSpPr>
          <p:cNvPr id="16" name="Shape 14"/>
          <p:cNvSpPr/>
          <p:nvPr/>
        </p:nvSpPr>
        <p:spPr>
          <a:xfrm>
            <a:off x="6501384" y="2514600"/>
            <a:ext cx="329184" cy="329184"/>
          </a:xfrm>
          <a:prstGeom prst="ellipse">
            <a:avLst/>
          </a:prstGeom>
          <a:solidFill>
            <a:srgbClr val="003366"/>
          </a:solidFill>
          <a:ln/>
        </p:spPr>
      </p:sp>
      <p:sp>
        <p:nvSpPr>
          <p:cNvPr id="17" name="Text 15"/>
          <p:cNvSpPr/>
          <p:nvPr/>
        </p:nvSpPr>
        <p:spPr>
          <a:xfrm>
            <a:off x="6501384" y="2514600"/>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18" name="Text 16"/>
          <p:cNvSpPr/>
          <p:nvPr/>
        </p:nvSpPr>
        <p:spPr>
          <a:xfrm>
            <a:off x="6922008" y="2331720"/>
            <a:ext cx="3794760" cy="694944"/>
          </a:xfrm>
          <a:prstGeom prst="rect">
            <a:avLst/>
          </a:prstGeom>
          <a:noFill/>
          <a:ln/>
        </p:spPr>
        <p:txBody>
          <a:bodyPr wrap="square" rtlCol="0" anchor="ctr"/>
          <a:lstStyle/>
          <a:p>
            <a:pPr indent="0" marL="0">
              <a:buNone/>
            </a:pPr>
            <a:r>
              <a:rPr lang="en-US" sz="1150" dirty="0">
                <a:solidFill>
                  <a:srgbClr val="6B1A14"/>
                </a:solidFill>
                <a:latin typeface="Arial" pitchFamily="34" charset="0"/>
                <a:ea typeface="Arial" pitchFamily="34" charset="-122"/>
                <a:cs typeface="Arial" pitchFamily="34" charset="-120"/>
              </a:rPr>
              <a:t>Cannot read properties of null (appendChild)</a:t>
            </a:r>
            <a:endParaRPr lang="en-US" sz="1150" dirty="0"/>
          </a:p>
        </p:txBody>
      </p:sp>
      <p:sp>
        <p:nvSpPr>
          <p:cNvPr id="19" name="Text 17"/>
          <p:cNvSpPr/>
          <p:nvPr/>
        </p:nvSpPr>
        <p:spPr>
          <a:xfrm>
            <a:off x="10744200" y="2551176"/>
            <a:ext cx="777240" cy="256032"/>
          </a:xfrm>
          <a:prstGeom prst="rect">
            <a:avLst/>
          </a:prstGeom>
          <a:noFill/>
          <a:ln/>
        </p:spPr>
        <p:txBody>
          <a:bodyPr wrap="square" rtlCol="0" anchor="ctr"/>
          <a:lstStyle/>
          <a:p>
            <a:pPr algn="r" indent="0" marL="0">
              <a:buNone/>
            </a:pPr>
            <a:r>
              <a:rPr lang="en-US" sz="900" b="1" dirty="0">
                <a:solidFill>
                  <a:srgbClr val="B3261E"/>
                </a:solidFill>
                <a:latin typeface="Arial" pitchFamily="34" charset="0"/>
                <a:ea typeface="Arial" pitchFamily="34" charset="-122"/>
                <a:cs typeface="Arial" pitchFamily="34" charset="-120"/>
              </a:rPr>
              <a:t>Console</a:t>
            </a:r>
            <a:endParaRPr lang="en-US" sz="900" dirty="0"/>
          </a:p>
        </p:txBody>
      </p:sp>
      <p:sp>
        <p:nvSpPr>
          <p:cNvPr id="20" name="Shape 18"/>
          <p:cNvSpPr/>
          <p:nvPr/>
        </p:nvSpPr>
        <p:spPr>
          <a:xfrm>
            <a:off x="548640" y="3172968"/>
            <a:ext cx="5285232" cy="694944"/>
          </a:xfrm>
          <a:prstGeom prst="rect">
            <a:avLst>
              <a:gd name="adj" fmla="val 6579"/>
            </a:avLst>
          </a:prstGeom>
          <a:solidFill>
            <a:srgbClr val="FBEAE8"/>
          </a:solidFill>
          <a:ln w="12700">
            <a:solidFill>
              <a:srgbClr val="B3261E"/>
            </a:solidFill>
            <a:prstDash val="solid"/>
          </a:ln>
        </p:spPr>
      </p:sp>
      <p:sp>
        <p:nvSpPr>
          <p:cNvPr id="21" name="Shape 19"/>
          <p:cNvSpPr/>
          <p:nvPr/>
        </p:nvSpPr>
        <p:spPr>
          <a:xfrm>
            <a:off x="694944" y="3355848"/>
            <a:ext cx="329184" cy="329184"/>
          </a:xfrm>
          <a:prstGeom prst="ellipse">
            <a:avLst/>
          </a:prstGeom>
          <a:solidFill>
            <a:srgbClr val="003366"/>
          </a:solidFill>
          <a:ln/>
        </p:spPr>
      </p:sp>
      <p:sp>
        <p:nvSpPr>
          <p:cNvPr id="22" name="Text 20"/>
          <p:cNvSpPr/>
          <p:nvPr/>
        </p:nvSpPr>
        <p:spPr>
          <a:xfrm>
            <a:off x="694944" y="3355848"/>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23" name="Text 21"/>
          <p:cNvSpPr/>
          <p:nvPr/>
        </p:nvSpPr>
        <p:spPr>
          <a:xfrm>
            <a:off x="1115568" y="3172968"/>
            <a:ext cx="3794760" cy="694944"/>
          </a:xfrm>
          <a:prstGeom prst="rect">
            <a:avLst/>
          </a:prstGeom>
          <a:noFill/>
          <a:ln/>
        </p:spPr>
        <p:txBody>
          <a:bodyPr wrap="square" rtlCol="0" anchor="ctr"/>
          <a:lstStyle/>
          <a:p>
            <a:pPr indent="0" marL="0">
              <a:buNone/>
            </a:pPr>
            <a:r>
              <a:rPr lang="en-US" sz="1150" dirty="0">
                <a:solidFill>
                  <a:srgbClr val="6B1A14"/>
                </a:solidFill>
                <a:latin typeface="Arial" pitchFamily="34" charset="0"/>
                <a:ea typeface="Arial" pitchFamily="34" charset="-122"/>
                <a:cs typeface="Arial" pitchFamily="34" charset="-120"/>
              </a:rPr>
              <a:t>Cannot read properties of null (dataset)</a:t>
            </a:r>
            <a:endParaRPr lang="en-US" sz="1150" dirty="0"/>
          </a:p>
        </p:txBody>
      </p:sp>
      <p:sp>
        <p:nvSpPr>
          <p:cNvPr id="24" name="Text 22"/>
          <p:cNvSpPr/>
          <p:nvPr/>
        </p:nvSpPr>
        <p:spPr>
          <a:xfrm>
            <a:off x="4937760" y="3392424"/>
            <a:ext cx="777240" cy="256032"/>
          </a:xfrm>
          <a:prstGeom prst="rect">
            <a:avLst/>
          </a:prstGeom>
          <a:noFill/>
          <a:ln/>
        </p:spPr>
        <p:txBody>
          <a:bodyPr wrap="square" rtlCol="0" anchor="ctr"/>
          <a:lstStyle/>
          <a:p>
            <a:pPr algn="r" indent="0" marL="0">
              <a:buNone/>
            </a:pPr>
            <a:r>
              <a:rPr lang="en-US" sz="900" b="1" dirty="0">
                <a:solidFill>
                  <a:srgbClr val="B3261E"/>
                </a:solidFill>
                <a:latin typeface="Arial" pitchFamily="34" charset="0"/>
                <a:ea typeface="Arial" pitchFamily="34" charset="-122"/>
                <a:cs typeface="Arial" pitchFamily="34" charset="-120"/>
              </a:rPr>
              <a:t>Console</a:t>
            </a:r>
            <a:endParaRPr lang="en-US" sz="900" dirty="0"/>
          </a:p>
        </p:txBody>
      </p:sp>
      <p:sp>
        <p:nvSpPr>
          <p:cNvPr id="25" name="Shape 23"/>
          <p:cNvSpPr/>
          <p:nvPr/>
        </p:nvSpPr>
        <p:spPr>
          <a:xfrm>
            <a:off x="6355080" y="3172968"/>
            <a:ext cx="5285232" cy="694944"/>
          </a:xfrm>
          <a:prstGeom prst="rect">
            <a:avLst>
              <a:gd name="adj" fmla="val 6579"/>
            </a:avLst>
          </a:prstGeom>
          <a:solidFill>
            <a:srgbClr val="F2F5F8"/>
          </a:solidFill>
          <a:ln w="12700">
            <a:solidFill>
              <a:srgbClr val="D6DEE6"/>
            </a:solidFill>
            <a:prstDash val="solid"/>
          </a:ln>
        </p:spPr>
      </p:sp>
      <p:sp>
        <p:nvSpPr>
          <p:cNvPr id="26" name="Shape 24"/>
          <p:cNvSpPr/>
          <p:nvPr/>
        </p:nvSpPr>
        <p:spPr>
          <a:xfrm>
            <a:off x="6501384" y="3355848"/>
            <a:ext cx="329184" cy="329184"/>
          </a:xfrm>
          <a:prstGeom prst="ellipse">
            <a:avLst/>
          </a:prstGeom>
          <a:solidFill>
            <a:srgbClr val="003366"/>
          </a:solidFill>
          <a:ln/>
        </p:spPr>
      </p:sp>
      <p:sp>
        <p:nvSpPr>
          <p:cNvPr id="27" name="Text 25"/>
          <p:cNvSpPr/>
          <p:nvPr/>
        </p:nvSpPr>
        <p:spPr>
          <a:xfrm>
            <a:off x="6501384" y="3355848"/>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4</a:t>
            </a:r>
            <a:endParaRPr lang="en-US" sz="1150" dirty="0"/>
          </a:p>
        </p:txBody>
      </p:sp>
      <p:sp>
        <p:nvSpPr>
          <p:cNvPr id="28" name="Text 26"/>
          <p:cNvSpPr/>
          <p:nvPr/>
        </p:nvSpPr>
        <p:spPr>
          <a:xfrm>
            <a:off x="6922008" y="3172968"/>
            <a:ext cx="3794760" cy="694944"/>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The author line is empty</a:t>
            </a:r>
            <a:endParaRPr lang="en-US" sz="1150" dirty="0"/>
          </a:p>
        </p:txBody>
      </p:sp>
      <p:sp>
        <p:nvSpPr>
          <p:cNvPr id="29" name="Text 27"/>
          <p:cNvSpPr/>
          <p:nvPr/>
        </p:nvSpPr>
        <p:spPr>
          <a:xfrm>
            <a:off x="10744200" y="3392424"/>
            <a:ext cx="777240" cy="256032"/>
          </a:xfrm>
          <a:prstGeom prst="rect">
            <a:avLst/>
          </a:prstGeom>
          <a:noFill/>
          <a:ln/>
        </p:spPr>
        <p:txBody>
          <a:bodyPr wrap="square" rtlCol="0" anchor="ctr"/>
          <a:lstStyle/>
          <a:p>
            <a:pPr algn="r" indent="0" marL="0">
              <a:buNone/>
            </a:pPr>
            <a:r>
              <a:rPr lang="en-US" sz="900" b="1" dirty="0">
                <a:solidFill>
                  <a:srgbClr val="6B7A88"/>
                </a:solidFill>
                <a:latin typeface="Arial" pitchFamily="34" charset="0"/>
                <a:ea typeface="Arial" pitchFamily="34" charset="-122"/>
                <a:cs typeface="Arial" pitchFamily="34" charset="-120"/>
              </a:rPr>
              <a:t>Silent</a:t>
            </a:r>
            <a:endParaRPr lang="en-US" sz="900" dirty="0"/>
          </a:p>
        </p:txBody>
      </p:sp>
      <p:sp>
        <p:nvSpPr>
          <p:cNvPr id="30" name="Shape 28"/>
          <p:cNvSpPr/>
          <p:nvPr/>
        </p:nvSpPr>
        <p:spPr>
          <a:xfrm>
            <a:off x="548640" y="4014216"/>
            <a:ext cx="5285232" cy="694944"/>
          </a:xfrm>
          <a:prstGeom prst="rect">
            <a:avLst>
              <a:gd name="adj" fmla="val 6579"/>
            </a:avLst>
          </a:prstGeom>
          <a:solidFill>
            <a:srgbClr val="F2F5F8"/>
          </a:solidFill>
          <a:ln w="12700">
            <a:solidFill>
              <a:srgbClr val="D6DEE6"/>
            </a:solidFill>
            <a:prstDash val="solid"/>
          </a:ln>
        </p:spPr>
      </p:sp>
      <p:sp>
        <p:nvSpPr>
          <p:cNvPr id="31" name="Shape 29"/>
          <p:cNvSpPr/>
          <p:nvPr/>
        </p:nvSpPr>
        <p:spPr>
          <a:xfrm>
            <a:off x="694944" y="4197096"/>
            <a:ext cx="329184" cy="329184"/>
          </a:xfrm>
          <a:prstGeom prst="ellipse">
            <a:avLst/>
          </a:prstGeom>
          <a:solidFill>
            <a:srgbClr val="003366"/>
          </a:solidFill>
          <a:ln/>
        </p:spPr>
      </p:sp>
      <p:sp>
        <p:nvSpPr>
          <p:cNvPr id="32" name="Text 30"/>
          <p:cNvSpPr/>
          <p:nvPr/>
        </p:nvSpPr>
        <p:spPr>
          <a:xfrm>
            <a:off x="694944" y="4197096"/>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5</a:t>
            </a:r>
            <a:endParaRPr lang="en-US" sz="1150" dirty="0"/>
          </a:p>
        </p:txBody>
      </p:sp>
      <p:sp>
        <p:nvSpPr>
          <p:cNvPr id="33" name="Text 31"/>
          <p:cNvSpPr/>
          <p:nvPr/>
        </p:nvSpPr>
        <p:spPr>
          <a:xfrm>
            <a:off x="1115568" y="4014216"/>
            <a:ext cx="3794760" cy="694944"/>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Titles show their tags as text</a:t>
            </a:r>
            <a:endParaRPr lang="en-US" sz="1150" dirty="0"/>
          </a:p>
        </p:txBody>
      </p:sp>
      <p:sp>
        <p:nvSpPr>
          <p:cNvPr id="34" name="Text 32"/>
          <p:cNvSpPr/>
          <p:nvPr/>
        </p:nvSpPr>
        <p:spPr>
          <a:xfrm>
            <a:off x="4937760" y="4233672"/>
            <a:ext cx="777240" cy="256032"/>
          </a:xfrm>
          <a:prstGeom prst="rect">
            <a:avLst/>
          </a:prstGeom>
          <a:noFill/>
          <a:ln/>
        </p:spPr>
        <p:txBody>
          <a:bodyPr wrap="square" rtlCol="0" anchor="ctr"/>
          <a:lstStyle/>
          <a:p>
            <a:pPr algn="r" indent="0" marL="0">
              <a:buNone/>
            </a:pPr>
            <a:r>
              <a:rPr lang="en-US" sz="900" b="1" dirty="0">
                <a:solidFill>
                  <a:srgbClr val="6B7A88"/>
                </a:solidFill>
                <a:latin typeface="Arial" pitchFamily="34" charset="0"/>
                <a:ea typeface="Arial" pitchFamily="34" charset="-122"/>
                <a:cs typeface="Arial" pitchFamily="34" charset="-120"/>
              </a:rPr>
              <a:t>Silent</a:t>
            </a:r>
            <a:endParaRPr lang="en-US" sz="900" dirty="0"/>
          </a:p>
        </p:txBody>
      </p:sp>
      <p:sp>
        <p:nvSpPr>
          <p:cNvPr id="35" name="Shape 33"/>
          <p:cNvSpPr/>
          <p:nvPr/>
        </p:nvSpPr>
        <p:spPr>
          <a:xfrm>
            <a:off x="6355080" y="4014216"/>
            <a:ext cx="5285232" cy="694944"/>
          </a:xfrm>
          <a:prstGeom prst="rect">
            <a:avLst>
              <a:gd name="adj" fmla="val 6579"/>
            </a:avLst>
          </a:prstGeom>
          <a:solidFill>
            <a:srgbClr val="F2F5F8"/>
          </a:solidFill>
          <a:ln w="12700">
            <a:solidFill>
              <a:srgbClr val="D6DEE6"/>
            </a:solidFill>
            <a:prstDash val="solid"/>
          </a:ln>
        </p:spPr>
      </p:sp>
      <p:sp>
        <p:nvSpPr>
          <p:cNvPr id="36" name="Shape 34"/>
          <p:cNvSpPr/>
          <p:nvPr/>
        </p:nvSpPr>
        <p:spPr>
          <a:xfrm>
            <a:off x="6501384" y="4197096"/>
            <a:ext cx="329184" cy="329184"/>
          </a:xfrm>
          <a:prstGeom prst="ellipse">
            <a:avLst/>
          </a:prstGeom>
          <a:solidFill>
            <a:srgbClr val="003366"/>
          </a:solidFill>
          <a:ln/>
        </p:spPr>
      </p:sp>
      <p:sp>
        <p:nvSpPr>
          <p:cNvPr id="37" name="Text 35"/>
          <p:cNvSpPr/>
          <p:nvPr/>
        </p:nvSpPr>
        <p:spPr>
          <a:xfrm>
            <a:off x="6501384" y="4197096"/>
            <a:ext cx="329184" cy="329184"/>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6</a:t>
            </a:r>
            <a:endParaRPr lang="en-US" sz="1150" dirty="0"/>
          </a:p>
        </p:txBody>
      </p:sp>
      <p:sp>
        <p:nvSpPr>
          <p:cNvPr id="38" name="Text 36"/>
          <p:cNvSpPr/>
          <p:nvPr/>
        </p:nvSpPr>
        <p:spPr>
          <a:xfrm>
            <a:off x="6922008" y="4014216"/>
            <a:ext cx="3794760" cy="694944"/>
          </a:xfrm>
          <a:prstGeom prst="rect">
            <a:avLst/>
          </a:prstGeom>
          <a:noFill/>
          <a:ln/>
        </p:spPr>
        <p:txBody>
          <a:bodyPr wrap="square" rtlCol="0" anchor="ctr"/>
          <a:lstStyle/>
          <a:p>
            <a:pPr indent="0" marL="0">
              <a:buNone/>
            </a:pPr>
            <a:r>
              <a:rPr lang="en-US" sz="1150" dirty="0">
                <a:solidFill>
                  <a:srgbClr val="3D4A57"/>
                </a:solidFill>
                <a:latin typeface="Arial" pitchFamily="34" charset="0"/>
                <a:ea typeface="Arial" pitchFamily="34" charset="-122"/>
                <a:cs typeface="Arial" pitchFamily="34" charset="-120"/>
              </a:rPr>
              <a:t>Only one card turns amber</a:t>
            </a:r>
            <a:endParaRPr lang="en-US" sz="1150" dirty="0"/>
          </a:p>
        </p:txBody>
      </p:sp>
      <p:sp>
        <p:nvSpPr>
          <p:cNvPr id="39" name="Text 37"/>
          <p:cNvSpPr/>
          <p:nvPr/>
        </p:nvSpPr>
        <p:spPr>
          <a:xfrm>
            <a:off x="10744200" y="4233672"/>
            <a:ext cx="777240" cy="256032"/>
          </a:xfrm>
          <a:prstGeom prst="rect">
            <a:avLst/>
          </a:prstGeom>
          <a:noFill/>
          <a:ln/>
        </p:spPr>
        <p:txBody>
          <a:bodyPr wrap="square" rtlCol="0" anchor="ctr"/>
          <a:lstStyle/>
          <a:p>
            <a:pPr algn="r" indent="0" marL="0">
              <a:buNone/>
            </a:pPr>
            <a:r>
              <a:rPr lang="en-US" sz="900" b="1" dirty="0">
                <a:solidFill>
                  <a:srgbClr val="6B7A88"/>
                </a:solidFill>
                <a:latin typeface="Arial" pitchFamily="34" charset="0"/>
                <a:ea typeface="Arial" pitchFamily="34" charset="-122"/>
                <a:cs typeface="Arial" pitchFamily="34" charset="-120"/>
              </a:rPr>
              <a:t>Silent</a:t>
            </a:r>
            <a:endParaRPr lang="en-US" sz="900" dirty="0"/>
          </a:p>
        </p:txBody>
      </p:sp>
      <p:sp>
        <p:nvSpPr>
          <p:cNvPr id="40" name="Shape 38"/>
          <p:cNvSpPr/>
          <p:nvPr/>
        </p:nvSpPr>
        <p:spPr>
          <a:xfrm>
            <a:off x="548640" y="4983480"/>
            <a:ext cx="11064240" cy="1143000"/>
          </a:xfrm>
          <a:prstGeom prst="rect">
            <a:avLst>
              <a:gd name="adj" fmla="val 4800"/>
            </a:avLst>
          </a:prstGeom>
          <a:solidFill>
            <a:srgbClr val="E7F4EE"/>
          </a:solidFill>
          <a:ln w="12700">
            <a:solidFill>
              <a:srgbClr val="1F7A55"/>
            </a:solidFill>
            <a:prstDash val="solid"/>
          </a:ln>
        </p:spPr>
      </p:sp>
      <p:sp>
        <p:nvSpPr>
          <p:cNvPr id="41" name="Text 39"/>
          <p:cNvSpPr/>
          <p:nvPr/>
        </p:nvSpPr>
        <p:spPr>
          <a:xfrm>
            <a:off x="713232" y="5148072"/>
            <a:ext cx="1073505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Bug 3 is the lesson of the week</a:t>
            </a:r>
            <a:endParaRPr lang="en-US" sz="1500" dirty="0"/>
          </a:p>
        </p:txBody>
      </p:sp>
      <p:sp>
        <p:nvSpPr>
          <p:cNvPr id="42" name="Text 40"/>
          <p:cNvSpPr/>
          <p:nvPr/>
        </p:nvSpPr>
        <p:spPr>
          <a:xfrm>
            <a:off x="713232" y="5495544"/>
            <a:ext cx="10735056" cy="52120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Its error is caused by a silent bug twenty lines earlier, in a different part of the file</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Where it hurts is not where it broke. Open the Elements tab and ask: does this element exist, and what classes does it carry?</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C2 · 46-50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Assignment (5 marks)</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21</a:t>
            </a:r>
            <a:endParaRPr lang="en-US" sz="950" dirty="0"/>
          </a:p>
        </p:txBody>
      </p:sp>
      <p:sp>
        <p:nvSpPr>
          <p:cNvPr id="7" name="Shape 5"/>
          <p:cNvSpPr/>
          <p:nvPr/>
        </p:nvSpPr>
        <p:spPr>
          <a:xfrm>
            <a:off x="548640" y="1234440"/>
            <a:ext cx="5486400" cy="2286000"/>
          </a:xfrm>
          <a:prstGeom prst="rect">
            <a:avLst>
              <a:gd name="adj" fmla="val 2400"/>
            </a:avLst>
          </a:prstGeom>
          <a:solidFill>
            <a:srgbClr val="E7F4EE"/>
          </a:solidFill>
          <a:ln w="12700">
            <a:solidFill>
              <a:srgbClr val="1F7A55"/>
            </a:solidFill>
            <a:prstDash val="solid"/>
          </a:ln>
        </p:spPr>
      </p:sp>
      <p:sp>
        <p:nvSpPr>
          <p:cNvPr id="8" name="Shape 6"/>
          <p:cNvSpPr/>
          <p:nvPr/>
        </p:nvSpPr>
        <p:spPr>
          <a:xfrm>
            <a:off x="713232" y="1399032"/>
            <a:ext cx="1554480" cy="256032"/>
          </a:xfrm>
          <a:prstGeom prst="rect">
            <a:avLst>
              <a:gd name="adj" fmla="val 17857"/>
            </a:avLst>
          </a:prstGeom>
          <a:solidFill>
            <a:srgbClr val="1F7A55"/>
          </a:solidFill>
          <a:ln/>
        </p:spPr>
      </p:sp>
      <p:sp>
        <p:nvSpPr>
          <p:cNvPr id="9" name="Text 7"/>
          <p:cNvSpPr/>
          <p:nvPr/>
        </p:nvSpPr>
        <p:spPr>
          <a:xfrm>
            <a:off x="713232" y="1399032"/>
            <a:ext cx="155448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PART 1 · 2 MARKS</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In class, last 4 minutes</a:t>
            </a:r>
            <a:endParaRPr lang="en-US" sz="1500" dirty="0"/>
          </a:p>
        </p:txBody>
      </p:sp>
      <p:sp>
        <p:nvSpPr>
          <p:cNvPr id="11" name="Text 9"/>
          <p:cNvSpPr/>
          <p:nvPr/>
        </p:nvSpPr>
        <p:spPr>
          <a:xfrm>
            <a:off x="713232" y="2112264"/>
            <a:ext cx="5157216" cy="12984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Show your library built from the books array</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Show one article inspected in the Elements tab</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Say the three steps out loud</a:t>
            </a:r>
            <a:endParaRPr lang="en-US" sz="1250" dirty="0"/>
          </a:p>
        </p:txBody>
      </p:sp>
      <p:sp>
        <p:nvSpPr>
          <p:cNvPr id="12" name="Shape 10"/>
          <p:cNvSpPr/>
          <p:nvPr/>
        </p:nvSpPr>
        <p:spPr>
          <a:xfrm>
            <a:off x="6355080" y="1234440"/>
            <a:ext cx="5285232" cy="2286000"/>
          </a:xfrm>
          <a:prstGeom prst="rect">
            <a:avLst>
              <a:gd name="adj" fmla="val 2400"/>
            </a:avLst>
          </a:prstGeom>
          <a:solidFill>
            <a:srgbClr val="FDF3E1"/>
          </a:solidFill>
          <a:ln w="12700">
            <a:solidFill>
              <a:srgbClr val="E39A18"/>
            </a:solidFill>
            <a:prstDash val="solid"/>
          </a:ln>
        </p:spPr>
      </p:sp>
      <p:sp>
        <p:nvSpPr>
          <p:cNvPr id="13" name="Shape 11"/>
          <p:cNvSpPr/>
          <p:nvPr/>
        </p:nvSpPr>
        <p:spPr>
          <a:xfrm>
            <a:off x="6519672" y="1399032"/>
            <a:ext cx="1554480" cy="256032"/>
          </a:xfrm>
          <a:prstGeom prst="rect">
            <a:avLst>
              <a:gd name="adj" fmla="val 17857"/>
            </a:avLst>
          </a:prstGeom>
          <a:solidFill>
            <a:srgbClr val="E39A18"/>
          </a:solidFill>
          <a:ln/>
        </p:spPr>
      </p:sp>
      <p:sp>
        <p:nvSpPr>
          <p:cNvPr id="14" name="Text 12"/>
          <p:cNvSpPr/>
          <p:nvPr/>
        </p:nvSpPr>
        <p:spPr>
          <a:xfrm>
            <a:off x="6519672" y="1399032"/>
            <a:ext cx="155448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PART 2 · 3 MARKS</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Home, before C3</a:t>
            </a:r>
            <a:endParaRPr lang="en-US" sz="1500" dirty="0"/>
          </a:p>
        </p:txBody>
      </p:sp>
      <p:sp>
        <p:nvSpPr>
          <p:cNvPr id="16" name="Text 14"/>
          <p:cNvSpPr/>
          <p:nvPr/>
        </p:nvSpPr>
        <p:spPr>
          <a:xfrm>
            <a:off x="6519672" y="2112264"/>
            <a:ext cx="4956048" cy="129844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Fix all six planted bugs</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Add two more books and confirm the count updates itself</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Add a renderBooks(list) function that clears and rebuilds</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Commit and push to your Week 6 repository</a:t>
            </a:r>
            <a:endParaRPr lang="en-US" sz="1250" dirty="0"/>
          </a:p>
        </p:txBody>
      </p:sp>
      <p:sp>
        <p:nvSpPr>
          <p:cNvPr id="17" name="Shape 15"/>
          <p:cNvSpPr/>
          <p:nvPr/>
        </p:nvSpPr>
        <p:spPr>
          <a:xfrm>
            <a:off x="548640" y="3703320"/>
            <a:ext cx="11064240" cy="1234440"/>
          </a:xfrm>
          <a:prstGeom prst="rect">
            <a:avLst>
              <a:gd name="adj" fmla="val 4444"/>
            </a:avLst>
          </a:prstGeom>
          <a:solidFill>
            <a:srgbClr val="F2F5F8"/>
          </a:solidFill>
          <a:ln w="12700">
            <a:solidFill>
              <a:srgbClr val="D6DEE6"/>
            </a:solidFill>
            <a:prstDash val="solid"/>
          </a:ln>
        </p:spPr>
      </p:sp>
      <p:sp>
        <p:nvSpPr>
          <p:cNvPr id="18" name="Text 16"/>
          <p:cNvSpPr/>
          <p:nvPr/>
        </p:nvSpPr>
        <p:spPr>
          <a:xfrm>
            <a:off x="713232" y="3867912"/>
            <a:ext cx="1073505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Rubric</a:t>
            </a:r>
            <a:endParaRPr lang="en-US" sz="1500" dirty="0"/>
          </a:p>
        </p:txBody>
      </p:sp>
      <p:sp>
        <p:nvSpPr>
          <p:cNvPr id="19" name="Text 17"/>
          <p:cNvSpPr/>
          <p:nvPr/>
        </p:nvSpPr>
        <p:spPr>
          <a:xfrm>
            <a:off x="713232" y="4215384"/>
            <a:ext cx="10735056" cy="61264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Library renders from the array, nothing hardcoded — 1.5     ·     Classes and dataset correct — 1.0</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All six bugs fixed — 1.5     ·     renderBooks works and the page is pushed — 1.0</a:t>
            </a:r>
            <a:endParaRPr lang="en-US" sz="1250" dirty="0"/>
          </a:p>
        </p:txBody>
      </p:sp>
      <p:sp>
        <p:nvSpPr>
          <p:cNvPr id="20" name="Shape 18"/>
          <p:cNvSpPr/>
          <p:nvPr/>
        </p:nvSpPr>
        <p:spPr>
          <a:xfrm>
            <a:off x="548640" y="5074920"/>
            <a:ext cx="11064240" cy="1051560"/>
          </a:xfrm>
          <a:prstGeom prst="rect">
            <a:avLst>
              <a:gd name="adj" fmla="val 5217"/>
            </a:avLst>
          </a:prstGeom>
          <a:solidFill>
            <a:srgbClr val="E7F4EE"/>
          </a:solidFill>
          <a:ln w="12700">
            <a:solidFill>
              <a:srgbClr val="1F7A55"/>
            </a:solidFill>
            <a:prstDash val="solid"/>
          </a:ln>
        </p:spPr>
      </p:sp>
      <p:sp>
        <p:nvSpPr>
          <p:cNvPr id="21" name="Text 19"/>
          <p:cNvSpPr/>
          <p:nvPr/>
        </p:nvSpPr>
        <p:spPr>
          <a:xfrm>
            <a:off x="713232" y="5239512"/>
            <a:ext cx="10735056"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Why renderBooks matters</a:t>
            </a:r>
            <a:endParaRPr lang="en-US" sz="1500" dirty="0"/>
          </a:p>
        </p:txBody>
      </p:sp>
      <p:sp>
        <p:nvSpPr>
          <p:cNvPr id="22" name="Text 20"/>
          <p:cNvSpPr/>
          <p:nvPr/>
        </p:nvSpPr>
        <p:spPr>
          <a:xfrm>
            <a:off x="713232" y="5586984"/>
            <a:ext cx="10735056" cy="4297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In Class 3 a click will call it. Writing it as a function now means Class 3 is one new line, not a rewrite.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50" kern="0" dirty="0">
                <a:solidFill>
                  <a:srgbClr val="E39A18"/>
                </a:solidFill>
                <a:latin typeface="Arial" pitchFamily="34" charset="0"/>
                <a:ea typeface="Arial" pitchFamily="34" charset="-122"/>
                <a:cs typeface="Arial" pitchFamily="34" charset="-120"/>
              </a:rPr>
              <a:t>C2 · 48-50 MIN</a:t>
            </a:r>
            <a:endParaRPr lang="en-US" sz="1100" dirty="0"/>
          </a:p>
        </p:txBody>
      </p:sp>
      <p:sp>
        <p:nvSpPr>
          <p:cNvPr id="3" name="Text 1"/>
          <p:cNvSpPr/>
          <p:nvPr/>
        </p:nvSpPr>
        <p:spPr>
          <a:xfrm>
            <a:off x="548640" y="676656"/>
            <a:ext cx="11064240" cy="566928"/>
          </a:xfrm>
          <a:prstGeom prst="rect">
            <a:avLst/>
          </a:prstGeom>
          <a:noFill/>
          <a:ln/>
        </p:spPr>
        <p:txBody>
          <a:bodyPr wrap="square" rtlCol="0" anchor="t"/>
          <a:lstStyle/>
          <a:p>
            <a:pPr indent="0" marL="0">
              <a:buNone/>
            </a:pPr>
            <a:r>
              <a:rPr lang="en-US" sz="3200" b="1" dirty="0">
                <a:solidFill>
                  <a:srgbClr val="003366"/>
                </a:solidFill>
                <a:latin typeface="Arial" pitchFamily="34" charset="0"/>
                <a:ea typeface="Arial" pitchFamily="34" charset="-122"/>
                <a:cs typeface="Arial" pitchFamily="34" charset="-120"/>
              </a:rPr>
              <a:t>Exit check and what comes next</a:t>
            </a:r>
            <a:endParaRPr lang="en-US" sz="3200" dirty="0"/>
          </a:p>
        </p:txBody>
      </p:sp>
      <p:sp>
        <p:nvSpPr>
          <p:cNvPr id="4" name="Shape 2"/>
          <p:cNvSpPr/>
          <p:nvPr/>
        </p:nvSpPr>
        <p:spPr>
          <a:xfrm>
            <a:off x="0" y="6473952"/>
            <a:ext cx="12191695" cy="0"/>
          </a:xfrm>
          <a:prstGeom prst="line">
            <a:avLst/>
          </a:prstGeom>
          <a:noFill/>
          <a:ln w="12700">
            <a:solidFill>
              <a:srgbClr val="D6DEE6"/>
            </a:solidFill>
            <a:prstDash val="solid"/>
          </a:ln>
        </p:spPr>
      </p:sp>
      <p:sp>
        <p:nvSpPr>
          <p:cNvPr id="5" name="Text 3"/>
          <p:cNvSpPr/>
          <p:nvPr/>
        </p:nvSpPr>
        <p:spPr>
          <a:xfrm>
            <a:off x="548640" y="6510528"/>
            <a:ext cx="7315200" cy="274320"/>
          </a:xfrm>
          <a:prstGeom prst="rect">
            <a:avLst/>
          </a:prstGeom>
          <a:noFill/>
          <a:ln/>
        </p:spPr>
        <p:txBody>
          <a:bodyPr wrap="square" rtlCol="0" anchor="ctr"/>
          <a:lstStyle/>
          <a:p>
            <a:pPr indent="0" marL="0">
              <a:buNone/>
            </a:pPr>
            <a:r>
              <a:rPr lang="en-US" sz="950" dirty="0">
                <a:solidFill>
                  <a:srgbClr val="6B7A88"/>
                </a:solidFill>
                <a:latin typeface="Arial" pitchFamily="34" charset="0"/>
                <a:ea typeface="Arial" pitchFamily="34" charset="-122"/>
                <a:cs typeface="Arial" pitchFamily="34" charset="-120"/>
              </a:rPr>
              <a:t>CSE-2340 Software Development 1 · IIUC</a:t>
            </a:r>
            <a:endParaRPr lang="en-US" sz="950" dirty="0"/>
          </a:p>
        </p:txBody>
      </p:sp>
      <p:sp>
        <p:nvSpPr>
          <p:cNvPr id="6" name="Text 4"/>
          <p:cNvSpPr/>
          <p:nvPr/>
        </p:nvSpPr>
        <p:spPr>
          <a:xfrm>
            <a:off x="10728655" y="6510528"/>
            <a:ext cx="914400" cy="274320"/>
          </a:xfrm>
          <a:prstGeom prst="rect">
            <a:avLst/>
          </a:prstGeom>
          <a:noFill/>
          <a:ln/>
        </p:spPr>
        <p:txBody>
          <a:bodyPr wrap="square" rtlCol="0" anchor="ctr"/>
          <a:lstStyle/>
          <a:p>
            <a:pPr algn="r" indent="0" marL="0">
              <a:buNone/>
            </a:pPr>
            <a:r>
              <a:rPr lang="en-US" sz="950" dirty="0">
                <a:solidFill>
                  <a:srgbClr val="6B7A88"/>
                </a:solidFill>
                <a:latin typeface="Arial" pitchFamily="34" charset="0"/>
                <a:ea typeface="Arial" pitchFamily="34" charset="-122"/>
                <a:cs typeface="Arial" pitchFamily="34" charset="-120"/>
              </a:rPr>
              <a:t>22</a:t>
            </a:r>
            <a:endParaRPr lang="en-US" sz="950" dirty="0"/>
          </a:p>
        </p:txBody>
      </p:sp>
      <p:sp>
        <p:nvSpPr>
          <p:cNvPr id="7" name="Shape 5"/>
          <p:cNvSpPr/>
          <p:nvPr/>
        </p:nvSpPr>
        <p:spPr>
          <a:xfrm>
            <a:off x="548640" y="1234440"/>
            <a:ext cx="5486400" cy="2103120"/>
          </a:xfrm>
          <a:prstGeom prst="rect">
            <a:avLst>
              <a:gd name="adj" fmla="val 2609"/>
            </a:avLst>
          </a:prstGeom>
          <a:solidFill>
            <a:srgbClr val="F2F5F8"/>
          </a:solidFill>
          <a:ln w="12700">
            <a:solidFill>
              <a:srgbClr val="D6DEE6"/>
            </a:solidFill>
            <a:prstDash val="solid"/>
          </a:ln>
        </p:spPr>
      </p:sp>
      <p:sp>
        <p:nvSpPr>
          <p:cNvPr id="8" name="Shape 6"/>
          <p:cNvSpPr/>
          <p:nvPr/>
        </p:nvSpPr>
        <p:spPr>
          <a:xfrm>
            <a:off x="713232" y="1399032"/>
            <a:ext cx="1088136" cy="256032"/>
          </a:xfrm>
          <a:prstGeom prst="rect">
            <a:avLst>
              <a:gd name="adj" fmla="val 17857"/>
            </a:avLst>
          </a:prstGeom>
          <a:solidFill>
            <a:srgbClr val="003366"/>
          </a:solidFill>
          <a:ln/>
        </p:spPr>
      </p:sp>
      <p:sp>
        <p:nvSpPr>
          <p:cNvPr id="9" name="Text 7"/>
          <p:cNvSpPr/>
          <p:nvPr/>
        </p:nvSpPr>
        <p:spPr>
          <a:xfrm>
            <a:off x="713232" y="1399032"/>
            <a:ext cx="1088136"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CONCEPTUAL</a:t>
            </a:r>
            <a:endParaRPr lang="en-US" sz="950" dirty="0"/>
          </a:p>
        </p:txBody>
      </p:sp>
      <p:sp>
        <p:nvSpPr>
          <p:cNvPr id="10" name="Text 8"/>
          <p:cNvSpPr/>
          <p:nvPr/>
        </p:nvSpPr>
        <p:spPr>
          <a:xfrm>
            <a:off x="713232" y="1764792"/>
            <a:ext cx="5157216" cy="310896"/>
          </a:xfrm>
          <a:prstGeom prst="rect">
            <a:avLst/>
          </a:prstGeom>
          <a:noFill/>
          <a:ln/>
        </p:spPr>
        <p:txBody>
          <a:bodyPr wrap="square" rtlCol="0" anchor="t"/>
          <a:lstStyle/>
          <a:p>
            <a:pPr indent="0" marL="0">
              <a:buNone/>
            </a:pPr>
            <a:r>
              <a:rPr lang="en-US" sz="1500" b="1" dirty="0">
                <a:solidFill>
                  <a:srgbClr val="003366"/>
                </a:solidFill>
                <a:latin typeface="Arial" pitchFamily="34" charset="0"/>
                <a:ea typeface="Arial" pitchFamily="34" charset="-122"/>
                <a:cs typeface="Arial" pitchFamily="34" charset="-120"/>
              </a:rPr>
              <a:t>Answer in one sentence</a:t>
            </a:r>
            <a:endParaRPr lang="en-US" sz="1500" dirty="0"/>
          </a:p>
        </p:txBody>
      </p:sp>
      <p:sp>
        <p:nvSpPr>
          <p:cNvPr id="11" name="Text 9"/>
          <p:cNvSpPr/>
          <p:nvPr/>
        </p:nvSpPr>
        <p:spPr>
          <a:xfrm>
            <a:off x="713232" y="2112264"/>
            <a:ext cx="5157216"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Why do most DOM bugs produce no Console error?</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What does appendChild need, and where does it put it?</a:t>
            </a:r>
            <a:endParaRPr lang="en-US" sz="1250" dirty="0"/>
          </a:p>
        </p:txBody>
      </p:sp>
      <p:sp>
        <p:nvSpPr>
          <p:cNvPr id="12" name="Shape 10"/>
          <p:cNvSpPr/>
          <p:nvPr/>
        </p:nvSpPr>
        <p:spPr>
          <a:xfrm>
            <a:off x="6355080" y="1234440"/>
            <a:ext cx="5285232" cy="2103120"/>
          </a:xfrm>
          <a:prstGeom prst="rect">
            <a:avLst>
              <a:gd name="adj" fmla="val 2609"/>
            </a:avLst>
          </a:prstGeom>
          <a:solidFill>
            <a:srgbClr val="E7F4EE"/>
          </a:solidFill>
          <a:ln w="12700">
            <a:solidFill>
              <a:srgbClr val="1F7A55"/>
            </a:solidFill>
            <a:prstDash val="solid"/>
          </a:ln>
        </p:spPr>
      </p:sp>
      <p:sp>
        <p:nvSpPr>
          <p:cNvPr id="13" name="Shape 11"/>
          <p:cNvSpPr/>
          <p:nvPr/>
        </p:nvSpPr>
        <p:spPr>
          <a:xfrm>
            <a:off x="6519672" y="1399032"/>
            <a:ext cx="1010412" cy="256032"/>
          </a:xfrm>
          <a:prstGeom prst="rect">
            <a:avLst>
              <a:gd name="adj" fmla="val 17857"/>
            </a:avLst>
          </a:prstGeom>
          <a:solidFill>
            <a:srgbClr val="1F7A55"/>
          </a:solidFill>
          <a:ln/>
        </p:spPr>
      </p:sp>
      <p:sp>
        <p:nvSpPr>
          <p:cNvPr id="14" name="Text 12"/>
          <p:cNvSpPr/>
          <p:nvPr/>
        </p:nvSpPr>
        <p:spPr>
          <a:xfrm>
            <a:off x="6519672" y="1399032"/>
            <a:ext cx="1010412"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PRACTICAL</a:t>
            </a:r>
            <a:endParaRPr lang="en-US" sz="950" dirty="0"/>
          </a:p>
        </p:txBody>
      </p:sp>
      <p:sp>
        <p:nvSpPr>
          <p:cNvPr id="15" name="Text 13"/>
          <p:cNvSpPr/>
          <p:nvPr/>
        </p:nvSpPr>
        <p:spPr>
          <a:xfrm>
            <a:off x="6519672" y="1764792"/>
            <a:ext cx="4956048" cy="310896"/>
          </a:xfrm>
          <a:prstGeom prst="rect">
            <a:avLst/>
          </a:prstGeom>
          <a:noFill/>
          <a:ln/>
        </p:spPr>
        <p:txBody>
          <a:bodyPr wrap="square" rtlCol="0" anchor="t"/>
          <a:lstStyle/>
          <a:p>
            <a:pPr indent="0" marL="0">
              <a:buNone/>
            </a:pPr>
            <a:r>
              <a:rPr lang="en-US" sz="1500" b="1" dirty="0">
                <a:solidFill>
                  <a:srgbClr val="1F7A55"/>
                </a:solidFill>
                <a:latin typeface="Arial" pitchFamily="34" charset="0"/>
                <a:ea typeface="Arial" pitchFamily="34" charset="-122"/>
                <a:cs typeface="Arial" pitchFamily="34" charset="-120"/>
              </a:rPr>
              <a:t>Show me</a:t>
            </a:r>
            <a:endParaRPr lang="en-US" sz="1500" dirty="0"/>
          </a:p>
        </p:txBody>
      </p:sp>
      <p:sp>
        <p:nvSpPr>
          <p:cNvPr id="16" name="Text 14"/>
          <p:cNvSpPr/>
          <p:nvPr/>
        </p:nvSpPr>
        <p:spPr>
          <a:xfrm>
            <a:off x="6519672" y="2112264"/>
            <a:ext cx="4956048" cy="1115568"/>
          </a:xfrm>
          <a:prstGeom prst="rect">
            <a:avLst/>
          </a:prstGeom>
          <a:noFill/>
          <a:ln/>
        </p:spPr>
        <p:txBody>
          <a:bodyPr wrap="square" rtlCol="0" anchor="t"/>
          <a:lstStyle/>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Three articles in the Elements tab</a:t>
            </a:r>
            <a:endParaRPr lang="en-US" sz="1250" dirty="0"/>
          </a:p>
          <a:p>
            <a:pPr indent="0" marL="0">
              <a:lnSpc>
                <a:spcPct val="110000"/>
              </a:lnSpc>
              <a:spcAft>
                <a:spcPts val="432"/>
              </a:spcAft>
              <a:buNone/>
            </a:pPr>
            <a:r>
              <a:rPr lang="en-US" sz="1250" dirty="0">
                <a:solidFill>
                  <a:srgbClr val="3D4A57"/>
                </a:solidFill>
                <a:latin typeface="Arial" pitchFamily="34" charset="0"/>
                <a:ea typeface="Arial" pitchFamily="34" charset="-122"/>
                <a:cs typeface="Arial" pitchFamily="34" charset="-120"/>
              </a:rPr>
              <a:t>• One of them carrying the .old class</a:t>
            </a:r>
            <a:endParaRPr lang="en-US" sz="1250" dirty="0"/>
          </a:p>
        </p:txBody>
      </p:sp>
      <p:sp>
        <p:nvSpPr>
          <p:cNvPr id="17" name="Shape 15"/>
          <p:cNvSpPr/>
          <p:nvPr/>
        </p:nvSpPr>
        <p:spPr>
          <a:xfrm>
            <a:off x="548640" y="3520440"/>
            <a:ext cx="11064240" cy="1463040"/>
          </a:xfrm>
          <a:prstGeom prst="rect">
            <a:avLst>
              <a:gd name="adj" fmla="val 3750"/>
            </a:avLst>
          </a:prstGeom>
          <a:solidFill>
            <a:srgbClr val="FDF3E1"/>
          </a:solidFill>
          <a:ln w="12700">
            <a:solidFill>
              <a:srgbClr val="E39A18"/>
            </a:solidFill>
            <a:prstDash val="solid"/>
          </a:ln>
        </p:spPr>
      </p:sp>
      <p:sp>
        <p:nvSpPr>
          <p:cNvPr id="18" name="Text 16"/>
          <p:cNvSpPr/>
          <p:nvPr/>
        </p:nvSpPr>
        <p:spPr>
          <a:xfrm>
            <a:off x="713232" y="3685032"/>
            <a:ext cx="10735056" cy="310896"/>
          </a:xfrm>
          <a:prstGeom prst="rect">
            <a:avLst/>
          </a:prstGeom>
          <a:noFill/>
          <a:ln/>
        </p:spPr>
        <p:txBody>
          <a:bodyPr wrap="square" rtlCol="0" anchor="t"/>
          <a:lstStyle/>
          <a:p>
            <a:pPr indent="0" marL="0">
              <a:buNone/>
            </a:pPr>
            <a:r>
              <a:rPr lang="en-US" sz="1500" b="1" dirty="0">
                <a:solidFill>
                  <a:srgbClr val="4A3000"/>
                </a:solidFill>
                <a:latin typeface="Arial" pitchFamily="34" charset="0"/>
                <a:ea typeface="Arial" pitchFamily="34" charset="-122"/>
                <a:cs typeface="Arial" pitchFamily="34" charset="-120"/>
              </a:rPr>
              <a:t>Class 3: events</a:t>
            </a:r>
            <a:endParaRPr lang="en-US" sz="1500" dirty="0"/>
          </a:p>
        </p:txBody>
      </p:sp>
      <p:sp>
        <p:nvSpPr>
          <p:cNvPr id="19" name="Text 17"/>
          <p:cNvSpPr/>
          <p:nvPr/>
        </p:nvSpPr>
        <p:spPr>
          <a:xfrm>
            <a:off x="713232" y="4032504"/>
            <a:ext cx="10735056" cy="841248"/>
          </a:xfrm>
          <a:prstGeom prst="rect">
            <a:avLst/>
          </a:prstGeom>
          <a:noFill/>
          <a:ln/>
        </p:spPr>
        <p:txBody>
          <a:bodyPr wrap="square" rtlCol="0" anchor="t"/>
          <a:lstStyle/>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addEventListener, the event object, and preventDefault</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The page starts responding to the person using it</a:t>
            </a:r>
            <a:endParaRPr lang="en-US" sz="1250" dirty="0"/>
          </a:p>
          <a:p>
            <a:pPr indent="0" marL="0">
              <a:lnSpc>
                <a:spcPct val="110000"/>
              </a:lnSpc>
              <a:spcAft>
                <a:spcPts val="432"/>
              </a:spcAft>
              <a:buNone/>
            </a:pPr>
            <a:r>
              <a:rPr lang="en-US" sz="1250" dirty="0">
                <a:solidFill>
                  <a:srgbClr val="4A3000"/>
                </a:solidFill>
                <a:latin typeface="Arial" pitchFamily="34" charset="0"/>
                <a:ea typeface="Arial" pitchFamily="34" charset="-122"/>
                <a:cs typeface="Arial" pitchFamily="34" charset="-120"/>
              </a:rPr>
              <a:t>• Your renderBooks function gets called by a click</a:t>
            </a:r>
            <a:endParaRPr lang="en-US" sz="1250" dirty="0"/>
          </a:p>
        </p:txBody>
      </p:sp>
      <p:sp>
        <p:nvSpPr>
          <p:cNvPr id="20" name="Shape 18"/>
          <p:cNvSpPr/>
          <p:nvPr/>
        </p:nvSpPr>
        <p:spPr>
          <a:xfrm>
            <a:off x="548640" y="5166360"/>
            <a:ext cx="11064240" cy="960120"/>
          </a:xfrm>
          <a:prstGeom prst="rect">
            <a:avLst>
              <a:gd name="adj" fmla="val 5714"/>
            </a:avLst>
          </a:prstGeom>
          <a:solidFill>
            <a:srgbClr val="E7F4EE"/>
          </a:solidFill>
          <a:ln w="12700">
            <a:solidFill>
              <a:srgbClr val="1F7A55"/>
            </a:solidFill>
            <a:prstDash val="solid"/>
          </a:ln>
        </p:spPr>
      </p:sp>
      <p:sp>
        <p:nvSpPr>
          <p:cNvPr id="21" name="Text 19"/>
          <p:cNvSpPr/>
          <p:nvPr/>
        </p:nvSpPr>
        <p:spPr>
          <a:xfrm>
            <a:off x="713232" y="5330952"/>
            <a:ext cx="10735056" cy="685800"/>
          </a:xfrm>
          <a:prstGeom prst="rect">
            <a:avLst/>
          </a:prstGeom>
          <a:noFill/>
          <a:ln/>
        </p:spPr>
        <p:txBody>
          <a:bodyPr wrap="square" rtlCol="0" anchor="t"/>
          <a:lstStyle/>
          <a:p>
            <a:pPr indent="0" marL="0">
              <a:lnSpc>
                <a:spcPct val="110000"/>
              </a:lnSpc>
              <a:spcAft>
                <a:spcPts val="432"/>
              </a:spcAft>
              <a:buNone/>
            </a:pPr>
            <a:r>
              <a:rPr lang="en-US" sz="1300" dirty="0">
                <a:solidFill>
                  <a:srgbClr val="3D4A57"/>
                </a:solidFill>
                <a:latin typeface="Arial" pitchFamily="34" charset="0"/>
                <a:ea typeface="Arial" pitchFamily="34" charset="-122"/>
                <a:cs typeface="Arial" pitchFamily="34" charset="-120"/>
              </a:rPr>
              <a:t>Today you changed the page. On Class 3 the page starts changing because of what someone does.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International Islamic University Chittagong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CSE-2340 W6 C1-C2 — The DOM</dc:title>
  <dc:subject>Software Development 1</dc:subject>
  <dc:creator>Md Sadman Hafiz, Lecturer, Dept. of CSE, IIUC</dc:creator>
  <cp:lastModifiedBy>Md Sadman Hafiz, Lecturer, Dept. of CSE, IIUC</cp:lastModifiedBy>
  <cp:revision>1</cp:revision>
  <dcterms:created xsi:type="dcterms:W3CDTF">2026-10-28T00:34:12Z</dcterms:created>
  <dcterms:modified xsi:type="dcterms:W3CDTF">2026-10-28T00:34:12Z</dcterms:modified>
</cp:coreProperties>
</file>