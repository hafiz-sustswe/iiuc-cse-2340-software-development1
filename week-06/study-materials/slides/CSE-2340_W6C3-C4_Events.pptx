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deck for both classes. Slides 2-16 are C3 (teaching), 17-23 are C4 (practice). Open with the payoff: by the end of today their page responds to a person. Everything until now ran once and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0-5 min | Ask who finished renderBooks and count the hands - it tells you how fast you can move in the live build. Students who skipped it need the first ten minutes to catch up, so pair them with someone who did it. The amber card matters: name the ban and then lift it, so the artificial constraint of Monday reads as design rather than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5-8 min | The inversion is the hard part, not the syntax. In Java their code called everything; here they hand a function over and lose control of when it runs. Say the sentence: you do not run your function, the browser does. Connecting it to map and filter helps - they already passed functions as arguments last week without naming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8-11 min | Keep this mechanical. Three arguments, and the third is a function. The named form is on the slide first because it is the one that makes the next slide's trap obvious. Write a real listener live and click it before moving on; a working click in the first ten minutes changes the mood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11-13 min | Worth a slide of its own because it is the single most common event bug and the symptom is confusing: the handler clearly works, it just fires at the wrong moment. Demonstrate it. Add a console.log inside the handler, use the wrong form, reload, and show the log appearing with no click. The recipe-versus-meal line lands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13-15 min | target versus currentTarget is abstract until they feel it. Build a card with a heading inside, log both, and click the heading then the padding. The intermittent-feeling bug on the red card is the one they will hit in C4, so name the symptom now; recognising it later takes seconds instead of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15-16 min | Do not teach six events. Teach three - click, submit, input - and say plainly that the others are there so they recognise them. The input versus change distinction matters for live search in Mini Project 3, so point at it, but one sentence is enough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16-20 min | The most valuable four minutes of the class. Demonstrate the bug first: submit without preventDefault, watch the page flash and the list empty, and let someone say 'my code did nothing'. Then add the line. Tie it straight back to C1 - a reload rebuilds the DOM from the file - so it is one idea, not two. The form-versus-button point catches the Enter key and is worth the extra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20-24 min | The read-it-too-early bug is planted in the C4 starter, so make the reason explicit now: the handler runs later, so anything it needs must be read later. The value-is-a-string point is the third time they have met it this course, after W5 C2's 815 and W6 C1's dataset. Say that out loud - it is a pattern, not three unrelated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24-28 min | This slide is the conceptual spine of the next two weeks and of Mini Project 3. Say the sentence twice: the array is the truth, the page is a picture of it. The element.remove() shortcut is planted as a bug in C4 and it is the one students defend most, because it appears to work until something else triggers a redraw.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28-30 min | Attach-at-creation is the right first pattern: it is obvious, it works, and it needs nothing new. Mention delegation by name only, and leave it for C4 Exercise 3, or half the room will try it today and lose the thread. The clear-before-you-draw line is planted as a C4 bug, so say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30-32 min | Demonstrate it fully before they start: add a book with the button, add one with the Enter key, remove one, show the count change. The Enter key is the detail that makes it feel real, and it is free because the listener is on the form. Then show that reading-list.js is empty apart from the data and the empty render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32-39 min | Make them get step 1 working alone first - three books rendered at load, no form. Students who write both at once cannot tell which half is broken. Date.now() needs one sentence: a number that is different every millisecond, good enough for an id today. Do not discuss uuid.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39-43 min | The const-versus-let detail bites here: filter returns a new array, so books has to be let, and students who declared it const get 'Assignment to constant variable' - the same error as Week 5. Point that out, it is a satisfying callback. Then say the rule once more: change the data, redraw.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43-47 min | Read these as symptoms, not as causes - that is how students will meet them. Only the first produces a Console error, and only at load. The rest are behavioural: the page does something, just not the right something. That is the new debugging problem this class introduces and C4 drills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48-50 min | Ask the preventDefault question to a named student; the answer you want connects the reload to the DOM being rebuilt. Remind them to bring their files, because C4 Exercise 1 extends this app rather than starting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Make sure everyone has a working reading list before starting; pair anyone who does not with a neighbour. Exercise 1 builds directly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0-5 min | Post the timings. Exercise 3 is the new material of the hour and the thing Mini Project 3 needs, so protect its ten minutes by keeping Exercise 1 to a quick polish rather than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5-24 min | Exercise 2 pays off the design decision from C3: renderBooks(list) takes a parameter, so filtering is three lines. Point that out explicitly, because it is the first time a design choice visibly saves them work. Watch for students who filter the books array itself and permanently destroy their data - that is the error to catch on the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24-34 min | The new material of the hour. Build the mental image first: the click travels up from the thing clicked to the parent, and the parent asks 'did this come from a remove button?'. The guard clause is essential - without it, clicking anywhere in the shelf throws. Say plainly that this is the pattern Mini Project 3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34-46 min | The genuinely new idea this hour: a bug can be invisible until you perform a SEQUENCE of actions. Bug 2 needs two adds, bug 4 needs a remove followed by an add, bug 6 needs a search then a clear. The seven-step script is in the file header - make them re-run the whole thing after every fix. Students who only reload and look will find two bugs and stop. The richest moment is bug 2: the count and the page openly contradict each other, and the count is the one telling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46-50 min | Mark Part 1 by circulating. The Edit button in Part 2 is open-ended on purpose - it has no single right answer and it previews the kind of thinking Mini Project 3 asks for. Close by naming the mid-term: next week C3 and C4 are the 100-minute practical, and this app is the closest rehearsal they will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48-50 min | Close on the closing line, and mean it: data, render, events is the whole architecture of everything that follows, including React. Remind them that next week's C3 and C4 are the mid-term and that it is practical, not written, so practising this app is the right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39A18"/>
          </a:solidFill>
          <a:ln/>
        </p:spPr>
      </p:sp>
      <p:sp>
        <p:nvSpPr>
          <p:cNvPr id="3" name="Text 1"/>
          <p:cNvSpPr/>
          <p:nvPr/>
        </p:nvSpPr>
        <p:spPr>
          <a:xfrm>
            <a:off x="822960" y="1371600"/>
            <a:ext cx="10058400" cy="365760"/>
          </a:xfrm>
          <a:prstGeom prst="rect">
            <a:avLst/>
          </a:prstGeom>
          <a:noFill/>
          <a:ln/>
        </p:spPr>
        <p:txBody>
          <a:bodyPr wrap="square" rtlCol="0" anchor="ctr"/>
          <a:lstStyle/>
          <a:p>
            <a:pPr indent="0" marL="0">
              <a:buNone/>
            </a:pPr>
            <a:r>
              <a:rPr lang="en-US" sz="1500" b="1" spc="200" kern="0" dirty="0">
                <a:solidFill>
                  <a:srgbClr val="E39A18"/>
                </a:solidFill>
                <a:latin typeface="Arial" pitchFamily="34" charset="0"/>
                <a:ea typeface="Arial" pitchFamily="34" charset="-122"/>
                <a:cs typeface="Arial" pitchFamily="34" charset="-120"/>
              </a:rPr>
              <a:t>CSE-2340 · SOFTWARE DEVELOPMENT 1</a:t>
            </a:r>
            <a:endParaRPr lang="en-US" sz="1500" dirty="0"/>
          </a:p>
        </p:txBody>
      </p:sp>
      <p:sp>
        <p:nvSpPr>
          <p:cNvPr id="4" name="Text 2"/>
          <p:cNvSpPr/>
          <p:nvPr/>
        </p:nvSpPr>
        <p:spPr>
          <a:xfrm>
            <a:off x="822960" y="1783080"/>
            <a:ext cx="10058400" cy="365760"/>
          </a:xfrm>
          <a:prstGeom prst="rect">
            <a:avLst/>
          </a:prstGeom>
          <a:noFill/>
          <a:ln/>
        </p:spPr>
        <p:txBody>
          <a:bodyPr wrap="square" rtlCol="0" anchor="ctr"/>
          <a:lstStyle/>
          <a:p>
            <a:pPr indent="0" marL="0">
              <a:buNone/>
            </a:pPr>
            <a:r>
              <a:rPr lang="en-US" sz="1400" dirty="0">
                <a:solidFill>
                  <a:srgbClr val="AFC4D8"/>
                </a:solidFill>
                <a:latin typeface="Arial" pitchFamily="34" charset="0"/>
                <a:ea typeface="Arial" pitchFamily="34" charset="-122"/>
                <a:cs typeface="Arial" pitchFamily="34" charset="-120"/>
              </a:rPr>
              <a:t>Week 6 · Classes 3 and 4</a:t>
            </a:r>
            <a:endParaRPr lang="en-US" sz="1400" dirty="0"/>
          </a:p>
        </p:txBody>
      </p:sp>
      <p:sp>
        <p:nvSpPr>
          <p:cNvPr id="5" name="Text 3"/>
          <p:cNvSpPr/>
          <p:nvPr/>
        </p:nvSpPr>
        <p:spPr>
          <a:xfrm>
            <a:off x="822960" y="2286000"/>
            <a:ext cx="10332720" cy="1371600"/>
          </a:xfrm>
          <a:prstGeom prst="rect">
            <a:avLst/>
          </a:prstGeom>
          <a:noFill/>
          <a:ln/>
        </p:spPr>
        <p:txBody>
          <a:bodyPr wrap="square" rtlCol="0" anchor="t"/>
          <a:lstStyle/>
          <a:p>
            <a:pPr indent="0" marL="0">
              <a:buNone/>
            </a:pPr>
            <a:r>
              <a:rPr lang="en-US" sz="4000" b="1" dirty="0">
                <a:solidFill>
                  <a:srgbClr val="FFFFFF"/>
                </a:solidFill>
                <a:latin typeface="Arial" pitchFamily="34" charset="0"/>
                <a:ea typeface="Arial" pitchFamily="34" charset="-122"/>
                <a:cs typeface="Arial" pitchFamily="34" charset="-120"/>
              </a:rPr>
              <a:t>Events</a:t>
            </a:r>
            <a:endParaRPr lang="en-US" sz="4000" dirty="0"/>
          </a:p>
        </p:txBody>
      </p:sp>
      <p:sp>
        <p:nvSpPr>
          <p:cNvPr id="6" name="Text 4"/>
          <p:cNvSpPr/>
          <p:nvPr/>
        </p:nvSpPr>
        <p:spPr>
          <a:xfrm>
            <a:off x="822960" y="3749040"/>
            <a:ext cx="10058400" cy="457200"/>
          </a:xfrm>
          <a:prstGeom prst="rect">
            <a:avLst/>
          </a:prstGeom>
          <a:noFill/>
          <a:ln/>
        </p:spPr>
        <p:txBody>
          <a:bodyPr wrap="square" rtlCol="0" anchor="ctr"/>
          <a:lstStyle/>
          <a:p>
            <a:pPr indent="0" marL="0">
              <a:buNone/>
            </a:pPr>
            <a:r>
              <a:rPr lang="en-US" sz="1600" dirty="0">
                <a:solidFill>
                  <a:srgbClr val="C8D8E8"/>
                </a:solidFill>
                <a:latin typeface="Arial" pitchFamily="34" charset="0"/>
                <a:ea typeface="Arial" pitchFamily="34" charset="-122"/>
                <a:cs typeface="Arial" pitchFamily="34" charset="-120"/>
              </a:rPr>
              <a:t>addEventListener, the event object, preventDefault, and a small interactive app</a:t>
            </a:r>
            <a:endParaRPr lang="en-US" sz="1600" dirty="0"/>
          </a:p>
        </p:txBody>
      </p:sp>
      <p:sp>
        <p:nvSpPr>
          <p:cNvPr id="7" name="Shape 5"/>
          <p:cNvSpPr/>
          <p:nvPr/>
        </p:nvSpPr>
        <p:spPr>
          <a:xfrm>
            <a:off x="822960" y="4526280"/>
            <a:ext cx="2926080" cy="0"/>
          </a:xfrm>
          <a:prstGeom prst="line">
            <a:avLst/>
          </a:prstGeom>
          <a:noFill/>
          <a:ln w="25400">
            <a:solidFill>
              <a:srgbClr val="E39A18"/>
            </a:solidFill>
            <a:prstDash val="solid"/>
          </a:ln>
        </p:spPr>
      </p:sp>
      <p:sp>
        <p:nvSpPr>
          <p:cNvPr id="8" name="Text 6"/>
          <p:cNvSpPr/>
          <p:nvPr/>
        </p:nvSpPr>
        <p:spPr>
          <a:xfrm>
            <a:off x="822960" y="4754880"/>
            <a:ext cx="73152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Md Sadman Hafiz</a:t>
            </a:r>
            <a:endParaRPr lang="en-US" sz="1600" dirty="0"/>
          </a:p>
        </p:txBody>
      </p:sp>
      <p:sp>
        <p:nvSpPr>
          <p:cNvPr id="9" name="Text 7"/>
          <p:cNvSpPr/>
          <p:nvPr/>
        </p:nvSpPr>
        <p:spPr>
          <a:xfrm>
            <a:off x="822960" y="5102352"/>
            <a:ext cx="7315200" cy="320040"/>
          </a:xfrm>
          <a:prstGeom prst="rect">
            <a:avLst/>
          </a:prstGeom>
          <a:noFill/>
          <a:ln/>
        </p:spPr>
        <p:txBody>
          <a:bodyPr wrap="square" rtlCol="0" anchor="ctr"/>
          <a:lstStyle/>
          <a:p>
            <a:pPr indent="0" marL="0">
              <a:buNone/>
            </a:pPr>
            <a:r>
              <a:rPr lang="en-US" sz="1300" dirty="0">
                <a:solidFill>
                  <a:srgbClr val="AFC4D8"/>
                </a:solidFill>
                <a:latin typeface="Arial" pitchFamily="34" charset="0"/>
                <a:ea typeface="Arial" pitchFamily="34" charset="-122"/>
                <a:cs typeface="Arial" pitchFamily="34" charset="-120"/>
              </a:rPr>
              <a:t>Lecturer, Dept. of CSE, IIUC</a:t>
            </a:r>
            <a:endParaRPr lang="en-US" sz="1300" dirty="0"/>
          </a:p>
        </p:txBody>
      </p:sp>
      <p:sp>
        <p:nvSpPr>
          <p:cNvPr id="10" name="Text 8"/>
          <p:cNvSpPr/>
          <p:nvPr/>
        </p:nvSpPr>
        <p:spPr>
          <a:xfrm>
            <a:off x="822960" y="5440680"/>
            <a:ext cx="7315200" cy="320040"/>
          </a:xfrm>
          <a:prstGeom prst="rect">
            <a:avLst/>
          </a:prstGeom>
          <a:noFill/>
          <a:ln/>
        </p:spPr>
        <p:txBody>
          <a:bodyPr wrap="square" rtlCol="0" anchor="ctr"/>
          <a:lstStyle/>
          <a:p>
            <a:pPr indent="0" marL="0">
              <a:buNone/>
            </a:pPr>
            <a:r>
              <a:rPr lang="en-US" sz="1200" dirty="0">
                <a:solidFill>
                  <a:srgbClr val="8FA6BC"/>
                </a:solidFill>
                <a:latin typeface="Arial" pitchFamily="34" charset="0"/>
                <a:ea typeface="Arial" pitchFamily="34" charset="-122"/>
                <a:cs typeface="Arial" pitchFamily="34" charset="-120"/>
              </a:rPr>
              <a:t>Autumn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0-5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Recall and today's outcome</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a:t>
            </a:r>
            <a:endParaRPr lang="en-US" sz="950" dirty="0"/>
          </a:p>
        </p:txBody>
      </p:sp>
      <p:sp>
        <p:nvSpPr>
          <p:cNvPr id="7" name="Shape 5"/>
          <p:cNvSpPr/>
          <p:nvPr/>
        </p:nvSpPr>
        <p:spPr>
          <a:xfrm>
            <a:off x="548640" y="1234440"/>
            <a:ext cx="5486400" cy="2240280"/>
          </a:xfrm>
          <a:prstGeom prst="rect">
            <a:avLst>
              <a:gd name="adj" fmla="val 2449"/>
            </a:avLst>
          </a:prstGeom>
          <a:solidFill>
            <a:srgbClr val="F2F5F8"/>
          </a:solidFill>
          <a:ln w="12700">
            <a:solidFill>
              <a:srgbClr val="D6DEE6"/>
            </a:solidFill>
            <a:prstDash val="solid"/>
          </a:ln>
        </p:spPr>
      </p:sp>
      <p:sp>
        <p:nvSpPr>
          <p:cNvPr id="8" name="Shape 6"/>
          <p:cNvSpPr/>
          <p:nvPr/>
        </p:nvSpPr>
        <p:spPr>
          <a:xfrm>
            <a:off x="713232" y="1399032"/>
            <a:ext cx="777240" cy="256032"/>
          </a:xfrm>
          <a:prstGeom prst="rect">
            <a:avLst>
              <a:gd name="adj" fmla="val 17857"/>
            </a:avLst>
          </a:prstGeom>
          <a:solidFill>
            <a:srgbClr val="003366"/>
          </a:solidFill>
          <a:ln/>
        </p:spPr>
      </p:sp>
      <p:sp>
        <p:nvSpPr>
          <p:cNvPr id="9" name="Text 7"/>
          <p:cNvSpPr/>
          <p:nvPr/>
        </p:nvSpPr>
        <p:spPr>
          <a:xfrm>
            <a:off x="713232" y="1399032"/>
            <a:ext cx="77724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RECALL</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From Classes 1 and 2</a:t>
            </a:r>
            <a:endParaRPr lang="en-US" sz="1500" dirty="0"/>
          </a:p>
        </p:txBody>
      </p:sp>
      <p:sp>
        <p:nvSpPr>
          <p:cNvPr id="11" name="Text 9"/>
          <p:cNvSpPr/>
          <p:nvPr/>
        </p:nvSpPr>
        <p:spPr>
          <a:xfrm>
            <a:off x="713232" y="2112264"/>
            <a:ext cx="5157216" cy="12527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are the three steps for making an element?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does querySelector return when nothing matches?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Why was bug 3 reported twenty lines from the real problem?</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Who finished renderBooks(list)?</a:t>
            </a:r>
            <a:endParaRPr lang="en-US" sz="1250" dirty="0"/>
          </a:p>
        </p:txBody>
      </p:sp>
      <p:sp>
        <p:nvSpPr>
          <p:cNvPr id="12" name="Shape 10"/>
          <p:cNvSpPr/>
          <p:nvPr/>
        </p:nvSpPr>
        <p:spPr>
          <a:xfrm>
            <a:off x="6355080" y="1234440"/>
            <a:ext cx="5285232" cy="2240280"/>
          </a:xfrm>
          <a:prstGeom prst="rect">
            <a:avLst>
              <a:gd name="adj" fmla="val 2449"/>
            </a:avLst>
          </a:prstGeom>
          <a:solidFill>
            <a:srgbClr val="E7F4EE"/>
          </a:solidFill>
          <a:ln w="12700">
            <a:solidFill>
              <a:srgbClr val="1F7A55"/>
            </a:solidFill>
            <a:prstDash val="solid"/>
          </a:ln>
        </p:spPr>
      </p:sp>
      <p:sp>
        <p:nvSpPr>
          <p:cNvPr id="13" name="Shape 11"/>
          <p:cNvSpPr/>
          <p:nvPr/>
        </p:nvSpPr>
        <p:spPr>
          <a:xfrm>
            <a:off x="6519672" y="1399032"/>
            <a:ext cx="854964" cy="256032"/>
          </a:xfrm>
          <a:prstGeom prst="rect">
            <a:avLst>
              <a:gd name="adj" fmla="val 17857"/>
            </a:avLst>
          </a:prstGeom>
          <a:solidFill>
            <a:srgbClr val="1F7A55"/>
          </a:solidFill>
          <a:ln/>
        </p:spPr>
      </p:sp>
      <p:sp>
        <p:nvSpPr>
          <p:cNvPr id="14" name="Text 12"/>
          <p:cNvSpPr/>
          <p:nvPr/>
        </p:nvSpPr>
        <p:spPr>
          <a:xfrm>
            <a:off x="6519672" y="1399032"/>
            <a:ext cx="854964"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OUTCOME</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By 50 minutes you can</a:t>
            </a:r>
            <a:endParaRPr lang="en-US" sz="1500" dirty="0"/>
          </a:p>
        </p:txBody>
      </p:sp>
      <p:sp>
        <p:nvSpPr>
          <p:cNvPr id="16" name="Text 14"/>
          <p:cNvSpPr/>
          <p:nvPr/>
        </p:nvSpPr>
        <p:spPr>
          <a:xfrm>
            <a:off x="6519672" y="2112264"/>
            <a:ext cx="4956048" cy="12527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Run your code when a person does something</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Stop a form reloading the page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Read what someone typed into an input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Add and remove items and see the page follow</a:t>
            </a:r>
            <a:endParaRPr lang="en-US" sz="1250" dirty="0"/>
          </a:p>
        </p:txBody>
      </p:sp>
      <p:sp>
        <p:nvSpPr>
          <p:cNvPr id="17" name="Shape 15"/>
          <p:cNvSpPr/>
          <p:nvPr/>
        </p:nvSpPr>
        <p:spPr>
          <a:xfrm>
            <a:off x="548640" y="3657600"/>
            <a:ext cx="11064240" cy="1325880"/>
          </a:xfrm>
          <a:prstGeom prst="rect">
            <a:avLst>
              <a:gd name="adj" fmla="val 4138"/>
            </a:avLst>
          </a:prstGeom>
          <a:solidFill>
            <a:srgbClr val="FDF3E1"/>
          </a:solidFill>
          <a:ln w="12700">
            <a:solidFill>
              <a:srgbClr val="E39A18"/>
            </a:solidFill>
            <a:prstDash val="solid"/>
          </a:ln>
        </p:spPr>
      </p:sp>
      <p:sp>
        <p:nvSpPr>
          <p:cNvPr id="18" name="Text 16"/>
          <p:cNvSpPr/>
          <p:nvPr/>
        </p:nvSpPr>
        <p:spPr>
          <a:xfrm>
            <a:off x="713232" y="382219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Today the restriction lifts</a:t>
            </a:r>
            <a:endParaRPr lang="en-US" sz="1500" dirty="0"/>
          </a:p>
        </p:txBody>
      </p:sp>
      <p:sp>
        <p:nvSpPr>
          <p:cNvPr id="19" name="Text 17"/>
          <p:cNvSpPr/>
          <p:nvPr/>
        </p:nvSpPr>
        <p:spPr>
          <a:xfrm>
            <a:off x="713232" y="4169664"/>
            <a:ext cx="10735056" cy="70408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C1 and C2 banned addEventListener on purpose, so that building elements became automatic first.</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That ban is over. Everything you built on Monday is about to start responding.</a:t>
            </a:r>
            <a:endParaRPr lang="en-US" sz="1250" dirty="0"/>
          </a:p>
        </p:txBody>
      </p:sp>
      <p:sp>
        <p:nvSpPr>
          <p:cNvPr id="20" name="Shape 18"/>
          <p:cNvSpPr/>
          <p:nvPr/>
        </p:nvSpPr>
        <p:spPr>
          <a:xfrm>
            <a:off x="548640" y="5166360"/>
            <a:ext cx="11064240" cy="960120"/>
          </a:xfrm>
          <a:prstGeom prst="rect">
            <a:avLst>
              <a:gd name="adj" fmla="val 5714"/>
            </a:avLst>
          </a:prstGeom>
          <a:solidFill>
            <a:srgbClr val="E7F4EE"/>
          </a:solidFill>
          <a:ln w="12700">
            <a:solidFill>
              <a:srgbClr val="1F7A55"/>
            </a:solidFill>
            <a:prstDash val="solid"/>
          </a:ln>
        </p:spPr>
      </p:sp>
      <p:sp>
        <p:nvSpPr>
          <p:cNvPr id="21" name="Text 19"/>
          <p:cNvSpPr/>
          <p:nvPr/>
        </p:nvSpPr>
        <p:spPr>
          <a:xfrm>
            <a:off x="713232" y="5330952"/>
            <a:ext cx="10735056" cy="685800"/>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If you wrote renderBooks(list) for the home task, today is one new line for you. If you did not, write it in the first ten minutes.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Your code stops. Then it waits.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a:t>
            </a:r>
            <a:endParaRPr lang="en-US" sz="950" dirty="0"/>
          </a:p>
        </p:txBody>
      </p:sp>
      <p:sp>
        <p:nvSpPr>
          <p:cNvPr id="7" name="Shape 5"/>
          <p:cNvSpPr/>
          <p:nvPr/>
        </p:nvSpPr>
        <p:spPr>
          <a:xfrm>
            <a:off x="548640" y="1280160"/>
            <a:ext cx="2542032" cy="1691640"/>
          </a:xfrm>
          <a:prstGeom prst="rect">
            <a:avLst>
              <a:gd name="adj" fmla="val 2703"/>
            </a:avLst>
          </a:prstGeom>
          <a:solidFill>
            <a:srgbClr val="F2F5F8"/>
          </a:solidFill>
          <a:ln w="12700">
            <a:solidFill>
              <a:srgbClr val="D6DEE6"/>
            </a:solidFill>
            <a:prstDash val="solid"/>
          </a:ln>
        </p:spPr>
      </p:sp>
      <p:sp>
        <p:nvSpPr>
          <p:cNvPr id="8" name="Text 6"/>
          <p:cNvSpPr/>
          <p:nvPr/>
        </p:nvSpPr>
        <p:spPr>
          <a:xfrm>
            <a:off x="685800" y="1444752"/>
            <a:ext cx="2267712" cy="365760"/>
          </a:xfrm>
          <a:prstGeom prst="rect">
            <a:avLst/>
          </a:prstGeom>
          <a:noFill/>
          <a:ln/>
        </p:spPr>
        <p:txBody>
          <a:bodyPr wrap="square" rtlCol="0" anchor="ctr"/>
          <a:lstStyle/>
          <a:p>
            <a:pPr algn="ctr" indent="0" marL="0">
              <a:buNone/>
            </a:pPr>
            <a:r>
              <a:rPr lang="en-US" sz="1350" b="1" dirty="0">
                <a:solidFill>
                  <a:srgbClr val="003366"/>
                </a:solidFill>
                <a:latin typeface="Arial" pitchFamily="34" charset="0"/>
                <a:ea typeface="Arial" pitchFamily="34" charset="-122"/>
                <a:cs typeface="Arial" pitchFamily="34" charset="-120"/>
              </a:rPr>
              <a:t>Page loads</a:t>
            </a:r>
            <a:endParaRPr lang="en-US" sz="1350" dirty="0"/>
          </a:p>
        </p:txBody>
      </p:sp>
      <p:sp>
        <p:nvSpPr>
          <p:cNvPr id="9" name="Text 7"/>
          <p:cNvSpPr/>
          <p:nvPr/>
        </p:nvSpPr>
        <p:spPr>
          <a:xfrm>
            <a:off x="685800" y="1874520"/>
            <a:ext cx="2267712" cy="914400"/>
          </a:xfrm>
          <a:prstGeom prst="rect">
            <a:avLst/>
          </a:prstGeom>
          <a:noFill/>
          <a:ln/>
        </p:spPr>
        <p:txBody>
          <a:bodyPr wrap="square" rtlCol="0" anchor="t"/>
          <a:lstStyle/>
          <a:p>
            <a:pPr algn="ctr" indent="0" marL="0">
              <a:buNone/>
            </a:pPr>
            <a:r>
              <a:rPr lang="en-US" sz="1150" dirty="0">
                <a:solidFill>
                  <a:srgbClr val="3D4A57"/>
                </a:solidFill>
                <a:latin typeface="Arial" pitchFamily="34" charset="0"/>
                <a:ea typeface="Arial" pitchFamily="34" charset="-122"/>
                <a:cs typeface="Arial" pitchFamily="34" charset="-120"/>
              </a:rPr>
              <a:t>Your script runs top to bottom, once</a:t>
            </a:r>
            <a:endParaRPr lang="en-US" sz="1150" dirty="0"/>
          </a:p>
        </p:txBody>
      </p:sp>
      <p:sp>
        <p:nvSpPr>
          <p:cNvPr id="10" name="Text 8"/>
          <p:cNvSpPr/>
          <p:nvPr/>
        </p:nvSpPr>
        <p:spPr>
          <a:xfrm>
            <a:off x="3090672" y="1280160"/>
            <a:ext cx="265176" cy="1691640"/>
          </a:xfrm>
          <a:prstGeom prst="rect">
            <a:avLst/>
          </a:prstGeom>
          <a:noFill/>
          <a:ln/>
        </p:spPr>
        <p:txBody>
          <a:bodyPr wrap="square" rtlCol="0" anchor="ctr"/>
          <a:lstStyle/>
          <a:p>
            <a:pPr algn="ctr" indent="0" marL="0">
              <a:buNone/>
            </a:pPr>
            <a:r>
              <a:rPr lang="en-US" sz="1600" dirty="0">
                <a:solidFill>
                  <a:srgbClr val="6B7A88"/>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3355848" y="1280160"/>
            <a:ext cx="2542032" cy="1691640"/>
          </a:xfrm>
          <a:prstGeom prst="rect">
            <a:avLst>
              <a:gd name="adj" fmla="val 2703"/>
            </a:avLst>
          </a:prstGeom>
          <a:solidFill>
            <a:srgbClr val="E8EEF4"/>
          </a:solidFill>
          <a:ln w="12700">
            <a:solidFill>
              <a:srgbClr val="D6DEE6"/>
            </a:solidFill>
            <a:prstDash val="solid"/>
          </a:ln>
        </p:spPr>
      </p:sp>
      <p:sp>
        <p:nvSpPr>
          <p:cNvPr id="12" name="Text 10"/>
          <p:cNvSpPr/>
          <p:nvPr/>
        </p:nvSpPr>
        <p:spPr>
          <a:xfrm>
            <a:off x="3493008" y="1444752"/>
            <a:ext cx="2267712" cy="365760"/>
          </a:xfrm>
          <a:prstGeom prst="rect">
            <a:avLst/>
          </a:prstGeom>
          <a:noFill/>
          <a:ln/>
        </p:spPr>
        <p:txBody>
          <a:bodyPr wrap="square" rtlCol="0" anchor="ctr"/>
          <a:lstStyle/>
          <a:p>
            <a:pPr algn="ctr" indent="0" marL="0">
              <a:buNone/>
            </a:pPr>
            <a:r>
              <a:rPr lang="en-US" sz="1350" b="1" dirty="0">
                <a:solidFill>
                  <a:srgbClr val="003366"/>
                </a:solidFill>
                <a:latin typeface="Arial" pitchFamily="34" charset="0"/>
                <a:ea typeface="Arial" pitchFamily="34" charset="-122"/>
                <a:cs typeface="Arial" pitchFamily="34" charset="-120"/>
              </a:rPr>
              <a:t>Script ends</a:t>
            </a:r>
            <a:endParaRPr lang="en-US" sz="1350" dirty="0"/>
          </a:p>
        </p:txBody>
      </p:sp>
      <p:sp>
        <p:nvSpPr>
          <p:cNvPr id="13" name="Text 11"/>
          <p:cNvSpPr/>
          <p:nvPr/>
        </p:nvSpPr>
        <p:spPr>
          <a:xfrm>
            <a:off x="3493008" y="1874520"/>
            <a:ext cx="2267712" cy="914400"/>
          </a:xfrm>
          <a:prstGeom prst="rect">
            <a:avLst/>
          </a:prstGeom>
          <a:noFill/>
          <a:ln/>
        </p:spPr>
        <p:txBody>
          <a:bodyPr wrap="square" rtlCol="0" anchor="t"/>
          <a:lstStyle/>
          <a:p>
            <a:pPr algn="ctr" indent="0" marL="0">
              <a:buNone/>
            </a:pPr>
            <a:r>
              <a:rPr lang="en-US" sz="1150" dirty="0">
                <a:solidFill>
                  <a:srgbClr val="3D4A57"/>
                </a:solidFill>
                <a:latin typeface="Arial" pitchFamily="34" charset="0"/>
                <a:ea typeface="Arial" pitchFamily="34" charset="-122"/>
                <a:cs typeface="Arial" pitchFamily="34" charset="-120"/>
              </a:rPr>
              <a:t>Nothing is running any more</a:t>
            </a:r>
            <a:endParaRPr lang="en-US" sz="1150" dirty="0"/>
          </a:p>
        </p:txBody>
      </p:sp>
      <p:sp>
        <p:nvSpPr>
          <p:cNvPr id="14" name="Text 12"/>
          <p:cNvSpPr/>
          <p:nvPr/>
        </p:nvSpPr>
        <p:spPr>
          <a:xfrm>
            <a:off x="5897880" y="1280160"/>
            <a:ext cx="265176" cy="1691640"/>
          </a:xfrm>
          <a:prstGeom prst="rect">
            <a:avLst/>
          </a:prstGeom>
          <a:noFill/>
          <a:ln/>
        </p:spPr>
        <p:txBody>
          <a:bodyPr wrap="square" rtlCol="0" anchor="ctr"/>
          <a:lstStyle/>
          <a:p>
            <a:pPr algn="ctr" indent="0" marL="0">
              <a:buNone/>
            </a:pPr>
            <a:r>
              <a:rPr lang="en-US" sz="1600" dirty="0">
                <a:solidFill>
                  <a:srgbClr val="6B7A88"/>
                </a:solidFill>
                <a:latin typeface="Arial" pitchFamily="34" charset="0"/>
                <a:ea typeface="Arial" pitchFamily="34" charset="-122"/>
                <a:cs typeface="Arial" pitchFamily="34" charset="-120"/>
              </a:rPr>
              <a:t>→</a:t>
            </a:r>
            <a:endParaRPr lang="en-US" sz="1600" dirty="0"/>
          </a:p>
        </p:txBody>
      </p:sp>
      <p:sp>
        <p:nvSpPr>
          <p:cNvPr id="15" name="Shape 13"/>
          <p:cNvSpPr/>
          <p:nvPr/>
        </p:nvSpPr>
        <p:spPr>
          <a:xfrm>
            <a:off x="6163056" y="1280160"/>
            <a:ext cx="2542032" cy="1691640"/>
          </a:xfrm>
          <a:prstGeom prst="rect">
            <a:avLst>
              <a:gd name="adj" fmla="val 2703"/>
            </a:avLst>
          </a:prstGeom>
          <a:solidFill>
            <a:srgbClr val="FDF3E1"/>
          </a:solidFill>
          <a:ln w="12700">
            <a:solidFill>
              <a:srgbClr val="D6DEE6"/>
            </a:solidFill>
            <a:prstDash val="solid"/>
          </a:ln>
        </p:spPr>
      </p:sp>
      <p:sp>
        <p:nvSpPr>
          <p:cNvPr id="16" name="Text 14"/>
          <p:cNvSpPr/>
          <p:nvPr/>
        </p:nvSpPr>
        <p:spPr>
          <a:xfrm>
            <a:off x="6300216" y="1444752"/>
            <a:ext cx="2267712" cy="365760"/>
          </a:xfrm>
          <a:prstGeom prst="rect">
            <a:avLst/>
          </a:prstGeom>
          <a:noFill/>
          <a:ln/>
        </p:spPr>
        <p:txBody>
          <a:bodyPr wrap="square" rtlCol="0" anchor="ctr"/>
          <a:lstStyle/>
          <a:p>
            <a:pPr algn="ctr" indent="0" marL="0">
              <a:buNone/>
            </a:pPr>
            <a:r>
              <a:rPr lang="en-US" sz="1350" b="1" dirty="0">
                <a:solidFill>
                  <a:srgbClr val="003366"/>
                </a:solidFill>
                <a:latin typeface="Arial" pitchFamily="34" charset="0"/>
                <a:ea typeface="Arial" pitchFamily="34" charset="-122"/>
                <a:cs typeface="Arial" pitchFamily="34" charset="-120"/>
              </a:rPr>
              <a:t>A person acts</a:t>
            </a:r>
            <a:endParaRPr lang="en-US" sz="1350" dirty="0"/>
          </a:p>
        </p:txBody>
      </p:sp>
      <p:sp>
        <p:nvSpPr>
          <p:cNvPr id="17" name="Text 15"/>
          <p:cNvSpPr/>
          <p:nvPr/>
        </p:nvSpPr>
        <p:spPr>
          <a:xfrm>
            <a:off x="6300216" y="1874520"/>
            <a:ext cx="2267712" cy="914400"/>
          </a:xfrm>
          <a:prstGeom prst="rect">
            <a:avLst/>
          </a:prstGeom>
          <a:noFill/>
          <a:ln/>
        </p:spPr>
        <p:txBody>
          <a:bodyPr wrap="square" rtlCol="0" anchor="t"/>
          <a:lstStyle/>
          <a:p>
            <a:pPr algn="ctr" indent="0" marL="0">
              <a:buNone/>
            </a:pPr>
            <a:r>
              <a:rPr lang="en-US" sz="1150" dirty="0">
                <a:solidFill>
                  <a:srgbClr val="3D4A57"/>
                </a:solidFill>
                <a:latin typeface="Arial" pitchFamily="34" charset="0"/>
                <a:ea typeface="Arial" pitchFamily="34" charset="-122"/>
                <a:cs typeface="Arial" pitchFamily="34" charset="-120"/>
              </a:rPr>
              <a:t>Click, type, submit, scroll</a:t>
            </a:r>
            <a:endParaRPr lang="en-US" sz="1150" dirty="0"/>
          </a:p>
        </p:txBody>
      </p:sp>
      <p:sp>
        <p:nvSpPr>
          <p:cNvPr id="18" name="Text 16"/>
          <p:cNvSpPr/>
          <p:nvPr/>
        </p:nvSpPr>
        <p:spPr>
          <a:xfrm>
            <a:off x="8705088" y="1280160"/>
            <a:ext cx="265176" cy="1691640"/>
          </a:xfrm>
          <a:prstGeom prst="rect">
            <a:avLst/>
          </a:prstGeom>
          <a:noFill/>
          <a:ln/>
        </p:spPr>
        <p:txBody>
          <a:bodyPr wrap="square" rtlCol="0" anchor="ctr"/>
          <a:lstStyle/>
          <a:p>
            <a:pPr algn="ctr" indent="0" marL="0">
              <a:buNone/>
            </a:pPr>
            <a:r>
              <a:rPr lang="en-US" sz="1600" dirty="0">
                <a:solidFill>
                  <a:srgbClr val="6B7A88"/>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8970264" y="1280160"/>
            <a:ext cx="2542032" cy="1691640"/>
          </a:xfrm>
          <a:prstGeom prst="rect">
            <a:avLst>
              <a:gd name="adj" fmla="val 2703"/>
            </a:avLst>
          </a:prstGeom>
          <a:solidFill>
            <a:srgbClr val="E7F4EE"/>
          </a:solidFill>
          <a:ln w="12700">
            <a:solidFill>
              <a:srgbClr val="D6DEE6"/>
            </a:solidFill>
            <a:prstDash val="solid"/>
          </a:ln>
        </p:spPr>
      </p:sp>
      <p:sp>
        <p:nvSpPr>
          <p:cNvPr id="20" name="Text 18"/>
          <p:cNvSpPr/>
          <p:nvPr/>
        </p:nvSpPr>
        <p:spPr>
          <a:xfrm>
            <a:off x="9107424" y="1444752"/>
            <a:ext cx="2267712" cy="365760"/>
          </a:xfrm>
          <a:prstGeom prst="rect">
            <a:avLst/>
          </a:prstGeom>
          <a:noFill/>
          <a:ln/>
        </p:spPr>
        <p:txBody>
          <a:bodyPr wrap="square" rtlCol="0" anchor="ctr"/>
          <a:lstStyle/>
          <a:p>
            <a:pPr algn="ctr" indent="0" marL="0">
              <a:buNone/>
            </a:pPr>
            <a:r>
              <a:rPr lang="en-US" sz="1350" b="1" dirty="0">
                <a:solidFill>
                  <a:srgbClr val="003366"/>
                </a:solidFill>
                <a:latin typeface="Arial" pitchFamily="34" charset="0"/>
                <a:ea typeface="Arial" pitchFamily="34" charset="-122"/>
                <a:cs typeface="Arial" pitchFamily="34" charset="-120"/>
              </a:rPr>
              <a:t>The browser calls you</a:t>
            </a:r>
            <a:endParaRPr lang="en-US" sz="1350" dirty="0"/>
          </a:p>
        </p:txBody>
      </p:sp>
      <p:sp>
        <p:nvSpPr>
          <p:cNvPr id="21" name="Text 19"/>
          <p:cNvSpPr/>
          <p:nvPr/>
        </p:nvSpPr>
        <p:spPr>
          <a:xfrm>
            <a:off x="9107424" y="1874520"/>
            <a:ext cx="2267712" cy="914400"/>
          </a:xfrm>
          <a:prstGeom prst="rect">
            <a:avLst/>
          </a:prstGeom>
          <a:noFill/>
          <a:ln/>
        </p:spPr>
        <p:txBody>
          <a:bodyPr wrap="square" rtlCol="0" anchor="t"/>
          <a:lstStyle/>
          <a:p>
            <a:pPr algn="ctr" indent="0" marL="0">
              <a:buNone/>
            </a:pPr>
            <a:r>
              <a:rPr lang="en-US" sz="1150" dirty="0">
                <a:solidFill>
                  <a:srgbClr val="3D4A57"/>
                </a:solidFill>
                <a:latin typeface="Arial" pitchFamily="34" charset="0"/>
                <a:ea typeface="Arial" pitchFamily="34" charset="-122"/>
                <a:cs typeface="Arial" pitchFamily="34" charset="-120"/>
              </a:rPr>
              <a:t>It runs the function you left behind</a:t>
            </a:r>
            <a:endParaRPr lang="en-US" sz="1150" dirty="0"/>
          </a:p>
        </p:txBody>
      </p:sp>
      <p:sp>
        <p:nvSpPr>
          <p:cNvPr id="22" name="Shape 20"/>
          <p:cNvSpPr/>
          <p:nvPr/>
        </p:nvSpPr>
        <p:spPr>
          <a:xfrm>
            <a:off x="548640" y="3200400"/>
            <a:ext cx="5486400" cy="1600200"/>
          </a:xfrm>
          <a:prstGeom prst="rect">
            <a:avLst>
              <a:gd name="adj" fmla="val 3429"/>
            </a:avLst>
          </a:prstGeom>
          <a:solidFill>
            <a:srgbClr val="F2F5F8"/>
          </a:solidFill>
          <a:ln w="12700">
            <a:solidFill>
              <a:srgbClr val="D6DEE6"/>
            </a:solidFill>
            <a:prstDash val="solid"/>
          </a:ln>
        </p:spPr>
      </p:sp>
      <p:sp>
        <p:nvSpPr>
          <p:cNvPr id="23" name="Text 21"/>
          <p:cNvSpPr/>
          <p:nvPr/>
        </p:nvSpPr>
        <p:spPr>
          <a:xfrm>
            <a:off x="713232" y="33649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This is the big idea</a:t>
            </a:r>
            <a:endParaRPr lang="en-US" sz="1500" dirty="0"/>
          </a:p>
        </p:txBody>
      </p:sp>
      <p:sp>
        <p:nvSpPr>
          <p:cNvPr id="24" name="Text 22"/>
          <p:cNvSpPr/>
          <p:nvPr/>
        </p:nvSpPr>
        <p:spPr>
          <a:xfrm>
            <a:off x="713232" y="3712464"/>
            <a:ext cx="5157216" cy="9784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do not run your function</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hand it to the browser and walk away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browser runs it, later, if it needs to</a:t>
            </a:r>
            <a:endParaRPr lang="en-US" sz="1250" dirty="0"/>
          </a:p>
        </p:txBody>
      </p:sp>
      <p:sp>
        <p:nvSpPr>
          <p:cNvPr id="25" name="Shape 23"/>
          <p:cNvSpPr/>
          <p:nvPr/>
        </p:nvSpPr>
        <p:spPr>
          <a:xfrm>
            <a:off x="6355080" y="3200400"/>
            <a:ext cx="5285232" cy="1600200"/>
          </a:xfrm>
          <a:prstGeom prst="rect">
            <a:avLst>
              <a:gd name="adj" fmla="val 3429"/>
            </a:avLst>
          </a:prstGeom>
          <a:solidFill>
            <a:srgbClr val="E7F4EE"/>
          </a:solidFill>
          <a:ln w="12700">
            <a:solidFill>
              <a:srgbClr val="1F7A55"/>
            </a:solidFill>
            <a:prstDash val="solid"/>
          </a:ln>
        </p:spPr>
      </p:sp>
      <p:sp>
        <p:nvSpPr>
          <p:cNvPr id="26" name="Text 24"/>
          <p:cNvSpPr/>
          <p:nvPr/>
        </p:nvSpPr>
        <p:spPr>
          <a:xfrm>
            <a:off x="6519672" y="33649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It may run many times</a:t>
            </a:r>
            <a:endParaRPr lang="en-US" sz="1500" dirty="0"/>
          </a:p>
        </p:txBody>
      </p:sp>
      <p:sp>
        <p:nvSpPr>
          <p:cNvPr id="27" name="Text 25"/>
          <p:cNvSpPr/>
          <p:nvPr/>
        </p:nvSpPr>
        <p:spPr>
          <a:xfrm>
            <a:off x="6519672" y="3712464"/>
            <a:ext cx="4956048" cy="9784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Or never, if nobody clicks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Each run gets fresh information about what happened</a:t>
            </a:r>
            <a:endParaRPr lang="en-US" sz="1250" dirty="0"/>
          </a:p>
        </p:txBody>
      </p:sp>
      <p:sp>
        <p:nvSpPr>
          <p:cNvPr id="28" name="Shape 26"/>
          <p:cNvSpPr/>
          <p:nvPr/>
        </p:nvSpPr>
        <p:spPr>
          <a:xfrm>
            <a:off x="548640" y="4983480"/>
            <a:ext cx="11064240" cy="1143000"/>
          </a:xfrm>
          <a:prstGeom prst="rect">
            <a:avLst>
              <a:gd name="adj" fmla="val 4800"/>
            </a:avLst>
          </a:prstGeom>
          <a:solidFill>
            <a:srgbClr val="FDF3E1"/>
          </a:solidFill>
          <a:ln w="12700">
            <a:solidFill>
              <a:srgbClr val="E39A18"/>
            </a:solidFill>
            <a:prstDash val="solid"/>
          </a:ln>
        </p:spPr>
      </p:sp>
      <p:sp>
        <p:nvSpPr>
          <p:cNvPr id="29" name="Text 27"/>
          <p:cNvSpPr/>
          <p:nvPr/>
        </p:nvSpPr>
        <p:spPr>
          <a:xfrm>
            <a:off x="713232" y="514807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The name for this</a:t>
            </a:r>
            <a:endParaRPr lang="en-US" sz="1500" dirty="0"/>
          </a:p>
        </p:txBody>
      </p:sp>
      <p:sp>
        <p:nvSpPr>
          <p:cNvPr id="30" name="Text 28"/>
          <p:cNvSpPr/>
          <p:nvPr/>
        </p:nvSpPr>
        <p:spPr>
          <a:xfrm>
            <a:off x="713232" y="5495544"/>
            <a:ext cx="10735056" cy="52120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A function you give to someone else to call is a callback. You already wrote them: map, filter and find all take one.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addEventListener: three parts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3</a:t>
            </a:r>
            <a:endParaRPr lang="en-US" sz="950" dirty="0"/>
          </a:p>
        </p:txBody>
      </p:sp>
      <p:sp>
        <p:nvSpPr>
          <p:cNvPr id="7" name="Shape 5"/>
          <p:cNvSpPr/>
          <p:nvPr/>
        </p:nvSpPr>
        <p:spPr>
          <a:xfrm>
            <a:off x="548640" y="1234440"/>
            <a:ext cx="11064240" cy="1054608"/>
          </a:xfrm>
          <a:prstGeom prst="rect">
            <a:avLst>
              <a:gd name="adj" fmla="val 4335"/>
            </a:avLst>
          </a:prstGeom>
          <a:solidFill>
            <a:srgbClr val="0D1B2A"/>
          </a:solidFill>
          <a:ln w="12700">
            <a:solidFill>
              <a:srgbClr val="0D1B2A"/>
            </a:solidFill>
            <a:prstDash val="solid"/>
          </a:ln>
        </p:spPr>
      </p:sp>
      <p:sp>
        <p:nvSpPr>
          <p:cNvPr id="8" name="Text 6"/>
          <p:cNvSpPr/>
          <p:nvPr/>
        </p:nvSpPr>
        <p:spPr>
          <a:xfrm>
            <a:off x="685800" y="1344168"/>
            <a:ext cx="10789920" cy="835152"/>
          </a:xfrm>
          <a:prstGeom prst="rect">
            <a:avLst/>
          </a:prstGeom>
          <a:noFill/>
          <a:ln/>
        </p:spPr>
        <p:txBody>
          <a:bodyPr wrap="square" rtlCol="0" anchor="t"/>
          <a:lstStyle/>
          <a:p>
            <a:pPr indent="0" marL="0">
              <a:lnSpc>
                <a:spcPct val="105000"/>
              </a:lnSpc>
              <a:buNone/>
            </a:pPr>
            <a:r>
              <a:rPr lang="en-US" sz="12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200" dirty="0">
                <a:solidFill>
                  <a:srgbClr val="E8EEF7"/>
                </a:solidFill>
                <a:latin typeface="Courier New" pitchFamily="34" charset="0"/>
                <a:ea typeface="Courier New" pitchFamily="34" charset="-122"/>
                <a:cs typeface="Courier New" pitchFamily="34" charset="-120"/>
              </a:rPr>
              <a:t> button = document.querySelector(</a:t>
            </a:r>
            <a:pPr indent="0" marL="0">
              <a:lnSpc>
                <a:spcPct val="105000"/>
              </a:lnSpc>
              <a:buNone/>
            </a:pPr>
            <a:r>
              <a:rPr lang="en-US" sz="1200" dirty="0">
                <a:solidFill>
                  <a:srgbClr val="A8E6A3"/>
                </a:solidFill>
                <a:latin typeface="Courier New" pitchFamily="34" charset="0"/>
                <a:ea typeface="Courier New" pitchFamily="34" charset="-122"/>
                <a:cs typeface="Courier New" pitchFamily="34" charset="-120"/>
              </a:rPr>
              <a:t>"#add-btn"</a:t>
            </a:r>
            <a:pPr indent="0" marL="0">
              <a:lnSpc>
                <a:spcPct val="105000"/>
              </a:lnSpc>
              <a:buNone/>
            </a:pPr>
            <a:r>
              <a:rPr lang="en-US" sz="1200" dirty="0">
                <a:solidFill>
                  <a:srgbClr val="E8EEF7"/>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8EEF7"/>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8EEF7"/>
                </a:solidFill>
                <a:latin typeface="Courier New" pitchFamily="34" charset="0"/>
                <a:ea typeface="Courier New" pitchFamily="34" charset="-122"/>
                <a:cs typeface="Courier New" pitchFamily="34" charset="-120"/>
              </a:rPr>
              <a:t>button.addEventListener(</a:t>
            </a:r>
            <a:pPr indent="0" marL="0">
              <a:lnSpc>
                <a:spcPct val="105000"/>
              </a:lnSpc>
              <a:buNone/>
            </a:pPr>
            <a:r>
              <a:rPr lang="en-US" sz="120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200" dirty="0">
                <a:solidFill>
                  <a:srgbClr val="E8EEF7"/>
                </a:solidFill>
                <a:latin typeface="Courier New" pitchFamily="34" charset="0"/>
                <a:ea typeface="Courier New" pitchFamily="34" charset="-122"/>
                <a:cs typeface="Courier New" pitchFamily="34" charset="-120"/>
              </a:rPr>
              <a:t>, handleAdd);</a:t>
            </a:r>
            <a:endParaRPr lang="en-US" sz="1200" dirty="0"/>
          </a:p>
          <a:p>
            <a:pPr indent="0" marL="0">
              <a:lnSpc>
                <a:spcPct val="105000"/>
              </a:lnSpc>
              <a:buNone/>
            </a:pPr>
            <a:r>
              <a:rPr lang="en-US" sz="1200" dirty="0">
                <a:solidFill>
                  <a:srgbClr val="8296A8"/>
                </a:solidFill>
                <a:latin typeface="Courier New" pitchFamily="34" charset="0"/>
                <a:ea typeface="Courier New" pitchFamily="34" charset="-122"/>
                <a:cs typeface="Courier New" pitchFamily="34" charset="-120"/>
              </a:rPr>
              <a:t>//     ^target        ^type     ^the function to call</a:t>
            </a:r>
            <a:endParaRPr lang="en-US" sz="1200" dirty="0"/>
          </a:p>
        </p:txBody>
      </p:sp>
      <p:sp>
        <p:nvSpPr>
          <p:cNvPr id="9" name="Shape 7"/>
          <p:cNvSpPr/>
          <p:nvPr/>
        </p:nvSpPr>
        <p:spPr>
          <a:xfrm>
            <a:off x="548640" y="2514600"/>
            <a:ext cx="3474720" cy="1600200"/>
          </a:xfrm>
          <a:prstGeom prst="rect">
            <a:avLst>
              <a:gd name="adj" fmla="val 3429"/>
            </a:avLst>
          </a:prstGeom>
          <a:solidFill>
            <a:srgbClr val="F2F5F8"/>
          </a:solidFill>
          <a:ln w="12700">
            <a:solidFill>
              <a:srgbClr val="D6DEE6"/>
            </a:solidFill>
            <a:prstDash val="solid"/>
          </a:ln>
        </p:spPr>
      </p:sp>
      <p:sp>
        <p:nvSpPr>
          <p:cNvPr id="10" name="Shape 8"/>
          <p:cNvSpPr/>
          <p:nvPr/>
        </p:nvSpPr>
        <p:spPr>
          <a:xfrm>
            <a:off x="713232" y="2679192"/>
            <a:ext cx="777240" cy="256032"/>
          </a:xfrm>
          <a:prstGeom prst="rect">
            <a:avLst>
              <a:gd name="adj" fmla="val 17857"/>
            </a:avLst>
          </a:prstGeom>
          <a:solidFill>
            <a:srgbClr val="003366"/>
          </a:solidFill>
          <a:ln/>
        </p:spPr>
      </p:sp>
      <p:sp>
        <p:nvSpPr>
          <p:cNvPr id="11" name="Text 9"/>
          <p:cNvSpPr/>
          <p:nvPr/>
        </p:nvSpPr>
        <p:spPr>
          <a:xfrm>
            <a:off x="713232" y="2679192"/>
            <a:ext cx="77724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TARGET</a:t>
            </a:r>
            <a:endParaRPr lang="en-US" sz="950" dirty="0"/>
          </a:p>
        </p:txBody>
      </p:sp>
      <p:sp>
        <p:nvSpPr>
          <p:cNvPr id="12" name="Text 10"/>
          <p:cNvSpPr/>
          <p:nvPr/>
        </p:nvSpPr>
        <p:spPr>
          <a:xfrm>
            <a:off x="713232" y="3044952"/>
            <a:ext cx="3145536" cy="310896"/>
          </a:xfrm>
          <a:prstGeom prst="rect">
            <a:avLst/>
          </a:prstGeom>
          <a:noFill/>
          <a:ln/>
        </p:spPr>
        <p:txBody>
          <a:bodyPr wrap="square" rtlCol="0" anchor="t"/>
          <a:lstStyle/>
          <a:p>
            <a:pPr indent="0" marL="0">
              <a:buNone/>
            </a:pPr>
            <a:r>
              <a:rPr lang="en-US" sz="1400" b="1" dirty="0">
                <a:solidFill>
                  <a:srgbClr val="003366"/>
                </a:solidFill>
                <a:latin typeface="Arial" pitchFamily="34" charset="0"/>
                <a:ea typeface="Arial" pitchFamily="34" charset="-122"/>
                <a:cs typeface="Arial" pitchFamily="34" charset="-120"/>
              </a:rPr>
              <a:t>button</a:t>
            </a:r>
            <a:endParaRPr lang="en-US" sz="1400" dirty="0"/>
          </a:p>
        </p:txBody>
      </p:sp>
      <p:sp>
        <p:nvSpPr>
          <p:cNvPr id="13" name="Text 11"/>
          <p:cNvSpPr/>
          <p:nvPr/>
        </p:nvSpPr>
        <p:spPr>
          <a:xfrm>
            <a:off x="713232" y="3392424"/>
            <a:ext cx="3145536" cy="612648"/>
          </a:xfrm>
          <a:prstGeom prst="rect">
            <a:avLst/>
          </a:prstGeom>
          <a:noFill/>
          <a:ln/>
        </p:spPr>
        <p:txBody>
          <a:bodyPr wrap="square" rtlCol="0" anchor="t"/>
          <a:lstStyle/>
          <a:p>
            <a:pPr indent="0" marL="0">
              <a:lnSpc>
                <a:spcPct val="110000"/>
              </a:lnSpc>
              <a:spcAft>
                <a:spcPts val="432"/>
              </a:spcAft>
              <a:buNone/>
            </a:pPr>
            <a:r>
              <a:rPr lang="en-US" sz="1150" dirty="0">
                <a:solidFill>
                  <a:srgbClr val="3D4A57"/>
                </a:solidFill>
                <a:latin typeface="Arial" pitchFamily="34" charset="0"/>
                <a:ea typeface="Arial" pitchFamily="34" charset="-122"/>
                <a:cs typeface="Arial" pitchFamily="34" charset="-120"/>
              </a:rPr>
              <a:t>Which element is being watched</a:t>
            </a:r>
            <a:endParaRPr lang="en-US" sz="1150" dirty="0"/>
          </a:p>
        </p:txBody>
      </p:sp>
      <p:sp>
        <p:nvSpPr>
          <p:cNvPr id="14" name="Shape 12"/>
          <p:cNvSpPr/>
          <p:nvPr/>
        </p:nvSpPr>
        <p:spPr>
          <a:xfrm>
            <a:off x="4270248" y="2514600"/>
            <a:ext cx="3474720" cy="1600200"/>
          </a:xfrm>
          <a:prstGeom prst="rect">
            <a:avLst>
              <a:gd name="adj" fmla="val 3429"/>
            </a:avLst>
          </a:prstGeom>
          <a:solidFill>
            <a:srgbClr val="F2F5F8"/>
          </a:solidFill>
          <a:ln w="12700">
            <a:solidFill>
              <a:srgbClr val="D6DEE6"/>
            </a:solidFill>
            <a:prstDash val="solid"/>
          </a:ln>
        </p:spPr>
      </p:sp>
      <p:sp>
        <p:nvSpPr>
          <p:cNvPr id="15" name="Shape 13"/>
          <p:cNvSpPr/>
          <p:nvPr/>
        </p:nvSpPr>
        <p:spPr>
          <a:xfrm>
            <a:off x="4434840" y="2679192"/>
            <a:ext cx="621792" cy="256032"/>
          </a:xfrm>
          <a:prstGeom prst="rect">
            <a:avLst>
              <a:gd name="adj" fmla="val 17857"/>
            </a:avLst>
          </a:prstGeom>
          <a:solidFill>
            <a:srgbClr val="003366"/>
          </a:solidFill>
          <a:ln/>
        </p:spPr>
      </p:sp>
      <p:sp>
        <p:nvSpPr>
          <p:cNvPr id="16" name="Text 14"/>
          <p:cNvSpPr/>
          <p:nvPr/>
        </p:nvSpPr>
        <p:spPr>
          <a:xfrm>
            <a:off x="4434840" y="2679192"/>
            <a:ext cx="621792"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TYPE</a:t>
            </a:r>
            <a:endParaRPr lang="en-US" sz="950" dirty="0"/>
          </a:p>
        </p:txBody>
      </p:sp>
      <p:sp>
        <p:nvSpPr>
          <p:cNvPr id="17" name="Text 15"/>
          <p:cNvSpPr/>
          <p:nvPr/>
        </p:nvSpPr>
        <p:spPr>
          <a:xfrm>
            <a:off x="4434840" y="3044952"/>
            <a:ext cx="3145536" cy="310896"/>
          </a:xfrm>
          <a:prstGeom prst="rect">
            <a:avLst/>
          </a:prstGeom>
          <a:noFill/>
          <a:ln/>
        </p:spPr>
        <p:txBody>
          <a:bodyPr wrap="square" rtlCol="0" anchor="t"/>
          <a:lstStyle/>
          <a:p>
            <a:pPr indent="0" marL="0">
              <a:buNone/>
            </a:pPr>
            <a:r>
              <a:rPr lang="en-US" sz="1400" b="1" dirty="0">
                <a:solidFill>
                  <a:srgbClr val="003366"/>
                </a:solidFill>
                <a:latin typeface="Arial" pitchFamily="34" charset="0"/>
                <a:ea typeface="Arial" pitchFamily="34" charset="-122"/>
                <a:cs typeface="Arial" pitchFamily="34" charset="-120"/>
              </a:rPr>
              <a:t>"click"</a:t>
            </a:r>
            <a:endParaRPr lang="en-US" sz="1400" dirty="0"/>
          </a:p>
        </p:txBody>
      </p:sp>
      <p:sp>
        <p:nvSpPr>
          <p:cNvPr id="18" name="Text 16"/>
          <p:cNvSpPr/>
          <p:nvPr/>
        </p:nvSpPr>
        <p:spPr>
          <a:xfrm>
            <a:off x="4434840" y="3392424"/>
            <a:ext cx="3145536" cy="612648"/>
          </a:xfrm>
          <a:prstGeom prst="rect">
            <a:avLst/>
          </a:prstGeom>
          <a:noFill/>
          <a:ln/>
        </p:spPr>
        <p:txBody>
          <a:bodyPr wrap="square" rtlCol="0" anchor="t"/>
          <a:lstStyle/>
          <a:p>
            <a:pPr indent="0" marL="0">
              <a:lnSpc>
                <a:spcPct val="110000"/>
              </a:lnSpc>
              <a:spcAft>
                <a:spcPts val="432"/>
              </a:spcAft>
              <a:buNone/>
            </a:pPr>
            <a:r>
              <a:rPr lang="en-US" sz="1150" dirty="0">
                <a:solidFill>
                  <a:srgbClr val="3D4A57"/>
                </a:solidFill>
                <a:latin typeface="Arial" pitchFamily="34" charset="0"/>
                <a:ea typeface="Arial" pitchFamily="34" charset="-122"/>
                <a:cs typeface="Arial" pitchFamily="34" charset="-120"/>
              </a:rPr>
              <a:t>What to watch for, as a string</a:t>
            </a:r>
            <a:endParaRPr lang="en-US" sz="1150" dirty="0"/>
          </a:p>
        </p:txBody>
      </p:sp>
      <p:sp>
        <p:nvSpPr>
          <p:cNvPr id="19" name="Shape 17"/>
          <p:cNvSpPr/>
          <p:nvPr/>
        </p:nvSpPr>
        <p:spPr>
          <a:xfrm>
            <a:off x="7991856" y="2514600"/>
            <a:ext cx="3474720" cy="1600200"/>
          </a:xfrm>
          <a:prstGeom prst="rect">
            <a:avLst>
              <a:gd name="adj" fmla="val 3429"/>
            </a:avLst>
          </a:prstGeom>
          <a:solidFill>
            <a:srgbClr val="E7F4EE"/>
          </a:solidFill>
          <a:ln w="12700">
            <a:solidFill>
              <a:srgbClr val="1F7A55"/>
            </a:solidFill>
            <a:prstDash val="solid"/>
          </a:ln>
        </p:spPr>
      </p:sp>
      <p:sp>
        <p:nvSpPr>
          <p:cNvPr id="20" name="Shape 18"/>
          <p:cNvSpPr/>
          <p:nvPr/>
        </p:nvSpPr>
        <p:spPr>
          <a:xfrm>
            <a:off x="8156448" y="2679192"/>
            <a:ext cx="854964" cy="256032"/>
          </a:xfrm>
          <a:prstGeom prst="rect">
            <a:avLst>
              <a:gd name="adj" fmla="val 17857"/>
            </a:avLst>
          </a:prstGeom>
          <a:solidFill>
            <a:srgbClr val="1F7A55"/>
          </a:solidFill>
          <a:ln/>
        </p:spPr>
      </p:sp>
      <p:sp>
        <p:nvSpPr>
          <p:cNvPr id="21" name="Text 19"/>
          <p:cNvSpPr/>
          <p:nvPr/>
        </p:nvSpPr>
        <p:spPr>
          <a:xfrm>
            <a:off x="8156448" y="2679192"/>
            <a:ext cx="854964"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HANDLER</a:t>
            </a:r>
            <a:endParaRPr lang="en-US" sz="950" dirty="0"/>
          </a:p>
        </p:txBody>
      </p:sp>
      <p:sp>
        <p:nvSpPr>
          <p:cNvPr id="22" name="Text 20"/>
          <p:cNvSpPr/>
          <p:nvPr/>
        </p:nvSpPr>
        <p:spPr>
          <a:xfrm>
            <a:off x="8156448" y="3044952"/>
            <a:ext cx="3145536" cy="310896"/>
          </a:xfrm>
          <a:prstGeom prst="rect">
            <a:avLst/>
          </a:prstGeom>
          <a:noFill/>
          <a:ln/>
        </p:spPr>
        <p:txBody>
          <a:bodyPr wrap="square" rtlCol="0" anchor="t"/>
          <a:lstStyle/>
          <a:p>
            <a:pPr indent="0" marL="0">
              <a:buNone/>
            </a:pPr>
            <a:r>
              <a:rPr lang="en-US" sz="1400" b="1" dirty="0">
                <a:solidFill>
                  <a:srgbClr val="1F7A55"/>
                </a:solidFill>
                <a:latin typeface="Arial" pitchFamily="34" charset="0"/>
                <a:ea typeface="Arial" pitchFamily="34" charset="-122"/>
                <a:cs typeface="Arial" pitchFamily="34" charset="-120"/>
              </a:rPr>
              <a:t>handleAdd</a:t>
            </a:r>
            <a:endParaRPr lang="en-US" sz="1400" dirty="0"/>
          </a:p>
        </p:txBody>
      </p:sp>
      <p:sp>
        <p:nvSpPr>
          <p:cNvPr id="23" name="Text 21"/>
          <p:cNvSpPr/>
          <p:nvPr/>
        </p:nvSpPr>
        <p:spPr>
          <a:xfrm>
            <a:off x="8156448" y="3392424"/>
            <a:ext cx="3145536" cy="612648"/>
          </a:xfrm>
          <a:prstGeom prst="rect">
            <a:avLst/>
          </a:prstGeom>
          <a:noFill/>
          <a:ln/>
        </p:spPr>
        <p:txBody>
          <a:bodyPr wrap="square" rtlCol="0" anchor="t"/>
          <a:lstStyle/>
          <a:p>
            <a:pPr indent="0" marL="0">
              <a:lnSpc>
                <a:spcPct val="110000"/>
              </a:lnSpc>
              <a:spcAft>
                <a:spcPts val="432"/>
              </a:spcAft>
              <a:buNone/>
            </a:pPr>
            <a:r>
              <a:rPr lang="en-US" sz="1150" dirty="0">
                <a:solidFill>
                  <a:srgbClr val="3D4A57"/>
                </a:solidFill>
                <a:latin typeface="Arial" pitchFamily="34" charset="0"/>
                <a:ea typeface="Arial" pitchFamily="34" charset="-122"/>
                <a:cs typeface="Arial" pitchFamily="34" charset="-120"/>
              </a:rPr>
              <a:t>The function the browser will call</a:t>
            </a:r>
            <a:endParaRPr lang="en-US" sz="1150" dirty="0"/>
          </a:p>
        </p:txBody>
      </p:sp>
      <p:sp>
        <p:nvSpPr>
          <p:cNvPr id="24" name="Shape 22"/>
          <p:cNvSpPr/>
          <p:nvPr/>
        </p:nvSpPr>
        <p:spPr>
          <a:xfrm>
            <a:off x="548640" y="4343400"/>
            <a:ext cx="11064240" cy="1022096"/>
          </a:xfrm>
          <a:prstGeom prst="rect">
            <a:avLst>
              <a:gd name="adj" fmla="val 4473"/>
            </a:avLst>
          </a:prstGeom>
          <a:solidFill>
            <a:srgbClr val="0D1B2A"/>
          </a:solidFill>
          <a:ln w="12700">
            <a:solidFill>
              <a:srgbClr val="0D1B2A"/>
            </a:solidFill>
            <a:prstDash val="solid"/>
          </a:ln>
        </p:spPr>
      </p:sp>
      <p:sp>
        <p:nvSpPr>
          <p:cNvPr id="25" name="Text 23"/>
          <p:cNvSpPr/>
          <p:nvPr/>
        </p:nvSpPr>
        <p:spPr>
          <a:xfrm>
            <a:off x="685800" y="4453128"/>
            <a:ext cx="10789920" cy="802640"/>
          </a:xfrm>
          <a:prstGeom prst="rect">
            <a:avLst/>
          </a:prstGeom>
          <a:noFill/>
          <a:ln/>
        </p:spPr>
        <p:txBody>
          <a:bodyPr wrap="square" rtlCol="0" anchor="t"/>
          <a:lstStyle/>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Three ways to write the handler. All identical in effect.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button.addEventListener(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handleAdd);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named, defined elsewhere</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button.addEventListener(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function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 { ... });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inline</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button.addEventListener(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 =&gt; { ... });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arrow, the usual choice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parentheses trap</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4</a:t>
            </a:r>
            <a:endParaRPr lang="en-US" sz="950" dirty="0"/>
          </a:p>
        </p:txBody>
      </p:sp>
      <p:sp>
        <p:nvSpPr>
          <p:cNvPr id="7" name="Shape 5"/>
          <p:cNvSpPr/>
          <p:nvPr/>
        </p:nvSpPr>
        <p:spPr>
          <a:xfrm>
            <a:off x="548640" y="1234440"/>
            <a:ext cx="5486400" cy="1209040"/>
          </a:xfrm>
          <a:prstGeom prst="rect">
            <a:avLst>
              <a:gd name="adj" fmla="val 3782"/>
            </a:avLst>
          </a:prstGeom>
          <a:solidFill>
            <a:srgbClr val="0D1B2A"/>
          </a:solidFill>
          <a:ln w="12700">
            <a:solidFill>
              <a:srgbClr val="0D1B2A"/>
            </a:solidFill>
            <a:prstDash val="solid"/>
          </a:ln>
        </p:spPr>
      </p:sp>
      <p:sp>
        <p:nvSpPr>
          <p:cNvPr id="8" name="Text 6"/>
          <p:cNvSpPr/>
          <p:nvPr/>
        </p:nvSpPr>
        <p:spPr>
          <a:xfrm>
            <a:off x="685800" y="1344168"/>
            <a:ext cx="5212080" cy="989584"/>
          </a:xfrm>
          <a:prstGeom prst="rect">
            <a:avLst/>
          </a:prstGeom>
          <a:noFill/>
          <a:ln/>
        </p:spPr>
        <p:txBody>
          <a:bodyPr wrap="square" rtlCol="0" anchor="t"/>
          <a:lstStyle/>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WRONG</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button.addEventListener(</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handleAdd()</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9" name="Shape 7"/>
          <p:cNvSpPr/>
          <p:nvPr/>
        </p:nvSpPr>
        <p:spPr>
          <a:xfrm>
            <a:off x="6355080" y="1234440"/>
            <a:ext cx="5285232" cy="1209040"/>
          </a:xfrm>
          <a:prstGeom prst="rect">
            <a:avLst>
              <a:gd name="adj" fmla="val 3782"/>
            </a:avLst>
          </a:prstGeom>
          <a:solidFill>
            <a:srgbClr val="0D1B2A"/>
          </a:solidFill>
          <a:ln w="12700">
            <a:solidFill>
              <a:srgbClr val="0D1B2A"/>
            </a:solidFill>
            <a:prstDash val="solid"/>
          </a:ln>
        </p:spPr>
      </p:sp>
      <p:sp>
        <p:nvSpPr>
          <p:cNvPr id="10" name="Text 8"/>
          <p:cNvSpPr/>
          <p:nvPr/>
        </p:nvSpPr>
        <p:spPr>
          <a:xfrm>
            <a:off x="6492240" y="1344168"/>
            <a:ext cx="5010912" cy="989584"/>
          </a:xfrm>
          <a:prstGeom prst="rect">
            <a:avLst/>
          </a:prstGeom>
          <a:noFill/>
          <a:ln/>
        </p:spPr>
        <p:txBody>
          <a:bodyPr wrap="square" rtlCol="0" anchor="t"/>
          <a:lstStyle/>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RIGHT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button.addEventListener(</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handleAdd</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11" name="Shape 9"/>
          <p:cNvSpPr/>
          <p:nvPr/>
        </p:nvSpPr>
        <p:spPr>
          <a:xfrm>
            <a:off x="548640" y="2743200"/>
            <a:ext cx="5486400" cy="2011680"/>
          </a:xfrm>
          <a:prstGeom prst="rect">
            <a:avLst>
              <a:gd name="adj" fmla="val 2727"/>
            </a:avLst>
          </a:prstGeom>
          <a:solidFill>
            <a:srgbClr val="FBEAE8"/>
          </a:solidFill>
          <a:ln w="12700">
            <a:solidFill>
              <a:srgbClr val="B3261E"/>
            </a:solidFill>
            <a:prstDash val="solid"/>
          </a:ln>
        </p:spPr>
      </p:sp>
      <p:sp>
        <p:nvSpPr>
          <p:cNvPr id="12" name="Text 10"/>
          <p:cNvSpPr/>
          <p:nvPr/>
        </p:nvSpPr>
        <p:spPr>
          <a:xfrm>
            <a:off x="713232" y="2907792"/>
            <a:ext cx="515721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What the wrong one does</a:t>
            </a:r>
            <a:endParaRPr lang="en-US" sz="1500" dirty="0"/>
          </a:p>
        </p:txBody>
      </p:sp>
      <p:sp>
        <p:nvSpPr>
          <p:cNvPr id="13" name="Text 11"/>
          <p:cNvSpPr/>
          <p:nvPr/>
        </p:nvSpPr>
        <p:spPr>
          <a:xfrm>
            <a:off x="713232" y="3255264"/>
            <a:ext cx="5157216" cy="138988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Runs handleAdd immediately, as the page loads</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Hands the browser whatever it returned, usually undefined</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Clicking then does nothing, forever</a:t>
            </a:r>
            <a:endParaRPr lang="en-US" sz="1250" dirty="0"/>
          </a:p>
        </p:txBody>
      </p:sp>
      <p:sp>
        <p:nvSpPr>
          <p:cNvPr id="14" name="Shape 12"/>
          <p:cNvSpPr/>
          <p:nvPr/>
        </p:nvSpPr>
        <p:spPr>
          <a:xfrm>
            <a:off x="6355080" y="2743200"/>
            <a:ext cx="5285232" cy="2011680"/>
          </a:xfrm>
          <a:prstGeom prst="rect">
            <a:avLst>
              <a:gd name="adj" fmla="val 2727"/>
            </a:avLst>
          </a:prstGeom>
          <a:solidFill>
            <a:srgbClr val="E7F4EE"/>
          </a:solidFill>
          <a:ln w="12700">
            <a:solidFill>
              <a:srgbClr val="1F7A55"/>
            </a:solidFill>
            <a:prstDash val="solid"/>
          </a:ln>
        </p:spPr>
      </p:sp>
      <p:sp>
        <p:nvSpPr>
          <p:cNvPr id="15" name="Text 13"/>
          <p:cNvSpPr/>
          <p:nvPr/>
        </p:nvSpPr>
        <p:spPr>
          <a:xfrm>
            <a:off x="6519672" y="2907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The rule</a:t>
            </a:r>
            <a:endParaRPr lang="en-US" sz="1500" dirty="0"/>
          </a:p>
        </p:txBody>
      </p:sp>
      <p:sp>
        <p:nvSpPr>
          <p:cNvPr id="16" name="Text 14"/>
          <p:cNvSpPr/>
          <p:nvPr/>
        </p:nvSpPr>
        <p:spPr>
          <a:xfrm>
            <a:off x="6519672" y="3255264"/>
            <a:ext cx="4956048" cy="13898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 means run it now</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No () means here is the function, you run it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are passing a recipe, not a cooked meal</a:t>
            </a:r>
            <a:endParaRPr lang="en-US" sz="1250" dirty="0"/>
          </a:p>
        </p:txBody>
      </p:sp>
      <p:sp>
        <p:nvSpPr>
          <p:cNvPr id="17" name="Shape 15"/>
          <p:cNvSpPr/>
          <p:nvPr/>
        </p:nvSpPr>
        <p:spPr>
          <a:xfrm>
            <a:off x="548640" y="4937760"/>
            <a:ext cx="11064240" cy="1188720"/>
          </a:xfrm>
          <a:prstGeom prst="rect">
            <a:avLst>
              <a:gd name="adj" fmla="val 4615"/>
            </a:avLst>
          </a:prstGeom>
          <a:solidFill>
            <a:srgbClr val="FDF3E1"/>
          </a:solidFill>
          <a:ln w="12700">
            <a:solidFill>
              <a:srgbClr val="E39A18"/>
            </a:solidFill>
            <a:prstDash val="solid"/>
          </a:ln>
        </p:spPr>
      </p:sp>
      <p:sp>
        <p:nvSpPr>
          <p:cNvPr id="18" name="Text 16"/>
          <p:cNvSpPr/>
          <p:nvPr/>
        </p:nvSpPr>
        <p:spPr>
          <a:xfrm>
            <a:off x="713232" y="510235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How you will recognise it</a:t>
            </a:r>
            <a:endParaRPr lang="en-US" sz="1500" dirty="0"/>
          </a:p>
        </p:txBody>
      </p:sp>
      <p:sp>
        <p:nvSpPr>
          <p:cNvPr id="19" name="Text 17"/>
          <p:cNvSpPr/>
          <p:nvPr/>
        </p:nvSpPr>
        <p:spPr>
          <a:xfrm>
            <a:off x="713232" y="5449824"/>
            <a:ext cx="10735056" cy="56692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Something happens once when the page loads, and then clicking is dead. That is always this bug.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event object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5</a:t>
            </a:r>
            <a:endParaRPr lang="en-US" sz="950" dirty="0"/>
          </a:p>
        </p:txBody>
      </p:sp>
      <p:sp>
        <p:nvSpPr>
          <p:cNvPr id="7" name="Shape 5"/>
          <p:cNvSpPr/>
          <p:nvPr/>
        </p:nvSpPr>
        <p:spPr>
          <a:xfrm>
            <a:off x="548640" y="1234440"/>
            <a:ext cx="6766560" cy="1395984"/>
          </a:xfrm>
          <a:prstGeom prst="rect">
            <a:avLst>
              <a:gd name="adj" fmla="val 3275"/>
            </a:avLst>
          </a:prstGeom>
          <a:solidFill>
            <a:srgbClr val="0D1B2A"/>
          </a:solidFill>
          <a:ln w="12700">
            <a:solidFill>
              <a:srgbClr val="0D1B2A"/>
            </a:solidFill>
            <a:prstDash val="solid"/>
          </a:ln>
        </p:spPr>
      </p:sp>
      <p:sp>
        <p:nvSpPr>
          <p:cNvPr id="8" name="Text 6"/>
          <p:cNvSpPr/>
          <p:nvPr/>
        </p:nvSpPr>
        <p:spPr>
          <a:xfrm>
            <a:off x="685800" y="1344168"/>
            <a:ext cx="6492240" cy="1176528"/>
          </a:xfrm>
          <a:prstGeom prst="rect">
            <a:avLst/>
          </a:prstGeom>
          <a:noFill/>
          <a:ln/>
        </p:spPr>
        <p:txBody>
          <a:bodyPr wrap="square" rtlCol="0" anchor="t"/>
          <a:lstStyle/>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button.addEventListener(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 =&gt;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console.log(e.type);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"click"</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console.log(e.target);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what was actually clicked</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console.log(e.currentTarget);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what the listener is on</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e.preventDefault();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stop the browser's default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9" name="Shape 7"/>
          <p:cNvSpPr/>
          <p:nvPr/>
        </p:nvSpPr>
        <p:spPr>
          <a:xfrm>
            <a:off x="7635240" y="1234440"/>
            <a:ext cx="4553712" cy="1371600"/>
          </a:xfrm>
          <a:prstGeom prst="rect">
            <a:avLst>
              <a:gd name="adj" fmla="val 4000"/>
            </a:avLst>
          </a:prstGeom>
          <a:solidFill>
            <a:srgbClr val="F2F5F8"/>
          </a:solidFill>
          <a:ln w="12700">
            <a:solidFill>
              <a:srgbClr val="D6DEE6"/>
            </a:solidFill>
            <a:prstDash val="solid"/>
          </a:ln>
        </p:spPr>
      </p:sp>
      <p:sp>
        <p:nvSpPr>
          <p:cNvPr id="10" name="Text 8"/>
          <p:cNvSpPr/>
          <p:nvPr/>
        </p:nvSpPr>
        <p:spPr>
          <a:xfrm>
            <a:off x="7799832" y="1399032"/>
            <a:ext cx="422452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The browser passes it in</a:t>
            </a:r>
            <a:endParaRPr lang="en-US" sz="1500" dirty="0"/>
          </a:p>
        </p:txBody>
      </p:sp>
      <p:sp>
        <p:nvSpPr>
          <p:cNvPr id="11" name="Text 9"/>
          <p:cNvSpPr/>
          <p:nvPr/>
        </p:nvSpPr>
        <p:spPr>
          <a:xfrm>
            <a:off x="7799832" y="1746504"/>
            <a:ext cx="4224528" cy="74980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You never create it. Just accept it as the parameter.</a:t>
            </a:r>
            <a:endParaRPr lang="en-US" sz="1200" dirty="0"/>
          </a:p>
        </p:txBody>
      </p:sp>
      <p:sp>
        <p:nvSpPr>
          <p:cNvPr id="12" name="Shape 10"/>
          <p:cNvSpPr/>
          <p:nvPr/>
        </p:nvSpPr>
        <p:spPr>
          <a:xfrm>
            <a:off x="7635240" y="2743200"/>
            <a:ext cx="4553712" cy="1325880"/>
          </a:xfrm>
          <a:prstGeom prst="rect">
            <a:avLst>
              <a:gd name="adj" fmla="val 4138"/>
            </a:avLst>
          </a:prstGeom>
          <a:solidFill>
            <a:srgbClr val="F2F5F8"/>
          </a:solidFill>
          <a:ln w="12700">
            <a:solidFill>
              <a:srgbClr val="D6DEE6"/>
            </a:solidFill>
            <a:prstDash val="solid"/>
          </a:ln>
        </p:spPr>
      </p:sp>
      <p:sp>
        <p:nvSpPr>
          <p:cNvPr id="13" name="Text 11"/>
          <p:cNvSpPr/>
          <p:nvPr/>
        </p:nvSpPr>
        <p:spPr>
          <a:xfrm>
            <a:off x="7799832" y="2907792"/>
            <a:ext cx="422452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Call it e</a:t>
            </a:r>
            <a:endParaRPr lang="en-US" sz="1500" dirty="0"/>
          </a:p>
        </p:txBody>
      </p:sp>
      <p:sp>
        <p:nvSpPr>
          <p:cNvPr id="14" name="Text 12"/>
          <p:cNvSpPr/>
          <p:nvPr/>
        </p:nvSpPr>
        <p:spPr>
          <a:xfrm>
            <a:off x="7799832" y="3255264"/>
            <a:ext cx="4224528" cy="70408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e, evt or event. Any name works. e is the convention.</a:t>
            </a:r>
            <a:endParaRPr lang="en-US" sz="1200" dirty="0"/>
          </a:p>
        </p:txBody>
      </p:sp>
      <p:sp>
        <p:nvSpPr>
          <p:cNvPr id="15" name="Shape 13"/>
          <p:cNvSpPr/>
          <p:nvPr/>
        </p:nvSpPr>
        <p:spPr>
          <a:xfrm>
            <a:off x="548640" y="3063240"/>
            <a:ext cx="6766560" cy="1691640"/>
          </a:xfrm>
          <a:prstGeom prst="rect">
            <a:avLst>
              <a:gd name="adj" fmla="val 3243"/>
            </a:avLst>
          </a:prstGeom>
          <a:solidFill>
            <a:srgbClr val="FDF3E1"/>
          </a:solidFill>
          <a:ln w="12700">
            <a:solidFill>
              <a:srgbClr val="E39A18"/>
            </a:solidFill>
            <a:prstDash val="solid"/>
          </a:ln>
        </p:spPr>
      </p:sp>
      <p:sp>
        <p:nvSpPr>
          <p:cNvPr id="16" name="Text 14"/>
          <p:cNvSpPr/>
          <p:nvPr/>
        </p:nvSpPr>
        <p:spPr>
          <a:xfrm>
            <a:off x="713232" y="3227832"/>
            <a:ext cx="643737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target and currentTarget differ</a:t>
            </a:r>
            <a:endParaRPr lang="en-US" sz="1500" dirty="0"/>
          </a:p>
        </p:txBody>
      </p:sp>
      <p:sp>
        <p:nvSpPr>
          <p:cNvPr id="17" name="Text 15"/>
          <p:cNvSpPr/>
          <p:nvPr/>
        </p:nvSpPr>
        <p:spPr>
          <a:xfrm>
            <a:off x="713232" y="3575304"/>
            <a:ext cx="6437376" cy="10698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Listener on a card, person clicks the title inside it</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e.target is the title. e.currentTarget is the card</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You almost always want currentTarget</a:t>
            </a:r>
            <a:endParaRPr lang="en-US" sz="1250" dirty="0"/>
          </a:p>
        </p:txBody>
      </p:sp>
      <p:sp>
        <p:nvSpPr>
          <p:cNvPr id="18" name="Shape 16"/>
          <p:cNvSpPr/>
          <p:nvPr/>
        </p:nvSpPr>
        <p:spPr>
          <a:xfrm>
            <a:off x="548640" y="4937760"/>
            <a:ext cx="11064240" cy="1188720"/>
          </a:xfrm>
          <a:prstGeom prst="rect">
            <a:avLst>
              <a:gd name="adj" fmla="val 4615"/>
            </a:avLst>
          </a:prstGeom>
          <a:solidFill>
            <a:srgbClr val="FBEAE8"/>
          </a:solidFill>
          <a:ln w="12700">
            <a:solidFill>
              <a:srgbClr val="B3261E"/>
            </a:solidFill>
            <a:prstDash val="solid"/>
          </a:ln>
        </p:spPr>
      </p:sp>
      <p:sp>
        <p:nvSpPr>
          <p:cNvPr id="19" name="Text 17"/>
          <p:cNvSpPr/>
          <p:nvPr/>
        </p:nvSpPr>
        <p:spPr>
          <a:xfrm>
            <a:off x="713232" y="5102352"/>
            <a:ext cx="1073505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The symptom when you get this wrong</a:t>
            </a:r>
            <a:endParaRPr lang="en-US" sz="1500" dirty="0"/>
          </a:p>
        </p:txBody>
      </p:sp>
      <p:sp>
        <p:nvSpPr>
          <p:cNvPr id="20" name="Text 18"/>
          <p:cNvSpPr/>
          <p:nvPr/>
        </p:nvSpPr>
        <p:spPr>
          <a:xfrm>
            <a:off x="713232" y="5449824"/>
            <a:ext cx="10735056" cy="56692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It works when you click the edge of a card and does nothing when you click the words. Same click, different target.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events you will actually use</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6</a:t>
            </a:r>
            <a:endParaRPr lang="en-US" sz="950" dirty="0"/>
          </a:p>
        </p:txBody>
      </p:sp>
      <p:sp>
        <p:nvSpPr>
          <p:cNvPr id="7" name="Shape 5"/>
          <p:cNvSpPr/>
          <p:nvPr/>
        </p:nvSpPr>
        <p:spPr>
          <a:xfrm>
            <a:off x="548640" y="1280160"/>
            <a:ext cx="11064240" cy="402336"/>
          </a:xfrm>
          <a:prstGeom prst="rect">
            <a:avLst>
              <a:gd name="adj" fmla="val 9091"/>
            </a:avLst>
          </a:prstGeom>
          <a:solidFill>
            <a:srgbClr val="003366"/>
          </a:solidFill>
          <a:ln/>
        </p:spPr>
      </p:sp>
      <p:sp>
        <p:nvSpPr>
          <p:cNvPr id="8" name="Text 6"/>
          <p:cNvSpPr/>
          <p:nvPr/>
        </p:nvSpPr>
        <p:spPr>
          <a:xfrm>
            <a:off x="731520" y="1280160"/>
            <a:ext cx="3657600" cy="402336"/>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Type</a:t>
            </a:r>
            <a:endParaRPr lang="en-US" sz="1200" dirty="0"/>
          </a:p>
        </p:txBody>
      </p:sp>
      <p:sp>
        <p:nvSpPr>
          <p:cNvPr id="9" name="Text 7"/>
          <p:cNvSpPr/>
          <p:nvPr/>
        </p:nvSpPr>
        <p:spPr>
          <a:xfrm>
            <a:off x="3108960" y="1280160"/>
            <a:ext cx="3657600" cy="402336"/>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Usually on</a:t>
            </a:r>
            <a:endParaRPr lang="en-US" sz="1200" dirty="0"/>
          </a:p>
        </p:txBody>
      </p:sp>
      <p:sp>
        <p:nvSpPr>
          <p:cNvPr id="10" name="Text 8"/>
          <p:cNvSpPr/>
          <p:nvPr/>
        </p:nvSpPr>
        <p:spPr>
          <a:xfrm>
            <a:off x="6217920" y="1280160"/>
            <a:ext cx="3657600" cy="402336"/>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Fires when</a:t>
            </a:r>
            <a:endParaRPr lang="en-US" sz="1200" dirty="0"/>
          </a:p>
        </p:txBody>
      </p:sp>
      <p:sp>
        <p:nvSpPr>
          <p:cNvPr id="11" name="Shape 9"/>
          <p:cNvSpPr/>
          <p:nvPr/>
        </p:nvSpPr>
        <p:spPr>
          <a:xfrm>
            <a:off x="548640" y="1728216"/>
            <a:ext cx="11064240" cy="566928"/>
          </a:xfrm>
          <a:prstGeom prst="rect">
            <a:avLst/>
          </a:prstGeom>
          <a:solidFill>
            <a:srgbClr val="E7F4EE"/>
          </a:solidFill>
          <a:ln w="9525">
            <a:solidFill>
              <a:srgbClr val="D6DEE6"/>
            </a:solidFill>
            <a:prstDash val="solid"/>
          </a:ln>
        </p:spPr>
      </p:sp>
      <p:sp>
        <p:nvSpPr>
          <p:cNvPr id="12" name="Text 10"/>
          <p:cNvSpPr/>
          <p:nvPr/>
        </p:nvSpPr>
        <p:spPr>
          <a:xfrm>
            <a:off x="731520" y="1728216"/>
            <a:ext cx="2194560" cy="566928"/>
          </a:xfrm>
          <a:prstGeom prst="rect">
            <a:avLst/>
          </a:prstGeom>
          <a:noFill/>
          <a:ln/>
        </p:spPr>
        <p:txBody>
          <a:bodyPr wrap="square" rtlCol="0" anchor="ctr"/>
          <a:lstStyle/>
          <a:p>
            <a:pPr indent="0" marL="0">
              <a:buNone/>
            </a:pPr>
            <a:r>
              <a:rPr lang="en-US" sz="1250" b="1" dirty="0">
                <a:solidFill>
                  <a:srgbClr val="1F7A55"/>
                </a:solidFill>
                <a:latin typeface="Courier New" pitchFamily="34" charset="0"/>
                <a:ea typeface="Courier New" pitchFamily="34" charset="-122"/>
                <a:cs typeface="Courier New" pitchFamily="34" charset="-120"/>
              </a:rPr>
              <a:t>click</a:t>
            </a:r>
            <a:endParaRPr lang="en-US" sz="1250" dirty="0"/>
          </a:p>
        </p:txBody>
      </p:sp>
      <p:sp>
        <p:nvSpPr>
          <p:cNvPr id="13" name="Text 11"/>
          <p:cNvSpPr/>
          <p:nvPr/>
        </p:nvSpPr>
        <p:spPr>
          <a:xfrm>
            <a:off x="3108960" y="1728216"/>
            <a:ext cx="2834640" cy="566928"/>
          </a:xfrm>
          <a:prstGeom prst="rect">
            <a:avLst/>
          </a:prstGeom>
          <a:noFill/>
          <a:ln/>
        </p:spPr>
        <p:txBody>
          <a:bodyPr wrap="square" rtlCol="0" anchor="ctr"/>
          <a:lstStyle/>
          <a:p>
            <a:pPr indent="0" marL="0">
              <a:buNone/>
            </a:pPr>
            <a:r>
              <a:rPr lang="en-US" sz="1150" dirty="0">
                <a:solidFill>
                  <a:srgbClr val="6B7A88"/>
                </a:solidFill>
                <a:latin typeface="Arial" pitchFamily="34" charset="0"/>
                <a:ea typeface="Arial" pitchFamily="34" charset="-122"/>
                <a:cs typeface="Arial" pitchFamily="34" charset="-120"/>
              </a:rPr>
              <a:t>button, link, anything</a:t>
            </a:r>
            <a:endParaRPr lang="en-US" sz="1150" dirty="0"/>
          </a:p>
        </p:txBody>
      </p:sp>
      <p:sp>
        <p:nvSpPr>
          <p:cNvPr id="14" name="Text 12"/>
          <p:cNvSpPr/>
          <p:nvPr/>
        </p:nvSpPr>
        <p:spPr>
          <a:xfrm>
            <a:off x="6217920" y="1728216"/>
            <a:ext cx="5212080" cy="566928"/>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A person clicked it</a:t>
            </a:r>
            <a:endParaRPr lang="en-US" sz="1150" dirty="0"/>
          </a:p>
        </p:txBody>
      </p:sp>
      <p:sp>
        <p:nvSpPr>
          <p:cNvPr id="15" name="Shape 13"/>
          <p:cNvSpPr/>
          <p:nvPr/>
        </p:nvSpPr>
        <p:spPr>
          <a:xfrm>
            <a:off x="548640" y="2331720"/>
            <a:ext cx="11064240" cy="566928"/>
          </a:xfrm>
          <a:prstGeom prst="rect">
            <a:avLst/>
          </a:prstGeom>
          <a:solidFill>
            <a:srgbClr val="E7F4EE"/>
          </a:solidFill>
          <a:ln w="9525">
            <a:solidFill>
              <a:srgbClr val="D6DEE6"/>
            </a:solidFill>
            <a:prstDash val="solid"/>
          </a:ln>
        </p:spPr>
      </p:sp>
      <p:sp>
        <p:nvSpPr>
          <p:cNvPr id="16" name="Text 14"/>
          <p:cNvSpPr/>
          <p:nvPr/>
        </p:nvSpPr>
        <p:spPr>
          <a:xfrm>
            <a:off x="731520" y="2331720"/>
            <a:ext cx="2194560" cy="566928"/>
          </a:xfrm>
          <a:prstGeom prst="rect">
            <a:avLst/>
          </a:prstGeom>
          <a:noFill/>
          <a:ln/>
        </p:spPr>
        <p:txBody>
          <a:bodyPr wrap="square" rtlCol="0" anchor="ctr"/>
          <a:lstStyle/>
          <a:p>
            <a:pPr indent="0" marL="0">
              <a:buNone/>
            </a:pPr>
            <a:r>
              <a:rPr lang="en-US" sz="1250" b="1" dirty="0">
                <a:solidFill>
                  <a:srgbClr val="1F7A55"/>
                </a:solidFill>
                <a:latin typeface="Courier New" pitchFamily="34" charset="0"/>
                <a:ea typeface="Courier New" pitchFamily="34" charset="-122"/>
                <a:cs typeface="Courier New" pitchFamily="34" charset="-120"/>
              </a:rPr>
              <a:t>submit</a:t>
            </a:r>
            <a:endParaRPr lang="en-US" sz="1250" dirty="0"/>
          </a:p>
        </p:txBody>
      </p:sp>
      <p:sp>
        <p:nvSpPr>
          <p:cNvPr id="17" name="Text 15"/>
          <p:cNvSpPr/>
          <p:nvPr/>
        </p:nvSpPr>
        <p:spPr>
          <a:xfrm>
            <a:off x="3108960" y="2331720"/>
            <a:ext cx="2834640" cy="566928"/>
          </a:xfrm>
          <a:prstGeom prst="rect">
            <a:avLst/>
          </a:prstGeom>
          <a:noFill/>
          <a:ln/>
        </p:spPr>
        <p:txBody>
          <a:bodyPr wrap="square" rtlCol="0" anchor="ctr"/>
          <a:lstStyle/>
          <a:p>
            <a:pPr indent="0" marL="0">
              <a:buNone/>
            </a:pPr>
            <a:r>
              <a:rPr lang="en-US" sz="1150" dirty="0">
                <a:solidFill>
                  <a:srgbClr val="6B7A88"/>
                </a:solidFill>
                <a:latin typeface="Arial" pitchFamily="34" charset="0"/>
                <a:ea typeface="Arial" pitchFamily="34" charset="-122"/>
                <a:cs typeface="Arial" pitchFamily="34" charset="-120"/>
              </a:rPr>
              <a:t>form</a:t>
            </a:r>
            <a:endParaRPr lang="en-US" sz="1150" dirty="0"/>
          </a:p>
        </p:txBody>
      </p:sp>
      <p:sp>
        <p:nvSpPr>
          <p:cNvPr id="18" name="Text 16"/>
          <p:cNvSpPr/>
          <p:nvPr/>
        </p:nvSpPr>
        <p:spPr>
          <a:xfrm>
            <a:off x="6217920" y="2331720"/>
            <a:ext cx="5212080" cy="566928"/>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The form is being sent. Needs preventDefault</a:t>
            </a:r>
            <a:endParaRPr lang="en-US" sz="1150" dirty="0"/>
          </a:p>
        </p:txBody>
      </p:sp>
      <p:sp>
        <p:nvSpPr>
          <p:cNvPr id="19" name="Shape 17"/>
          <p:cNvSpPr/>
          <p:nvPr/>
        </p:nvSpPr>
        <p:spPr>
          <a:xfrm>
            <a:off x="548640" y="2935224"/>
            <a:ext cx="11064240" cy="566928"/>
          </a:xfrm>
          <a:prstGeom prst="rect">
            <a:avLst/>
          </a:prstGeom>
          <a:solidFill>
            <a:srgbClr val="E7F4EE"/>
          </a:solidFill>
          <a:ln w="9525">
            <a:solidFill>
              <a:srgbClr val="D6DEE6"/>
            </a:solidFill>
            <a:prstDash val="solid"/>
          </a:ln>
        </p:spPr>
      </p:sp>
      <p:sp>
        <p:nvSpPr>
          <p:cNvPr id="20" name="Text 18"/>
          <p:cNvSpPr/>
          <p:nvPr/>
        </p:nvSpPr>
        <p:spPr>
          <a:xfrm>
            <a:off x="731520" y="2935224"/>
            <a:ext cx="2194560" cy="566928"/>
          </a:xfrm>
          <a:prstGeom prst="rect">
            <a:avLst/>
          </a:prstGeom>
          <a:noFill/>
          <a:ln/>
        </p:spPr>
        <p:txBody>
          <a:bodyPr wrap="square" rtlCol="0" anchor="ctr"/>
          <a:lstStyle/>
          <a:p>
            <a:pPr indent="0" marL="0">
              <a:buNone/>
            </a:pPr>
            <a:r>
              <a:rPr lang="en-US" sz="1250" b="1" dirty="0">
                <a:solidFill>
                  <a:srgbClr val="1F7A55"/>
                </a:solidFill>
                <a:latin typeface="Courier New" pitchFamily="34" charset="0"/>
                <a:ea typeface="Courier New" pitchFamily="34" charset="-122"/>
                <a:cs typeface="Courier New" pitchFamily="34" charset="-120"/>
              </a:rPr>
              <a:t>input</a:t>
            </a:r>
            <a:endParaRPr lang="en-US" sz="1250" dirty="0"/>
          </a:p>
        </p:txBody>
      </p:sp>
      <p:sp>
        <p:nvSpPr>
          <p:cNvPr id="21" name="Text 19"/>
          <p:cNvSpPr/>
          <p:nvPr/>
        </p:nvSpPr>
        <p:spPr>
          <a:xfrm>
            <a:off x="3108960" y="2935224"/>
            <a:ext cx="2834640" cy="566928"/>
          </a:xfrm>
          <a:prstGeom prst="rect">
            <a:avLst/>
          </a:prstGeom>
          <a:noFill/>
          <a:ln/>
        </p:spPr>
        <p:txBody>
          <a:bodyPr wrap="square" rtlCol="0" anchor="ctr"/>
          <a:lstStyle/>
          <a:p>
            <a:pPr indent="0" marL="0">
              <a:buNone/>
            </a:pPr>
            <a:r>
              <a:rPr lang="en-US" sz="1150" dirty="0">
                <a:solidFill>
                  <a:srgbClr val="6B7A88"/>
                </a:solidFill>
                <a:latin typeface="Arial" pitchFamily="34" charset="0"/>
                <a:ea typeface="Arial" pitchFamily="34" charset="-122"/>
                <a:cs typeface="Arial" pitchFamily="34" charset="-120"/>
              </a:rPr>
              <a:t>input, textarea</a:t>
            </a:r>
            <a:endParaRPr lang="en-US" sz="1150" dirty="0"/>
          </a:p>
        </p:txBody>
      </p:sp>
      <p:sp>
        <p:nvSpPr>
          <p:cNvPr id="22" name="Text 20"/>
          <p:cNvSpPr/>
          <p:nvPr/>
        </p:nvSpPr>
        <p:spPr>
          <a:xfrm>
            <a:off x="6217920" y="2935224"/>
            <a:ext cx="5212080" cy="566928"/>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Fires on every keystroke</a:t>
            </a:r>
            <a:endParaRPr lang="en-US" sz="1150" dirty="0"/>
          </a:p>
        </p:txBody>
      </p:sp>
      <p:sp>
        <p:nvSpPr>
          <p:cNvPr id="23" name="Shape 21"/>
          <p:cNvSpPr/>
          <p:nvPr/>
        </p:nvSpPr>
        <p:spPr>
          <a:xfrm>
            <a:off x="548640" y="3538728"/>
            <a:ext cx="11064240" cy="566928"/>
          </a:xfrm>
          <a:prstGeom prst="rect">
            <a:avLst/>
          </a:prstGeom>
          <a:solidFill>
            <a:srgbClr val="FFFFFF"/>
          </a:solidFill>
          <a:ln w="9525">
            <a:solidFill>
              <a:srgbClr val="D6DEE6"/>
            </a:solidFill>
            <a:prstDash val="solid"/>
          </a:ln>
        </p:spPr>
      </p:sp>
      <p:sp>
        <p:nvSpPr>
          <p:cNvPr id="24" name="Text 22"/>
          <p:cNvSpPr/>
          <p:nvPr/>
        </p:nvSpPr>
        <p:spPr>
          <a:xfrm>
            <a:off x="731520" y="3538728"/>
            <a:ext cx="2194560" cy="566928"/>
          </a:xfrm>
          <a:prstGeom prst="rect">
            <a:avLst/>
          </a:prstGeom>
          <a:noFill/>
          <a:ln/>
        </p:spPr>
        <p:txBody>
          <a:bodyPr wrap="square"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change</a:t>
            </a:r>
            <a:endParaRPr lang="en-US" sz="1250" dirty="0"/>
          </a:p>
        </p:txBody>
      </p:sp>
      <p:sp>
        <p:nvSpPr>
          <p:cNvPr id="25" name="Text 23"/>
          <p:cNvSpPr/>
          <p:nvPr/>
        </p:nvSpPr>
        <p:spPr>
          <a:xfrm>
            <a:off x="3108960" y="3538728"/>
            <a:ext cx="2834640" cy="566928"/>
          </a:xfrm>
          <a:prstGeom prst="rect">
            <a:avLst/>
          </a:prstGeom>
          <a:noFill/>
          <a:ln/>
        </p:spPr>
        <p:txBody>
          <a:bodyPr wrap="square" rtlCol="0" anchor="ctr"/>
          <a:lstStyle/>
          <a:p>
            <a:pPr indent="0" marL="0">
              <a:buNone/>
            </a:pPr>
            <a:r>
              <a:rPr lang="en-US" sz="1150" dirty="0">
                <a:solidFill>
                  <a:srgbClr val="6B7A88"/>
                </a:solidFill>
                <a:latin typeface="Arial" pitchFamily="34" charset="0"/>
                <a:ea typeface="Arial" pitchFamily="34" charset="-122"/>
                <a:cs typeface="Arial" pitchFamily="34" charset="-120"/>
              </a:rPr>
              <a:t>select, checkbox</a:t>
            </a:r>
            <a:endParaRPr lang="en-US" sz="1150" dirty="0"/>
          </a:p>
        </p:txBody>
      </p:sp>
      <p:sp>
        <p:nvSpPr>
          <p:cNvPr id="26" name="Text 24"/>
          <p:cNvSpPr/>
          <p:nvPr/>
        </p:nvSpPr>
        <p:spPr>
          <a:xfrm>
            <a:off x="6217920" y="3538728"/>
            <a:ext cx="5212080" cy="566928"/>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Fires when the value is settled</a:t>
            </a:r>
            <a:endParaRPr lang="en-US" sz="1150" dirty="0"/>
          </a:p>
        </p:txBody>
      </p:sp>
      <p:sp>
        <p:nvSpPr>
          <p:cNvPr id="27" name="Shape 25"/>
          <p:cNvSpPr/>
          <p:nvPr/>
        </p:nvSpPr>
        <p:spPr>
          <a:xfrm>
            <a:off x="548640" y="4142232"/>
            <a:ext cx="11064240" cy="566928"/>
          </a:xfrm>
          <a:prstGeom prst="rect">
            <a:avLst/>
          </a:prstGeom>
          <a:solidFill>
            <a:srgbClr val="F2F5F8"/>
          </a:solidFill>
          <a:ln w="9525">
            <a:solidFill>
              <a:srgbClr val="D6DEE6"/>
            </a:solidFill>
            <a:prstDash val="solid"/>
          </a:ln>
        </p:spPr>
      </p:sp>
      <p:sp>
        <p:nvSpPr>
          <p:cNvPr id="28" name="Text 26"/>
          <p:cNvSpPr/>
          <p:nvPr/>
        </p:nvSpPr>
        <p:spPr>
          <a:xfrm>
            <a:off x="731520" y="4142232"/>
            <a:ext cx="2194560" cy="566928"/>
          </a:xfrm>
          <a:prstGeom prst="rect">
            <a:avLst/>
          </a:prstGeom>
          <a:noFill/>
          <a:ln/>
        </p:spPr>
        <p:txBody>
          <a:bodyPr wrap="square"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keydown</a:t>
            </a:r>
            <a:endParaRPr lang="en-US" sz="1250" dirty="0"/>
          </a:p>
        </p:txBody>
      </p:sp>
      <p:sp>
        <p:nvSpPr>
          <p:cNvPr id="29" name="Text 27"/>
          <p:cNvSpPr/>
          <p:nvPr/>
        </p:nvSpPr>
        <p:spPr>
          <a:xfrm>
            <a:off x="3108960" y="4142232"/>
            <a:ext cx="2834640" cy="566928"/>
          </a:xfrm>
          <a:prstGeom prst="rect">
            <a:avLst/>
          </a:prstGeom>
          <a:noFill/>
          <a:ln/>
        </p:spPr>
        <p:txBody>
          <a:bodyPr wrap="square" rtlCol="0" anchor="ctr"/>
          <a:lstStyle/>
          <a:p>
            <a:pPr indent="0" marL="0">
              <a:buNone/>
            </a:pPr>
            <a:r>
              <a:rPr lang="en-US" sz="1150" dirty="0">
                <a:solidFill>
                  <a:srgbClr val="6B7A88"/>
                </a:solidFill>
                <a:latin typeface="Arial" pitchFamily="34" charset="0"/>
                <a:ea typeface="Arial" pitchFamily="34" charset="-122"/>
                <a:cs typeface="Arial" pitchFamily="34" charset="-120"/>
              </a:rPr>
              <a:t>input, document</a:t>
            </a:r>
            <a:endParaRPr lang="en-US" sz="1150" dirty="0"/>
          </a:p>
        </p:txBody>
      </p:sp>
      <p:sp>
        <p:nvSpPr>
          <p:cNvPr id="30" name="Text 28"/>
          <p:cNvSpPr/>
          <p:nvPr/>
        </p:nvSpPr>
        <p:spPr>
          <a:xfrm>
            <a:off x="6217920" y="4142232"/>
            <a:ext cx="5212080" cy="566928"/>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A key went down. e.key tells you which</a:t>
            </a:r>
            <a:endParaRPr lang="en-US" sz="1150" dirty="0"/>
          </a:p>
        </p:txBody>
      </p:sp>
      <p:sp>
        <p:nvSpPr>
          <p:cNvPr id="31" name="Shape 29"/>
          <p:cNvSpPr/>
          <p:nvPr/>
        </p:nvSpPr>
        <p:spPr>
          <a:xfrm>
            <a:off x="548640" y="4745736"/>
            <a:ext cx="11064240" cy="566928"/>
          </a:xfrm>
          <a:prstGeom prst="rect">
            <a:avLst/>
          </a:prstGeom>
          <a:solidFill>
            <a:srgbClr val="FFFFFF"/>
          </a:solidFill>
          <a:ln w="9525">
            <a:solidFill>
              <a:srgbClr val="D6DEE6"/>
            </a:solidFill>
            <a:prstDash val="solid"/>
          </a:ln>
        </p:spPr>
      </p:sp>
      <p:sp>
        <p:nvSpPr>
          <p:cNvPr id="32" name="Text 30"/>
          <p:cNvSpPr/>
          <p:nvPr/>
        </p:nvSpPr>
        <p:spPr>
          <a:xfrm>
            <a:off x="731520" y="4745736"/>
            <a:ext cx="2194560" cy="566928"/>
          </a:xfrm>
          <a:prstGeom prst="rect">
            <a:avLst/>
          </a:prstGeom>
          <a:noFill/>
          <a:ln/>
        </p:spPr>
        <p:txBody>
          <a:bodyPr wrap="square"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mouseover</a:t>
            </a:r>
            <a:endParaRPr lang="en-US" sz="1250" dirty="0"/>
          </a:p>
        </p:txBody>
      </p:sp>
      <p:sp>
        <p:nvSpPr>
          <p:cNvPr id="33" name="Text 31"/>
          <p:cNvSpPr/>
          <p:nvPr/>
        </p:nvSpPr>
        <p:spPr>
          <a:xfrm>
            <a:off x="3108960" y="4745736"/>
            <a:ext cx="2834640" cy="566928"/>
          </a:xfrm>
          <a:prstGeom prst="rect">
            <a:avLst/>
          </a:prstGeom>
          <a:noFill/>
          <a:ln/>
        </p:spPr>
        <p:txBody>
          <a:bodyPr wrap="square" rtlCol="0" anchor="ctr"/>
          <a:lstStyle/>
          <a:p>
            <a:pPr indent="0" marL="0">
              <a:buNone/>
            </a:pPr>
            <a:r>
              <a:rPr lang="en-US" sz="1150" dirty="0">
                <a:solidFill>
                  <a:srgbClr val="6B7A88"/>
                </a:solidFill>
                <a:latin typeface="Arial" pitchFamily="34" charset="0"/>
                <a:ea typeface="Arial" pitchFamily="34" charset="-122"/>
                <a:cs typeface="Arial" pitchFamily="34" charset="-120"/>
              </a:rPr>
              <a:t>anything</a:t>
            </a:r>
            <a:endParaRPr lang="en-US" sz="1150" dirty="0"/>
          </a:p>
        </p:txBody>
      </p:sp>
      <p:sp>
        <p:nvSpPr>
          <p:cNvPr id="34" name="Text 32"/>
          <p:cNvSpPr/>
          <p:nvPr/>
        </p:nvSpPr>
        <p:spPr>
          <a:xfrm>
            <a:off x="6217920" y="4745736"/>
            <a:ext cx="5212080" cy="566928"/>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The pointer entered it</a:t>
            </a:r>
            <a:endParaRPr lang="en-US" sz="1150" dirty="0"/>
          </a:p>
        </p:txBody>
      </p:sp>
      <p:sp>
        <p:nvSpPr>
          <p:cNvPr id="35" name="Shape 33"/>
          <p:cNvSpPr/>
          <p:nvPr/>
        </p:nvSpPr>
        <p:spPr>
          <a:xfrm>
            <a:off x="548640" y="5440680"/>
            <a:ext cx="11064240" cy="777240"/>
          </a:xfrm>
          <a:prstGeom prst="rect">
            <a:avLst>
              <a:gd name="adj" fmla="val 7059"/>
            </a:avLst>
          </a:prstGeom>
          <a:solidFill>
            <a:srgbClr val="F2F5F8"/>
          </a:solidFill>
          <a:ln w="12700">
            <a:solidFill>
              <a:srgbClr val="D6DEE6"/>
            </a:solidFill>
            <a:prstDash val="solid"/>
          </a:ln>
        </p:spPr>
      </p:sp>
      <p:sp>
        <p:nvSpPr>
          <p:cNvPr id="36" name="Text 34"/>
          <p:cNvSpPr/>
          <p:nvPr/>
        </p:nvSpPr>
        <p:spPr>
          <a:xfrm>
            <a:off x="713232" y="5605272"/>
            <a:ext cx="10735056" cy="502920"/>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The three in green cover almost everything in this course. Learn those properly and look the rest up when you need them.</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preventDefault: the one that saves forms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7</a:t>
            </a:r>
            <a:endParaRPr lang="en-US" sz="950" dirty="0"/>
          </a:p>
        </p:txBody>
      </p:sp>
      <p:sp>
        <p:nvSpPr>
          <p:cNvPr id="7" name="Shape 5"/>
          <p:cNvSpPr/>
          <p:nvPr/>
        </p:nvSpPr>
        <p:spPr>
          <a:xfrm>
            <a:off x="548640" y="1234440"/>
            <a:ext cx="11064240" cy="914400"/>
          </a:xfrm>
          <a:prstGeom prst="rect">
            <a:avLst>
              <a:gd name="adj" fmla="val 6000"/>
            </a:avLst>
          </a:prstGeom>
          <a:solidFill>
            <a:srgbClr val="FBEAE8"/>
          </a:solidFill>
          <a:ln w="12700">
            <a:solidFill>
              <a:srgbClr val="B3261E"/>
            </a:solidFill>
            <a:prstDash val="solid"/>
          </a:ln>
        </p:spPr>
      </p:sp>
      <p:sp>
        <p:nvSpPr>
          <p:cNvPr id="8" name="Text 6"/>
          <p:cNvSpPr/>
          <p:nvPr/>
        </p:nvSpPr>
        <p:spPr>
          <a:xfrm>
            <a:off x="713232" y="1399032"/>
            <a:ext cx="1073505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A form's default is to send itself and reload the page</a:t>
            </a:r>
            <a:endParaRPr lang="en-US" sz="1500" dirty="0"/>
          </a:p>
        </p:txBody>
      </p:sp>
      <p:sp>
        <p:nvSpPr>
          <p:cNvPr id="9" name="Text 7"/>
          <p:cNvSpPr/>
          <p:nvPr/>
        </p:nvSpPr>
        <p:spPr>
          <a:xfrm>
            <a:off x="713232" y="1746504"/>
            <a:ext cx="10735056" cy="29260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Reload means a fresh DOM. Everything your script built is gone. The list empties. It looks like your code did nothing.</a:t>
            </a:r>
            <a:endParaRPr lang="en-US" sz="1250" dirty="0"/>
          </a:p>
        </p:txBody>
      </p:sp>
      <p:sp>
        <p:nvSpPr>
          <p:cNvPr id="10" name="Shape 8"/>
          <p:cNvSpPr/>
          <p:nvPr/>
        </p:nvSpPr>
        <p:spPr>
          <a:xfrm>
            <a:off x="548640" y="2286000"/>
            <a:ext cx="6766560" cy="2143760"/>
          </a:xfrm>
          <a:prstGeom prst="rect">
            <a:avLst>
              <a:gd name="adj" fmla="val 2133"/>
            </a:avLst>
          </a:prstGeom>
          <a:solidFill>
            <a:srgbClr val="0D1B2A"/>
          </a:solidFill>
          <a:ln w="12700">
            <a:solidFill>
              <a:srgbClr val="0D1B2A"/>
            </a:solidFill>
            <a:prstDash val="solid"/>
          </a:ln>
        </p:spPr>
      </p:sp>
      <p:sp>
        <p:nvSpPr>
          <p:cNvPr id="11" name="Text 9"/>
          <p:cNvSpPr/>
          <p:nvPr/>
        </p:nvSpPr>
        <p:spPr>
          <a:xfrm>
            <a:off x="685800" y="2395728"/>
            <a:ext cx="6492240" cy="1924304"/>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form = 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"#book-form"</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form.addEventListener(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"submit"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 =&gt;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e.preventDefault();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&lt;-- without this, the page reloads</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title = titleInput.value;</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books.push({ title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renderBooks(books);</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form.reset();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12" name="Shape 10"/>
          <p:cNvSpPr/>
          <p:nvPr/>
        </p:nvSpPr>
        <p:spPr>
          <a:xfrm>
            <a:off x="7635240" y="2286000"/>
            <a:ext cx="4553712" cy="1828800"/>
          </a:xfrm>
          <a:prstGeom prst="rect">
            <a:avLst>
              <a:gd name="adj" fmla="val 3000"/>
            </a:avLst>
          </a:prstGeom>
          <a:solidFill>
            <a:srgbClr val="E7F4EE"/>
          </a:solidFill>
          <a:ln w="12700">
            <a:solidFill>
              <a:srgbClr val="1F7A55"/>
            </a:solidFill>
            <a:prstDash val="solid"/>
          </a:ln>
        </p:spPr>
      </p:sp>
      <p:sp>
        <p:nvSpPr>
          <p:cNvPr id="13" name="Text 11"/>
          <p:cNvSpPr/>
          <p:nvPr/>
        </p:nvSpPr>
        <p:spPr>
          <a:xfrm>
            <a:off x="7799832" y="2450592"/>
            <a:ext cx="422452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Remember Class 1</a:t>
            </a:r>
            <a:endParaRPr lang="en-US" sz="1500" dirty="0"/>
          </a:p>
        </p:txBody>
      </p:sp>
      <p:sp>
        <p:nvSpPr>
          <p:cNvPr id="14" name="Text 12"/>
          <p:cNvSpPr/>
          <p:nvPr/>
        </p:nvSpPr>
        <p:spPr>
          <a:xfrm>
            <a:off x="7799832" y="2798064"/>
            <a:ext cx="4224528" cy="12070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DOM is memory, not your file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 reload rebuilds it from the HTML</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That is why the list empties</a:t>
            </a:r>
            <a:endParaRPr lang="en-US" sz="1250" dirty="0"/>
          </a:p>
        </p:txBody>
      </p:sp>
      <p:sp>
        <p:nvSpPr>
          <p:cNvPr id="15" name="Shape 13"/>
          <p:cNvSpPr/>
          <p:nvPr/>
        </p:nvSpPr>
        <p:spPr>
          <a:xfrm>
            <a:off x="7635240" y="4251960"/>
            <a:ext cx="4553712" cy="1874520"/>
          </a:xfrm>
          <a:prstGeom prst="rect">
            <a:avLst>
              <a:gd name="adj" fmla="val 2927"/>
            </a:avLst>
          </a:prstGeom>
          <a:solidFill>
            <a:srgbClr val="F2F5F8"/>
          </a:solidFill>
          <a:ln w="12700">
            <a:solidFill>
              <a:srgbClr val="D6DEE6"/>
            </a:solidFill>
            <a:prstDash val="solid"/>
          </a:ln>
        </p:spPr>
      </p:sp>
      <p:sp>
        <p:nvSpPr>
          <p:cNvPr id="16" name="Text 14"/>
          <p:cNvSpPr/>
          <p:nvPr/>
        </p:nvSpPr>
        <p:spPr>
          <a:xfrm>
            <a:off x="7799832" y="4416552"/>
            <a:ext cx="422452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Also has a default</a:t>
            </a:r>
            <a:endParaRPr lang="en-US" sz="1500" dirty="0"/>
          </a:p>
        </p:txBody>
      </p:sp>
      <p:sp>
        <p:nvSpPr>
          <p:cNvPr id="17" name="Text 15"/>
          <p:cNvSpPr/>
          <p:nvPr/>
        </p:nvSpPr>
        <p:spPr>
          <a:xfrm>
            <a:off x="7799832" y="4764024"/>
            <a:ext cx="4224528" cy="12527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 link navigates away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 checkbox ticks itself</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Right-click opens a menu</a:t>
            </a:r>
            <a:endParaRPr lang="en-US" sz="1250" dirty="0"/>
          </a:p>
        </p:txBody>
      </p:sp>
      <p:sp>
        <p:nvSpPr>
          <p:cNvPr id="18" name="Shape 16"/>
          <p:cNvSpPr/>
          <p:nvPr/>
        </p:nvSpPr>
        <p:spPr>
          <a:xfrm>
            <a:off x="548640" y="4526280"/>
            <a:ext cx="6766560" cy="1600200"/>
          </a:xfrm>
          <a:prstGeom prst="rect">
            <a:avLst>
              <a:gd name="adj" fmla="val 3429"/>
            </a:avLst>
          </a:prstGeom>
          <a:solidFill>
            <a:srgbClr val="FDF3E1"/>
          </a:solidFill>
          <a:ln w="12700">
            <a:solidFill>
              <a:srgbClr val="E39A18"/>
            </a:solidFill>
            <a:prstDash val="solid"/>
          </a:ln>
        </p:spPr>
      </p:sp>
      <p:sp>
        <p:nvSpPr>
          <p:cNvPr id="19" name="Text 17"/>
          <p:cNvSpPr/>
          <p:nvPr/>
        </p:nvSpPr>
        <p:spPr>
          <a:xfrm>
            <a:off x="713232" y="4690872"/>
            <a:ext cx="643737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Listen on the form, not the button</a:t>
            </a:r>
            <a:endParaRPr lang="en-US" sz="1500" dirty="0"/>
          </a:p>
        </p:txBody>
      </p:sp>
      <p:sp>
        <p:nvSpPr>
          <p:cNvPr id="20" name="Text 18"/>
          <p:cNvSpPr/>
          <p:nvPr/>
        </p:nvSpPr>
        <p:spPr>
          <a:xfrm>
            <a:off x="713232" y="5038344"/>
            <a:ext cx="6437376" cy="97840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submit on the form also catches the Enter key</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click on the button misses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Reading what someone typed</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8</a:t>
            </a:r>
            <a:endParaRPr lang="en-US" sz="950" dirty="0"/>
          </a:p>
        </p:txBody>
      </p:sp>
      <p:sp>
        <p:nvSpPr>
          <p:cNvPr id="7" name="Shape 5"/>
          <p:cNvSpPr/>
          <p:nvPr/>
        </p:nvSpPr>
        <p:spPr>
          <a:xfrm>
            <a:off x="548640" y="1234440"/>
            <a:ext cx="6766560" cy="3078480"/>
          </a:xfrm>
          <a:prstGeom prst="rect">
            <a:avLst>
              <a:gd name="adj" fmla="val 1485"/>
            </a:avLst>
          </a:prstGeom>
          <a:solidFill>
            <a:srgbClr val="0D1B2A"/>
          </a:solidFill>
          <a:ln w="12700">
            <a:solidFill>
              <a:srgbClr val="0D1B2A"/>
            </a:solidFill>
            <a:prstDash val="solid"/>
          </a:ln>
        </p:spPr>
      </p:sp>
      <p:sp>
        <p:nvSpPr>
          <p:cNvPr id="8" name="Text 6"/>
          <p:cNvSpPr/>
          <p:nvPr/>
        </p:nvSpPr>
        <p:spPr>
          <a:xfrm>
            <a:off x="685800" y="1344168"/>
            <a:ext cx="6492240" cy="2859024"/>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titleInput = 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"#title"</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READ IT INSIDE THE HANDLER, every time it runs</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form.addEventListener(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"submit"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 =&gt;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e.preventDefault();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title = titleInput.value.trim();</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year  = Number(yearInput.value);</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if</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(title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return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nothing typed, stop here</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books.push({ title, year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renderBooks(books);</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form.reset();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9" name="Shape 7"/>
          <p:cNvSpPr/>
          <p:nvPr/>
        </p:nvSpPr>
        <p:spPr>
          <a:xfrm>
            <a:off x="7635240" y="1234440"/>
            <a:ext cx="4553712" cy="2057400"/>
          </a:xfrm>
          <a:prstGeom prst="rect">
            <a:avLst>
              <a:gd name="adj" fmla="val 2667"/>
            </a:avLst>
          </a:prstGeom>
          <a:solidFill>
            <a:srgbClr val="FBEAE8"/>
          </a:solidFill>
          <a:ln w="12700">
            <a:solidFill>
              <a:srgbClr val="B3261E"/>
            </a:solidFill>
            <a:prstDash val="solid"/>
          </a:ln>
        </p:spPr>
      </p:sp>
      <p:sp>
        <p:nvSpPr>
          <p:cNvPr id="10" name="Shape 8"/>
          <p:cNvSpPr/>
          <p:nvPr/>
        </p:nvSpPr>
        <p:spPr>
          <a:xfrm>
            <a:off x="7799832" y="1399032"/>
            <a:ext cx="854964" cy="256032"/>
          </a:xfrm>
          <a:prstGeom prst="rect">
            <a:avLst>
              <a:gd name="adj" fmla="val 17857"/>
            </a:avLst>
          </a:prstGeom>
          <a:solidFill>
            <a:srgbClr val="B3261E"/>
          </a:solidFill>
          <a:ln/>
        </p:spPr>
      </p:sp>
      <p:sp>
        <p:nvSpPr>
          <p:cNvPr id="11" name="Text 9"/>
          <p:cNvSpPr/>
          <p:nvPr/>
        </p:nvSpPr>
        <p:spPr>
          <a:xfrm>
            <a:off x="7799832" y="1399032"/>
            <a:ext cx="854964"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TOP BUG</a:t>
            </a:r>
            <a:endParaRPr lang="en-US" sz="950" dirty="0"/>
          </a:p>
        </p:txBody>
      </p:sp>
      <p:sp>
        <p:nvSpPr>
          <p:cNvPr id="12" name="Text 10"/>
          <p:cNvSpPr/>
          <p:nvPr/>
        </p:nvSpPr>
        <p:spPr>
          <a:xfrm>
            <a:off x="7799832" y="176479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Reading it too early</a:t>
            </a:r>
            <a:endParaRPr lang="en-US" sz="1500" dirty="0"/>
          </a:p>
        </p:txBody>
      </p:sp>
      <p:sp>
        <p:nvSpPr>
          <p:cNvPr id="13" name="Text 11"/>
          <p:cNvSpPr/>
          <p:nvPr/>
        </p:nvSpPr>
        <p:spPr>
          <a:xfrm>
            <a:off x="7799832" y="2112264"/>
            <a:ext cx="4224528" cy="106984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const title = titleInput.value at the top of the file</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That runs once, at load, when the box is empty</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You then add empty items forever</a:t>
            </a:r>
            <a:endParaRPr lang="en-US" sz="1250" dirty="0"/>
          </a:p>
        </p:txBody>
      </p:sp>
      <p:sp>
        <p:nvSpPr>
          <p:cNvPr id="14" name="Shape 12"/>
          <p:cNvSpPr/>
          <p:nvPr/>
        </p:nvSpPr>
        <p:spPr>
          <a:xfrm>
            <a:off x="7635240" y="3429000"/>
            <a:ext cx="4553712" cy="1417320"/>
          </a:xfrm>
          <a:prstGeom prst="rect">
            <a:avLst>
              <a:gd name="adj" fmla="val 3871"/>
            </a:avLst>
          </a:prstGeom>
          <a:solidFill>
            <a:srgbClr val="FDF3E1"/>
          </a:solidFill>
          <a:ln w="12700">
            <a:solidFill>
              <a:srgbClr val="E39A18"/>
            </a:solidFill>
            <a:prstDash val="solid"/>
          </a:ln>
        </p:spPr>
      </p:sp>
      <p:sp>
        <p:nvSpPr>
          <p:cNvPr id="15" name="Text 13"/>
          <p:cNvSpPr/>
          <p:nvPr/>
        </p:nvSpPr>
        <p:spPr>
          <a:xfrm>
            <a:off x="7799832" y="3593592"/>
            <a:ext cx="4224528"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value is always a string</a:t>
            </a:r>
            <a:endParaRPr lang="en-US" sz="1500" dirty="0"/>
          </a:p>
        </p:txBody>
      </p:sp>
      <p:sp>
        <p:nvSpPr>
          <p:cNvPr id="16" name="Text 14"/>
          <p:cNvSpPr/>
          <p:nvPr/>
        </p:nvSpPr>
        <p:spPr>
          <a:xfrm>
            <a:off x="7799832" y="3941064"/>
            <a:ext cx="4224528" cy="79552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Even from a number input</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Wrap it: Number(input.value)</a:t>
            </a:r>
            <a:endParaRPr lang="en-US" sz="1250" dirty="0"/>
          </a:p>
        </p:txBody>
      </p:sp>
      <p:sp>
        <p:nvSpPr>
          <p:cNvPr id="17" name="Shape 15"/>
          <p:cNvSpPr/>
          <p:nvPr/>
        </p:nvSpPr>
        <p:spPr>
          <a:xfrm>
            <a:off x="7635240" y="4983480"/>
            <a:ext cx="4553712" cy="1143000"/>
          </a:xfrm>
          <a:prstGeom prst="rect">
            <a:avLst>
              <a:gd name="adj" fmla="val 4800"/>
            </a:avLst>
          </a:prstGeom>
          <a:solidFill>
            <a:srgbClr val="E7F4EE"/>
          </a:solidFill>
          <a:ln w="12700">
            <a:solidFill>
              <a:srgbClr val="1F7A55"/>
            </a:solidFill>
            <a:prstDash val="solid"/>
          </a:ln>
        </p:spPr>
      </p:sp>
      <p:sp>
        <p:nvSpPr>
          <p:cNvPr id="18" name="Text 16"/>
          <p:cNvSpPr/>
          <p:nvPr/>
        </p:nvSpPr>
        <p:spPr>
          <a:xfrm>
            <a:off x="7799832" y="5148072"/>
            <a:ext cx="422452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form.reset()</a:t>
            </a:r>
            <a:endParaRPr lang="en-US" sz="1500" dirty="0"/>
          </a:p>
        </p:txBody>
      </p:sp>
      <p:sp>
        <p:nvSpPr>
          <p:cNvPr id="19" name="Text 17"/>
          <p:cNvSpPr/>
          <p:nvPr/>
        </p:nvSpPr>
        <p:spPr>
          <a:xfrm>
            <a:off x="7799832" y="5495544"/>
            <a:ext cx="4224528" cy="52120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Clears every field in one call</a:t>
            </a:r>
            <a:endParaRPr lang="en-US" sz="1200" dirty="0"/>
          </a:p>
        </p:txBody>
      </p:sp>
      <p:sp>
        <p:nvSpPr>
          <p:cNvPr id="20" name="Shape 18"/>
          <p:cNvSpPr/>
          <p:nvPr/>
        </p:nvSpPr>
        <p:spPr>
          <a:xfrm>
            <a:off x="548640" y="4572000"/>
            <a:ext cx="6766560" cy="1554480"/>
          </a:xfrm>
          <a:prstGeom prst="rect">
            <a:avLst>
              <a:gd name="adj" fmla="val 3529"/>
            </a:avLst>
          </a:prstGeom>
          <a:solidFill>
            <a:srgbClr val="F2F5F8"/>
          </a:solidFill>
          <a:ln w="12700">
            <a:solidFill>
              <a:srgbClr val="D6DEE6"/>
            </a:solidFill>
            <a:prstDash val="solid"/>
          </a:ln>
        </p:spPr>
      </p:sp>
      <p:sp>
        <p:nvSpPr>
          <p:cNvPr id="21" name="Text 19"/>
          <p:cNvSpPr/>
          <p:nvPr/>
        </p:nvSpPr>
        <p:spPr>
          <a:xfrm>
            <a:off x="713232" y="4736592"/>
            <a:ext cx="643737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Always guard the empty case</a:t>
            </a:r>
            <a:endParaRPr lang="en-US" sz="1500" dirty="0"/>
          </a:p>
        </p:txBody>
      </p:sp>
      <p:sp>
        <p:nvSpPr>
          <p:cNvPr id="22" name="Text 20"/>
          <p:cNvSpPr/>
          <p:nvPr/>
        </p:nvSpPr>
        <p:spPr>
          <a:xfrm>
            <a:off x="713232" y="5084064"/>
            <a:ext cx="6437376" cy="9326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.trim() removes spaces, so "   " counts as empty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An early return is the simplest guard there is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shape of every interactive app</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9</a:t>
            </a:r>
            <a:endParaRPr lang="en-US" sz="950" dirty="0"/>
          </a:p>
        </p:txBody>
      </p:sp>
      <p:sp>
        <p:nvSpPr>
          <p:cNvPr id="7" name="Shape 5"/>
          <p:cNvSpPr/>
          <p:nvPr/>
        </p:nvSpPr>
        <p:spPr>
          <a:xfrm>
            <a:off x="548640" y="1280160"/>
            <a:ext cx="3493008" cy="1737360"/>
          </a:xfrm>
          <a:prstGeom prst="rect">
            <a:avLst>
              <a:gd name="adj" fmla="val 2632"/>
            </a:avLst>
          </a:prstGeom>
          <a:solidFill>
            <a:srgbClr val="FDF3E1"/>
          </a:solidFill>
          <a:ln w="12700">
            <a:solidFill>
              <a:srgbClr val="E39A18"/>
            </a:solidFill>
            <a:prstDash val="solid"/>
          </a:ln>
        </p:spPr>
      </p:sp>
      <p:sp>
        <p:nvSpPr>
          <p:cNvPr id="8" name="Shape 6"/>
          <p:cNvSpPr/>
          <p:nvPr/>
        </p:nvSpPr>
        <p:spPr>
          <a:xfrm>
            <a:off x="731520" y="1444752"/>
            <a:ext cx="384048" cy="384048"/>
          </a:xfrm>
          <a:prstGeom prst="ellipse">
            <a:avLst/>
          </a:prstGeom>
          <a:solidFill>
            <a:srgbClr val="003366"/>
          </a:solidFill>
          <a:ln/>
        </p:spPr>
      </p:sp>
      <p:sp>
        <p:nvSpPr>
          <p:cNvPr id="9" name="Text 7"/>
          <p:cNvSpPr/>
          <p:nvPr/>
        </p:nvSpPr>
        <p:spPr>
          <a:xfrm>
            <a:off x="731520" y="1444752"/>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234440" y="1463040"/>
            <a:ext cx="2651760" cy="347472"/>
          </a:xfrm>
          <a:prstGeom prst="rect">
            <a:avLst/>
          </a:prstGeom>
          <a:noFill/>
          <a:ln/>
        </p:spPr>
        <p:txBody>
          <a:bodyPr wrap="square" rtlCol="0" anchor="ctr"/>
          <a:lstStyle/>
          <a:p>
            <a:pPr indent="0" marL="0">
              <a:buNone/>
            </a:pPr>
            <a:r>
              <a:rPr lang="en-US" sz="1350" b="1" dirty="0">
                <a:solidFill>
                  <a:srgbClr val="003366"/>
                </a:solidFill>
                <a:latin typeface="Arial" pitchFamily="34" charset="0"/>
                <a:ea typeface="Arial" pitchFamily="34" charset="-122"/>
                <a:cs typeface="Arial" pitchFamily="34" charset="-120"/>
              </a:rPr>
              <a:t>Something happens</a:t>
            </a:r>
            <a:endParaRPr lang="en-US" sz="1350" dirty="0"/>
          </a:p>
        </p:txBody>
      </p:sp>
      <p:sp>
        <p:nvSpPr>
          <p:cNvPr id="11" name="Text 9"/>
          <p:cNvSpPr/>
          <p:nvPr/>
        </p:nvSpPr>
        <p:spPr>
          <a:xfrm>
            <a:off x="731520" y="2011680"/>
            <a:ext cx="3154680" cy="822960"/>
          </a:xfrm>
          <a:prstGeom prst="rect">
            <a:avLst/>
          </a:prstGeom>
          <a:noFill/>
          <a:ln/>
        </p:spPr>
        <p:txBody>
          <a:bodyPr wrap="square" rtlCol="0" anchor="t"/>
          <a:lstStyle/>
          <a:p>
            <a:pPr indent="0" marL="0">
              <a:buNone/>
            </a:pPr>
            <a:r>
              <a:rPr lang="en-US" sz="1100" dirty="0">
                <a:solidFill>
                  <a:srgbClr val="3D4A57"/>
                </a:solidFill>
                <a:latin typeface="Courier New" pitchFamily="34" charset="0"/>
                <a:ea typeface="Courier New" pitchFamily="34" charset="-122"/>
                <a:cs typeface="Courier New" pitchFamily="34" charset="-120"/>
              </a:rPr>
              <a:t>A person clicks or types</a:t>
            </a:r>
            <a:endParaRPr lang="en-US" sz="1100" dirty="0"/>
          </a:p>
        </p:txBody>
      </p:sp>
      <p:sp>
        <p:nvSpPr>
          <p:cNvPr id="12" name="Text 10"/>
          <p:cNvSpPr/>
          <p:nvPr/>
        </p:nvSpPr>
        <p:spPr>
          <a:xfrm>
            <a:off x="4041648" y="1280160"/>
            <a:ext cx="292608" cy="1737360"/>
          </a:xfrm>
          <a:prstGeom prst="rect">
            <a:avLst/>
          </a:prstGeom>
          <a:noFill/>
          <a:ln/>
        </p:spPr>
        <p:txBody>
          <a:bodyPr wrap="square" rtlCol="0" anchor="ctr"/>
          <a:lstStyle/>
          <a:p>
            <a:pPr algn="ctr" indent="0" marL="0">
              <a:buNone/>
            </a:pPr>
            <a:r>
              <a:rPr lang="en-US" sz="1600" dirty="0">
                <a:solidFill>
                  <a:srgbClr val="6B7A88"/>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4334256" y="1280160"/>
            <a:ext cx="3493008" cy="1737360"/>
          </a:xfrm>
          <a:prstGeom prst="rect">
            <a:avLst>
              <a:gd name="adj" fmla="val 2632"/>
            </a:avLst>
          </a:prstGeom>
          <a:solidFill>
            <a:srgbClr val="E8EEF4"/>
          </a:solidFill>
          <a:ln w="12700">
            <a:solidFill>
              <a:srgbClr val="D6DEE6"/>
            </a:solidFill>
            <a:prstDash val="solid"/>
          </a:ln>
        </p:spPr>
      </p:sp>
      <p:sp>
        <p:nvSpPr>
          <p:cNvPr id="14" name="Shape 12"/>
          <p:cNvSpPr/>
          <p:nvPr/>
        </p:nvSpPr>
        <p:spPr>
          <a:xfrm>
            <a:off x="4517136" y="1444752"/>
            <a:ext cx="384048" cy="384048"/>
          </a:xfrm>
          <a:prstGeom prst="ellipse">
            <a:avLst/>
          </a:prstGeom>
          <a:solidFill>
            <a:srgbClr val="003366"/>
          </a:solidFill>
          <a:ln/>
        </p:spPr>
      </p:sp>
      <p:sp>
        <p:nvSpPr>
          <p:cNvPr id="15" name="Text 13"/>
          <p:cNvSpPr/>
          <p:nvPr/>
        </p:nvSpPr>
        <p:spPr>
          <a:xfrm>
            <a:off x="4517136" y="1444752"/>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5020056" y="1463040"/>
            <a:ext cx="2651760" cy="347472"/>
          </a:xfrm>
          <a:prstGeom prst="rect">
            <a:avLst/>
          </a:prstGeom>
          <a:noFill/>
          <a:ln/>
        </p:spPr>
        <p:txBody>
          <a:bodyPr wrap="square" rtlCol="0" anchor="ctr"/>
          <a:lstStyle/>
          <a:p>
            <a:pPr indent="0" marL="0">
              <a:buNone/>
            </a:pPr>
            <a:r>
              <a:rPr lang="en-US" sz="1350" b="1" dirty="0">
                <a:solidFill>
                  <a:srgbClr val="003366"/>
                </a:solidFill>
                <a:latin typeface="Arial" pitchFamily="34" charset="0"/>
                <a:ea typeface="Arial" pitchFamily="34" charset="-122"/>
                <a:cs typeface="Arial" pitchFamily="34" charset="-120"/>
              </a:rPr>
              <a:t>Change the data</a:t>
            </a:r>
            <a:endParaRPr lang="en-US" sz="1350" dirty="0"/>
          </a:p>
        </p:txBody>
      </p:sp>
      <p:sp>
        <p:nvSpPr>
          <p:cNvPr id="17" name="Text 15"/>
          <p:cNvSpPr/>
          <p:nvPr/>
        </p:nvSpPr>
        <p:spPr>
          <a:xfrm>
            <a:off x="4517136" y="2011680"/>
            <a:ext cx="3154680" cy="822960"/>
          </a:xfrm>
          <a:prstGeom prst="rect">
            <a:avLst/>
          </a:prstGeom>
          <a:noFill/>
          <a:ln/>
        </p:spPr>
        <p:txBody>
          <a:bodyPr wrap="square" rtlCol="0" anchor="t"/>
          <a:lstStyle/>
          <a:p>
            <a:pPr indent="0" marL="0">
              <a:buNone/>
            </a:pPr>
            <a:r>
              <a:rPr lang="en-US" sz="1100" dirty="0">
                <a:solidFill>
                  <a:srgbClr val="3D4A57"/>
                </a:solidFill>
                <a:latin typeface="Courier New" pitchFamily="34" charset="0"/>
                <a:ea typeface="Courier New" pitchFamily="34" charset="-122"/>
                <a:cs typeface="Courier New" pitchFamily="34" charset="-120"/>
              </a:rPr>
              <a:t>books.push(...) or books.filter(...)</a:t>
            </a:r>
            <a:endParaRPr lang="en-US" sz="1100" dirty="0"/>
          </a:p>
        </p:txBody>
      </p:sp>
      <p:sp>
        <p:nvSpPr>
          <p:cNvPr id="18" name="Text 16"/>
          <p:cNvSpPr/>
          <p:nvPr/>
        </p:nvSpPr>
        <p:spPr>
          <a:xfrm>
            <a:off x="7827264" y="1280160"/>
            <a:ext cx="292608" cy="1737360"/>
          </a:xfrm>
          <a:prstGeom prst="rect">
            <a:avLst/>
          </a:prstGeom>
          <a:noFill/>
          <a:ln/>
        </p:spPr>
        <p:txBody>
          <a:bodyPr wrap="square" rtlCol="0" anchor="ctr"/>
          <a:lstStyle/>
          <a:p>
            <a:pPr algn="ctr" indent="0" marL="0">
              <a:buNone/>
            </a:pPr>
            <a:r>
              <a:rPr lang="en-US" sz="1600" dirty="0">
                <a:solidFill>
                  <a:srgbClr val="6B7A88"/>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8119872" y="1280160"/>
            <a:ext cx="3493008" cy="1737360"/>
          </a:xfrm>
          <a:prstGeom prst="rect">
            <a:avLst>
              <a:gd name="adj" fmla="val 2632"/>
            </a:avLst>
          </a:prstGeom>
          <a:solidFill>
            <a:srgbClr val="E7F4EE"/>
          </a:solidFill>
          <a:ln w="12700">
            <a:solidFill>
              <a:srgbClr val="1F7A55"/>
            </a:solidFill>
            <a:prstDash val="solid"/>
          </a:ln>
        </p:spPr>
      </p:sp>
      <p:sp>
        <p:nvSpPr>
          <p:cNvPr id="20" name="Shape 18"/>
          <p:cNvSpPr/>
          <p:nvPr/>
        </p:nvSpPr>
        <p:spPr>
          <a:xfrm>
            <a:off x="8302752" y="1444752"/>
            <a:ext cx="384048" cy="384048"/>
          </a:xfrm>
          <a:prstGeom prst="ellipse">
            <a:avLst/>
          </a:prstGeom>
          <a:solidFill>
            <a:srgbClr val="003366"/>
          </a:solidFill>
          <a:ln/>
        </p:spPr>
      </p:sp>
      <p:sp>
        <p:nvSpPr>
          <p:cNvPr id="21" name="Text 19"/>
          <p:cNvSpPr/>
          <p:nvPr/>
        </p:nvSpPr>
        <p:spPr>
          <a:xfrm>
            <a:off x="8302752" y="1444752"/>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8805672" y="1463040"/>
            <a:ext cx="2651760" cy="347472"/>
          </a:xfrm>
          <a:prstGeom prst="rect">
            <a:avLst/>
          </a:prstGeom>
          <a:noFill/>
          <a:ln/>
        </p:spPr>
        <p:txBody>
          <a:bodyPr wrap="square" rtlCol="0" anchor="ctr"/>
          <a:lstStyle/>
          <a:p>
            <a:pPr indent="0" marL="0">
              <a:buNone/>
            </a:pPr>
            <a:r>
              <a:rPr lang="en-US" sz="1350" b="1" dirty="0">
                <a:solidFill>
                  <a:srgbClr val="003366"/>
                </a:solidFill>
                <a:latin typeface="Arial" pitchFamily="34" charset="0"/>
                <a:ea typeface="Arial" pitchFamily="34" charset="-122"/>
                <a:cs typeface="Arial" pitchFamily="34" charset="-120"/>
              </a:rPr>
              <a:t>Redraw from the data</a:t>
            </a:r>
            <a:endParaRPr lang="en-US" sz="1350" dirty="0"/>
          </a:p>
        </p:txBody>
      </p:sp>
      <p:sp>
        <p:nvSpPr>
          <p:cNvPr id="23" name="Text 21"/>
          <p:cNvSpPr/>
          <p:nvPr/>
        </p:nvSpPr>
        <p:spPr>
          <a:xfrm>
            <a:off x="8302752" y="2011680"/>
            <a:ext cx="3154680" cy="822960"/>
          </a:xfrm>
          <a:prstGeom prst="rect">
            <a:avLst/>
          </a:prstGeom>
          <a:noFill/>
          <a:ln/>
        </p:spPr>
        <p:txBody>
          <a:bodyPr wrap="square" rtlCol="0" anchor="t"/>
          <a:lstStyle/>
          <a:p>
            <a:pPr indent="0" marL="0">
              <a:buNone/>
            </a:pPr>
            <a:r>
              <a:rPr lang="en-US" sz="1100" dirty="0">
                <a:solidFill>
                  <a:srgbClr val="3D4A57"/>
                </a:solidFill>
                <a:latin typeface="Courier New" pitchFamily="34" charset="0"/>
                <a:ea typeface="Courier New" pitchFamily="34" charset="-122"/>
                <a:cs typeface="Courier New" pitchFamily="34" charset="-120"/>
              </a:rPr>
              <a:t>renderBooks(books)</a:t>
            </a:r>
            <a:endParaRPr lang="en-US" sz="1100" dirty="0"/>
          </a:p>
        </p:txBody>
      </p:sp>
      <p:sp>
        <p:nvSpPr>
          <p:cNvPr id="24" name="Shape 22"/>
          <p:cNvSpPr/>
          <p:nvPr/>
        </p:nvSpPr>
        <p:spPr>
          <a:xfrm>
            <a:off x="548640" y="3246120"/>
            <a:ext cx="11064240" cy="1234440"/>
          </a:xfrm>
          <a:prstGeom prst="rect">
            <a:avLst>
              <a:gd name="adj" fmla="val 4444"/>
            </a:avLst>
          </a:prstGeom>
          <a:solidFill>
            <a:srgbClr val="E7F4EE"/>
          </a:solidFill>
          <a:ln w="12700">
            <a:solidFill>
              <a:srgbClr val="1F7A55"/>
            </a:solidFill>
            <a:prstDash val="solid"/>
          </a:ln>
        </p:spPr>
      </p:sp>
      <p:sp>
        <p:nvSpPr>
          <p:cNvPr id="25" name="Text 23"/>
          <p:cNvSpPr/>
          <p:nvPr/>
        </p:nvSpPr>
        <p:spPr>
          <a:xfrm>
            <a:off x="713232" y="3410712"/>
            <a:ext cx="1073505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The array is the truth. The page is a picture of it.</a:t>
            </a:r>
            <a:endParaRPr lang="en-US" sz="1500" dirty="0"/>
          </a:p>
        </p:txBody>
      </p:sp>
      <p:sp>
        <p:nvSpPr>
          <p:cNvPr id="26" name="Text 24"/>
          <p:cNvSpPr/>
          <p:nvPr/>
        </p:nvSpPr>
        <p:spPr>
          <a:xfrm>
            <a:off x="713232" y="3758184"/>
            <a:ext cx="10735056" cy="612648"/>
          </a:xfrm>
          <a:prstGeom prst="rect">
            <a:avLst/>
          </a:prstGeom>
          <a:noFill/>
          <a:ln/>
        </p:spPr>
        <p:txBody>
          <a:bodyPr wrap="square" rtlCol="0" anchor="t"/>
          <a:lstStyle/>
          <a:p>
            <a:pPr indent="0" marL="0">
              <a:lnSpc>
                <a:spcPct val="110000"/>
              </a:lnSpc>
              <a:spcAft>
                <a:spcPts val="432"/>
              </a:spcAft>
              <a:buNone/>
            </a:pPr>
            <a:r>
              <a:rPr lang="en-US" sz="1300" dirty="0">
                <a:solidFill>
                  <a:srgbClr val="3D4A57"/>
                </a:solidFill>
                <a:latin typeface="Arial" pitchFamily="34" charset="0"/>
                <a:ea typeface="Arial" pitchFamily="34" charset="-122"/>
                <a:cs typeface="Arial" pitchFamily="34" charset="-120"/>
              </a:rPr>
              <a:t>Never edit the page and the data separately. Change the array, then redraw. The page can never disagree with itself.</a:t>
            </a:r>
            <a:endParaRPr lang="en-US" sz="1300" dirty="0"/>
          </a:p>
        </p:txBody>
      </p:sp>
      <p:sp>
        <p:nvSpPr>
          <p:cNvPr id="27" name="Shape 25"/>
          <p:cNvSpPr/>
          <p:nvPr/>
        </p:nvSpPr>
        <p:spPr>
          <a:xfrm>
            <a:off x="548640" y="4617720"/>
            <a:ext cx="5486400" cy="1508760"/>
          </a:xfrm>
          <a:prstGeom prst="rect">
            <a:avLst>
              <a:gd name="adj" fmla="val 3636"/>
            </a:avLst>
          </a:prstGeom>
          <a:solidFill>
            <a:srgbClr val="FBEAE8"/>
          </a:solidFill>
          <a:ln w="12700">
            <a:solidFill>
              <a:srgbClr val="B3261E"/>
            </a:solidFill>
            <a:prstDash val="solid"/>
          </a:ln>
        </p:spPr>
      </p:sp>
      <p:sp>
        <p:nvSpPr>
          <p:cNvPr id="28" name="Text 26"/>
          <p:cNvSpPr/>
          <p:nvPr/>
        </p:nvSpPr>
        <p:spPr>
          <a:xfrm>
            <a:off x="713232" y="4782312"/>
            <a:ext cx="515721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The tempting shortcut</a:t>
            </a:r>
            <a:endParaRPr lang="en-US" sz="1500" dirty="0"/>
          </a:p>
        </p:txBody>
      </p:sp>
      <p:sp>
        <p:nvSpPr>
          <p:cNvPr id="29" name="Text 27"/>
          <p:cNvSpPr/>
          <p:nvPr/>
        </p:nvSpPr>
        <p:spPr>
          <a:xfrm>
            <a:off x="713232" y="5129784"/>
            <a:ext cx="5157216" cy="88696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Deleting a card with element.remove()</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It vanishes, so it looks finished</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It comes back on the next redraw</a:t>
            </a:r>
            <a:endParaRPr lang="en-US" sz="1250" dirty="0"/>
          </a:p>
        </p:txBody>
      </p:sp>
      <p:sp>
        <p:nvSpPr>
          <p:cNvPr id="30" name="Shape 28"/>
          <p:cNvSpPr/>
          <p:nvPr/>
        </p:nvSpPr>
        <p:spPr>
          <a:xfrm>
            <a:off x="6355080" y="4617720"/>
            <a:ext cx="5285232" cy="1508760"/>
          </a:xfrm>
          <a:prstGeom prst="rect">
            <a:avLst>
              <a:gd name="adj" fmla="val 3636"/>
            </a:avLst>
          </a:prstGeom>
          <a:solidFill>
            <a:srgbClr val="F2F5F8"/>
          </a:solidFill>
          <a:ln w="12700">
            <a:solidFill>
              <a:srgbClr val="D6DEE6"/>
            </a:solidFill>
            <a:prstDash val="solid"/>
          </a:ln>
        </p:spPr>
      </p:sp>
      <p:sp>
        <p:nvSpPr>
          <p:cNvPr id="31" name="Text 29"/>
          <p:cNvSpPr/>
          <p:nvPr/>
        </p:nvSpPr>
        <p:spPr>
          <a:xfrm>
            <a:off x="6519672" y="4782312"/>
            <a:ext cx="495604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Why it comes back</a:t>
            </a:r>
            <a:endParaRPr lang="en-US" sz="1500" dirty="0"/>
          </a:p>
        </p:txBody>
      </p:sp>
      <p:sp>
        <p:nvSpPr>
          <p:cNvPr id="32" name="Text 30"/>
          <p:cNvSpPr/>
          <p:nvPr/>
        </p:nvSpPr>
        <p:spPr>
          <a:xfrm>
            <a:off x="6519672" y="5129784"/>
            <a:ext cx="4956048" cy="8869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removed the picture, not the thing</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array still has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Listeners on elements you created</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10</a:t>
            </a:r>
            <a:endParaRPr lang="en-US" sz="950" dirty="0"/>
          </a:p>
        </p:txBody>
      </p:sp>
      <p:sp>
        <p:nvSpPr>
          <p:cNvPr id="7" name="Shape 5"/>
          <p:cNvSpPr/>
          <p:nvPr/>
        </p:nvSpPr>
        <p:spPr>
          <a:xfrm>
            <a:off x="548640" y="1234440"/>
            <a:ext cx="6766560" cy="3314192"/>
          </a:xfrm>
          <a:prstGeom prst="rect">
            <a:avLst>
              <a:gd name="adj" fmla="val 1380"/>
            </a:avLst>
          </a:prstGeom>
          <a:solidFill>
            <a:srgbClr val="0D1B2A"/>
          </a:solidFill>
          <a:ln w="12700">
            <a:solidFill>
              <a:srgbClr val="0D1B2A"/>
            </a:solidFill>
            <a:prstDash val="solid"/>
          </a:ln>
        </p:spPr>
      </p:sp>
      <p:sp>
        <p:nvSpPr>
          <p:cNvPr id="8" name="Text 6"/>
          <p:cNvSpPr/>
          <p:nvPr/>
        </p:nvSpPr>
        <p:spPr>
          <a:xfrm>
            <a:off x="685800" y="1344168"/>
            <a:ext cx="6492240" cy="3094736"/>
          </a:xfrm>
          <a:prstGeom prst="rect">
            <a:avLst/>
          </a:prstGeom>
          <a:noFill/>
          <a:ln/>
        </p:spPr>
        <p:txBody>
          <a:bodyPr wrap="square" rtlCol="0" anchor="t"/>
          <a:lstStyle/>
          <a:p>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function</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renderBooks(list)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library.innerHTML =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 clear first, always</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for</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book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of</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list)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article = document.createElement(</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"article"</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btn = document.createElement(</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"button"</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btn.textContent =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"Remove"</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 attach the listener as you create the button</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btn.addEventListener(</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 =&gt;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removeBook(book.id);</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article.appendChild(btn);</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library.appendChild(article);</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p:txBody>
      </p:sp>
      <p:sp>
        <p:nvSpPr>
          <p:cNvPr id="9" name="Shape 7"/>
          <p:cNvSpPr/>
          <p:nvPr/>
        </p:nvSpPr>
        <p:spPr>
          <a:xfrm>
            <a:off x="7635240" y="1234440"/>
            <a:ext cx="4553712" cy="2103120"/>
          </a:xfrm>
          <a:prstGeom prst="rect">
            <a:avLst>
              <a:gd name="adj" fmla="val 2609"/>
            </a:avLst>
          </a:prstGeom>
          <a:solidFill>
            <a:srgbClr val="FBEAE8"/>
          </a:solidFill>
          <a:ln w="12700">
            <a:solidFill>
              <a:srgbClr val="B3261E"/>
            </a:solidFill>
            <a:prstDash val="solid"/>
          </a:ln>
        </p:spPr>
      </p:sp>
      <p:sp>
        <p:nvSpPr>
          <p:cNvPr id="10" name="Shape 8"/>
          <p:cNvSpPr/>
          <p:nvPr/>
        </p:nvSpPr>
        <p:spPr>
          <a:xfrm>
            <a:off x="7799832" y="1399032"/>
            <a:ext cx="1476756" cy="256032"/>
          </a:xfrm>
          <a:prstGeom prst="rect">
            <a:avLst>
              <a:gd name="adj" fmla="val 17857"/>
            </a:avLst>
          </a:prstGeom>
          <a:solidFill>
            <a:srgbClr val="B3261E"/>
          </a:solidFill>
          <a:ln/>
        </p:spPr>
      </p:sp>
      <p:sp>
        <p:nvSpPr>
          <p:cNvPr id="11" name="Text 9"/>
          <p:cNvSpPr/>
          <p:nvPr/>
        </p:nvSpPr>
        <p:spPr>
          <a:xfrm>
            <a:off x="7799832" y="1399032"/>
            <a:ext cx="147675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WHY NOT OUTSIDE</a:t>
            </a:r>
            <a:endParaRPr lang="en-US" sz="950" dirty="0"/>
          </a:p>
        </p:txBody>
      </p:sp>
      <p:sp>
        <p:nvSpPr>
          <p:cNvPr id="12" name="Text 10"/>
          <p:cNvSpPr/>
          <p:nvPr/>
        </p:nvSpPr>
        <p:spPr>
          <a:xfrm>
            <a:off x="7799832" y="176479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A listener needs an element</a:t>
            </a:r>
            <a:endParaRPr lang="en-US" sz="1500" dirty="0"/>
          </a:p>
        </p:txBody>
      </p:sp>
      <p:sp>
        <p:nvSpPr>
          <p:cNvPr id="13" name="Text 11"/>
          <p:cNvSpPr/>
          <p:nvPr/>
        </p:nvSpPr>
        <p:spPr>
          <a:xfrm>
            <a:off x="7799832" y="2112264"/>
            <a:ext cx="4224528" cy="111556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Attach it at load and the buttons do not exist yet</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querySelectorAll finds nothing, silently</a:t>
            </a:r>
            <a:endParaRPr lang="en-US" sz="1250" dirty="0"/>
          </a:p>
        </p:txBody>
      </p:sp>
      <p:sp>
        <p:nvSpPr>
          <p:cNvPr id="14" name="Shape 12"/>
          <p:cNvSpPr/>
          <p:nvPr/>
        </p:nvSpPr>
        <p:spPr>
          <a:xfrm>
            <a:off x="7635240" y="3474720"/>
            <a:ext cx="4553712" cy="1371600"/>
          </a:xfrm>
          <a:prstGeom prst="rect">
            <a:avLst>
              <a:gd name="adj" fmla="val 4000"/>
            </a:avLst>
          </a:prstGeom>
          <a:solidFill>
            <a:srgbClr val="FDF3E1"/>
          </a:solidFill>
          <a:ln w="12700">
            <a:solidFill>
              <a:srgbClr val="E39A18"/>
            </a:solidFill>
            <a:prstDash val="solid"/>
          </a:ln>
        </p:spPr>
      </p:sp>
      <p:sp>
        <p:nvSpPr>
          <p:cNvPr id="15" name="Text 13"/>
          <p:cNvSpPr/>
          <p:nvPr/>
        </p:nvSpPr>
        <p:spPr>
          <a:xfrm>
            <a:off x="7799832" y="3639312"/>
            <a:ext cx="4224528"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Clear before you draw</a:t>
            </a:r>
            <a:endParaRPr lang="en-US" sz="1500" dirty="0"/>
          </a:p>
        </p:txBody>
      </p:sp>
      <p:sp>
        <p:nvSpPr>
          <p:cNvPr id="16" name="Text 14"/>
          <p:cNvSpPr/>
          <p:nvPr/>
        </p:nvSpPr>
        <p:spPr>
          <a:xfrm>
            <a:off x="7799832" y="3986784"/>
            <a:ext cx="4224528" cy="749808"/>
          </a:xfrm>
          <a:prstGeom prst="rect">
            <a:avLst/>
          </a:prstGeom>
          <a:noFill/>
          <a:ln/>
        </p:spPr>
        <p:txBody>
          <a:bodyPr wrap="square" rtlCol="0" anchor="t"/>
          <a:lstStyle/>
          <a:p>
            <a:pPr indent="0" marL="0">
              <a:lnSpc>
                <a:spcPct val="110000"/>
              </a:lnSpc>
              <a:spcAft>
                <a:spcPts val="432"/>
              </a:spcAft>
              <a:buNone/>
            </a:pPr>
            <a:r>
              <a:rPr lang="en-US" sz="1200" dirty="0">
                <a:solidFill>
                  <a:srgbClr val="4A3000"/>
                </a:solidFill>
                <a:latin typeface="Arial" pitchFamily="34" charset="0"/>
                <a:ea typeface="Arial" pitchFamily="34" charset="-122"/>
                <a:cs typeface="Arial" pitchFamily="34" charset="-120"/>
              </a:rPr>
              <a:t>Forget innerHTML = "" and every render doubles the list.</a:t>
            </a:r>
            <a:endParaRPr lang="en-US" sz="1200" dirty="0"/>
          </a:p>
        </p:txBody>
      </p:sp>
      <p:sp>
        <p:nvSpPr>
          <p:cNvPr id="17" name="Shape 15"/>
          <p:cNvSpPr/>
          <p:nvPr/>
        </p:nvSpPr>
        <p:spPr>
          <a:xfrm>
            <a:off x="7635240" y="4983480"/>
            <a:ext cx="4553712" cy="1143000"/>
          </a:xfrm>
          <a:prstGeom prst="rect">
            <a:avLst>
              <a:gd name="adj" fmla="val 4800"/>
            </a:avLst>
          </a:prstGeom>
          <a:solidFill>
            <a:srgbClr val="F2F5F8"/>
          </a:solidFill>
          <a:ln w="12700">
            <a:solidFill>
              <a:srgbClr val="D6DEE6"/>
            </a:solidFill>
            <a:prstDash val="solid"/>
          </a:ln>
        </p:spPr>
      </p:sp>
      <p:sp>
        <p:nvSpPr>
          <p:cNvPr id="18" name="Text 16"/>
          <p:cNvSpPr/>
          <p:nvPr/>
        </p:nvSpPr>
        <p:spPr>
          <a:xfrm>
            <a:off x="7799832" y="5148072"/>
            <a:ext cx="422452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Later: delegation</a:t>
            </a:r>
            <a:endParaRPr lang="en-US" sz="1500" dirty="0"/>
          </a:p>
        </p:txBody>
      </p:sp>
      <p:sp>
        <p:nvSpPr>
          <p:cNvPr id="19" name="Text 17"/>
          <p:cNvSpPr/>
          <p:nvPr/>
        </p:nvSpPr>
        <p:spPr>
          <a:xfrm>
            <a:off x="7799832" y="5495544"/>
            <a:ext cx="4224528" cy="52120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One listener on the parent. C4 Exercise 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30-43 MIN · STUDENT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Live build: a reading list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11</a:t>
            </a:r>
            <a:endParaRPr lang="en-US" sz="950" dirty="0"/>
          </a:p>
        </p:txBody>
      </p:sp>
      <p:sp>
        <p:nvSpPr>
          <p:cNvPr id="7" name="Shape 5"/>
          <p:cNvSpPr/>
          <p:nvPr/>
        </p:nvSpPr>
        <p:spPr>
          <a:xfrm>
            <a:off x="548640" y="1298448"/>
            <a:ext cx="6675120" cy="4754880"/>
          </a:xfrm>
          <a:prstGeom prst="rect">
            <a:avLst>
              <a:gd name="adj" fmla="val 962"/>
            </a:avLst>
          </a:prstGeom>
          <a:solidFill>
            <a:srgbClr val="FFFFFF"/>
          </a:solidFill>
          <a:ln w="12700">
            <a:solidFill>
              <a:srgbClr val="D6DEE6"/>
            </a:solidFill>
            <a:prstDash val="solid"/>
          </a:ln>
        </p:spPr>
      </p:sp>
      <p:sp>
        <p:nvSpPr>
          <p:cNvPr id="8" name="Shape 6"/>
          <p:cNvSpPr/>
          <p:nvPr/>
        </p:nvSpPr>
        <p:spPr>
          <a:xfrm>
            <a:off x="548640" y="1298448"/>
            <a:ext cx="6675120" cy="274320"/>
          </a:xfrm>
          <a:prstGeom prst="rect">
            <a:avLst/>
          </a:prstGeom>
          <a:solidFill>
            <a:srgbClr val="E8EEF4"/>
          </a:solidFill>
          <a:ln w="12700">
            <a:solidFill>
              <a:srgbClr val="D6DEE6"/>
            </a:solidFill>
            <a:prstDash val="solid"/>
          </a:ln>
        </p:spPr>
      </p:sp>
      <p:sp>
        <p:nvSpPr>
          <p:cNvPr id="9" name="Shape 7"/>
          <p:cNvSpPr/>
          <p:nvPr/>
        </p:nvSpPr>
        <p:spPr>
          <a:xfrm>
            <a:off x="658368" y="1380744"/>
            <a:ext cx="109728" cy="109728"/>
          </a:xfrm>
          <a:prstGeom prst="ellipse">
            <a:avLst/>
          </a:prstGeom>
          <a:solidFill>
            <a:srgbClr val="E06C5A"/>
          </a:solidFill>
          <a:ln w="12700">
            <a:solidFill>
              <a:srgbClr val="333333"/>
            </a:solidFill>
            <a:prstDash val="solid"/>
          </a:ln>
        </p:spPr>
      </p:sp>
      <p:sp>
        <p:nvSpPr>
          <p:cNvPr id="10" name="Shape 8"/>
          <p:cNvSpPr/>
          <p:nvPr/>
        </p:nvSpPr>
        <p:spPr>
          <a:xfrm>
            <a:off x="822960" y="1380744"/>
            <a:ext cx="109728" cy="109728"/>
          </a:xfrm>
          <a:prstGeom prst="ellipse">
            <a:avLst/>
          </a:prstGeom>
          <a:solidFill>
            <a:srgbClr val="E3B341"/>
          </a:solidFill>
          <a:ln w="12700">
            <a:solidFill>
              <a:srgbClr val="333333"/>
            </a:solidFill>
            <a:prstDash val="solid"/>
          </a:ln>
        </p:spPr>
      </p:sp>
      <p:sp>
        <p:nvSpPr>
          <p:cNvPr id="11" name="Shape 9"/>
          <p:cNvSpPr/>
          <p:nvPr/>
        </p:nvSpPr>
        <p:spPr>
          <a:xfrm>
            <a:off x="987552" y="1380744"/>
            <a:ext cx="109728" cy="109728"/>
          </a:xfrm>
          <a:prstGeom prst="ellipse">
            <a:avLst/>
          </a:prstGeom>
          <a:solidFill>
            <a:srgbClr val="6FBF73"/>
          </a:solidFill>
          <a:ln w="12700">
            <a:solidFill>
              <a:srgbClr val="333333"/>
            </a:solidFill>
            <a:prstDash val="solid"/>
          </a:ln>
        </p:spPr>
      </p:sp>
      <p:sp>
        <p:nvSpPr>
          <p:cNvPr id="12" name="Text 10"/>
          <p:cNvSpPr/>
          <p:nvPr/>
        </p:nvSpPr>
        <p:spPr>
          <a:xfrm>
            <a:off x="1234440" y="1316736"/>
            <a:ext cx="5852160" cy="237744"/>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reading-list.html</a:t>
            </a:r>
            <a:endParaRPr lang="en-US" sz="950" dirty="0"/>
          </a:p>
        </p:txBody>
      </p:sp>
      <p:sp>
        <p:nvSpPr>
          <p:cNvPr id="13" name="Text 11"/>
          <p:cNvSpPr/>
          <p:nvPr/>
        </p:nvSpPr>
        <p:spPr>
          <a:xfrm>
            <a:off x="868680" y="1737360"/>
            <a:ext cx="6035040" cy="329184"/>
          </a:xfrm>
          <a:prstGeom prst="rect">
            <a:avLst/>
          </a:prstGeom>
          <a:noFill/>
          <a:ln/>
        </p:spPr>
        <p:txBody>
          <a:bodyPr wrap="square" rtlCol="0" anchor="ctr"/>
          <a:lstStyle/>
          <a:p>
            <a:pPr indent="0" marL="0">
              <a:buNone/>
            </a:pPr>
            <a:r>
              <a:rPr lang="en-US" sz="1700" b="1" dirty="0">
                <a:solidFill>
                  <a:srgbClr val="003366"/>
                </a:solidFill>
                <a:latin typeface="Arial" pitchFamily="34" charset="0"/>
                <a:ea typeface="Arial" pitchFamily="34" charset="-122"/>
                <a:cs typeface="Arial" pitchFamily="34" charset="-120"/>
              </a:rPr>
              <a:t>Reading List</a:t>
            </a:r>
            <a:endParaRPr lang="en-US" sz="1700" dirty="0"/>
          </a:p>
        </p:txBody>
      </p:sp>
      <p:sp>
        <p:nvSpPr>
          <p:cNvPr id="14" name="Shape 12"/>
          <p:cNvSpPr/>
          <p:nvPr/>
        </p:nvSpPr>
        <p:spPr>
          <a:xfrm>
            <a:off x="868680" y="2212848"/>
            <a:ext cx="2011680" cy="329184"/>
          </a:xfrm>
          <a:prstGeom prst="rect">
            <a:avLst>
              <a:gd name="adj" fmla="val 11111"/>
            </a:avLst>
          </a:prstGeom>
          <a:solidFill>
            <a:srgbClr val="FFFFFF"/>
          </a:solidFill>
          <a:ln w="12700">
            <a:solidFill>
              <a:srgbClr val="D6DEE6"/>
            </a:solidFill>
            <a:prstDash val="solid"/>
          </a:ln>
        </p:spPr>
      </p:sp>
      <p:sp>
        <p:nvSpPr>
          <p:cNvPr id="15" name="Text 13"/>
          <p:cNvSpPr/>
          <p:nvPr/>
        </p:nvSpPr>
        <p:spPr>
          <a:xfrm>
            <a:off x="987552" y="2212848"/>
            <a:ext cx="1828800" cy="329184"/>
          </a:xfrm>
          <a:prstGeom prst="rect">
            <a:avLst/>
          </a:prstGeom>
          <a:noFill/>
          <a:ln/>
        </p:spPr>
        <p:txBody>
          <a:bodyPr wrap="square" rtlCol="0" anchor="ctr"/>
          <a:lstStyle/>
          <a:p>
            <a:pPr indent="0" marL="0">
              <a:buNone/>
            </a:pPr>
            <a:r>
              <a:rPr lang="en-US" sz="1050" dirty="0">
                <a:solidFill>
                  <a:srgbClr val="6B7A88"/>
                </a:solidFill>
                <a:latin typeface="Arial" pitchFamily="34" charset="0"/>
                <a:ea typeface="Arial" pitchFamily="34" charset="-122"/>
                <a:cs typeface="Arial" pitchFamily="34" charset="-120"/>
              </a:rPr>
              <a:t>Title</a:t>
            </a:r>
            <a:endParaRPr lang="en-US" sz="1050" dirty="0"/>
          </a:p>
        </p:txBody>
      </p:sp>
      <p:sp>
        <p:nvSpPr>
          <p:cNvPr id="16" name="Shape 14"/>
          <p:cNvSpPr/>
          <p:nvPr/>
        </p:nvSpPr>
        <p:spPr>
          <a:xfrm>
            <a:off x="3017520" y="2212848"/>
            <a:ext cx="2011680" cy="329184"/>
          </a:xfrm>
          <a:prstGeom prst="rect">
            <a:avLst>
              <a:gd name="adj" fmla="val 11111"/>
            </a:avLst>
          </a:prstGeom>
          <a:solidFill>
            <a:srgbClr val="FFFFFF"/>
          </a:solidFill>
          <a:ln w="12700">
            <a:solidFill>
              <a:srgbClr val="D6DEE6"/>
            </a:solidFill>
            <a:prstDash val="solid"/>
          </a:ln>
        </p:spPr>
      </p:sp>
      <p:sp>
        <p:nvSpPr>
          <p:cNvPr id="17" name="Text 15"/>
          <p:cNvSpPr/>
          <p:nvPr/>
        </p:nvSpPr>
        <p:spPr>
          <a:xfrm>
            <a:off x="3136392" y="2212848"/>
            <a:ext cx="1828800" cy="329184"/>
          </a:xfrm>
          <a:prstGeom prst="rect">
            <a:avLst/>
          </a:prstGeom>
          <a:noFill/>
          <a:ln/>
        </p:spPr>
        <p:txBody>
          <a:bodyPr wrap="square" rtlCol="0" anchor="ctr"/>
          <a:lstStyle/>
          <a:p>
            <a:pPr indent="0" marL="0">
              <a:buNone/>
            </a:pPr>
            <a:r>
              <a:rPr lang="en-US" sz="1050" dirty="0">
                <a:solidFill>
                  <a:srgbClr val="6B7A88"/>
                </a:solidFill>
                <a:latin typeface="Arial" pitchFamily="34" charset="0"/>
                <a:ea typeface="Arial" pitchFamily="34" charset="-122"/>
                <a:cs typeface="Arial" pitchFamily="34" charset="-120"/>
              </a:rPr>
              <a:t>Author</a:t>
            </a:r>
            <a:endParaRPr lang="en-US" sz="1050" dirty="0"/>
          </a:p>
        </p:txBody>
      </p:sp>
      <p:sp>
        <p:nvSpPr>
          <p:cNvPr id="18" name="Shape 16"/>
          <p:cNvSpPr/>
          <p:nvPr/>
        </p:nvSpPr>
        <p:spPr>
          <a:xfrm>
            <a:off x="5166360" y="2212848"/>
            <a:ext cx="777240" cy="329184"/>
          </a:xfrm>
          <a:prstGeom prst="rect">
            <a:avLst>
              <a:gd name="adj" fmla="val 11111"/>
            </a:avLst>
          </a:prstGeom>
          <a:solidFill>
            <a:srgbClr val="FFFFFF"/>
          </a:solidFill>
          <a:ln w="12700">
            <a:solidFill>
              <a:srgbClr val="D6DEE6"/>
            </a:solidFill>
            <a:prstDash val="solid"/>
          </a:ln>
        </p:spPr>
      </p:sp>
      <p:sp>
        <p:nvSpPr>
          <p:cNvPr id="19" name="Text 17"/>
          <p:cNvSpPr/>
          <p:nvPr/>
        </p:nvSpPr>
        <p:spPr>
          <a:xfrm>
            <a:off x="5276088" y="2212848"/>
            <a:ext cx="640080" cy="329184"/>
          </a:xfrm>
          <a:prstGeom prst="rect">
            <a:avLst/>
          </a:prstGeom>
          <a:noFill/>
          <a:ln/>
        </p:spPr>
        <p:txBody>
          <a:bodyPr wrap="square" rtlCol="0" anchor="ctr"/>
          <a:lstStyle/>
          <a:p>
            <a:pPr indent="0" marL="0">
              <a:buNone/>
            </a:pPr>
            <a:r>
              <a:rPr lang="en-US" sz="1050" dirty="0">
                <a:solidFill>
                  <a:srgbClr val="6B7A88"/>
                </a:solidFill>
                <a:latin typeface="Arial" pitchFamily="34" charset="0"/>
                <a:ea typeface="Arial" pitchFamily="34" charset="-122"/>
                <a:cs typeface="Arial" pitchFamily="34" charset="-120"/>
              </a:rPr>
              <a:t>Year</a:t>
            </a:r>
            <a:endParaRPr lang="en-US" sz="1050" dirty="0"/>
          </a:p>
        </p:txBody>
      </p:sp>
      <p:sp>
        <p:nvSpPr>
          <p:cNvPr id="20" name="Shape 18"/>
          <p:cNvSpPr/>
          <p:nvPr/>
        </p:nvSpPr>
        <p:spPr>
          <a:xfrm>
            <a:off x="6080760" y="2212848"/>
            <a:ext cx="777240" cy="329184"/>
          </a:xfrm>
          <a:prstGeom prst="rect">
            <a:avLst>
              <a:gd name="adj" fmla="val 11111"/>
            </a:avLst>
          </a:prstGeom>
          <a:solidFill>
            <a:srgbClr val="003366"/>
          </a:solidFill>
          <a:ln/>
        </p:spPr>
      </p:sp>
      <p:sp>
        <p:nvSpPr>
          <p:cNvPr id="21" name="Text 19"/>
          <p:cNvSpPr/>
          <p:nvPr/>
        </p:nvSpPr>
        <p:spPr>
          <a:xfrm>
            <a:off x="6080760" y="2212848"/>
            <a:ext cx="777240" cy="329184"/>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Add</a:t>
            </a:r>
            <a:endParaRPr lang="en-US" sz="1050" dirty="0"/>
          </a:p>
        </p:txBody>
      </p:sp>
      <p:sp>
        <p:nvSpPr>
          <p:cNvPr id="22" name="Shape 20"/>
          <p:cNvSpPr/>
          <p:nvPr/>
        </p:nvSpPr>
        <p:spPr>
          <a:xfrm>
            <a:off x="868680" y="2788920"/>
            <a:ext cx="5989320" cy="603504"/>
          </a:xfrm>
          <a:prstGeom prst="rect">
            <a:avLst>
              <a:gd name="adj" fmla="val 7576"/>
            </a:avLst>
          </a:prstGeom>
          <a:solidFill>
            <a:srgbClr val="F2F5F8"/>
          </a:solidFill>
          <a:ln w="12700">
            <a:solidFill>
              <a:srgbClr val="D6DEE6"/>
            </a:solidFill>
            <a:prstDash val="solid"/>
          </a:ln>
        </p:spPr>
      </p:sp>
      <p:sp>
        <p:nvSpPr>
          <p:cNvPr id="23" name="Text 21"/>
          <p:cNvSpPr/>
          <p:nvPr/>
        </p:nvSpPr>
        <p:spPr>
          <a:xfrm>
            <a:off x="1024128" y="2843784"/>
            <a:ext cx="3840480" cy="256032"/>
          </a:xfrm>
          <a:prstGeom prst="rect">
            <a:avLst/>
          </a:prstGeom>
          <a:noFill/>
          <a:ln/>
        </p:spPr>
        <p:txBody>
          <a:bodyPr wrap="square" rtlCol="0" anchor="ctr"/>
          <a:lstStyle/>
          <a:p>
            <a:pPr indent="0" marL="0">
              <a:buNone/>
            </a:pPr>
            <a:r>
              <a:rPr lang="en-US" sz="1150" b="1" dirty="0">
                <a:solidFill>
                  <a:srgbClr val="003366"/>
                </a:solidFill>
                <a:latin typeface="Arial" pitchFamily="34" charset="0"/>
                <a:ea typeface="Arial" pitchFamily="34" charset="-122"/>
                <a:cs typeface="Arial" pitchFamily="34" charset="-120"/>
              </a:rPr>
              <a:t>Eloquent JavaScript</a:t>
            </a:r>
            <a:endParaRPr lang="en-US" sz="1150" dirty="0"/>
          </a:p>
        </p:txBody>
      </p:sp>
      <p:sp>
        <p:nvSpPr>
          <p:cNvPr id="24" name="Text 22"/>
          <p:cNvSpPr/>
          <p:nvPr/>
        </p:nvSpPr>
        <p:spPr>
          <a:xfrm>
            <a:off x="1024128" y="3090672"/>
            <a:ext cx="3840480" cy="237744"/>
          </a:xfrm>
          <a:prstGeom prst="rect">
            <a:avLst/>
          </a:prstGeom>
          <a:noFill/>
          <a:ln/>
        </p:spPr>
        <p:txBody>
          <a:bodyPr wrap="square" rtlCol="0" anchor="ctr"/>
          <a:lstStyle/>
          <a:p>
            <a:pPr indent="0" marL="0">
              <a:buNone/>
            </a:pPr>
            <a:r>
              <a:rPr lang="en-US" sz="1000" dirty="0">
                <a:solidFill>
                  <a:srgbClr val="6B7A88"/>
                </a:solidFill>
                <a:latin typeface="Arial" pitchFamily="34" charset="0"/>
                <a:ea typeface="Arial" pitchFamily="34" charset="-122"/>
                <a:cs typeface="Arial" pitchFamily="34" charset="-120"/>
              </a:rPr>
              <a:t>Haverbeke · 2018</a:t>
            </a:r>
            <a:endParaRPr lang="en-US" sz="1000" dirty="0"/>
          </a:p>
        </p:txBody>
      </p:sp>
      <p:sp>
        <p:nvSpPr>
          <p:cNvPr id="25" name="Shape 23"/>
          <p:cNvSpPr/>
          <p:nvPr/>
        </p:nvSpPr>
        <p:spPr>
          <a:xfrm>
            <a:off x="5779008" y="2944368"/>
            <a:ext cx="914400" cy="292608"/>
          </a:xfrm>
          <a:prstGeom prst="rect">
            <a:avLst>
              <a:gd name="adj" fmla="val 12500"/>
            </a:avLst>
          </a:prstGeom>
          <a:solidFill>
            <a:srgbClr val="FBEAE8"/>
          </a:solidFill>
          <a:ln w="12700">
            <a:solidFill>
              <a:srgbClr val="B3261E"/>
            </a:solidFill>
            <a:prstDash val="solid"/>
          </a:ln>
        </p:spPr>
      </p:sp>
      <p:sp>
        <p:nvSpPr>
          <p:cNvPr id="26" name="Text 24"/>
          <p:cNvSpPr/>
          <p:nvPr/>
        </p:nvSpPr>
        <p:spPr>
          <a:xfrm>
            <a:off x="5779008" y="2944368"/>
            <a:ext cx="914400" cy="292608"/>
          </a:xfrm>
          <a:prstGeom prst="rect">
            <a:avLst/>
          </a:prstGeom>
          <a:noFill/>
          <a:ln/>
        </p:spPr>
        <p:txBody>
          <a:bodyPr wrap="square" rtlCol="0" anchor="ctr"/>
          <a:lstStyle/>
          <a:p>
            <a:pPr algn="ctr" indent="0" marL="0">
              <a:buNone/>
            </a:pPr>
            <a:r>
              <a:rPr lang="en-US" sz="850" b="1" dirty="0">
                <a:solidFill>
                  <a:srgbClr val="B3261E"/>
                </a:solidFill>
                <a:latin typeface="Arial" pitchFamily="34" charset="0"/>
                <a:ea typeface="Arial" pitchFamily="34" charset="-122"/>
                <a:cs typeface="Arial" pitchFamily="34" charset="-120"/>
              </a:rPr>
              <a:t>Remove</a:t>
            </a:r>
            <a:endParaRPr lang="en-US" sz="850" dirty="0"/>
          </a:p>
        </p:txBody>
      </p:sp>
      <p:sp>
        <p:nvSpPr>
          <p:cNvPr id="27" name="Shape 25"/>
          <p:cNvSpPr/>
          <p:nvPr/>
        </p:nvSpPr>
        <p:spPr>
          <a:xfrm>
            <a:off x="868680" y="3502152"/>
            <a:ext cx="5989320" cy="603504"/>
          </a:xfrm>
          <a:prstGeom prst="rect">
            <a:avLst>
              <a:gd name="adj" fmla="val 7576"/>
            </a:avLst>
          </a:prstGeom>
          <a:solidFill>
            <a:srgbClr val="F2F5F8"/>
          </a:solidFill>
          <a:ln w="12700">
            <a:solidFill>
              <a:srgbClr val="D6DEE6"/>
            </a:solidFill>
            <a:prstDash val="solid"/>
          </a:ln>
        </p:spPr>
      </p:sp>
      <p:sp>
        <p:nvSpPr>
          <p:cNvPr id="28" name="Text 26"/>
          <p:cNvSpPr/>
          <p:nvPr/>
        </p:nvSpPr>
        <p:spPr>
          <a:xfrm>
            <a:off x="1024128" y="3557016"/>
            <a:ext cx="3840480" cy="256032"/>
          </a:xfrm>
          <a:prstGeom prst="rect">
            <a:avLst/>
          </a:prstGeom>
          <a:noFill/>
          <a:ln/>
        </p:spPr>
        <p:txBody>
          <a:bodyPr wrap="square" rtlCol="0" anchor="ctr"/>
          <a:lstStyle/>
          <a:p>
            <a:pPr indent="0" marL="0">
              <a:buNone/>
            </a:pPr>
            <a:r>
              <a:rPr lang="en-US" sz="1150" b="1" dirty="0">
                <a:solidFill>
                  <a:srgbClr val="003366"/>
                </a:solidFill>
                <a:latin typeface="Arial" pitchFamily="34" charset="0"/>
                <a:ea typeface="Arial" pitchFamily="34" charset="-122"/>
                <a:cs typeface="Arial" pitchFamily="34" charset="-120"/>
              </a:rPr>
              <a:t>You Don't Know JS</a:t>
            </a:r>
            <a:endParaRPr lang="en-US" sz="1150" dirty="0"/>
          </a:p>
        </p:txBody>
      </p:sp>
      <p:sp>
        <p:nvSpPr>
          <p:cNvPr id="29" name="Text 27"/>
          <p:cNvSpPr/>
          <p:nvPr/>
        </p:nvSpPr>
        <p:spPr>
          <a:xfrm>
            <a:off x="1024128" y="3803904"/>
            <a:ext cx="3840480" cy="237744"/>
          </a:xfrm>
          <a:prstGeom prst="rect">
            <a:avLst/>
          </a:prstGeom>
          <a:noFill/>
          <a:ln/>
        </p:spPr>
        <p:txBody>
          <a:bodyPr wrap="square" rtlCol="0" anchor="ctr"/>
          <a:lstStyle/>
          <a:p>
            <a:pPr indent="0" marL="0">
              <a:buNone/>
            </a:pPr>
            <a:r>
              <a:rPr lang="en-US" sz="1000" dirty="0">
                <a:solidFill>
                  <a:srgbClr val="6B7A88"/>
                </a:solidFill>
                <a:latin typeface="Arial" pitchFamily="34" charset="0"/>
                <a:ea typeface="Arial" pitchFamily="34" charset="-122"/>
                <a:cs typeface="Arial" pitchFamily="34" charset="-120"/>
              </a:rPr>
              <a:t>Simpson · 2020</a:t>
            </a:r>
            <a:endParaRPr lang="en-US" sz="1000" dirty="0"/>
          </a:p>
        </p:txBody>
      </p:sp>
      <p:sp>
        <p:nvSpPr>
          <p:cNvPr id="30" name="Shape 28"/>
          <p:cNvSpPr/>
          <p:nvPr/>
        </p:nvSpPr>
        <p:spPr>
          <a:xfrm>
            <a:off x="5779008" y="3657600"/>
            <a:ext cx="914400" cy="292608"/>
          </a:xfrm>
          <a:prstGeom prst="rect">
            <a:avLst>
              <a:gd name="adj" fmla="val 12500"/>
            </a:avLst>
          </a:prstGeom>
          <a:solidFill>
            <a:srgbClr val="FBEAE8"/>
          </a:solidFill>
          <a:ln w="12700">
            <a:solidFill>
              <a:srgbClr val="B3261E"/>
            </a:solidFill>
            <a:prstDash val="solid"/>
          </a:ln>
        </p:spPr>
      </p:sp>
      <p:sp>
        <p:nvSpPr>
          <p:cNvPr id="31" name="Text 29"/>
          <p:cNvSpPr/>
          <p:nvPr/>
        </p:nvSpPr>
        <p:spPr>
          <a:xfrm>
            <a:off x="5779008" y="3657600"/>
            <a:ext cx="914400" cy="292608"/>
          </a:xfrm>
          <a:prstGeom prst="rect">
            <a:avLst/>
          </a:prstGeom>
          <a:noFill/>
          <a:ln/>
        </p:spPr>
        <p:txBody>
          <a:bodyPr wrap="square" rtlCol="0" anchor="ctr"/>
          <a:lstStyle/>
          <a:p>
            <a:pPr algn="ctr" indent="0" marL="0">
              <a:buNone/>
            </a:pPr>
            <a:r>
              <a:rPr lang="en-US" sz="850" b="1" dirty="0">
                <a:solidFill>
                  <a:srgbClr val="B3261E"/>
                </a:solidFill>
                <a:latin typeface="Arial" pitchFamily="34" charset="0"/>
                <a:ea typeface="Arial" pitchFamily="34" charset="-122"/>
                <a:cs typeface="Arial" pitchFamily="34" charset="-120"/>
              </a:rPr>
              <a:t>Remove</a:t>
            </a:r>
            <a:endParaRPr lang="en-US" sz="850" dirty="0"/>
          </a:p>
        </p:txBody>
      </p:sp>
      <p:sp>
        <p:nvSpPr>
          <p:cNvPr id="32" name="Shape 30"/>
          <p:cNvSpPr/>
          <p:nvPr/>
        </p:nvSpPr>
        <p:spPr>
          <a:xfrm>
            <a:off x="868680" y="4215384"/>
            <a:ext cx="5989320" cy="603504"/>
          </a:xfrm>
          <a:prstGeom prst="rect">
            <a:avLst>
              <a:gd name="adj" fmla="val 7576"/>
            </a:avLst>
          </a:prstGeom>
          <a:solidFill>
            <a:srgbClr val="F2F5F8"/>
          </a:solidFill>
          <a:ln w="12700">
            <a:solidFill>
              <a:srgbClr val="D6DEE6"/>
            </a:solidFill>
            <a:prstDash val="solid"/>
          </a:ln>
        </p:spPr>
      </p:sp>
      <p:sp>
        <p:nvSpPr>
          <p:cNvPr id="33" name="Text 31"/>
          <p:cNvSpPr/>
          <p:nvPr/>
        </p:nvSpPr>
        <p:spPr>
          <a:xfrm>
            <a:off x="1024128" y="4270248"/>
            <a:ext cx="3840480" cy="256032"/>
          </a:xfrm>
          <a:prstGeom prst="rect">
            <a:avLst/>
          </a:prstGeom>
          <a:noFill/>
          <a:ln/>
        </p:spPr>
        <p:txBody>
          <a:bodyPr wrap="square" rtlCol="0" anchor="ctr"/>
          <a:lstStyle/>
          <a:p>
            <a:pPr indent="0" marL="0">
              <a:buNone/>
            </a:pPr>
            <a:r>
              <a:rPr lang="en-US" sz="1150" b="1" dirty="0">
                <a:solidFill>
                  <a:srgbClr val="003366"/>
                </a:solidFill>
                <a:latin typeface="Arial" pitchFamily="34" charset="0"/>
                <a:ea typeface="Arial" pitchFamily="34" charset="-122"/>
                <a:cs typeface="Arial" pitchFamily="34" charset="-120"/>
              </a:rPr>
              <a:t>Refactoring UI</a:t>
            </a:r>
            <a:endParaRPr lang="en-US" sz="1150" dirty="0"/>
          </a:p>
        </p:txBody>
      </p:sp>
      <p:sp>
        <p:nvSpPr>
          <p:cNvPr id="34" name="Text 32"/>
          <p:cNvSpPr/>
          <p:nvPr/>
        </p:nvSpPr>
        <p:spPr>
          <a:xfrm>
            <a:off x="1024128" y="4517136"/>
            <a:ext cx="3840480" cy="237744"/>
          </a:xfrm>
          <a:prstGeom prst="rect">
            <a:avLst/>
          </a:prstGeom>
          <a:noFill/>
          <a:ln/>
        </p:spPr>
        <p:txBody>
          <a:bodyPr wrap="square" rtlCol="0" anchor="ctr"/>
          <a:lstStyle/>
          <a:p>
            <a:pPr indent="0" marL="0">
              <a:buNone/>
            </a:pPr>
            <a:r>
              <a:rPr lang="en-US" sz="1000" dirty="0">
                <a:solidFill>
                  <a:srgbClr val="6B7A88"/>
                </a:solidFill>
                <a:latin typeface="Arial" pitchFamily="34" charset="0"/>
                <a:ea typeface="Arial" pitchFamily="34" charset="-122"/>
                <a:cs typeface="Arial" pitchFamily="34" charset="-120"/>
              </a:rPr>
              <a:t>Wathan · 2018</a:t>
            </a:r>
            <a:endParaRPr lang="en-US" sz="1000" dirty="0"/>
          </a:p>
        </p:txBody>
      </p:sp>
      <p:sp>
        <p:nvSpPr>
          <p:cNvPr id="35" name="Shape 33"/>
          <p:cNvSpPr/>
          <p:nvPr/>
        </p:nvSpPr>
        <p:spPr>
          <a:xfrm>
            <a:off x="5779008" y="4370832"/>
            <a:ext cx="914400" cy="292608"/>
          </a:xfrm>
          <a:prstGeom prst="rect">
            <a:avLst>
              <a:gd name="adj" fmla="val 12500"/>
            </a:avLst>
          </a:prstGeom>
          <a:solidFill>
            <a:srgbClr val="FBEAE8"/>
          </a:solidFill>
          <a:ln w="12700">
            <a:solidFill>
              <a:srgbClr val="B3261E"/>
            </a:solidFill>
            <a:prstDash val="solid"/>
          </a:ln>
        </p:spPr>
      </p:sp>
      <p:sp>
        <p:nvSpPr>
          <p:cNvPr id="36" name="Text 34"/>
          <p:cNvSpPr/>
          <p:nvPr/>
        </p:nvSpPr>
        <p:spPr>
          <a:xfrm>
            <a:off x="5779008" y="4370832"/>
            <a:ext cx="914400" cy="292608"/>
          </a:xfrm>
          <a:prstGeom prst="rect">
            <a:avLst/>
          </a:prstGeom>
          <a:noFill/>
          <a:ln/>
        </p:spPr>
        <p:txBody>
          <a:bodyPr wrap="square" rtlCol="0" anchor="ctr"/>
          <a:lstStyle/>
          <a:p>
            <a:pPr algn="ctr" indent="0" marL="0">
              <a:buNone/>
            </a:pPr>
            <a:r>
              <a:rPr lang="en-US" sz="850" b="1" dirty="0">
                <a:solidFill>
                  <a:srgbClr val="B3261E"/>
                </a:solidFill>
                <a:latin typeface="Arial" pitchFamily="34" charset="0"/>
                <a:ea typeface="Arial" pitchFamily="34" charset="-122"/>
                <a:cs typeface="Arial" pitchFamily="34" charset="-120"/>
              </a:rPr>
              <a:t>Remove</a:t>
            </a:r>
            <a:endParaRPr lang="en-US" sz="850" dirty="0"/>
          </a:p>
        </p:txBody>
      </p:sp>
      <p:sp>
        <p:nvSpPr>
          <p:cNvPr id="37" name="Text 35"/>
          <p:cNvSpPr/>
          <p:nvPr/>
        </p:nvSpPr>
        <p:spPr>
          <a:xfrm>
            <a:off x="868680" y="5029200"/>
            <a:ext cx="5989320" cy="274320"/>
          </a:xfrm>
          <a:prstGeom prst="rect">
            <a:avLst/>
          </a:prstGeom>
          <a:noFill/>
          <a:ln/>
        </p:spPr>
        <p:txBody>
          <a:bodyPr wrap="square" rtlCol="0" anchor="ctr"/>
          <a:lstStyle/>
          <a:p>
            <a:pPr indent="0" marL="0">
              <a:buNone/>
            </a:pPr>
            <a:r>
              <a:rPr lang="en-US" sz="1100" b="1" dirty="0">
                <a:solidFill>
                  <a:srgbClr val="003366"/>
                </a:solidFill>
                <a:latin typeface="Arial" pitchFamily="34" charset="0"/>
                <a:ea typeface="Arial" pitchFamily="34" charset="-122"/>
                <a:cs typeface="Arial" pitchFamily="34" charset="-120"/>
              </a:rPr>
              <a:t>3 books on the list</a:t>
            </a:r>
            <a:endParaRPr lang="en-US" sz="1100" dirty="0"/>
          </a:p>
        </p:txBody>
      </p:sp>
      <p:sp>
        <p:nvSpPr>
          <p:cNvPr id="38" name="Shape 36"/>
          <p:cNvSpPr/>
          <p:nvPr/>
        </p:nvSpPr>
        <p:spPr>
          <a:xfrm>
            <a:off x="7543800" y="1298448"/>
            <a:ext cx="4645152" cy="2331720"/>
          </a:xfrm>
          <a:prstGeom prst="rect">
            <a:avLst>
              <a:gd name="adj" fmla="val 2353"/>
            </a:avLst>
          </a:prstGeom>
          <a:solidFill>
            <a:srgbClr val="F2F5F8"/>
          </a:solidFill>
          <a:ln w="12700">
            <a:solidFill>
              <a:srgbClr val="D6DEE6"/>
            </a:solidFill>
            <a:prstDash val="solid"/>
          </a:ln>
        </p:spPr>
      </p:sp>
      <p:sp>
        <p:nvSpPr>
          <p:cNvPr id="39" name="Text 37"/>
          <p:cNvSpPr/>
          <p:nvPr/>
        </p:nvSpPr>
        <p:spPr>
          <a:xfrm>
            <a:off x="7708392" y="1463040"/>
            <a:ext cx="431596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What it does</a:t>
            </a:r>
            <a:endParaRPr lang="en-US" sz="1500" dirty="0"/>
          </a:p>
        </p:txBody>
      </p:sp>
      <p:sp>
        <p:nvSpPr>
          <p:cNvPr id="40" name="Text 38"/>
          <p:cNvSpPr/>
          <p:nvPr/>
        </p:nvSpPr>
        <p:spPr>
          <a:xfrm>
            <a:off x="7708392" y="1810512"/>
            <a:ext cx="4315968" cy="17099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Type a book and press Add, or press Enter</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It appears in the list immediately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Remove takes it out again</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count follows on its own</a:t>
            </a:r>
            <a:endParaRPr lang="en-US" sz="1250" dirty="0"/>
          </a:p>
        </p:txBody>
      </p:sp>
      <p:sp>
        <p:nvSpPr>
          <p:cNvPr id="41" name="Shape 39"/>
          <p:cNvSpPr/>
          <p:nvPr/>
        </p:nvSpPr>
        <p:spPr>
          <a:xfrm>
            <a:off x="7543800" y="3767328"/>
            <a:ext cx="4645152" cy="2286000"/>
          </a:xfrm>
          <a:prstGeom prst="rect">
            <a:avLst>
              <a:gd name="adj" fmla="val 2400"/>
            </a:avLst>
          </a:prstGeom>
          <a:solidFill>
            <a:srgbClr val="E7F4EE"/>
          </a:solidFill>
          <a:ln w="12700">
            <a:solidFill>
              <a:srgbClr val="1F7A55"/>
            </a:solidFill>
            <a:prstDash val="solid"/>
          </a:ln>
        </p:spPr>
      </p:sp>
      <p:sp>
        <p:nvSpPr>
          <p:cNvPr id="42" name="Text 40"/>
          <p:cNvSpPr/>
          <p:nvPr/>
        </p:nvSpPr>
        <p:spPr>
          <a:xfrm>
            <a:off x="7708392" y="3931920"/>
            <a:ext cx="431596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Everything is from this week</a:t>
            </a:r>
            <a:endParaRPr lang="en-US" sz="1500" dirty="0"/>
          </a:p>
        </p:txBody>
      </p:sp>
      <p:sp>
        <p:nvSpPr>
          <p:cNvPr id="43" name="Text 41"/>
          <p:cNvSpPr/>
          <p:nvPr/>
        </p:nvSpPr>
        <p:spPr>
          <a:xfrm>
            <a:off x="7708392" y="4279392"/>
            <a:ext cx="4315968" cy="16642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createElement and appendChild from Monday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addEventListener and preventDefault from today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One array, one render function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30-43 MIN · STUDENT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Steps 1 and 2: render, then add</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12</a:t>
            </a:r>
            <a:endParaRPr lang="en-US" sz="950" dirty="0"/>
          </a:p>
        </p:txBody>
      </p:sp>
      <p:sp>
        <p:nvSpPr>
          <p:cNvPr id="7" name="Text 5"/>
          <p:cNvSpPr/>
          <p:nvPr/>
        </p:nvSpPr>
        <p:spPr>
          <a:xfrm>
            <a:off x="548640" y="1298448"/>
            <a:ext cx="5486400" cy="237744"/>
          </a:xfrm>
          <a:prstGeom prst="rect">
            <a:avLst/>
          </a:prstGeom>
          <a:noFill/>
          <a:ln/>
        </p:spPr>
        <p:txBody>
          <a:bodyPr wrap="square" rtlCol="0" anchor="ctr"/>
          <a:lstStyle/>
          <a:p>
            <a:pPr indent="0" marL="0">
              <a:buNone/>
            </a:pPr>
            <a:r>
              <a:rPr lang="en-US" sz="1050" b="1" spc="120" kern="0" dirty="0">
                <a:solidFill>
                  <a:srgbClr val="003366"/>
                </a:solidFill>
                <a:latin typeface="Arial" pitchFamily="34" charset="0"/>
                <a:ea typeface="Arial" pitchFamily="34" charset="-122"/>
                <a:cs typeface="Arial" pitchFamily="34" charset="-120"/>
              </a:rPr>
              <a:t>STEP 1 — THE RENDER FUNCTION</a:t>
            </a:r>
            <a:endParaRPr lang="en-US" sz="1050" dirty="0"/>
          </a:p>
        </p:txBody>
      </p:sp>
      <p:sp>
        <p:nvSpPr>
          <p:cNvPr id="8" name="Shape 6"/>
          <p:cNvSpPr/>
          <p:nvPr/>
        </p:nvSpPr>
        <p:spPr>
          <a:xfrm>
            <a:off x="548640" y="1572768"/>
            <a:ext cx="5486400" cy="2322576"/>
          </a:xfrm>
          <a:prstGeom prst="rect">
            <a:avLst>
              <a:gd name="adj" fmla="val 1969"/>
            </a:avLst>
          </a:prstGeom>
          <a:solidFill>
            <a:srgbClr val="0D1B2A"/>
          </a:solidFill>
          <a:ln w="12700">
            <a:solidFill>
              <a:srgbClr val="0D1B2A"/>
            </a:solidFill>
            <a:prstDash val="solid"/>
          </a:ln>
        </p:spPr>
      </p:sp>
      <p:sp>
        <p:nvSpPr>
          <p:cNvPr id="9" name="Text 7"/>
          <p:cNvSpPr/>
          <p:nvPr/>
        </p:nvSpPr>
        <p:spPr>
          <a:xfrm>
            <a:off x="685800" y="1682496"/>
            <a:ext cx="5212080" cy="2103120"/>
          </a:xfrm>
          <a:prstGeom prst="rect">
            <a:avLst/>
          </a:prstGeom>
          <a:noFill/>
          <a:ln/>
        </p:spPr>
        <p:txBody>
          <a:bodyPr wrap="square" rtlCol="0" anchor="t"/>
          <a:lstStyle/>
          <a:p>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function</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renderBooks(list)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shelf.innerHTML = </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8296A8"/>
                </a:solidFill>
                <a:latin typeface="Courier New" pitchFamily="34" charset="0"/>
                <a:ea typeface="Courier New" pitchFamily="34" charset="-122"/>
                <a:cs typeface="Courier New" pitchFamily="34" charset="-120"/>
              </a:rPr>
              <a:t> // clear</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for</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b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of</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list)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row = document.createElement(</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"li"</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row.textContent = </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`${b.title} — ${b.year}`</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shelf.appendChild(row);</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count.textContent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`${list.length} books on the list`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renderBooks(books);             </a:t>
            </a:r>
            <a:pPr indent="0" marL="0">
              <a:lnSpc>
                <a:spcPct val="105000"/>
              </a:lnSpc>
              <a:buNone/>
            </a:pPr>
            <a:r>
              <a:rPr lang="en-US" sz="1050" dirty="0">
                <a:solidFill>
                  <a:srgbClr val="8296A8"/>
                </a:solidFill>
                <a:latin typeface="Courier New" pitchFamily="34" charset="0"/>
                <a:ea typeface="Courier New" pitchFamily="34" charset="-122"/>
                <a:cs typeface="Courier New" pitchFamily="34" charset="-120"/>
              </a:rPr>
              <a:t> // draw once at load</a:t>
            </a:r>
            <a:endParaRPr lang="en-US" sz="1050" dirty="0"/>
          </a:p>
        </p:txBody>
      </p:sp>
      <p:sp>
        <p:nvSpPr>
          <p:cNvPr id="10" name="Text 8"/>
          <p:cNvSpPr/>
          <p:nvPr/>
        </p:nvSpPr>
        <p:spPr>
          <a:xfrm>
            <a:off x="6355080" y="1298448"/>
            <a:ext cx="5486400" cy="237744"/>
          </a:xfrm>
          <a:prstGeom prst="rect">
            <a:avLst/>
          </a:prstGeom>
          <a:noFill/>
          <a:ln/>
        </p:spPr>
        <p:txBody>
          <a:bodyPr wrap="square" rtlCol="0" anchor="ctr"/>
          <a:lstStyle/>
          <a:p>
            <a:pPr indent="0" marL="0">
              <a:buNone/>
            </a:pPr>
            <a:r>
              <a:rPr lang="en-US" sz="1050" b="1" spc="120" kern="0" dirty="0">
                <a:solidFill>
                  <a:srgbClr val="003366"/>
                </a:solidFill>
                <a:latin typeface="Arial" pitchFamily="34" charset="0"/>
                <a:ea typeface="Arial" pitchFamily="34" charset="-122"/>
                <a:cs typeface="Arial" pitchFamily="34" charset="-120"/>
              </a:rPr>
              <a:t>STEP 2 — THE FORM</a:t>
            </a:r>
            <a:endParaRPr lang="en-US" sz="1050" dirty="0"/>
          </a:p>
        </p:txBody>
      </p:sp>
      <p:sp>
        <p:nvSpPr>
          <p:cNvPr id="11" name="Shape 9"/>
          <p:cNvSpPr/>
          <p:nvPr/>
        </p:nvSpPr>
        <p:spPr>
          <a:xfrm>
            <a:off x="6355080" y="1572768"/>
            <a:ext cx="5285232" cy="2834640"/>
          </a:xfrm>
          <a:prstGeom prst="rect">
            <a:avLst>
              <a:gd name="adj" fmla="val 1613"/>
            </a:avLst>
          </a:prstGeom>
          <a:solidFill>
            <a:srgbClr val="0D1B2A"/>
          </a:solidFill>
          <a:ln w="12700">
            <a:solidFill>
              <a:srgbClr val="0D1B2A"/>
            </a:solidFill>
            <a:prstDash val="solid"/>
          </a:ln>
        </p:spPr>
      </p:sp>
      <p:sp>
        <p:nvSpPr>
          <p:cNvPr id="12" name="Text 10"/>
          <p:cNvSpPr/>
          <p:nvPr/>
        </p:nvSpPr>
        <p:spPr>
          <a:xfrm>
            <a:off x="6492240" y="1682496"/>
            <a:ext cx="5010912" cy="2615184"/>
          </a:xfrm>
          <a:prstGeom prst="rect">
            <a:avLst/>
          </a:prstGeom>
          <a:noFill/>
          <a:ln/>
        </p:spPr>
        <p:txBody>
          <a:bodyPr wrap="square" rtlCol="0" anchor="t"/>
          <a:lstStyle/>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form.addEventListener(</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"submit"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(e) =&gt;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e.preventDefault();</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title = titleInput.value.trim();</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if</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(title === </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return</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books.push({</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id: Date.now(),</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title,</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year: Number(yearInput.value)</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renderBooks(books);</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form.reset();</a:t>
            </a:r>
            <a:endParaRPr lang="en-US" sz="1050" dirty="0"/>
          </a:p>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p:txBody>
      </p:sp>
      <p:sp>
        <p:nvSpPr>
          <p:cNvPr id="13" name="Shape 11"/>
          <p:cNvSpPr/>
          <p:nvPr/>
        </p:nvSpPr>
        <p:spPr>
          <a:xfrm>
            <a:off x="548640" y="4709160"/>
            <a:ext cx="5486400" cy="1417320"/>
          </a:xfrm>
          <a:prstGeom prst="rect">
            <a:avLst>
              <a:gd name="adj" fmla="val 3871"/>
            </a:avLst>
          </a:prstGeom>
          <a:solidFill>
            <a:srgbClr val="FDF3E1"/>
          </a:solidFill>
          <a:ln w="12700">
            <a:solidFill>
              <a:srgbClr val="E39A18"/>
            </a:solidFill>
            <a:prstDash val="solid"/>
          </a:ln>
        </p:spPr>
      </p:sp>
      <p:sp>
        <p:nvSpPr>
          <p:cNvPr id="14" name="Text 12"/>
          <p:cNvSpPr/>
          <p:nvPr/>
        </p:nvSpPr>
        <p:spPr>
          <a:xfrm>
            <a:off x="713232" y="4873752"/>
            <a:ext cx="515721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Test step 1 before step 2</a:t>
            </a:r>
            <a:endParaRPr lang="en-US" sz="1500" dirty="0"/>
          </a:p>
        </p:txBody>
      </p:sp>
      <p:sp>
        <p:nvSpPr>
          <p:cNvPr id="15" name="Text 13"/>
          <p:cNvSpPr/>
          <p:nvPr/>
        </p:nvSpPr>
        <p:spPr>
          <a:xfrm>
            <a:off x="713232" y="5221224"/>
            <a:ext cx="5157216" cy="79552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Three books and the count must appear on load, with no form at all.</a:t>
            </a:r>
            <a:endParaRPr lang="en-US" sz="1250" dirty="0"/>
          </a:p>
        </p:txBody>
      </p:sp>
      <p:sp>
        <p:nvSpPr>
          <p:cNvPr id="16" name="Shape 14"/>
          <p:cNvSpPr/>
          <p:nvPr/>
        </p:nvSpPr>
        <p:spPr>
          <a:xfrm>
            <a:off x="6355080" y="4709160"/>
            <a:ext cx="5285232" cy="1417320"/>
          </a:xfrm>
          <a:prstGeom prst="rect">
            <a:avLst>
              <a:gd name="adj" fmla="val 3871"/>
            </a:avLst>
          </a:prstGeom>
          <a:solidFill>
            <a:srgbClr val="E7F4EE"/>
          </a:solidFill>
          <a:ln w="12700">
            <a:solidFill>
              <a:srgbClr val="1F7A55"/>
            </a:solidFill>
            <a:prstDash val="solid"/>
          </a:ln>
        </p:spPr>
      </p:sp>
      <p:sp>
        <p:nvSpPr>
          <p:cNvPr id="17" name="Text 15"/>
          <p:cNvSpPr/>
          <p:nvPr/>
        </p:nvSpPr>
        <p:spPr>
          <a:xfrm>
            <a:off x="6519672" y="487375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Why Date.now() as the id</a:t>
            </a:r>
            <a:endParaRPr lang="en-US" sz="1500" dirty="0"/>
          </a:p>
        </p:txBody>
      </p:sp>
      <p:sp>
        <p:nvSpPr>
          <p:cNvPr id="18" name="Text 16"/>
          <p:cNvSpPr/>
          <p:nvPr/>
        </p:nvSpPr>
        <p:spPr>
          <a:xfrm>
            <a:off x="6519672" y="5221224"/>
            <a:ext cx="4956048" cy="7955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Every book needs something unique so Remove knows which one to take out.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30-43 MIN · STUDENT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Step 3: remove</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13</a:t>
            </a:r>
            <a:endParaRPr lang="en-US" sz="950" dirty="0"/>
          </a:p>
        </p:txBody>
      </p:sp>
      <p:sp>
        <p:nvSpPr>
          <p:cNvPr id="7" name="Shape 5"/>
          <p:cNvSpPr/>
          <p:nvPr/>
        </p:nvSpPr>
        <p:spPr>
          <a:xfrm>
            <a:off x="548640" y="1234440"/>
            <a:ext cx="6766560" cy="3639312"/>
          </a:xfrm>
          <a:prstGeom prst="rect">
            <a:avLst>
              <a:gd name="adj" fmla="val 1256"/>
            </a:avLst>
          </a:prstGeom>
          <a:solidFill>
            <a:srgbClr val="0D1B2A"/>
          </a:solidFill>
          <a:ln w="12700">
            <a:solidFill>
              <a:srgbClr val="0D1B2A"/>
            </a:solidFill>
            <a:prstDash val="solid"/>
          </a:ln>
        </p:spPr>
      </p:sp>
      <p:sp>
        <p:nvSpPr>
          <p:cNvPr id="8" name="Text 6"/>
          <p:cNvSpPr/>
          <p:nvPr/>
        </p:nvSpPr>
        <p:spPr>
          <a:xfrm>
            <a:off x="685800" y="1344168"/>
            <a:ext cx="6492240" cy="3419856"/>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function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renderBooks(list)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shelf.innerHTML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for</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of</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list)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row = document.createElement(</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"li"</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row.textContent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`${b.title} — ${b.year}`</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btn = document.createElement(</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"button"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btn.textContent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"Remove"</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btn.addEventListener(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 =&gt;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books = books.filter(x =&gt; x.id !== b.id);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change the data</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renderBooks(books);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redraw</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row.appendChild(btn);</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shelf.appendChild(row);</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9" name="Shape 7"/>
          <p:cNvSpPr/>
          <p:nvPr/>
        </p:nvSpPr>
        <p:spPr>
          <a:xfrm>
            <a:off x="7635240" y="1234440"/>
            <a:ext cx="4553712" cy="2103120"/>
          </a:xfrm>
          <a:prstGeom prst="rect">
            <a:avLst>
              <a:gd name="adj" fmla="val 2609"/>
            </a:avLst>
          </a:prstGeom>
          <a:solidFill>
            <a:srgbClr val="FBEAE8"/>
          </a:solidFill>
          <a:ln w="12700">
            <a:solidFill>
              <a:srgbClr val="B3261E"/>
            </a:solidFill>
            <a:prstDash val="solid"/>
          </a:ln>
        </p:spPr>
      </p:sp>
      <p:sp>
        <p:nvSpPr>
          <p:cNvPr id="10" name="Shape 8"/>
          <p:cNvSpPr/>
          <p:nvPr/>
        </p:nvSpPr>
        <p:spPr>
          <a:xfrm>
            <a:off x="7799832" y="1399032"/>
            <a:ext cx="932688" cy="256032"/>
          </a:xfrm>
          <a:prstGeom prst="rect">
            <a:avLst>
              <a:gd name="adj" fmla="val 17857"/>
            </a:avLst>
          </a:prstGeom>
          <a:solidFill>
            <a:srgbClr val="B3261E"/>
          </a:solidFill>
          <a:ln/>
        </p:spPr>
      </p:sp>
      <p:sp>
        <p:nvSpPr>
          <p:cNvPr id="11" name="Text 9"/>
          <p:cNvSpPr/>
          <p:nvPr/>
        </p:nvSpPr>
        <p:spPr>
          <a:xfrm>
            <a:off x="7799832" y="1399032"/>
            <a:ext cx="932688"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NOT THIS</a:t>
            </a:r>
            <a:endParaRPr lang="en-US" sz="950" dirty="0"/>
          </a:p>
        </p:txBody>
      </p:sp>
      <p:sp>
        <p:nvSpPr>
          <p:cNvPr id="12" name="Text 10"/>
          <p:cNvSpPr/>
          <p:nvPr/>
        </p:nvSpPr>
        <p:spPr>
          <a:xfrm>
            <a:off x="7799832" y="176479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row.remove()</a:t>
            </a:r>
            <a:endParaRPr lang="en-US" sz="1500" dirty="0"/>
          </a:p>
        </p:txBody>
      </p:sp>
      <p:sp>
        <p:nvSpPr>
          <p:cNvPr id="13" name="Text 11"/>
          <p:cNvSpPr/>
          <p:nvPr/>
        </p:nvSpPr>
        <p:spPr>
          <a:xfrm>
            <a:off x="7799832" y="2112264"/>
            <a:ext cx="4224528" cy="111556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The card disappears, so it looks done</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The array still has the book</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Add anything and it comes straight back</a:t>
            </a:r>
            <a:endParaRPr lang="en-US" sz="1250" dirty="0"/>
          </a:p>
        </p:txBody>
      </p:sp>
      <p:sp>
        <p:nvSpPr>
          <p:cNvPr id="14" name="Shape 12"/>
          <p:cNvSpPr/>
          <p:nvPr/>
        </p:nvSpPr>
        <p:spPr>
          <a:xfrm>
            <a:off x="7635240" y="3474720"/>
            <a:ext cx="4553712" cy="1371600"/>
          </a:xfrm>
          <a:prstGeom prst="rect">
            <a:avLst>
              <a:gd name="adj" fmla="val 4000"/>
            </a:avLst>
          </a:prstGeom>
          <a:solidFill>
            <a:srgbClr val="FDF3E1"/>
          </a:solidFill>
          <a:ln w="12700">
            <a:solidFill>
              <a:srgbClr val="E39A18"/>
            </a:solidFill>
            <a:prstDash val="solid"/>
          </a:ln>
        </p:spPr>
      </p:sp>
      <p:sp>
        <p:nvSpPr>
          <p:cNvPr id="15" name="Text 13"/>
          <p:cNvSpPr/>
          <p:nvPr/>
        </p:nvSpPr>
        <p:spPr>
          <a:xfrm>
            <a:off x="7799832" y="3639312"/>
            <a:ext cx="4224528"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books must be let</a:t>
            </a:r>
            <a:endParaRPr lang="en-US" sz="1500" dirty="0"/>
          </a:p>
        </p:txBody>
      </p:sp>
      <p:sp>
        <p:nvSpPr>
          <p:cNvPr id="16" name="Text 14"/>
          <p:cNvSpPr/>
          <p:nvPr/>
        </p:nvSpPr>
        <p:spPr>
          <a:xfrm>
            <a:off x="7799832" y="3986784"/>
            <a:ext cx="4224528" cy="749808"/>
          </a:xfrm>
          <a:prstGeom prst="rect">
            <a:avLst/>
          </a:prstGeom>
          <a:noFill/>
          <a:ln/>
        </p:spPr>
        <p:txBody>
          <a:bodyPr wrap="square" rtlCol="0" anchor="t"/>
          <a:lstStyle/>
          <a:p>
            <a:pPr indent="0" marL="0">
              <a:lnSpc>
                <a:spcPct val="110000"/>
              </a:lnSpc>
              <a:spcAft>
                <a:spcPts val="432"/>
              </a:spcAft>
              <a:buNone/>
            </a:pPr>
            <a:r>
              <a:rPr lang="en-US" sz="1200" dirty="0">
                <a:solidFill>
                  <a:srgbClr val="4A3000"/>
                </a:solidFill>
                <a:latin typeface="Arial" pitchFamily="34" charset="0"/>
                <a:ea typeface="Arial" pitchFamily="34" charset="-122"/>
                <a:cs typeface="Arial" pitchFamily="34" charset="-120"/>
              </a:rPr>
              <a:t>filter returns a NEW array, so you reassign.</a:t>
            </a:r>
            <a:endParaRPr lang="en-US" sz="1200" dirty="0"/>
          </a:p>
        </p:txBody>
      </p:sp>
      <p:sp>
        <p:nvSpPr>
          <p:cNvPr id="17" name="Shape 15"/>
          <p:cNvSpPr/>
          <p:nvPr/>
        </p:nvSpPr>
        <p:spPr>
          <a:xfrm>
            <a:off x="7635240" y="4983480"/>
            <a:ext cx="4553712" cy="1143000"/>
          </a:xfrm>
          <a:prstGeom prst="rect">
            <a:avLst>
              <a:gd name="adj" fmla="val 4800"/>
            </a:avLst>
          </a:prstGeom>
          <a:solidFill>
            <a:srgbClr val="E7F4EE"/>
          </a:solidFill>
          <a:ln w="12700">
            <a:solidFill>
              <a:srgbClr val="1F7A55"/>
            </a:solidFill>
            <a:prstDash val="solid"/>
          </a:ln>
        </p:spPr>
      </p:sp>
      <p:sp>
        <p:nvSpPr>
          <p:cNvPr id="18" name="Text 16"/>
          <p:cNvSpPr/>
          <p:nvPr/>
        </p:nvSpPr>
        <p:spPr>
          <a:xfrm>
            <a:off x="7799832" y="5148072"/>
            <a:ext cx="4224528" cy="868680"/>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Change the data, then redraw. Every time.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43-48 MIN · DEBUG</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Mistakes you will make today</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14</a:t>
            </a:r>
            <a:endParaRPr lang="en-US" sz="950" dirty="0"/>
          </a:p>
        </p:txBody>
      </p:sp>
      <p:sp>
        <p:nvSpPr>
          <p:cNvPr id="7" name="Shape 5"/>
          <p:cNvSpPr/>
          <p:nvPr/>
        </p:nvSpPr>
        <p:spPr>
          <a:xfrm>
            <a:off x="548640" y="1234440"/>
            <a:ext cx="5285232" cy="1463040"/>
          </a:xfrm>
          <a:prstGeom prst="rect">
            <a:avLst>
              <a:gd name="adj" fmla="val 3750"/>
            </a:avLst>
          </a:prstGeom>
          <a:solidFill>
            <a:srgbClr val="FBEAE8"/>
          </a:solidFill>
          <a:ln w="12700">
            <a:solidFill>
              <a:srgbClr val="B3261E"/>
            </a:solidFill>
            <a:prstDash val="solid"/>
          </a:ln>
        </p:spPr>
      </p:sp>
      <p:sp>
        <p:nvSpPr>
          <p:cNvPr id="8" name="Text 6"/>
          <p:cNvSpPr/>
          <p:nvPr/>
        </p:nvSpPr>
        <p:spPr>
          <a:xfrm>
            <a:off x="713232" y="1399032"/>
            <a:ext cx="4956048" cy="310896"/>
          </a:xfrm>
          <a:prstGeom prst="rect">
            <a:avLst/>
          </a:prstGeom>
          <a:noFill/>
          <a:ln/>
        </p:spPr>
        <p:txBody>
          <a:bodyPr wrap="square" rtlCol="0" anchor="t"/>
          <a:lstStyle/>
          <a:p>
            <a:pPr indent="0" marL="0">
              <a:buNone/>
            </a:pPr>
            <a:r>
              <a:rPr lang="en-US" sz="1300" b="1" dirty="0">
                <a:solidFill>
                  <a:srgbClr val="B3261E"/>
                </a:solidFill>
                <a:latin typeface="Arial" pitchFamily="34" charset="0"/>
                <a:ea typeface="Arial" pitchFamily="34" charset="-122"/>
                <a:cs typeface="Arial" pitchFamily="34" charset="-120"/>
              </a:rPr>
              <a:t>It ran on load, now clicking is dead</a:t>
            </a:r>
            <a:endParaRPr lang="en-US" sz="1300" dirty="0"/>
          </a:p>
        </p:txBody>
      </p:sp>
      <p:sp>
        <p:nvSpPr>
          <p:cNvPr id="9" name="Text 7"/>
          <p:cNvSpPr/>
          <p:nvPr/>
        </p:nvSpPr>
        <p:spPr>
          <a:xfrm>
            <a:off x="713232" y="1746504"/>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6B1A14"/>
                </a:solidFill>
                <a:latin typeface="Arial" pitchFamily="34" charset="0"/>
                <a:ea typeface="Arial" pitchFamily="34" charset="-122"/>
                <a:cs typeface="Arial" pitchFamily="34" charset="-120"/>
              </a:rPr>
              <a:t>You wrote handleAdd() with parentheses.</a:t>
            </a:r>
            <a:endParaRPr lang="en-US" sz="1200" dirty="0"/>
          </a:p>
        </p:txBody>
      </p:sp>
      <p:sp>
        <p:nvSpPr>
          <p:cNvPr id="10" name="Shape 8"/>
          <p:cNvSpPr/>
          <p:nvPr/>
        </p:nvSpPr>
        <p:spPr>
          <a:xfrm>
            <a:off x="6355080" y="1234440"/>
            <a:ext cx="5285232" cy="1463040"/>
          </a:xfrm>
          <a:prstGeom prst="rect">
            <a:avLst>
              <a:gd name="adj" fmla="val 3750"/>
            </a:avLst>
          </a:prstGeom>
          <a:solidFill>
            <a:srgbClr val="FBEAE8"/>
          </a:solidFill>
          <a:ln w="12700">
            <a:solidFill>
              <a:srgbClr val="B3261E"/>
            </a:solidFill>
            <a:prstDash val="solid"/>
          </a:ln>
        </p:spPr>
      </p:sp>
      <p:sp>
        <p:nvSpPr>
          <p:cNvPr id="11" name="Text 9"/>
          <p:cNvSpPr/>
          <p:nvPr/>
        </p:nvSpPr>
        <p:spPr>
          <a:xfrm>
            <a:off x="6519672" y="1399032"/>
            <a:ext cx="4956048" cy="310896"/>
          </a:xfrm>
          <a:prstGeom prst="rect">
            <a:avLst/>
          </a:prstGeom>
          <a:noFill/>
          <a:ln/>
        </p:spPr>
        <p:txBody>
          <a:bodyPr wrap="square" rtlCol="0" anchor="t"/>
          <a:lstStyle/>
          <a:p>
            <a:pPr indent="0" marL="0">
              <a:buNone/>
            </a:pPr>
            <a:r>
              <a:rPr lang="en-US" sz="1300" b="1" dirty="0">
                <a:solidFill>
                  <a:srgbClr val="B3261E"/>
                </a:solidFill>
                <a:latin typeface="Arial" pitchFamily="34" charset="0"/>
                <a:ea typeface="Arial" pitchFamily="34" charset="-122"/>
                <a:cs typeface="Arial" pitchFamily="34" charset="-120"/>
              </a:rPr>
              <a:t>The page flashes and the list empties</a:t>
            </a:r>
            <a:endParaRPr lang="en-US" sz="1300" dirty="0"/>
          </a:p>
        </p:txBody>
      </p:sp>
      <p:sp>
        <p:nvSpPr>
          <p:cNvPr id="12" name="Text 10"/>
          <p:cNvSpPr/>
          <p:nvPr/>
        </p:nvSpPr>
        <p:spPr>
          <a:xfrm>
            <a:off x="6519672" y="1746504"/>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6B1A14"/>
                </a:solidFill>
                <a:latin typeface="Arial" pitchFamily="34" charset="0"/>
                <a:ea typeface="Arial" pitchFamily="34" charset="-122"/>
                <a:cs typeface="Arial" pitchFamily="34" charset="-120"/>
              </a:rPr>
              <a:t>No e.preventDefault() in the submit handler.</a:t>
            </a:r>
            <a:endParaRPr lang="en-US" sz="1200" dirty="0"/>
          </a:p>
        </p:txBody>
      </p:sp>
      <p:sp>
        <p:nvSpPr>
          <p:cNvPr id="13" name="Shape 11"/>
          <p:cNvSpPr/>
          <p:nvPr/>
        </p:nvSpPr>
        <p:spPr>
          <a:xfrm>
            <a:off x="548640" y="2862072"/>
            <a:ext cx="5285232" cy="1463040"/>
          </a:xfrm>
          <a:prstGeom prst="rect">
            <a:avLst>
              <a:gd name="adj" fmla="val 3750"/>
            </a:avLst>
          </a:prstGeom>
          <a:solidFill>
            <a:srgbClr val="FDF3E1"/>
          </a:solidFill>
          <a:ln w="12700">
            <a:solidFill>
              <a:srgbClr val="E39A18"/>
            </a:solidFill>
            <a:prstDash val="solid"/>
          </a:ln>
        </p:spPr>
      </p:sp>
      <p:sp>
        <p:nvSpPr>
          <p:cNvPr id="14" name="Text 12"/>
          <p:cNvSpPr/>
          <p:nvPr/>
        </p:nvSpPr>
        <p:spPr>
          <a:xfrm>
            <a:off x="713232" y="3026664"/>
            <a:ext cx="4956048" cy="310896"/>
          </a:xfrm>
          <a:prstGeom prst="rect">
            <a:avLst/>
          </a:prstGeom>
          <a:noFill/>
          <a:ln/>
        </p:spPr>
        <p:txBody>
          <a:bodyPr wrap="square" rtlCol="0" anchor="t"/>
          <a:lstStyle/>
          <a:p>
            <a:pPr indent="0" marL="0">
              <a:buNone/>
            </a:pPr>
            <a:r>
              <a:rPr lang="en-US" sz="1300" b="1" dirty="0">
                <a:solidFill>
                  <a:srgbClr val="4A3000"/>
                </a:solidFill>
                <a:latin typeface="Arial" pitchFamily="34" charset="0"/>
                <a:ea typeface="Arial" pitchFamily="34" charset="-122"/>
                <a:cs typeface="Arial" pitchFamily="34" charset="-120"/>
              </a:rPr>
              <a:t>It adds empty items</a:t>
            </a:r>
            <a:endParaRPr lang="en-US" sz="1300" dirty="0"/>
          </a:p>
        </p:txBody>
      </p:sp>
      <p:sp>
        <p:nvSpPr>
          <p:cNvPr id="15" name="Text 13"/>
          <p:cNvSpPr/>
          <p:nvPr/>
        </p:nvSpPr>
        <p:spPr>
          <a:xfrm>
            <a:off x="713232" y="3374136"/>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4A3000"/>
                </a:solidFill>
                <a:latin typeface="Arial" pitchFamily="34" charset="0"/>
                <a:ea typeface="Arial" pitchFamily="34" charset="-122"/>
                <a:cs typeface="Arial" pitchFamily="34" charset="-120"/>
              </a:rPr>
              <a:t>You read input.value at load instead of inside the handler.</a:t>
            </a:r>
            <a:endParaRPr lang="en-US" sz="1200" dirty="0"/>
          </a:p>
        </p:txBody>
      </p:sp>
      <p:sp>
        <p:nvSpPr>
          <p:cNvPr id="16" name="Shape 14"/>
          <p:cNvSpPr/>
          <p:nvPr/>
        </p:nvSpPr>
        <p:spPr>
          <a:xfrm>
            <a:off x="6355080" y="2862072"/>
            <a:ext cx="5285232" cy="1463040"/>
          </a:xfrm>
          <a:prstGeom prst="rect">
            <a:avLst>
              <a:gd name="adj" fmla="val 3750"/>
            </a:avLst>
          </a:prstGeom>
          <a:solidFill>
            <a:srgbClr val="FDF3E1"/>
          </a:solidFill>
          <a:ln w="12700">
            <a:solidFill>
              <a:srgbClr val="E39A18"/>
            </a:solidFill>
            <a:prstDash val="solid"/>
          </a:ln>
        </p:spPr>
      </p:sp>
      <p:sp>
        <p:nvSpPr>
          <p:cNvPr id="17" name="Text 15"/>
          <p:cNvSpPr/>
          <p:nvPr/>
        </p:nvSpPr>
        <p:spPr>
          <a:xfrm>
            <a:off x="6519672" y="3026664"/>
            <a:ext cx="4956048" cy="310896"/>
          </a:xfrm>
          <a:prstGeom prst="rect">
            <a:avLst/>
          </a:prstGeom>
          <a:noFill/>
          <a:ln/>
        </p:spPr>
        <p:txBody>
          <a:bodyPr wrap="square" rtlCol="0" anchor="t"/>
          <a:lstStyle/>
          <a:p>
            <a:pPr indent="0" marL="0">
              <a:buNone/>
            </a:pPr>
            <a:r>
              <a:rPr lang="en-US" sz="1300" b="1" dirty="0">
                <a:solidFill>
                  <a:srgbClr val="4A3000"/>
                </a:solidFill>
                <a:latin typeface="Arial" pitchFamily="34" charset="0"/>
                <a:ea typeface="Arial" pitchFamily="34" charset="-122"/>
                <a:cs typeface="Arial" pitchFamily="34" charset="-120"/>
              </a:rPr>
              <a:t>The list doubles every time</a:t>
            </a:r>
            <a:endParaRPr lang="en-US" sz="1300" dirty="0"/>
          </a:p>
        </p:txBody>
      </p:sp>
      <p:sp>
        <p:nvSpPr>
          <p:cNvPr id="18" name="Text 16"/>
          <p:cNvSpPr/>
          <p:nvPr/>
        </p:nvSpPr>
        <p:spPr>
          <a:xfrm>
            <a:off x="6519672" y="3374136"/>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4A3000"/>
                </a:solidFill>
                <a:latin typeface="Arial" pitchFamily="34" charset="0"/>
                <a:ea typeface="Arial" pitchFamily="34" charset="-122"/>
                <a:cs typeface="Arial" pitchFamily="34" charset="-120"/>
              </a:rPr>
              <a:t>You forgot innerHTML = "" at the top of render.</a:t>
            </a:r>
            <a:endParaRPr lang="en-US" sz="1200" dirty="0"/>
          </a:p>
        </p:txBody>
      </p:sp>
      <p:sp>
        <p:nvSpPr>
          <p:cNvPr id="19" name="Shape 17"/>
          <p:cNvSpPr/>
          <p:nvPr/>
        </p:nvSpPr>
        <p:spPr>
          <a:xfrm>
            <a:off x="548640" y="4489704"/>
            <a:ext cx="5285232" cy="1463040"/>
          </a:xfrm>
          <a:prstGeom prst="rect">
            <a:avLst>
              <a:gd name="adj" fmla="val 3750"/>
            </a:avLst>
          </a:prstGeom>
          <a:solidFill>
            <a:srgbClr val="F2F5F8"/>
          </a:solidFill>
          <a:ln w="12700">
            <a:solidFill>
              <a:srgbClr val="D6DEE6"/>
            </a:solidFill>
            <a:prstDash val="solid"/>
          </a:ln>
        </p:spPr>
      </p:sp>
      <p:sp>
        <p:nvSpPr>
          <p:cNvPr id="20" name="Text 18"/>
          <p:cNvSpPr/>
          <p:nvPr/>
        </p:nvSpPr>
        <p:spPr>
          <a:xfrm>
            <a:off x="713232" y="4654296"/>
            <a:ext cx="4956048" cy="310896"/>
          </a:xfrm>
          <a:prstGeom prst="rect">
            <a:avLst/>
          </a:prstGeom>
          <a:noFill/>
          <a:ln/>
        </p:spPr>
        <p:txBody>
          <a:bodyPr wrap="square" rtlCol="0" anchor="t"/>
          <a:lstStyle/>
          <a:p>
            <a:pPr indent="0" marL="0">
              <a:buNone/>
            </a:pPr>
            <a:r>
              <a:rPr lang="en-US" sz="1300" b="1" dirty="0">
                <a:solidFill>
                  <a:srgbClr val="003366"/>
                </a:solidFill>
                <a:latin typeface="Arial" pitchFamily="34" charset="0"/>
                <a:ea typeface="Arial" pitchFamily="34" charset="-122"/>
                <a:cs typeface="Arial" pitchFamily="34" charset="-120"/>
              </a:rPr>
              <a:t>Deleted items come back</a:t>
            </a:r>
            <a:endParaRPr lang="en-US" sz="1300" dirty="0"/>
          </a:p>
        </p:txBody>
      </p:sp>
      <p:sp>
        <p:nvSpPr>
          <p:cNvPr id="21" name="Text 19"/>
          <p:cNvSpPr/>
          <p:nvPr/>
        </p:nvSpPr>
        <p:spPr>
          <a:xfrm>
            <a:off x="713232" y="5001768"/>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You removed the element, not the item in the array.</a:t>
            </a:r>
            <a:endParaRPr lang="en-US" sz="1200" dirty="0"/>
          </a:p>
        </p:txBody>
      </p:sp>
      <p:sp>
        <p:nvSpPr>
          <p:cNvPr id="22" name="Shape 20"/>
          <p:cNvSpPr/>
          <p:nvPr/>
        </p:nvSpPr>
        <p:spPr>
          <a:xfrm>
            <a:off x="6355080" y="4489704"/>
            <a:ext cx="5285232" cy="1463040"/>
          </a:xfrm>
          <a:prstGeom prst="rect">
            <a:avLst>
              <a:gd name="adj" fmla="val 3750"/>
            </a:avLst>
          </a:prstGeom>
          <a:solidFill>
            <a:srgbClr val="F2F5F8"/>
          </a:solidFill>
          <a:ln w="12700">
            <a:solidFill>
              <a:srgbClr val="D6DEE6"/>
            </a:solidFill>
            <a:prstDash val="solid"/>
          </a:ln>
        </p:spPr>
      </p:sp>
      <p:sp>
        <p:nvSpPr>
          <p:cNvPr id="23" name="Text 21"/>
          <p:cNvSpPr/>
          <p:nvPr/>
        </p:nvSpPr>
        <p:spPr>
          <a:xfrm>
            <a:off x="6519672" y="4654296"/>
            <a:ext cx="4956048" cy="310896"/>
          </a:xfrm>
          <a:prstGeom prst="rect">
            <a:avLst/>
          </a:prstGeom>
          <a:noFill/>
          <a:ln/>
        </p:spPr>
        <p:txBody>
          <a:bodyPr wrap="square" rtlCol="0" anchor="t"/>
          <a:lstStyle/>
          <a:p>
            <a:pPr indent="0" marL="0">
              <a:buNone/>
            </a:pPr>
            <a:r>
              <a:rPr lang="en-US" sz="1300" b="1" dirty="0">
                <a:solidFill>
                  <a:srgbClr val="003366"/>
                </a:solidFill>
                <a:latin typeface="Arial" pitchFamily="34" charset="0"/>
                <a:ea typeface="Arial" pitchFamily="34" charset="-122"/>
                <a:cs typeface="Arial" pitchFamily="34" charset="-120"/>
              </a:rPr>
              <a:t>Works on the edge, not on the words</a:t>
            </a:r>
            <a:endParaRPr lang="en-US" sz="1300" dirty="0"/>
          </a:p>
        </p:txBody>
      </p:sp>
      <p:sp>
        <p:nvSpPr>
          <p:cNvPr id="24" name="Text 22"/>
          <p:cNvSpPr/>
          <p:nvPr/>
        </p:nvSpPr>
        <p:spPr>
          <a:xfrm>
            <a:off x="6519672" y="5001768"/>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e.target is the inner element. Use e.currentTarget.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C3 · 48-50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Exit check</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15</a:t>
            </a:r>
            <a:endParaRPr lang="en-US" sz="950" dirty="0"/>
          </a:p>
        </p:txBody>
      </p:sp>
      <p:sp>
        <p:nvSpPr>
          <p:cNvPr id="7" name="Shape 5"/>
          <p:cNvSpPr/>
          <p:nvPr/>
        </p:nvSpPr>
        <p:spPr>
          <a:xfrm>
            <a:off x="548640" y="1234440"/>
            <a:ext cx="5486400" cy="2103120"/>
          </a:xfrm>
          <a:prstGeom prst="rect">
            <a:avLst>
              <a:gd name="adj" fmla="val 2609"/>
            </a:avLst>
          </a:prstGeom>
          <a:solidFill>
            <a:srgbClr val="F2F5F8"/>
          </a:solidFill>
          <a:ln w="12700">
            <a:solidFill>
              <a:srgbClr val="D6DEE6"/>
            </a:solidFill>
            <a:prstDash val="solid"/>
          </a:ln>
        </p:spPr>
      </p:sp>
      <p:sp>
        <p:nvSpPr>
          <p:cNvPr id="8" name="Shape 6"/>
          <p:cNvSpPr/>
          <p:nvPr/>
        </p:nvSpPr>
        <p:spPr>
          <a:xfrm>
            <a:off x="713232" y="1399032"/>
            <a:ext cx="1088136" cy="256032"/>
          </a:xfrm>
          <a:prstGeom prst="rect">
            <a:avLst>
              <a:gd name="adj" fmla="val 17857"/>
            </a:avLst>
          </a:prstGeom>
          <a:solidFill>
            <a:srgbClr val="003366"/>
          </a:solidFill>
          <a:ln/>
        </p:spPr>
      </p:sp>
      <p:sp>
        <p:nvSpPr>
          <p:cNvPr id="9" name="Text 7"/>
          <p:cNvSpPr/>
          <p:nvPr/>
        </p:nvSpPr>
        <p:spPr>
          <a:xfrm>
            <a:off x="71323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CONCEPTUAL</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Answer in one sentence</a:t>
            </a:r>
            <a:endParaRPr lang="en-US" sz="1500" dirty="0"/>
          </a:p>
        </p:txBody>
      </p:sp>
      <p:sp>
        <p:nvSpPr>
          <p:cNvPr id="11" name="Text 9"/>
          <p:cNvSpPr/>
          <p:nvPr/>
        </p:nvSpPr>
        <p:spPr>
          <a:xfrm>
            <a:off x="713232" y="2112264"/>
            <a:ext cx="5157216"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Why does a form reload the page, and why does that empty your list?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is the difference between handleAdd and handleAdd()?</a:t>
            </a:r>
            <a:endParaRPr lang="en-US" sz="1250" dirty="0"/>
          </a:p>
        </p:txBody>
      </p:sp>
      <p:sp>
        <p:nvSpPr>
          <p:cNvPr id="12" name="Shape 10"/>
          <p:cNvSpPr/>
          <p:nvPr/>
        </p:nvSpPr>
        <p:spPr>
          <a:xfrm>
            <a:off x="6355080" y="1234440"/>
            <a:ext cx="5285232" cy="2103120"/>
          </a:xfrm>
          <a:prstGeom prst="rect">
            <a:avLst>
              <a:gd name="adj" fmla="val 2609"/>
            </a:avLst>
          </a:prstGeom>
          <a:solidFill>
            <a:srgbClr val="E7F4EE"/>
          </a:solidFill>
          <a:ln w="12700">
            <a:solidFill>
              <a:srgbClr val="1F7A55"/>
            </a:solidFill>
            <a:prstDash val="solid"/>
          </a:ln>
        </p:spPr>
      </p:sp>
      <p:sp>
        <p:nvSpPr>
          <p:cNvPr id="13" name="Shape 11"/>
          <p:cNvSpPr/>
          <p:nvPr/>
        </p:nvSpPr>
        <p:spPr>
          <a:xfrm>
            <a:off x="6519672" y="1399032"/>
            <a:ext cx="1010412" cy="256032"/>
          </a:xfrm>
          <a:prstGeom prst="rect">
            <a:avLst>
              <a:gd name="adj" fmla="val 17857"/>
            </a:avLst>
          </a:prstGeom>
          <a:solidFill>
            <a:srgbClr val="1F7A55"/>
          </a:solidFill>
          <a:ln/>
        </p:spPr>
      </p:sp>
      <p:sp>
        <p:nvSpPr>
          <p:cNvPr id="14" name="Text 12"/>
          <p:cNvSpPr/>
          <p:nvPr/>
        </p:nvSpPr>
        <p:spPr>
          <a:xfrm>
            <a:off x="6519672" y="1399032"/>
            <a:ext cx="1010412"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PRACTICAL</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Show me</a:t>
            </a:r>
            <a:endParaRPr lang="en-US" sz="1500" dirty="0"/>
          </a:p>
        </p:txBody>
      </p:sp>
      <p:sp>
        <p:nvSpPr>
          <p:cNvPr id="16" name="Text 14"/>
          <p:cNvSpPr/>
          <p:nvPr/>
        </p:nvSpPr>
        <p:spPr>
          <a:xfrm>
            <a:off x="6519672" y="2112264"/>
            <a:ext cx="4956048"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Add a book with the Enter key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Remove one and watch the count follow</a:t>
            </a:r>
            <a:endParaRPr lang="en-US" sz="1250" dirty="0"/>
          </a:p>
        </p:txBody>
      </p:sp>
      <p:sp>
        <p:nvSpPr>
          <p:cNvPr id="17" name="Shape 15"/>
          <p:cNvSpPr/>
          <p:nvPr/>
        </p:nvSpPr>
        <p:spPr>
          <a:xfrm>
            <a:off x="548640" y="3520440"/>
            <a:ext cx="11064240" cy="1325880"/>
          </a:xfrm>
          <a:prstGeom prst="rect">
            <a:avLst>
              <a:gd name="adj" fmla="val 4138"/>
            </a:avLst>
          </a:prstGeom>
          <a:solidFill>
            <a:srgbClr val="FDF3E1"/>
          </a:solidFill>
          <a:ln w="12700">
            <a:solidFill>
              <a:srgbClr val="E39A18"/>
            </a:solidFill>
            <a:prstDash val="solid"/>
          </a:ln>
        </p:spPr>
      </p:sp>
      <p:sp>
        <p:nvSpPr>
          <p:cNvPr id="18" name="Text 16"/>
          <p:cNvSpPr/>
          <p:nvPr/>
        </p:nvSpPr>
        <p:spPr>
          <a:xfrm>
            <a:off x="713232" y="368503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The sentence to take away</a:t>
            </a:r>
            <a:endParaRPr lang="en-US" sz="1500" dirty="0"/>
          </a:p>
        </p:txBody>
      </p:sp>
      <p:sp>
        <p:nvSpPr>
          <p:cNvPr id="19" name="Text 17"/>
          <p:cNvSpPr/>
          <p:nvPr/>
        </p:nvSpPr>
        <p:spPr>
          <a:xfrm>
            <a:off x="713232" y="4032504"/>
            <a:ext cx="10735056" cy="704088"/>
          </a:xfrm>
          <a:prstGeom prst="rect">
            <a:avLst/>
          </a:prstGeom>
          <a:noFill/>
          <a:ln/>
        </p:spPr>
        <p:txBody>
          <a:bodyPr wrap="square" rtlCol="0" anchor="t"/>
          <a:lstStyle/>
          <a:p>
            <a:pPr indent="0" marL="0">
              <a:lnSpc>
                <a:spcPct val="110000"/>
              </a:lnSpc>
              <a:spcAft>
                <a:spcPts val="432"/>
              </a:spcAft>
              <a:buNone/>
            </a:pPr>
            <a:r>
              <a:rPr lang="en-US" sz="1300" dirty="0">
                <a:solidFill>
                  <a:srgbClr val="4A3000"/>
                </a:solidFill>
                <a:latin typeface="Arial" pitchFamily="34" charset="0"/>
                <a:ea typeface="Arial" pitchFamily="34" charset="-122"/>
                <a:cs typeface="Arial" pitchFamily="34" charset="-120"/>
              </a:rPr>
              <a:t>The array is the truth. The page is a picture of it. Change the data, then redraw.</a:t>
            </a:r>
            <a:endParaRPr lang="en-US" sz="1300" dirty="0"/>
          </a:p>
        </p:txBody>
      </p:sp>
      <p:sp>
        <p:nvSpPr>
          <p:cNvPr id="20" name="Shape 18"/>
          <p:cNvSpPr/>
          <p:nvPr/>
        </p:nvSpPr>
        <p:spPr>
          <a:xfrm>
            <a:off x="548640" y="5029200"/>
            <a:ext cx="11064240" cy="1097280"/>
          </a:xfrm>
          <a:prstGeom prst="rect">
            <a:avLst>
              <a:gd name="adj" fmla="val 5000"/>
            </a:avLst>
          </a:prstGeom>
          <a:solidFill>
            <a:srgbClr val="F2F5F8"/>
          </a:solidFill>
          <a:ln w="12700">
            <a:solidFill>
              <a:srgbClr val="D6DEE6"/>
            </a:solidFill>
            <a:prstDash val="solid"/>
          </a:ln>
        </p:spPr>
      </p:sp>
      <p:sp>
        <p:nvSpPr>
          <p:cNvPr id="21" name="Text 19"/>
          <p:cNvSpPr/>
          <p:nvPr/>
        </p:nvSpPr>
        <p:spPr>
          <a:xfrm>
            <a:off x="713232" y="5193792"/>
            <a:ext cx="1073505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Next class</a:t>
            </a:r>
            <a:endParaRPr lang="en-US" sz="1500" dirty="0"/>
          </a:p>
        </p:txBody>
      </p:sp>
      <p:sp>
        <p:nvSpPr>
          <p:cNvPr id="22" name="Text 20"/>
          <p:cNvSpPr/>
          <p:nvPr/>
        </p:nvSpPr>
        <p:spPr>
          <a:xfrm>
            <a:off x="713232" y="5541264"/>
            <a:ext cx="10735056" cy="4754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C4 is practice: you extend this app, then debug six planted bugs. Bring your reading-list files.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39A18"/>
          </a:solidFill>
          <a:ln/>
        </p:spPr>
      </p:sp>
      <p:sp>
        <p:nvSpPr>
          <p:cNvPr id="3" name="Text 1"/>
          <p:cNvSpPr/>
          <p:nvPr/>
        </p:nvSpPr>
        <p:spPr>
          <a:xfrm>
            <a:off x="1097280" y="2514600"/>
            <a:ext cx="10058400" cy="320040"/>
          </a:xfrm>
          <a:prstGeom prst="rect">
            <a:avLst/>
          </a:prstGeom>
          <a:noFill/>
          <a:ln/>
        </p:spPr>
        <p:txBody>
          <a:bodyPr wrap="square" rtlCol="0" anchor="ctr"/>
          <a:lstStyle/>
          <a:p>
            <a:pPr indent="0" marL="0">
              <a:buNone/>
            </a:pPr>
            <a:r>
              <a:rPr lang="en-US" sz="1300" b="1" spc="200" kern="0" dirty="0">
                <a:solidFill>
                  <a:srgbClr val="E39A18"/>
                </a:solidFill>
                <a:latin typeface="Arial" pitchFamily="34" charset="0"/>
                <a:ea typeface="Arial" pitchFamily="34" charset="-122"/>
                <a:cs typeface="Arial" pitchFamily="34" charset="-120"/>
              </a:rPr>
              <a:t>WEEK 6 · CLASS 4</a:t>
            </a:r>
            <a:endParaRPr lang="en-US" sz="1300" dirty="0"/>
          </a:p>
        </p:txBody>
      </p:sp>
      <p:sp>
        <p:nvSpPr>
          <p:cNvPr id="4" name="Text 2"/>
          <p:cNvSpPr/>
          <p:nvPr/>
        </p:nvSpPr>
        <p:spPr>
          <a:xfrm>
            <a:off x="1097280" y="2880360"/>
            <a:ext cx="10058400" cy="82296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Practice: a small interactive application</a:t>
            </a:r>
            <a:endParaRPr lang="en-US" sz="3600" dirty="0"/>
          </a:p>
        </p:txBody>
      </p:sp>
      <p:sp>
        <p:nvSpPr>
          <p:cNvPr id="5" name="Text 3"/>
          <p:cNvSpPr/>
          <p:nvPr/>
        </p:nvSpPr>
        <p:spPr>
          <a:xfrm>
            <a:off x="1097280" y="3794760"/>
            <a:ext cx="9601200" cy="548640"/>
          </a:xfrm>
          <a:prstGeom prst="rect">
            <a:avLst/>
          </a:prstGeom>
          <a:noFill/>
          <a:ln/>
        </p:spPr>
        <p:txBody>
          <a:bodyPr wrap="square" rtlCol="0" anchor="ctr"/>
          <a:lstStyle/>
          <a:p>
            <a:pPr indent="0" marL="0">
              <a:buNone/>
            </a:pPr>
            <a:r>
              <a:rPr lang="en-US" sz="1500" dirty="0">
                <a:solidFill>
                  <a:srgbClr val="C8D8E8"/>
                </a:solidFill>
                <a:latin typeface="Arial" pitchFamily="34" charset="0"/>
                <a:ea typeface="Arial" pitchFamily="34" charset="-122"/>
                <a:cs typeface="Arial" pitchFamily="34" charset="-120"/>
              </a:rPr>
              <a:t>Extend it, then find six bugs that produce no error at all</a:t>
            </a:r>
            <a:endParaRPr lang="en-US" sz="150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E8CA8"/>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C4 · 0-5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plan for this hour</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17</a:t>
            </a:r>
            <a:endParaRPr lang="en-US" sz="950" dirty="0"/>
          </a:p>
        </p:txBody>
      </p:sp>
      <p:sp>
        <p:nvSpPr>
          <p:cNvPr id="7" name="Shape 5"/>
          <p:cNvSpPr/>
          <p:nvPr/>
        </p:nvSpPr>
        <p:spPr>
          <a:xfrm>
            <a:off x="548640" y="1444752"/>
            <a:ext cx="457200" cy="457200"/>
          </a:xfrm>
          <a:prstGeom prst="ellipse">
            <a:avLst/>
          </a:prstGeom>
          <a:solidFill>
            <a:srgbClr val="003366"/>
          </a:solidFill>
          <a:ln/>
        </p:spPr>
      </p:sp>
      <p:sp>
        <p:nvSpPr>
          <p:cNvPr id="8" name="Text 6"/>
          <p:cNvSpPr/>
          <p:nvPr/>
        </p:nvSpPr>
        <p:spPr>
          <a:xfrm>
            <a:off x="548640" y="1444752"/>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1234440" y="1408176"/>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Finish and polish</a:t>
            </a:r>
            <a:endParaRPr lang="en-US" sz="1500" dirty="0"/>
          </a:p>
        </p:txBody>
      </p:sp>
      <p:sp>
        <p:nvSpPr>
          <p:cNvPr id="10" name="Shape 8"/>
          <p:cNvSpPr/>
          <p:nvPr/>
        </p:nvSpPr>
        <p:spPr>
          <a:xfrm>
            <a:off x="5029200" y="1444752"/>
            <a:ext cx="868680" cy="274320"/>
          </a:xfrm>
          <a:prstGeom prst="rect">
            <a:avLst>
              <a:gd name="adj" fmla="val 13333"/>
            </a:avLst>
          </a:prstGeom>
          <a:solidFill>
            <a:srgbClr val="FDF3E1"/>
          </a:solidFill>
          <a:ln w="12700">
            <a:solidFill>
              <a:srgbClr val="E39A18"/>
            </a:solidFill>
            <a:prstDash val="solid"/>
          </a:ln>
        </p:spPr>
      </p:sp>
      <p:sp>
        <p:nvSpPr>
          <p:cNvPr id="11" name="Text 9"/>
          <p:cNvSpPr/>
          <p:nvPr/>
        </p:nvSpPr>
        <p:spPr>
          <a:xfrm>
            <a:off x="5029200" y="1444752"/>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5-14 min</a:t>
            </a:r>
            <a:endParaRPr lang="en-US" sz="950" dirty="0"/>
          </a:p>
        </p:txBody>
      </p:sp>
      <p:sp>
        <p:nvSpPr>
          <p:cNvPr id="12" name="Text 10"/>
          <p:cNvSpPr/>
          <p:nvPr/>
        </p:nvSpPr>
        <p:spPr>
          <a:xfrm>
            <a:off x="6126480" y="1389888"/>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Guard empty input, clear the form, keep the count honest</a:t>
            </a:r>
            <a:endParaRPr lang="en-US" sz="1200" dirty="0"/>
          </a:p>
        </p:txBody>
      </p:sp>
      <p:sp>
        <p:nvSpPr>
          <p:cNvPr id="13" name="Shape 11"/>
          <p:cNvSpPr/>
          <p:nvPr/>
        </p:nvSpPr>
        <p:spPr>
          <a:xfrm>
            <a:off x="548640" y="2249424"/>
            <a:ext cx="11064240" cy="0"/>
          </a:xfrm>
          <a:prstGeom prst="line">
            <a:avLst/>
          </a:prstGeom>
          <a:noFill/>
          <a:ln w="9525">
            <a:solidFill>
              <a:srgbClr val="D6DEE6"/>
            </a:solidFill>
            <a:prstDash val="solid"/>
          </a:ln>
        </p:spPr>
      </p:sp>
      <p:sp>
        <p:nvSpPr>
          <p:cNvPr id="14" name="Shape 12"/>
          <p:cNvSpPr/>
          <p:nvPr/>
        </p:nvSpPr>
        <p:spPr>
          <a:xfrm>
            <a:off x="548640" y="2523744"/>
            <a:ext cx="457200" cy="457200"/>
          </a:xfrm>
          <a:prstGeom prst="ellipse">
            <a:avLst/>
          </a:prstGeom>
          <a:solidFill>
            <a:srgbClr val="003366"/>
          </a:solidFill>
          <a:ln/>
        </p:spPr>
      </p:sp>
      <p:sp>
        <p:nvSpPr>
          <p:cNvPr id="15" name="Text 13"/>
          <p:cNvSpPr/>
          <p:nvPr/>
        </p:nvSpPr>
        <p:spPr>
          <a:xfrm>
            <a:off x="548640" y="2523744"/>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6" name="Text 14"/>
          <p:cNvSpPr/>
          <p:nvPr/>
        </p:nvSpPr>
        <p:spPr>
          <a:xfrm>
            <a:off x="1234440" y="2487168"/>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Add a filter</a:t>
            </a:r>
            <a:endParaRPr lang="en-US" sz="1500" dirty="0"/>
          </a:p>
        </p:txBody>
      </p:sp>
      <p:sp>
        <p:nvSpPr>
          <p:cNvPr id="17" name="Shape 15"/>
          <p:cNvSpPr/>
          <p:nvPr/>
        </p:nvSpPr>
        <p:spPr>
          <a:xfrm>
            <a:off x="5029200" y="2523744"/>
            <a:ext cx="868680" cy="274320"/>
          </a:xfrm>
          <a:prstGeom prst="rect">
            <a:avLst>
              <a:gd name="adj" fmla="val 13333"/>
            </a:avLst>
          </a:prstGeom>
          <a:solidFill>
            <a:srgbClr val="FDF3E1"/>
          </a:solidFill>
          <a:ln w="12700">
            <a:solidFill>
              <a:srgbClr val="E39A18"/>
            </a:solidFill>
            <a:prstDash val="solid"/>
          </a:ln>
        </p:spPr>
      </p:sp>
      <p:sp>
        <p:nvSpPr>
          <p:cNvPr id="18" name="Text 16"/>
          <p:cNvSpPr/>
          <p:nvPr/>
        </p:nvSpPr>
        <p:spPr>
          <a:xfrm>
            <a:off x="5029200" y="2523744"/>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14-24 min</a:t>
            </a:r>
            <a:endParaRPr lang="en-US" sz="950" dirty="0"/>
          </a:p>
        </p:txBody>
      </p:sp>
      <p:sp>
        <p:nvSpPr>
          <p:cNvPr id="19" name="Text 17"/>
          <p:cNvSpPr/>
          <p:nvPr/>
        </p:nvSpPr>
        <p:spPr>
          <a:xfrm>
            <a:off x="6126480" y="2468880"/>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An input event that narrows the list without touching the data</a:t>
            </a:r>
            <a:endParaRPr lang="en-US" sz="1200" dirty="0"/>
          </a:p>
        </p:txBody>
      </p:sp>
      <p:sp>
        <p:nvSpPr>
          <p:cNvPr id="20" name="Shape 18"/>
          <p:cNvSpPr/>
          <p:nvPr/>
        </p:nvSpPr>
        <p:spPr>
          <a:xfrm>
            <a:off x="548640" y="3328416"/>
            <a:ext cx="11064240" cy="0"/>
          </a:xfrm>
          <a:prstGeom prst="line">
            <a:avLst/>
          </a:prstGeom>
          <a:noFill/>
          <a:ln w="9525">
            <a:solidFill>
              <a:srgbClr val="D6DEE6"/>
            </a:solidFill>
            <a:prstDash val="solid"/>
          </a:ln>
        </p:spPr>
      </p:sp>
      <p:sp>
        <p:nvSpPr>
          <p:cNvPr id="21" name="Shape 19"/>
          <p:cNvSpPr/>
          <p:nvPr/>
        </p:nvSpPr>
        <p:spPr>
          <a:xfrm>
            <a:off x="548640" y="3602736"/>
            <a:ext cx="457200" cy="457200"/>
          </a:xfrm>
          <a:prstGeom prst="ellipse">
            <a:avLst/>
          </a:prstGeom>
          <a:solidFill>
            <a:srgbClr val="003366"/>
          </a:solidFill>
          <a:ln/>
        </p:spPr>
      </p:sp>
      <p:sp>
        <p:nvSpPr>
          <p:cNvPr id="22" name="Text 20"/>
          <p:cNvSpPr/>
          <p:nvPr/>
        </p:nvSpPr>
        <p:spPr>
          <a:xfrm>
            <a:off x="548640" y="3602736"/>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3" name="Text 21"/>
          <p:cNvSpPr/>
          <p:nvPr/>
        </p:nvSpPr>
        <p:spPr>
          <a:xfrm>
            <a:off x="1234440" y="3566160"/>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One listener, not many</a:t>
            </a:r>
            <a:endParaRPr lang="en-US" sz="1500" dirty="0"/>
          </a:p>
        </p:txBody>
      </p:sp>
      <p:sp>
        <p:nvSpPr>
          <p:cNvPr id="24" name="Shape 22"/>
          <p:cNvSpPr/>
          <p:nvPr/>
        </p:nvSpPr>
        <p:spPr>
          <a:xfrm>
            <a:off x="5029200" y="3602736"/>
            <a:ext cx="868680" cy="274320"/>
          </a:xfrm>
          <a:prstGeom prst="rect">
            <a:avLst>
              <a:gd name="adj" fmla="val 13333"/>
            </a:avLst>
          </a:prstGeom>
          <a:solidFill>
            <a:srgbClr val="FDF3E1"/>
          </a:solidFill>
          <a:ln w="12700">
            <a:solidFill>
              <a:srgbClr val="E39A18"/>
            </a:solidFill>
            <a:prstDash val="solid"/>
          </a:ln>
        </p:spPr>
      </p:sp>
      <p:sp>
        <p:nvSpPr>
          <p:cNvPr id="25" name="Text 23"/>
          <p:cNvSpPr/>
          <p:nvPr/>
        </p:nvSpPr>
        <p:spPr>
          <a:xfrm>
            <a:off x="5029200" y="3602736"/>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24-34 min</a:t>
            </a:r>
            <a:endParaRPr lang="en-US" sz="950" dirty="0"/>
          </a:p>
        </p:txBody>
      </p:sp>
      <p:sp>
        <p:nvSpPr>
          <p:cNvPr id="26" name="Text 24"/>
          <p:cNvSpPr/>
          <p:nvPr/>
        </p:nvSpPr>
        <p:spPr>
          <a:xfrm>
            <a:off x="6126480" y="3547872"/>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Event delegation on the parent, with e.target.closest</a:t>
            </a:r>
            <a:endParaRPr lang="en-US" sz="1200" dirty="0"/>
          </a:p>
        </p:txBody>
      </p:sp>
      <p:sp>
        <p:nvSpPr>
          <p:cNvPr id="27" name="Shape 25"/>
          <p:cNvSpPr/>
          <p:nvPr/>
        </p:nvSpPr>
        <p:spPr>
          <a:xfrm>
            <a:off x="548640" y="4407408"/>
            <a:ext cx="11064240" cy="0"/>
          </a:xfrm>
          <a:prstGeom prst="line">
            <a:avLst/>
          </a:prstGeom>
          <a:noFill/>
          <a:ln w="9525">
            <a:solidFill>
              <a:srgbClr val="D6DEE6"/>
            </a:solidFill>
            <a:prstDash val="solid"/>
          </a:ln>
        </p:spPr>
      </p:sp>
      <p:sp>
        <p:nvSpPr>
          <p:cNvPr id="28" name="Shape 26"/>
          <p:cNvSpPr/>
          <p:nvPr/>
        </p:nvSpPr>
        <p:spPr>
          <a:xfrm>
            <a:off x="548640" y="4681728"/>
            <a:ext cx="457200" cy="457200"/>
          </a:xfrm>
          <a:prstGeom prst="ellipse">
            <a:avLst/>
          </a:prstGeom>
          <a:solidFill>
            <a:srgbClr val="003366"/>
          </a:solidFill>
          <a:ln/>
        </p:spPr>
      </p:sp>
      <p:sp>
        <p:nvSpPr>
          <p:cNvPr id="29" name="Text 27"/>
          <p:cNvSpPr/>
          <p:nvPr/>
        </p:nvSpPr>
        <p:spPr>
          <a:xfrm>
            <a:off x="548640" y="4681728"/>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30" name="Text 28"/>
          <p:cNvSpPr/>
          <p:nvPr/>
        </p:nvSpPr>
        <p:spPr>
          <a:xfrm>
            <a:off x="1234440" y="4645152"/>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Six planted bugs</a:t>
            </a:r>
            <a:endParaRPr lang="en-US" sz="1500" dirty="0"/>
          </a:p>
        </p:txBody>
      </p:sp>
      <p:sp>
        <p:nvSpPr>
          <p:cNvPr id="31" name="Shape 29"/>
          <p:cNvSpPr/>
          <p:nvPr/>
        </p:nvSpPr>
        <p:spPr>
          <a:xfrm>
            <a:off x="5029200" y="4681728"/>
            <a:ext cx="868680" cy="274320"/>
          </a:xfrm>
          <a:prstGeom prst="rect">
            <a:avLst>
              <a:gd name="adj" fmla="val 13333"/>
            </a:avLst>
          </a:prstGeom>
          <a:solidFill>
            <a:srgbClr val="FDF3E1"/>
          </a:solidFill>
          <a:ln w="12700">
            <a:solidFill>
              <a:srgbClr val="E39A18"/>
            </a:solidFill>
            <a:prstDash val="solid"/>
          </a:ln>
        </p:spPr>
      </p:sp>
      <p:sp>
        <p:nvSpPr>
          <p:cNvPr id="32" name="Text 30"/>
          <p:cNvSpPr/>
          <p:nvPr/>
        </p:nvSpPr>
        <p:spPr>
          <a:xfrm>
            <a:off x="5029200" y="4681728"/>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34-46 min</a:t>
            </a:r>
            <a:endParaRPr lang="en-US" sz="950" dirty="0"/>
          </a:p>
        </p:txBody>
      </p:sp>
      <p:sp>
        <p:nvSpPr>
          <p:cNvPr id="33" name="Text 31"/>
          <p:cNvSpPr/>
          <p:nvPr/>
        </p:nvSpPr>
        <p:spPr>
          <a:xfrm>
            <a:off x="6126480" y="4626864"/>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Five are silent. The app works, just not correctly</a:t>
            </a:r>
            <a:endParaRPr lang="en-US" sz="1200" dirty="0"/>
          </a:p>
        </p:txBody>
      </p:sp>
      <p:sp>
        <p:nvSpPr>
          <p:cNvPr id="34" name="Shape 32"/>
          <p:cNvSpPr/>
          <p:nvPr/>
        </p:nvSpPr>
        <p:spPr>
          <a:xfrm>
            <a:off x="548640" y="5669280"/>
            <a:ext cx="11064240" cy="548640"/>
          </a:xfrm>
          <a:prstGeom prst="rect">
            <a:avLst>
              <a:gd name="adj" fmla="val 10000"/>
            </a:avLst>
          </a:prstGeom>
          <a:solidFill>
            <a:srgbClr val="F2F5F8"/>
          </a:solidFill>
          <a:ln w="12700">
            <a:solidFill>
              <a:srgbClr val="D6DEE6"/>
            </a:solidFill>
            <a:prstDash val="solid"/>
          </a:ln>
        </p:spPr>
      </p:sp>
      <p:sp>
        <p:nvSpPr>
          <p:cNvPr id="35" name="Text 33"/>
          <p:cNvSpPr/>
          <p:nvPr/>
        </p:nvSpPr>
        <p:spPr>
          <a:xfrm>
            <a:off x="713232" y="5833872"/>
            <a:ext cx="10735056" cy="274320"/>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Last 4 minutes: assignment Part 1 check. Exercise 3 is the one that matters for Mini Project 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C4 · 5-24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Exercises 1 and 2</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18</a:t>
            </a:r>
            <a:endParaRPr lang="en-US" sz="950" dirty="0"/>
          </a:p>
        </p:txBody>
      </p:sp>
      <p:sp>
        <p:nvSpPr>
          <p:cNvPr id="7" name="Shape 5"/>
          <p:cNvSpPr/>
          <p:nvPr/>
        </p:nvSpPr>
        <p:spPr>
          <a:xfrm>
            <a:off x="548640" y="1234440"/>
            <a:ext cx="5486400" cy="2377440"/>
          </a:xfrm>
          <a:prstGeom prst="rect">
            <a:avLst>
              <a:gd name="adj" fmla="val 2308"/>
            </a:avLst>
          </a:prstGeom>
          <a:solidFill>
            <a:srgbClr val="F2F5F8"/>
          </a:solidFill>
          <a:ln w="12700">
            <a:solidFill>
              <a:srgbClr val="D6DEE6"/>
            </a:solidFill>
            <a:prstDash val="solid"/>
          </a:ln>
        </p:spPr>
      </p:sp>
      <p:sp>
        <p:nvSpPr>
          <p:cNvPr id="8" name="Shape 6"/>
          <p:cNvSpPr/>
          <p:nvPr/>
        </p:nvSpPr>
        <p:spPr>
          <a:xfrm>
            <a:off x="713232" y="1399032"/>
            <a:ext cx="1088136" cy="256032"/>
          </a:xfrm>
          <a:prstGeom prst="rect">
            <a:avLst>
              <a:gd name="adj" fmla="val 17857"/>
            </a:avLst>
          </a:prstGeom>
          <a:solidFill>
            <a:srgbClr val="003366"/>
          </a:solidFill>
          <a:ln/>
        </p:spPr>
      </p:sp>
      <p:sp>
        <p:nvSpPr>
          <p:cNvPr id="9" name="Text 7"/>
          <p:cNvSpPr/>
          <p:nvPr/>
        </p:nvSpPr>
        <p:spPr>
          <a:xfrm>
            <a:off x="71323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EXERCISE 1</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Finish and polish</a:t>
            </a:r>
            <a:endParaRPr lang="en-US" sz="1500" dirty="0"/>
          </a:p>
        </p:txBody>
      </p:sp>
      <p:sp>
        <p:nvSpPr>
          <p:cNvPr id="11" name="Text 9"/>
          <p:cNvSpPr/>
          <p:nvPr/>
        </p:nvSpPr>
        <p:spPr>
          <a:xfrm>
            <a:off x="713232" y="2112264"/>
            <a:ext cx="5157216" cy="13898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Refuse an empty title, and say so on the page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Clear the form after a successful add</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Show "No books yet" when the list is empty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Make the count read "1 book" and "3 books" correctly</a:t>
            </a:r>
            <a:endParaRPr lang="en-US" sz="1250" dirty="0"/>
          </a:p>
        </p:txBody>
      </p:sp>
      <p:sp>
        <p:nvSpPr>
          <p:cNvPr id="12" name="Shape 10"/>
          <p:cNvSpPr/>
          <p:nvPr/>
        </p:nvSpPr>
        <p:spPr>
          <a:xfrm>
            <a:off x="6355080" y="1234440"/>
            <a:ext cx="5285232" cy="2377440"/>
          </a:xfrm>
          <a:prstGeom prst="rect">
            <a:avLst>
              <a:gd name="adj" fmla="val 2308"/>
            </a:avLst>
          </a:prstGeom>
          <a:solidFill>
            <a:srgbClr val="E7F4EE"/>
          </a:solidFill>
          <a:ln w="12700">
            <a:solidFill>
              <a:srgbClr val="1F7A55"/>
            </a:solidFill>
            <a:prstDash val="solid"/>
          </a:ln>
        </p:spPr>
      </p:sp>
      <p:sp>
        <p:nvSpPr>
          <p:cNvPr id="13" name="Shape 11"/>
          <p:cNvSpPr/>
          <p:nvPr/>
        </p:nvSpPr>
        <p:spPr>
          <a:xfrm>
            <a:off x="6519672" y="1399032"/>
            <a:ext cx="1088136" cy="256032"/>
          </a:xfrm>
          <a:prstGeom prst="rect">
            <a:avLst>
              <a:gd name="adj" fmla="val 17857"/>
            </a:avLst>
          </a:prstGeom>
          <a:solidFill>
            <a:srgbClr val="1F7A55"/>
          </a:solidFill>
          <a:ln/>
        </p:spPr>
      </p:sp>
      <p:sp>
        <p:nvSpPr>
          <p:cNvPr id="14" name="Text 12"/>
          <p:cNvSpPr/>
          <p:nvPr/>
        </p:nvSpPr>
        <p:spPr>
          <a:xfrm>
            <a:off x="651967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EXERCISE 2</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A live filter</a:t>
            </a:r>
            <a:endParaRPr lang="en-US" sz="1500" dirty="0"/>
          </a:p>
        </p:txBody>
      </p:sp>
      <p:sp>
        <p:nvSpPr>
          <p:cNvPr id="16" name="Text 14"/>
          <p:cNvSpPr/>
          <p:nvPr/>
        </p:nvSpPr>
        <p:spPr>
          <a:xfrm>
            <a:off x="6519672" y="2112264"/>
            <a:ext cx="4956048" cy="13898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 search box above the list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On input, show only matching titles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Do NOT delete anything from the array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Clearing the box brings everything back</a:t>
            </a:r>
            <a:endParaRPr lang="en-US" sz="1250" dirty="0"/>
          </a:p>
        </p:txBody>
      </p:sp>
      <p:sp>
        <p:nvSpPr>
          <p:cNvPr id="17" name="Shape 15"/>
          <p:cNvSpPr/>
          <p:nvPr/>
        </p:nvSpPr>
        <p:spPr>
          <a:xfrm>
            <a:off x="548640" y="3886200"/>
            <a:ext cx="11064240" cy="1168400"/>
          </a:xfrm>
          <a:prstGeom prst="rect">
            <a:avLst>
              <a:gd name="adj" fmla="val 3913"/>
            </a:avLst>
          </a:prstGeom>
          <a:solidFill>
            <a:srgbClr val="0D1B2A"/>
          </a:solidFill>
          <a:ln w="12700">
            <a:solidFill>
              <a:srgbClr val="0D1B2A"/>
            </a:solidFill>
            <a:prstDash val="solid"/>
          </a:ln>
        </p:spPr>
      </p:sp>
      <p:sp>
        <p:nvSpPr>
          <p:cNvPr id="18" name="Text 16"/>
          <p:cNvSpPr/>
          <p:nvPr/>
        </p:nvSpPr>
        <p:spPr>
          <a:xfrm>
            <a:off x="685800" y="3995928"/>
            <a:ext cx="10789920" cy="948944"/>
          </a:xfrm>
          <a:prstGeom prst="rect">
            <a:avLst/>
          </a:prstGeom>
          <a:noFill/>
          <a:ln/>
        </p:spPr>
        <p:txBody>
          <a:bodyPr wrap="square" rtlCol="0" anchor="t"/>
          <a:lstStyle/>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searchInput.addEventListener(</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"input"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(e) =&gt;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term = e.target.value.toLowerCase();</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shown = books.filter(b =&gt; b.title.toLowerCase().includes(term));</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renderBooks(shown);       </a:t>
            </a:r>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 draw a SUBSET. books itself is untouched.</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p:txBody>
      </p:sp>
      <p:sp>
        <p:nvSpPr>
          <p:cNvPr id="19" name="Shape 17"/>
          <p:cNvSpPr/>
          <p:nvPr/>
        </p:nvSpPr>
        <p:spPr>
          <a:xfrm>
            <a:off x="548640" y="5394960"/>
            <a:ext cx="11064240" cy="777240"/>
          </a:xfrm>
          <a:prstGeom prst="rect">
            <a:avLst>
              <a:gd name="adj" fmla="val 7059"/>
            </a:avLst>
          </a:prstGeom>
          <a:solidFill>
            <a:srgbClr val="FDF3E1"/>
          </a:solidFill>
          <a:ln w="12700">
            <a:solidFill>
              <a:srgbClr val="E39A18"/>
            </a:solidFill>
            <a:prstDash val="solid"/>
          </a:ln>
        </p:spPr>
      </p:sp>
      <p:sp>
        <p:nvSpPr>
          <p:cNvPr id="20" name="Text 18"/>
          <p:cNvSpPr/>
          <p:nvPr/>
        </p:nvSpPr>
        <p:spPr>
          <a:xfrm>
            <a:off x="713232" y="5559552"/>
            <a:ext cx="10735056" cy="502920"/>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This is why renderBooks takes a list instead of reading books directly. Now you can draw any list you like.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C4 · 24-34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Exercise 3: one listener instead of many</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19</a:t>
            </a:r>
            <a:endParaRPr lang="en-US" sz="950" dirty="0"/>
          </a:p>
        </p:txBody>
      </p:sp>
      <p:sp>
        <p:nvSpPr>
          <p:cNvPr id="7" name="Shape 5"/>
          <p:cNvSpPr/>
          <p:nvPr/>
        </p:nvSpPr>
        <p:spPr>
          <a:xfrm>
            <a:off x="548640" y="1234440"/>
            <a:ext cx="6766560" cy="2777744"/>
          </a:xfrm>
          <a:prstGeom prst="rect">
            <a:avLst>
              <a:gd name="adj" fmla="val 1646"/>
            </a:avLst>
          </a:prstGeom>
          <a:solidFill>
            <a:srgbClr val="0D1B2A"/>
          </a:solidFill>
          <a:ln w="12700">
            <a:solidFill>
              <a:srgbClr val="0D1B2A"/>
            </a:solidFill>
            <a:prstDash val="solid"/>
          </a:ln>
        </p:spPr>
      </p:sp>
      <p:sp>
        <p:nvSpPr>
          <p:cNvPr id="8" name="Text 6"/>
          <p:cNvSpPr/>
          <p:nvPr/>
        </p:nvSpPr>
        <p:spPr>
          <a:xfrm>
            <a:off x="685800" y="1344168"/>
            <a:ext cx="6492240" cy="2558288"/>
          </a:xfrm>
          <a:prstGeom prst="rect">
            <a:avLst/>
          </a:prstGeom>
          <a:noFill/>
          <a:ln/>
        </p:spPr>
        <p:txBody>
          <a:bodyPr wrap="square" rtlCol="0" anchor="t"/>
          <a:lstStyle/>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Instead of a listener per button, one on the parent: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shelf.addEventListener(</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"click"</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(e) =&gt;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btn = e.target.closest(</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".remove-btn"</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if</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(!btn)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return</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 they clicked something else</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id = Number(btn.dataset.id);</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books = books.filter(b =&gt; b.id !== id);</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renderBooks(books);</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and in render, instead of addEventListener:</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btn.classList.add(</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"remove-btn"</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btn.dataset.id = b.id;</a:t>
            </a:r>
            <a:endParaRPr lang="en-US" sz="1100" dirty="0"/>
          </a:p>
        </p:txBody>
      </p:sp>
      <p:sp>
        <p:nvSpPr>
          <p:cNvPr id="9" name="Shape 7"/>
          <p:cNvSpPr/>
          <p:nvPr/>
        </p:nvSpPr>
        <p:spPr>
          <a:xfrm>
            <a:off x="7635240" y="1234440"/>
            <a:ext cx="4553712" cy="2148840"/>
          </a:xfrm>
          <a:prstGeom prst="rect">
            <a:avLst>
              <a:gd name="adj" fmla="val 2553"/>
            </a:avLst>
          </a:prstGeom>
          <a:solidFill>
            <a:srgbClr val="E7F4EE"/>
          </a:solidFill>
          <a:ln w="12700">
            <a:solidFill>
              <a:srgbClr val="1F7A55"/>
            </a:solidFill>
            <a:prstDash val="solid"/>
          </a:ln>
        </p:spPr>
      </p:sp>
      <p:sp>
        <p:nvSpPr>
          <p:cNvPr id="10" name="Text 8"/>
          <p:cNvSpPr/>
          <p:nvPr/>
        </p:nvSpPr>
        <p:spPr>
          <a:xfrm>
            <a:off x="7799832" y="1399032"/>
            <a:ext cx="422452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Why this is better</a:t>
            </a:r>
            <a:endParaRPr lang="en-US" sz="1500" dirty="0"/>
          </a:p>
        </p:txBody>
      </p:sp>
      <p:sp>
        <p:nvSpPr>
          <p:cNvPr id="11" name="Text 9"/>
          <p:cNvSpPr/>
          <p:nvPr/>
        </p:nvSpPr>
        <p:spPr>
          <a:xfrm>
            <a:off x="7799832" y="1746504"/>
            <a:ext cx="4224528" cy="15270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One listener, written once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It keeps working for buttons that do not exist yet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Nothing to clean up when you redraw</a:t>
            </a:r>
            <a:endParaRPr lang="en-US" sz="1250" dirty="0"/>
          </a:p>
        </p:txBody>
      </p:sp>
      <p:sp>
        <p:nvSpPr>
          <p:cNvPr id="12" name="Shape 10"/>
          <p:cNvSpPr/>
          <p:nvPr/>
        </p:nvSpPr>
        <p:spPr>
          <a:xfrm>
            <a:off x="7635240" y="3520440"/>
            <a:ext cx="4553712" cy="2148840"/>
          </a:xfrm>
          <a:prstGeom prst="rect">
            <a:avLst>
              <a:gd name="adj" fmla="val 2553"/>
            </a:avLst>
          </a:prstGeom>
          <a:solidFill>
            <a:srgbClr val="FDF3E1"/>
          </a:solidFill>
          <a:ln w="12700">
            <a:solidFill>
              <a:srgbClr val="E39A18"/>
            </a:solidFill>
            <a:prstDash val="solid"/>
          </a:ln>
        </p:spPr>
      </p:sp>
      <p:sp>
        <p:nvSpPr>
          <p:cNvPr id="13" name="Text 11"/>
          <p:cNvSpPr/>
          <p:nvPr/>
        </p:nvSpPr>
        <p:spPr>
          <a:xfrm>
            <a:off x="7799832" y="3685032"/>
            <a:ext cx="4224528"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closest is the trick</a:t>
            </a:r>
            <a:endParaRPr lang="en-US" sz="1500" dirty="0"/>
          </a:p>
        </p:txBody>
      </p:sp>
      <p:sp>
        <p:nvSpPr>
          <p:cNvPr id="14" name="Text 12"/>
          <p:cNvSpPr/>
          <p:nvPr/>
        </p:nvSpPr>
        <p:spPr>
          <a:xfrm>
            <a:off x="7799832" y="4032504"/>
            <a:ext cx="4224528" cy="15270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e.target may be text inside the button</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closest walks up until it finds a match</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Returns null if there is none, so guard it</a:t>
            </a:r>
            <a:endParaRPr lang="en-US" sz="1250" dirty="0"/>
          </a:p>
        </p:txBody>
      </p:sp>
      <p:sp>
        <p:nvSpPr>
          <p:cNvPr id="15" name="Shape 13"/>
          <p:cNvSpPr/>
          <p:nvPr/>
        </p:nvSpPr>
        <p:spPr>
          <a:xfrm>
            <a:off x="548640" y="3977640"/>
            <a:ext cx="6766560" cy="1691640"/>
          </a:xfrm>
          <a:prstGeom prst="rect">
            <a:avLst>
              <a:gd name="adj" fmla="val 3243"/>
            </a:avLst>
          </a:prstGeom>
          <a:solidFill>
            <a:srgbClr val="F2F5F8"/>
          </a:solidFill>
          <a:ln w="12700">
            <a:solidFill>
              <a:srgbClr val="D6DEE6"/>
            </a:solidFill>
            <a:prstDash val="solid"/>
          </a:ln>
        </p:spPr>
      </p:sp>
      <p:sp>
        <p:nvSpPr>
          <p:cNvPr id="16" name="Text 14"/>
          <p:cNvSpPr/>
          <p:nvPr/>
        </p:nvSpPr>
        <p:spPr>
          <a:xfrm>
            <a:off x="713232" y="4142232"/>
            <a:ext cx="643737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This is the Mini Project 3 pattern</a:t>
            </a:r>
            <a:endParaRPr lang="en-US" sz="1500" dirty="0"/>
          </a:p>
        </p:txBody>
      </p:sp>
      <p:sp>
        <p:nvSpPr>
          <p:cNvPr id="17" name="Text 15"/>
          <p:cNvSpPr/>
          <p:nvPr/>
        </p:nvSpPr>
        <p:spPr>
          <a:xfrm>
            <a:off x="713232" y="4489704"/>
            <a:ext cx="6437376" cy="10698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Any list where items are added, removed or edited</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Worth getting comfortable with today, not in Week 8</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C4 · 34-46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Exercise 4: six planted bugs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20</a:t>
            </a:r>
            <a:endParaRPr lang="en-US" sz="950" dirty="0"/>
          </a:p>
        </p:txBody>
      </p:sp>
      <p:sp>
        <p:nvSpPr>
          <p:cNvPr id="7" name="Shape 5"/>
          <p:cNvSpPr/>
          <p:nvPr/>
        </p:nvSpPr>
        <p:spPr>
          <a:xfrm>
            <a:off x="548640" y="1234440"/>
            <a:ext cx="11064240" cy="914400"/>
          </a:xfrm>
          <a:prstGeom prst="rect">
            <a:avLst>
              <a:gd name="adj" fmla="val 6000"/>
            </a:avLst>
          </a:prstGeom>
          <a:solidFill>
            <a:srgbClr val="FBEAE8"/>
          </a:solidFill>
          <a:ln w="12700">
            <a:solidFill>
              <a:srgbClr val="B3261E"/>
            </a:solidFill>
            <a:prstDash val="solid"/>
          </a:ln>
        </p:spPr>
      </p:sp>
      <p:sp>
        <p:nvSpPr>
          <p:cNvPr id="8" name="Text 6"/>
          <p:cNvSpPr/>
          <p:nvPr/>
        </p:nvSpPr>
        <p:spPr>
          <a:xfrm>
            <a:off x="713232" y="1399032"/>
            <a:ext cx="1073505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The app runs. It just behaves wrongly.</a:t>
            </a:r>
            <a:endParaRPr lang="en-US" sz="1500" dirty="0"/>
          </a:p>
        </p:txBody>
      </p:sp>
      <p:sp>
        <p:nvSpPr>
          <p:cNvPr id="9" name="Text 7"/>
          <p:cNvSpPr/>
          <p:nvPr/>
        </p:nvSpPr>
        <p:spPr>
          <a:xfrm>
            <a:off x="713232" y="1746504"/>
            <a:ext cx="10735056" cy="29260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Only one of these six produces a Console error. For the rest, you have to notice that the behaviour is wrong.</a:t>
            </a:r>
            <a:endParaRPr lang="en-US" sz="1250" dirty="0"/>
          </a:p>
        </p:txBody>
      </p:sp>
      <p:sp>
        <p:nvSpPr>
          <p:cNvPr id="10" name="Shape 8"/>
          <p:cNvSpPr/>
          <p:nvPr/>
        </p:nvSpPr>
        <p:spPr>
          <a:xfrm>
            <a:off x="548640" y="2331720"/>
            <a:ext cx="5285232" cy="694944"/>
          </a:xfrm>
          <a:prstGeom prst="rect">
            <a:avLst>
              <a:gd name="adj" fmla="val 6579"/>
            </a:avLst>
          </a:prstGeom>
          <a:solidFill>
            <a:srgbClr val="FBEAE8"/>
          </a:solidFill>
          <a:ln w="12700">
            <a:solidFill>
              <a:srgbClr val="B3261E"/>
            </a:solidFill>
            <a:prstDash val="solid"/>
          </a:ln>
        </p:spPr>
      </p:sp>
      <p:sp>
        <p:nvSpPr>
          <p:cNvPr id="11" name="Shape 9"/>
          <p:cNvSpPr/>
          <p:nvPr/>
        </p:nvSpPr>
        <p:spPr>
          <a:xfrm>
            <a:off x="694944" y="2514600"/>
            <a:ext cx="329184" cy="329184"/>
          </a:xfrm>
          <a:prstGeom prst="ellipse">
            <a:avLst/>
          </a:prstGeom>
          <a:solidFill>
            <a:srgbClr val="003366"/>
          </a:solidFill>
          <a:ln/>
        </p:spPr>
      </p:sp>
      <p:sp>
        <p:nvSpPr>
          <p:cNvPr id="12" name="Text 10"/>
          <p:cNvSpPr/>
          <p:nvPr/>
        </p:nvSpPr>
        <p:spPr>
          <a:xfrm>
            <a:off x="694944" y="2514600"/>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13" name="Text 11"/>
          <p:cNvSpPr/>
          <p:nvPr/>
        </p:nvSpPr>
        <p:spPr>
          <a:xfrm>
            <a:off x="1115568" y="2331720"/>
            <a:ext cx="3794760" cy="694944"/>
          </a:xfrm>
          <a:prstGeom prst="rect">
            <a:avLst/>
          </a:prstGeom>
          <a:noFill/>
          <a:ln/>
        </p:spPr>
        <p:txBody>
          <a:bodyPr wrap="square" rtlCol="0" anchor="ctr"/>
          <a:lstStyle/>
          <a:p>
            <a:pPr indent="0" marL="0">
              <a:buNone/>
            </a:pPr>
            <a:r>
              <a:rPr lang="en-US" sz="1150" dirty="0">
                <a:solidFill>
                  <a:srgbClr val="6B1A14"/>
                </a:solidFill>
                <a:latin typeface="Arial" pitchFamily="34" charset="0"/>
                <a:ea typeface="Arial" pitchFamily="34" charset="-122"/>
                <a:cs typeface="Arial" pitchFamily="34" charset="-120"/>
              </a:rPr>
              <a:t>An error at load, and Add does nothing</a:t>
            </a:r>
            <a:endParaRPr lang="en-US" sz="1150" dirty="0"/>
          </a:p>
        </p:txBody>
      </p:sp>
      <p:sp>
        <p:nvSpPr>
          <p:cNvPr id="14" name="Text 12"/>
          <p:cNvSpPr/>
          <p:nvPr/>
        </p:nvSpPr>
        <p:spPr>
          <a:xfrm>
            <a:off x="4937760" y="2551176"/>
            <a:ext cx="777240" cy="256032"/>
          </a:xfrm>
          <a:prstGeom prst="rect">
            <a:avLst/>
          </a:prstGeom>
          <a:noFill/>
          <a:ln/>
        </p:spPr>
        <p:txBody>
          <a:bodyPr wrap="square" rtlCol="0" anchor="ctr"/>
          <a:lstStyle/>
          <a:p>
            <a:pPr algn="r" indent="0" marL="0">
              <a:buNone/>
            </a:pPr>
            <a:r>
              <a:rPr lang="en-US" sz="900" b="1" dirty="0">
                <a:solidFill>
                  <a:srgbClr val="B3261E"/>
                </a:solidFill>
                <a:latin typeface="Arial" pitchFamily="34" charset="0"/>
                <a:ea typeface="Arial" pitchFamily="34" charset="-122"/>
                <a:cs typeface="Arial" pitchFamily="34" charset="-120"/>
              </a:rPr>
              <a:t>Console</a:t>
            </a:r>
            <a:endParaRPr lang="en-US" sz="900" dirty="0"/>
          </a:p>
        </p:txBody>
      </p:sp>
      <p:sp>
        <p:nvSpPr>
          <p:cNvPr id="15" name="Shape 13"/>
          <p:cNvSpPr/>
          <p:nvPr/>
        </p:nvSpPr>
        <p:spPr>
          <a:xfrm>
            <a:off x="6355080" y="2331720"/>
            <a:ext cx="5285232" cy="694944"/>
          </a:xfrm>
          <a:prstGeom prst="rect">
            <a:avLst>
              <a:gd name="adj" fmla="val 6579"/>
            </a:avLst>
          </a:prstGeom>
          <a:solidFill>
            <a:srgbClr val="F2F5F8"/>
          </a:solidFill>
          <a:ln w="12700">
            <a:solidFill>
              <a:srgbClr val="D6DEE6"/>
            </a:solidFill>
            <a:prstDash val="solid"/>
          </a:ln>
        </p:spPr>
      </p:sp>
      <p:sp>
        <p:nvSpPr>
          <p:cNvPr id="16" name="Shape 14"/>
          <p:cNvSpPr/>
          <p:nvPr/>
        </p:nvSpPr>
        <p:spPr>
          <a:xfrm>
            <a:off x="6501384" y="2514600"/>
            <a:ext cx="329184" cy="329184"/>
          </a:xfrm>
          <a:prstGeom prst="ellipse">
            <a:avLst/>
          </a:prstGeom>
          <a:solidFill>
            <a:srgbClr val="003366"/>
          </a:solidFill>
          <a:ln/>
        </p:spPr>
      </p:sp>
      <p:sp>
        <p:nvSpPr>
          <p:cNvPr id="17" name="Text 15"/>
          <p:cNvSpPr/>
          <p:nvPr/>
        </p:nvSpPr>
        <p:spPr>
          <a:xfrm>
            <a:off x="6501384" y="2514600"/>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18" name="Text 16"/>
          <p:cNvSpPr/>
          <p:nvPr/>
        </p:nvSpPr>
        <p:spPr>
          <a:xfrm>
            <a:off x="6922008" y="2331720"/>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The list explodes: 3, then 7, then 12 rows</a:t>
            </a:r>
            <a:endParaRPr lang="en-US" sz="1150" dirty="0"/>
          </a:p>
        </p:txBody>
      </p:sp>
      <p:sp>
        <p:nvSpPr>
          <p:cNvPr id="19" name="Text 17"/>
          <p:cNvSpPr/>
          <p:nvPr/>
        </p:nvSpPr>
        <p:spPr>
          <a:xfrm>
            <a:off x="10744200" y="2551176"/>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20" name="Shape 18"/>
          <p:cNvSpPr/>
          <p:nvPr/>
        </p:nvSpPr>
        <p:spPr>
          <a:xfrm>
            <a:off x="548640" y="3172968"/>
            <a:ext cx="5285232" cy="694944"/>
          </a:xfrm>
          <a:prstGeom prst="rect">
            <a:avLst>
              <a:gd name="adj" fmla="val 6579"/>
            </a:avLst>
          </a:prstGeom>
          <a:solidFill>
            <a:srgbClr val="F2F5F8"/>
          </a:solidFill>
          <a:ln w="12700">
            <a:solidFill>
              <a:srgbClr val="D6DEE6"/>
            </a:solidFill>
            <a:prstDash val="solid"/>
          </a:ln>
        </p:spPr>
      </p:sp>
      <p:sp>
        <p:nvSpPr>
          <p:cNvPr id="21" name="Shape 19"/>
          <p:cNvSpPr/>
          <p:nvPr/>
        </p:nvSpPr>
        <p:spPr>
          <a:xfrm>
            <a:off x="694944" y="3355848"/>
            <a:ext cx="329184" cy="329184"/>
          </a:xfrm>
          <a:prstGeom prst="ellipse">
            <a:avLst/>
          </a:prstGeom>
          <a:solidFill>
            <a:srgbClr val="003366"/>
          </a:solidFill>
          <a:ln/>
        </p:spPr>
      </p:sp>
      <p:sp>
        <p:nvSpPr>
          <p:cNvPr id="22" name="Text 20"/>
          <p:cNvSpPr/>
          <p:nvPr/>
        </p:nvSpPr>
        <p:spPr>
          <a:xfrm>
            <a:off x="694944" y="3355848"/>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23" name="Text 21"/>
          <p:cNvSpPr/>
          <p:nvPr/>
        </p:nvSpPr>
        <p:spPr>
          <a:xfrm>
            <a:off x="1115568" y="3172968"/>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Added books have no title</a:t>
            </a:r>
            <a:endParaRPr lang="en-US" sz="1150" dirty="0"/>
          </a:p>
        </p:txBody>
      </p:sp>
      <p:sp>
        <p:nvSpPr>
          <p:cNvPr id="24" name="Text 22"/>
          <p:cNvSpPr/>
          <p:nvPr/>
        </p:nvSpPr>
        <p:spPr>
          <a:xfrm>
            <a:off x="4937760" y="3392424"/>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25" name="Shape 23"/>
          <p:cNvSpPr/>
          <p:nvPr/>
        </p:nvSpPr>
        <p:spPr>
          <a:xfrm>
            <a:off x="6355080" y="3172968"/>
            <a:ext cx="5285232" cy="694944"/>
          </a:xfrm>
          <a:prstGeom prst="rect">
            <a:avLst>
              <a:gd name="adj" fmla="val 6579"/>
            </a:avLst>
          </a:prstGeom>
          <a:solidFill>
            <a:srgbClr val="F2F5F8"/>
          </a:solidFill>
          <a:ln w="12700">
            <a:solidFill>
              <a:srgbClr val="D6DEE6"/>
            </a:solidFill>
            <a:prstDash val="solid"/>
          </a:ln>
        </p:spPr>
      </p:sp>
      <p:sp>
        <p:nvSpPr>
          <p:cNvPr id="26" name="Shape 24"/>
          <p:cNvSpPr/>
          <p:nvPr/>
        </p:nvSpPr>
        <p:spPr>
          <a:xfrm>
            <a:off x="6501384" y="3355848"/>
            <a:ext cx="329184" cy="329184"/>
          </a:xfrm>
          <a:prstGeom prst="ellipse">
            <a:avLst/>
          </a:prstGeom>
          <a:solidFill>
            <a:srgbClr val="003366"/>
          </a:solidFill>
          <a:ln/>
        </p:spPr>
      </p:sp>
      <p:sp>
        <p:nvSpPr>
          <p:cNvPr id="27" name="Text 25"/>
          <p:cNvSpPr/>
          <p:nvPr/>
        </p:nvSpPr>
        <p:spPr>
          <a:xfrm>
            <a:off x="6501384" y="3355848"/>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a:t>
            </a:r>
            <a:endParaRPr lang="en-US" sz="1150" dirty="0"/>
          </a:p>
        </p:txBody>
      </p:sp>
      <p:sp>
        <p:nvSpPr>
          <p:cNvPr id="28" name="Text 26"/>
          <p:cNvSpPr/>
          <p:nvPr/>
        </p:nvSpPr>
        <p:spPr>
          <a:xfrm>
            <a:off x="6922008" y="3172968"/>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Removed books come back</a:t>
            </a:r>
            <a:endParaRPr lang="en-US" sz="1150" dirty="0"/>
          </a:p>
        </p:txBody>
      </p:sp>
      <p:sp>
        <p:nvSpPr>
          <p:cNvPr id="29" name="Text 27"/>
          <p:cNvSpPr/>
          <p:nvPr/>
        </p:nvSpPr>
        <p:spPr>
          <a:xfrm>
            <a:off x="10744200" y="3392424"/>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30" name="Shape 28"/>
          <p:cNvSpPr/>
          <p:nvPr/>
        </p:nvSpPr>
        <p:spPr>
          <a:xfrm>
            <a:off x="548640" y="4014216"/>
            <a:ext cx="5285232" cy="694944"/>
          </a:xfrm>
          <a:prstGeom prst="rect">
            <a:avLst>
              <a:gd name="adj" fmla="val 6579"/>
            </a:avLst>
          </a:prstGeom>
          <a:solidFill>
            <a:srgbClr val="F2F5F8"/>
          </a:solidFill>
          <a:ln w="12700">
            <a:solidFill>
              <a:srgbClr val="D6DEE6"/>
            </a:solidFill>
            <a:prstDash val="solid"/>
          </a:ln>
        </p:spPr>
      </p:sp>
      <p:sp>
        <p:nvSpPr>
          <p:cNvPr id="31" name="Shape 29"/>
          <p:cNvSpPr/>
          <p:nvPr/>
        </p:nvSpPr>
        <p:spPr>
          <a:xfrm>
            <a:off x="694944" y="4197096"/>
            <a:ext cx="329184" cy="329184"/>
          </a:xfrm>
          <a:prstGeom prst="ellipse">
            <a:avLst/>
          </a:prstGeom>
          <a:solidFill>
            <a:srgbClr val="003366"/>
          </a:solidFill>
          <a:ln/>
        </p:spPr>
      </p:sp>
      <p:sp>
        <p:nvSpPr>
          <p:cNvPr id="32" name="Text 30"/>
          <p:cNvSpPr/>
          <p:nvPr/>
        </p:nvSpPr>
        <p:spPr>
          <a:xfrm>
            <a:off x="694944" y="4197096"/>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5</a:t>
            </a:r>
            <a:endParaRPr lang="en-US" sz="1150" dirty="0"/>
          </a:p>
        </p:txBody>
      </p:sp>
      <p:sp>
        <p:nvSpPr>
          <p:cNvPr id="33" name="Text 31"/>
          <p:cNvSpPr/>
          <p:nvPr/>
        </p:nvSpPr>
        <p:spPr>
          <a:xfrm>
            <a:off x="1115568" y="4014216"/>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The search box does nothing at all</a:t>
            </a:r>
            <a:endParaRPr lang="en-US" sz="1150" dirty="0"/>
          </a:p>
        </p:txBody>
      </p:sp>
      <p:sp>
        <p:nvSpPr>
          <p:cNvPr id="34" name="Text 32"/>
          <p:cNvSpPr/>
          <p:nvPr/>
        </p:nvSpPr>
        <p:spPr>
          <a:xfrm>
            <a:off x="4937760" y="4233672"/>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35" name="Shape 33"/>
          <p:cNvSpPr/>
          <p:nvPr/>
        </p:nvSpPr>
        <p:spPr>
          <a:xfrm>
            <a:off x="6355080" y="4014216"/>
            <a:ext cx="5285232" cy="694944"/>
          </a:xfrm>
          <a:prstGeom prst="rect">
            <a:avLst>
              <a:gd name="adj" fmla="val 6579"/>
            </a:avLst>
          </a:prstGeom>
          <a:solidFill>
            <a:srgbClr val="F2F5F8"/>
          </a:solidFill>
          <a:ln w="12700">
            <a:solidFill>
              <a:srgbClr val="D6DEE6"/>
            </a:solidFill>
            <a:prstDash val="solid"/>
          </a:ln>
        </p:spPr>
      </p:sp>
      <p:sp>
        <p:nvSpPr>
          <p:cNvPr id="36" name="Shape 34"/>
          <p:cNvSpPr/>
          <p:nvPr/>
        </p:nvSpPr>
        <p:spPr>
          <a:xfrm>
            <a:off x="6501384" y="4197096"/>
            <a:ext cx="329184" cy="329184"/>
          </a:xfrm>
          <a:prstGeom prst="ellipse">
            <a:avLst/>
          </a:prstGeom>
          <a:solidFill>
            <a:srgbClr val="003366"/>
          </a:solidFill>
          <a:ln/>
        </p:spPr>
      </p:sp>
      <p:sp>
        <p:nvSpPr>
          <p:cNvPr id="37" name="Text 35"/>
          <p:cNvSpPr/>
          <p:nvPr/>
        </p:nvSpPr>
        <p:spPr>
          <a:xfrm>
            <a:off x="6501384" y="4197096"/>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6</a:t>
            </a:r>
            <a:endParaRPr lang="en-US" sz="1150" dirty="0"/>
          </a:p>
        </p:txBody>
      </p:sp>
      <p:sp>
        <p:nvSpPr>
          <p:cNvPr id="38" name="Text 36"/>
          <p:cNvSpPr/>
          <p:nvPr/>
        </p:nvSpPr>
        <p:spPr>
          <a:xfrm>
            <a:off x="6922008" y="4014216"/>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Searching destroys your books for good</a:t>
            </a:r>
            <a:endParaRPr lang="en-US" sz="1150" dirty="0"/>
          </a:p>
        </p:txBody>
      </p:sp>
      <p:sp>
        <p:nvSpPr>
          <p:cNvPr id="39" name="Text 37"/>
          <p:cNvSpPr/>
          <p:nvPr/>
        </p:nvSpPr>
        <p:spPr>
          <a:xfrm>
            <a:off x="10744200" y="4233672"/>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40" name="Shape 38"/>
          <p:cNvSpPr/>
          <p:nvPr/>
        </p:nvSpPr>
        <p:spPr>
          <a:xfrm>
            <a:off x="548640" y="4983480"/>
            <a:ext cx="11064240" cy="1143000"/>
          </a:xfrm>
          <a:prstGeom prst="rect">
            <a:avLst>
              <a:gd name="adj" fmla="val 4800"/>
            </a:avLst>
          </a:prstGeom>
          <a:solidFill>
            <a:srgbClr val="E7F4EE"/>
          </a:solidFill>
          <a:ln w="12700">
            <a:solidFill>
              <a:srgbClr val="1F7A55"/>
            </a:solidFill>
            <a:prstDash val="solid"/>
          </a:ln>
        </p:spPr>
      </p:sp>
      <p:sp>
        <p:nvSpPr>
          <p:cNvPr id="41" name="Text 39"/>
          <p:cNvSpPr/>
          <p:nvPr/>
        </p:nvSpPr>
        <p:spPr>
          <a:xfrm>
            <a:off x="713232" y="5148072"/>
            <a:ext cx="1073505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Watch the count and the page disagree</a:t>
            </a:r>
            <a:endParaRPr lang="en-US" sz="1500" dirty="0"/>
          </a:p>
        </p:txBody>
      </p:sp>
      <p:sp>
        <p:nvSpPr>
          <p:cNvPr id="42" name="Text 40"/>
          <p:cNvSpPr/>
          <p:nvPr/>
        </p:nvSpPr>
        <p:spPr>
          <a:xfrm>
            <a:off x="713232" y="5495544"/>
            <a:ext cx="10735056" cy="5212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While bug 2 is alive the count says 4 and the page shows 7 rows. The count was right the whole time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count reads the data. The data was never wrong. Only the picture was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C4 · 46-50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Assignment (5 marks)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21</a:t>
            </a:r>
            <a:endParaRPr lang="en-US" sz="950" dirty="0"/>
          </a:p>
        </p:txBody>
      </p:sp>
      <p:sp>
        <p:nvSpPr>
          <p:cNvPr id="7" name="Shape 5"/>
          <p:cNvSpPr/>
          <p:nvPr/>
        </p:nvSpPr>
        <p:spPr>
          <a:xfrm>
            <a:off x="548640" y="1234440"/>
            <a:ext cx="5486400" cy="2286000"/>
          </a:xfrm>
          <a:prstGeom prst="rect">
            <a:avLst>
              <a:gd name="adj" fmla="val 2400"/>
            </a:avLst>
          </a:prstGeom>
          <a:solidFill>
            <a:srgbClr val="E7F4EE"/>
          </a:solidFill>
          <a:ln w="12700">
            <a:solidFill>
              <a:srgbClr val="1F7A55"/>
            </a:solidFill>
            <a:prstDash val="solid"/>
          </a:ln>
        </p:spPr>
      </p:sp>
      <p:sp>
        <p:nvSpPr>
          <p:cNvPr id="8" name="Shape 6"/>
          <p:cNvSpPr/>
          <p:nvPr/>
        </p:nvSpPr>
        <p:spPr>
          <a:xfrm>
            <a:off x="713232" y="1399032"/>
            <a:ext cx="1554480" cy="256032"/>
          </a:xfrm>
          <a:prstGeom prst="rect">
            <a:avLst>
              <a:gd name="adj" fmla="val 17857"/>
            </a:avLst>
          </a:prstGeom>
          <a:solidFill>
            <a:srgbClr val="1F7A55"/>
          </a:solidFill>
          <a:ln/>
        </p:spPr>
      </p:sp>
      <p:sp>
        <p:nvSpPr>
          <p:cNvPr id="9" name="Text 7"/>
          <p:cNvSpPr/>
          <p:nvPr/>
        </p:nvSpPr>
        <p:spPr>
          <a:xfrm>
            <a:off x="713232" y="1399032"/>
            <a:ext cx="155448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PART 1 · 2 MARKS</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In class, last 4 minutes</a:t>
            </a:r>
            <a:endParaRPr lang="en-US" sz="1500" dirty="0"/>
          </a:p>
        </p:txBody>
      </p:sp>
      <p:sp>
        <p:nvSpPr>
          <p:cNvPr id="11" name="Text 9"/>
          <p:cNvSpPr/>
          <p:nvPr/>
        </p:nvSpPr>
        <p:spPr>
          <a:xfrm>
            <a:off x="713232" y="2112264"/>
            <a:ext cx="5157216" cy="12984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Add a book with the Enter key, then remove it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Show the filter narrowing the list without losing data</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Say why the array is the truth and the page is a picture</a:t>
            </a:r>
            <a:endParaRPr lang="en-US" sz="1250" dirty="0"/>
          </a:p>
        </p:txBody>
      </p:sp>
      <p:sp>
        <p:nvSpPr>
          <p:cNvPr id="12" name="Shape 10"/>
          <p:cNvSpPr/>
          <p:nvPr/>
        </p:nvSpPr>
        <p:spPr>
          <a:xfrm>
            <a:off x="6355080" y="1234440"/>
            <a:ext cx="5285232" cy="2286000"/>
          </a:xfrm>
          <a:prstGeom prst="rect">
            <a:avLst>
              <a:gd name="adj" fmla="val 2400"/>
            </a:avLst>
          </a:prstGeom>
          <a:solidFill>
            <a:srgbClr val="FDF3E1"/>
          </a:solidFill>
          <a:ln w="12700">
            <a:solidFill>
              <a:srgbClr val="E39A18"/>
            </a:solidFill>
            <a:prstDash val="solid"/>
          </a:ln>
        </p:spPr>
      </p:sp>
      <p:sp>
        <p:nvSpPr>
          <p:cNvPr id="13" name="Shape 11"/>
          <p:cNvSpPr/>
          <p:nvPr/>
        </p:nvSpPr>
        <p:spPr>
          <a:xfrm>
            <a:off x="6519672" y="1399032"/>
            <a:ext cx="1554480" cy="256032"/>
          </a:xfrm>
          <a:prstGeom prst="rect">
            <a:avLst>
              <a:gd name="adj" fmla="val 17857"/>
            </a:avLst>
          </a:prstGeom>
          <a:solidFill>
            <a:srgbClr val="E39A18"/>
          </a:solidFill>
          <a:ln/>
        </p:spPr>
      </p:sp>
      <p:sp>
        <p:nvSpPr>
          <p:cNvPr id="14" name="Text 12"/>
          <p:cNvSpPr/>
          <p:nvPr/>
        </p:nvSpPr>
        <p:spPr>
          <a:xfrm>
            <a:off x="6519672" y="1399032"/>
            <a:ext cx="155448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PART 2 · 3 MARKS</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Home, before Week 7 C1</a:t>
            </a:r>
            <a:endParaRPr lang="en-US" sz="1500" dirty="0"/>
          </a:p>
        </p:txBody>
      </p:sp>
      <p:sp>
        <p:nvSpPr>
          <p:cNvPr id="16" name="Text 14"/>
          <p:cNvSpPr/>
          <p:nvPr/>
        </p:nvSpPr>
        <p:spPr>
          <a:xfrm>
            <a:off x="6519672" y="2112264"/>
            <a:ext cx="4956048" cy="12984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Fix all six planted bugs</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Convert Remove to event delegation</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Add an Edit button that puts a book back in the form</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Commit and push to your Week 6 repository</a:t>
            </a:r>
            <a:endParaRPr lang="en-US" sz="1250" dirty="0"/>
          </a:p>
        </p:txBody>
      </p:sp>
      <p:sp>
        <p:nvSpPr>
          <p:cNvPr id="17" name="Shape 15"/>
          <p:cNvSpPr/>
          <p:nvPr/>
        </p:nvSpPr>
        <p:spPr>
          <a:xfrm>
            <a:off x="548640" y="3703320"/>
            <a:ext cx="11064240" cy="1234440"/>
          </a:xfrm>
          <a:prstGeom prst="rect">
            <a:avLst>
              <a:gd name="adj" fmla="val 4444"/>
            </a:avLst>
          </a:prstGeom>
          <a:solidFill>
            <a:srgbClr val="F2F5F8"/>
          </a:solidFill>
          <a:ln w="12700">
            <a:solidFill>
              <a:srgbClr val="D6DEE6"/>
            </a:solidFill>
            <a:prstDash val="solid"/>
          </a:ln>
        </p:spPr>
      </p:sp>
      <p:sp>
        <p:nvSpPr>
          <p:cNvPr id="18" name="Text 16"/>
          <p:cNvSpPr/>
          <p:nvPr/>
        </p:nvSpPr>
        <p:spPr>
          <a:xfrm>
            <a:off x="713232" y="3867912"/>
            <a:ext cx="1073505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Rubric</a:t>
            </a:r>
            <a:endParaRPr lang="en-US" sz="1500" dirty="0"/>
          </a:p>
        </p:txBody>
      </p:sp>
      <p:sp>
        <p:nvSpPr>
          <p:cNvPr id="19" name="Text 17"/>
          <p:cNvSpPr/>
          <p:nvPr/>
        </p:nvSpPr>
        <p:spPr>
          <a:xfrm>
            <a:off x="713232" y="4215384"/>
            <a:ext cx="10735056" cy="6126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Add, remove and count all work from the data — 1.5     ·     Filter narrows without destroying the array — 1.0</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All six bugs fixed — 1.5     ·     Delegation working and pushed — 1.0</a:t>
            </a:r>
            <a:endParaRPr lang="en-US" sz="1250" dirty="0"/>
          </a:p>
        </p:txBody>
      </p:sp>
      <p:sp>
        <p:nvSpPr>
          <p:cNvPr id="20" name="Shape 18"/>
          <p:cNvSpPr/>
          <p:nvPr/>
        </p:nvSpPr>
        <p:spPr>
          <a:xfrm>
            <a:off x="548640" y="5074920"/>
            <a:ext cx="11064240" cy="1051560"/>
          </a:xfrm>
          <a:prstGeom prst="rect">
            <a:avLst>
              <a:gd name="adj" fmla="val 5217"/>
            </a:avLst>
          </a:prstGeom>
          <a:solidFill>
            <a:srgbClr val="FBEAE8"/>
          </a:solidFill>
          <a:ln w="12700">
            <a:solidFill>
              <a:srgbClr val="B3261E"/>
            </a:solidFill>
            <a:prstDash val="solid"/>
          </a:ln>
        </p:spPr>
      </p:sp>
      <p:sp>
        <p:nvSpPr>
          <p:cNvPr id="21" name="Text 19"/>
          <p:cNvSpPr/>
          <p:nvPr/>
        </p:nvSpPr>
        <p:spPr>
          <a:xfrm>
            <a:off x="713232" y="5239512"/>
            <a:ext cx="1073505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Week 7 is the mid-term week</a:t>
            </a:r>
            <a:endParaRPr lang="en-US" sz="1500" dirty="0"/>
          </a:p>
        </p:txBody>
      </p:sp>
      <p:sp>
        <p:nvSpPr>
          <p:cNvPr id="22" name="Text 20"/>
          <p:cNvSpPr/>
          <p:nvPr/>
        </p:nvSpPr>
        <p:spPr>
          <a:xfrm>
            <a:off x="713232" y="5586984"/>
            <a:ext cx="10735056" cy="42976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C3 and C4 next week are the 100-minute practical, 20 marks. It needs semantic HTML, responsive CSS and one real interaction. This app is the rehearsal.</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C4 · 48-50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Exit check and what comes next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22</a:t>
            </a:r>
            <a:endParaRPr lang="en-US" sz="950" dirty="0"/>
          </a:p>
        </p:txBody>
      </p:sp>
      <p:sp>
        <p:nvSpPr>
          <p:cNvPr id="7" name="Shape 5"/>
          <p:cNvSpPr/>
          <p:nvPr/>
        </p:nvSpPr>
        <p:spPr>
          <a:xfrm>
            <a:off x="548640" y="1234440"/>
            <a:ext cx="5486400" cy="2103120"/>
          </a:xfrm>
          <a:prstGeom prst="rect">
            <a:avLst>
              <a:gd name="adj" fmla="val 2609"/>
            </a:avLst>
          </a:prstGeom>
          <a:solidFill>
            <a:srgbClr val="F2F5F8"/>
          </a:solidFill>
          <a:ln w="12700">
            <a:solidFill>
              <a:srgbClr val="D6DEE6"/>
            </a:solidFill>
            <a:prstDash val="solid"/>
          </a:ln>
        </p:spPr>
      </p:sp>
      <p:sp>
        <p:nvSpPr>
          <p:cNvPr id="8" name="Shape 6"/>
          <p:cNvSpPr/>
          <p:nvPr/>
        </p:nvSpPr>
        <p:spPr>
          <a:xfrm>
            <a:off x="713232" y="1399032"/>
            <a:ext cx="1088136" cy="256032"/>
          </a:xfrm>
          <a:prstGeom prst="rect">
            <a:avLst>
              <a:gd name="adj" fmla="val 17857"/>
            </a:avLst>
          </a:prstGeom>
          <a:solidFill>
            <a:srgbClr val="003366"/>
          </a:solidFill>
          <a:ln/>
        </p:spPr>
      </p:sp>
      <p:sp>
        <p:nvSpPr>
          <p:cNvPr id="9" name="Text 7"/>
          <p:cNvSpPr/>
          <p:nvPr/>
        </p:nvSpPr>
        <p:spPr>
          <a:xfrm>
            <a:off x="71323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CONCEPTUAL</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Answer in one sentence</a:t>
            </a:r>
            <a:endParaRPr lang="en-US" sz="1500" dirty="0"/>
          </a:p>
        </p:txBody>
      </p:sp>
      <p:sp>
        <p:nvSpPr>
          <p:cNvPr id="11" name="Text 9"/>
          <p:cNvSpPr/>
          <p:nvPr/>
        </p:nvSpPr>
        <p:spPr>
          <a:xfrm>
            <a:off x="713232" y="2112264"/>
            <a:ext cx="5157216"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Why does removing the element not remove the book?</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Why does one listener on the parent still work for new buttons?</a:t>
            </a:r>
            <a:endParaRPr lang="en-US" sz="1250" dirty="0"/>
          </a:p>
        </p:txBody>
      </p:sp>
      <p:sp>
        <p:nvSpPr>
          <p:cNvPr id="12" name="Shape 10"/>
          <p:cNvSpPr/>
          <p:nvPr/>
        </p:nvSpPr>
        <p:spPr>
          <a:xfrm>
            <a:off x="6355080" y="1234440"/>
            <a:ext cx="5285232" cy="2103120"/>
          </a:xfrm>
          <a:prstGeom prst="rect">
            <a:avLst>
              <a:gd name="adj" fmla="val 2609"/>
            </a:avLst>
          </a:prstGeom>
          <a:solidFill>
            <a:srgbClr val="E7F4EE"/>
          </a:solidFill>
          <a:ln w="12700">
            <a:solidFill>
              <a:srgbClr val="1F7A55"/>
            </a:solidFill>
            <a:prstDash val="solid"/>
          </a:ln>
        </p:spPr>
      </p:sp>
      <p:sp>
        <p:nvSpPr>
          <p:cNvPr id="13" name="Shape 11"/>
          <p:cNvSpPr/>
          <p:nvPr/>
        </p:nvSpPr>
        <p:spPr>
          <a:xfrm>
            <a:off x="6519672" y="1399032"/>
            <a:ext cx="1010412" cy="256032"/>
          </a:xfrm>
          <a:prstGeom prst="rect">
            <a:avLst>
              <a:gd name="adj" fmla="val 17857"/>
            </a:avLst>
          </a:prstGeom>
          <a:solidFill>
            <a:srgbClr val="1F7A55"/>
          </a:solidFill>
          <a:ln/>
        </p:spPr>
      </p:sp>
      <p:sp>
        <p:nvSpPr>
          <p:cNvPr id="14" name="Text 12"/>
          <p:cNvSpPr/>
          <p:nvPr/>
        </p:nvSpPr>
        <p:spPr>
          <a:xfrm>
            <a:off x="6519672" y="1399032"/>
            <a:ext cx="1010412"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PRACTICAL</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Show me</a:t>
            </a:r>
            <a:endParaRPr lang="en-US" sz="1500" dirty="0"/>
          </a:p>
        </p:txBody>
      </p:sp>
      <p:sp>
        <p:nvSpPr>
          <p:cNvPr id="16" name="Text 14"/>
          <p:cNvSpPr/>
          <p:nvPr/>
        </p:nvSpPr>
        <p:spPr>
          <a:xfrm>
            <a:off x="6519672" y="2112264"/>
            <a:ext cx="4956048"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Two adds and a remove, with the count correct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filter box emptied, restoring every book</a:t>
            </a:r>
            <a:endParaRPr lang="en-US" sz="1250" dirty="0"/>
          </a:p>
        </p:txBody>
      </p:sp>
      <p:sp>
        <p:nvSpPr>
          <p:cNvPr id="17" name="Shape 15"/>
          <p:cNvSpPr/>
          <p:nvPr/>
        </p:nvSpPr>
        <p:spPr>
          <a:xfrm>
            <a:off x="548640" y="3520440"/>
            <a:ext cx="11064240" cy="1463040"/>
          </a:xfrm>
          <a:prstGeom prst="rect">
            <a:avLst>
              <a:gd name="adj" fmla="val 3750"/>
            </a:avLst>
          </a:prstGeom>
          <a:solidFill>
            <a:srgbClr val="FDF3E1"/>
          </a:solidFill>
          <a:ln w="12700">
            <a:solidFill>
              <a:srgbClr val="E39A18"/>
            </a:solidFill>
            <a:prstDash val="solid"/>
          </a:ln>
        </p:spPr>
      </p:sp>
      <p:sp>
        <p:nvSpPr>
          <p:cNvPr id="18" name="Text 16"/>
          <p:cNvSpPr/>
          <p:nvPr/>
        </p:nvSpPr>
        <p:spPr>
          <a:xfrm>
            <a:off x="713232" y="368503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Week 7</a:t>
            </a:r>
            <a:endParaRPr lang="en-US" sz="1500" dirty="0"/>
          </a:p>
        </p:txBody>
      </p:sp>
      <p:sp>
        <p:nvSpPr>
          <p:cNvPr id="19" name="Text 17"/>
          <p:cNvSpPr/>
          <p:nvPr/>
        </p:nvSpPr>
        <p:spPr>
          <a:xfrm>
            <a:off x="713232" y="4032504"/>
            <a:ext cx="10735056" cy="8412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C1 and C2: array methods for UI work, and preparation for Mini Project 3</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C3 and C4: the mid-term practical examination, 100 minutes, 20 marks</a:t>
            </a:r>
            <a:endParaRPr lang="en-US" sz="1250" dirty="0"/>
          </a:p>
        </p:txBody>
      </p:sp>
      <p:sp>
        <p:nvSpPr>
          <p:cNvPr id="20" name="Shape 18"/>
          <p:cNvSpPr/>
          <p:nvPr/>
        </p:nvSpPr>
        <p:spPr>
          <a:xfrm>
            <a:off x="548640" y="5166360"/>
            <a:ext cx="11064240" cy="960120"/>
          </a:xfrm>
          <a:prstGeom prst="rect">
            <a:avLst>
              <a:gd name="adj" fmla="val 5714"/>
            </a:avLst>
          </a:prstGeom>
          <a:solidFill>
            <a:srgbClr val="E7F4EE"/>
          </a:solidFill>
          <a:ln w="12700">
            <a:solidFill>
              <a:srgbClr val="1F7A55"/>
            </a:solidFill>
            <a:prstDash val="solid"/>
          </a:ln>
        </p:spPr>
      </p:sp>
      <p:sp>
        <p:nvSpPr>
          <p:cNvPr id="21" name="Text 19"/>
          <p:cNvSpPr/>
          <p:nvPr/>
        </p:nvSpPr>
        <p:spPr>
          <a:xfrm>
            <a:off x="713232" y="5330952"/>
            <a:ext cx="10735056" cy="685800"/>
          </a:xfrm>
          <a:prstGeom prst="rect">
            <a:avLst/>
          </a:prstGeom>
          <a:noFill/>
          <a:ln/>
        </p:spPr>
        <p:txBody>
          <a:bodyPr wrap="square" rtlCol="0" anchor="t"/>
          <a:lstStyle/>
          <a:p>
            <a:pPr indent="0" marL="0">
              <a:lnSpc>
                <a:spcPct val="110000"/>
              </a:lnSpc>
              <a:spcAft>
                <a:spcPts val="432"/>
              </a:spcAft>
              <a:buNone/>
            </a:pPr>
            <a:r>
              <a:rPr lang="en-US" sz="1300" dirty="0">
                <a:solidFill>
                  <a:srgbClr val="3D4A57"/>
                </a:solidFill>
                <a:latin typeface="Arial" pitchFamily="34" charset="0"/>
                <a:ea typeface="Arial" pitchFamily="34" charset="-122"/>
                <a:cs typeface="Arial" pitchFamily="34" charset="-120"/>
              </a:rPr>
              <a:t>You now have every piece of a working application: data, a render function, and events. The rest of this course is that loop, made larger.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International Islamic University Chittagong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CSE-2340 W6 C3-C4 — Events</dc:title>
  <dc:subject>Software Development 1</dc:subject>
  <dc:creator>Md Sadman Hafiz, Lecturer, Dept. of CSE, IIUC</dc:creator>
  <cp:lastModifiedBy>Md Sadman Hafiz, Lecturer, Dept. of CSE, IIUC</cp:lastModifiedBy>
  <cp:revision>1</cp:revision>
  <dcterms:created xsi:type="dcterms:W3CDTF">2026-10-28T01:13:04Z</dcterms:created>
  <dcterms:modified xsi:type="dcterms:W3CDTF">2026-10-28T01:13:04Z</dcterms:modified>
</cp:coreProperties>
</file>