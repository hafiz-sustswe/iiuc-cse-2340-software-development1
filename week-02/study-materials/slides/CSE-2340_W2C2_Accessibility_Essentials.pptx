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2, Class 2. Practice class. Students must have register.html from the previous class, plus the supplied broken page week2-class2-inaccessible.html. Share that file before class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 min. Quick recall, then make sure every student has both files open: their own register.html and the supplied broken page. Pair students who are missing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5-9 min. Do not moralise. Make it practical: accessibility is a professional standard, it is a legal requirement in many countries, and it overlaps almost completely with clean semantic HTML - which you are already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9-12 min. This is the framing for the whole class. The four questions map to the four official POUR principles, but students remember questions better than acronyms.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12-15 min. Show the accessibility tree in Chrome DevTools on a real site. Students find it fascinating that the browser builds a second, simplified version of the page for assistive 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15-18 min. Show the heading outline in DevTools or the Lighthouse report. Ask a student to read their own page's headings aloud as a list and judge whether it makes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18-21 min. The hardest case for students is decorative: they think leaving alt out is the same as alt="". It is not. With no alt, a screen reader reads the file name aloud. With alt="" it stays silent, which is what you want.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21-24 min. Run the click test on three student machines. It takes seconds and finds real bugs. Also mention that a button with only an icon needs an aria-label.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24-27 min. Make everyone actually put the mouse down for one minute. This is the most convincing sixty seconds of the class. Tell them: use a real button element and the keyboard works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27-30 min. This slide contains CSS, which is officially Week 2 Class 3. Do not teach CSS here - just show the two blocks and tell them to remember the rule when they start styling.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30-33 min. Open DevTools, click on a text colour swatch, and show the live contrast ratio with the pass/fail ticks. Students always want to use pale grey text; this slide is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 min. Everyone opens the supplied file. Give them two minutes to find problems on their own before you reveal the list - the guessing makes the lesson stick.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33-36 min. Run it once on the broken page and once on the fixed page so students see the score move. Then say the warning on this slide twice - students love a 100 score and stop thinking.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36-39 min. Do not read all eight out. Ask the class to find them. Award nothing, just say 'yes, number four' and mark it on the projector. Students find six of the eight on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39-43 min. Build this together, one fix at a time, rerunning Lighthouse after every second fix so the score climbs visibly. Students then repeat the whole process on their own register.html.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43-45 min. Tell students this exact list is used when marking Mini Project 1 in Week 3 and the mid-term practical in Week 7. It is not optional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45-48 min. Fix two of these live on student machines. The div-as-button case is worth doing properly because it also explains why we use real form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 min. The audit report is the important half - it forces students to explain a fix in words, which is exactly what the mini-project viva asks them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48-50 min. Take two answers. Remind students that from Week 2 Class 3 onwards we add CSS, and the focus-outline rule from today applies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
        <p:cNvGrpSpPr/>
        <p:nvPr/>
      </p:nvGrpSpPr>
      <p:grpSpPr>
        <a:xfrm>
          <a:off x="0" y="0"/>
          <a:ext cx="0" cy="0"/>
          <a:chOff x="0" y="0"/>
          <a:chExt cx="0" cy="0"/>
        </a:xfrm>
      </p:grpSpPr>
      <p:sp>
        <p:nvSpPr>
          <p:cNvPr id="2" name="Shape 0"/>
          <p:cNvSpPr/>
          <p:nvPr/>
        </p:nvSpPr>
        <p:spPr>
          <a:xfrm>
            <a:off x="9326880" y="-1463040"/>
            <a:ext cx="4754880" cy="4754880"/>
          </a:xfrm>
          <a:prstGeom prst="ellipse">
            <a:avLst/>
          </a:prstGeom>
          <a:solidFill>
            <a:srgbClr val="0A4A85"/>
          </a:solidFill>
          <a:ln w="12700">
            <a:solidFill>
              <a:srgbClr val="0A4A85"/>
            </a:solidFill>
            <a:prstDash val="solid"/>
          </a:ln>
        </p:spPr>
      </p:sp>
      <p:sp>
        <p:nvSpPr>
          <p:cNvPr id="3" name="Shape 1"/>
          <p:cNvSpPr/>
          <p:nvPr/>
        </p:nvSpPr>
        <p:spPr>
          <a:xfrm>
            <a:off x="10607040" y="4206240"/>
            <a:ext cx="3108960" cy="3108960"/>
          </a:xfrm>
          <a:prstGeom prst="ellipse">
            <a:avLst/>
          </a:prstGeom>
          <a:solidFill>
            <a:srgbClr val="07386A"/>
          </a:solidFill>
          <a:ln w="12700">
            <a:solidFill>
              <a:srgbClr val="07386A"/>
            </a:solidFill>
            <a:prstDash val="solid"/>
          </a:ln>
        </p:spPr>
      </p:sp>
      <p:sp>
        <p:nvSpPr>
          <p:cNvPr id="4" name="Text 2"/>
          <p:cNvSpPr txBox="1"/>
          <p:nvPr/>
        </p:nvSpPr>
        <p:spPr>
          <a:xfrm>
            <a:off x="548640" y="777240"/>
            <a:ext cx="8686800" cy="274320"/>
          </a:xfrm>
          <a:prstGeom prst="rect">
            <a:avLst/>
          </a:prstGeom>
          <a:noFill/>
        </p:spPr>
        <p:txBody>
          <a:bodyPr wrap="square" lIns="0" tIns="0" rIns="0" bIns="0" rtlCol="0" anchor="ctr"/>
          <a:lstStyle/>
          <a:p>
            <a:pPr marL="0" indent="0">
              <a:buNone/>
            </a:pPr>
            <a:r>
              <a:rPr lang="en-US" sz="1200" b="1" kern="0" spc="150" dirty="0">
                <a:solidFill>
                  <a:srgbClr val="E39A18"/>
                </a:solidFill>
                <a:latin typeface="Arial" panose="020B0604020202020204" pitchFamily="34" charset="0"/>
                <a:ea typeface="Arial" panose="020B0604020202020204" pitchFamily="34" charset="-122"/>
                <a:cs typeface="Arial" panose="020B0604020202020204" pitchFamily="34" charset="-120"/>
              </a:rPr>
              <a:t>INTERNATIONAL ISLAMIC UNIVERSITY CHITTAGONG</a:t>
            </a:r>
            <a:endParaRPr lang="en-US" sz="1200" dirty="0"/>
          </a:p>
        </p:txBody>
      </p:sp>
      <p:sp>
        <p:nvSpPr>
          <p:cNvPr id="5" name="Text 3"/>
          <p:cNvSpPr txBox="1"/>
          <p:nvPr/>
        </p:nvSpPr>
        <p:spPr>
          <a:xfrm>
            <a:off x="5155565" y="3749167"/>
            <a:ext cx="8686800" cy="274320"/>
          </a:xfrm>
          <a:prstGeom prst="rect">
            <a:avLst/>
          </a:prstGeom>
          <a:noFill/>
        </p:spPr>
        <p:txBody>
          <a:bodyPr wrap="square" lIns="0" tIns="0" rIns="0" bIns="0" rtlCol="0" anchor="ctr"/>
          <a:lstStyle/>
          <a:p>
            <a:pPr marL="0" indent="0">
              <a:buNone/>
            </a:pPr>
            <a:r>
              <a:rPr lang="en-US" sz="1200" dirty="0">
                <a:solidFill>
                  <a:srgbClr val="BFD3E6"/>
                </a:solidFill>
                <a:latin typeface="Arial" panose="020B0604020202020204" pitchFamily="34" charset="0"/>
                <a:ea typeface="Arial" panose="020B0604020202020204" pitchFamily="34" charset="-122"/>
                <a:cs typeface="Arial" panose="020B0604020202020204" pitchFamily="34" charset="-120"/>
              </a:rPr>
              <a:t>Department of Computer Science and Engineering</a:t>
            </a:r>
            <a:endParaRPr lang="en-US" sz="1200" dirty="0"/>
          </a:p>
        </p:txBody>
      </p:sp>
      <p:sp>
        <p:nvSpPr>
          <p:cNvPr id="6" name="Text 4"/>
          <p:cNvSpPr txBox="1"/>
          <p:nvPr/>
        </p:nvSpPr>
        <p:spPr>
          <a:xfrm>
            <a:off x="548640" y="1828800"/>
            <a:ext cx="8686800" cy="411480"/>
          </a:xfrm>
          <a:prstGeom prst="rect">
            <a:avLst/>
          </a:prstGeom>
          <a:noFill/>
        </p:spPr>
        <p:txBody>
          <a:bodyPr wrap="square" lIns="0" tIns="0" rIns="0" bIns="0" rtlCol="0" anchor="ctr"/>
          <a:lstStyle/>
          <a:p>
            <a:pPr marL="0" indent="0">
              <a:buNone/>
            </a:pPr>
            <a:r>
              <a:rPr lang="en-US" sz="1800" b="1" dirty="0">
                <a:solidFill>
                  <a:srgbClr val="FFFFFF"/>
                </a:solidFill>
                <a:latin typeface="Arial" panose="020B0604020202020204" pitchFamily="34" charset="0"/>
                <a:ea typeface="Arial" panose="020B0604020202020204" pitchFamily="34" charset="-122"/>
                <a:cs typeface="Arial" panose="020B0604020202020204" pitchFamily="34" charset="-120"/>
              </a:rPr>
              <a:t>CSE-2340: Software Development 1</a:t>
            </a:r>
            <a:endParaRPr lang="en-US" sz="1800" dirty="0"/>
          </a:p>
        </p:txBody>
      </p:sp>
      <p:sp>
        <p:nvSpPr>
          <p:cNvPr id="7" name="Text 5"/>
          <p:cNvSpPr txBox="1"/>
          <p:nvPr/>
        </p:nvSpPr>
        <p:spPr>
          <a:xfrm>
            <a:off x="548640" y="2331720"/>
            <a:ext cx="8778240" cy="1371600"/>
          </a:xfrm>
          <a:prstGeom prst="rect">
            <a:avLst/>
          </a:prstGeom>
          <a:noFill/>
        </p:spPr>
        <p:txBody>
          <a:bodyPr wrap="square" lIns="0" tIns="0" rIns="0" bIns="0" rtlCol="0" anchor="ctr"/>
          <a:lstStyle/>
          <a:p>
            <a:pPr marL="0" indent="0">
              <a:lnSpc>
                <a:spcPts val="4600"/>
              </a:lnSpc>
              <a:buNone/>
            </a:pPr>
            <a:r>
              <a:rPr lang="en-US" sz="4200" b="1" dirty="0">
                <a:solidFill>
                  <a:srgbClr val="FFFFFF"/>
                </a:solidFill>
                <a:latin typeface="Arial" panose="020B0604020202020204" pitchFamily="34" charset="0"/>
                <a:ea typeface="Arial" panose="020B0604020202020204" pitchFamily="34" charset="-122"/>
                <a:cs typeface="Arial" panose="020B0604020202020204" pitchFamily="34" charset="-120"/>
              </a:rPr>
              <a:t>Accessibility Essentials</a:t>
            </a:r>
            <a:endParaRPr lang="en-US" sz="4200" dirty="0"/>
          </a:p>
        </p:txBody>
      </p:sp>
      <p:sp>
        <p:nvSpPr>
          <p:cNvPr id="8" name="Text 6"/>
          <p:cNvSpPr txBox="1"/>
          <p:nvPr/>
        </p:nvSpPr>
        <p:spPr>
          <a:xfrm>
            <a:off x="548640" y="3794760"/>
            <a:ext cx="8778240" cy="365760"/>
          </a:xfrm>
          <a:prstGeom prst="rect">
            <a:avLst/>
          </a:prstGeom>
          <a:noFill/>
        </p:spPr>
        <p:txBody>
          <a:bodyPr wrap="square" lIns="0" tIns="0" rIns="0" bIns="0" rtlCol="0" anchor="ctr"/>
          <a:lstStyle/>
          <a:p>
            <a:pPr marL="0" indent="0">
              <a:buNone/>
            </a:pPr>
            <a:r>
              <a:rPr lang="en-US" sz="1500" i="1" dirty="0">
                <a:solidFill>
                  <a:srgbClr val="9FC0DE"/>
                </a:solidFill>
                <a:latin typeface="Arial" panose="020B0604020202020204" pitchFamily="34" charset="0"/>
                <a:ea typeface="Arial" panose="020B0604020202020204" pitchFamily="34" charset="-122"/>
                <a:cs typeface="Arial" panose="020B0604020202020204" pitchFamily="34" charset="-120"/>
              </a:rPr>
              <a:t>Week 2 · Class 2 · Landmarks, alt text, labels, heading order, keyboard, focus, contrast</a:t>
            </a:r>
            <a:endParaRPr lang="en-US" sz="1500" dirty="0"/>
          </a:p>
        </p:txBody>
      </p:sp>
      <p:sp>
        <p:nvSpPr>
          <p:cNvPr id="9" name="Shape 7"/>
          <p:cNvSpPr/>
          <p:nvPr/>
        </p:nvSpPr>
        <p:spPr>
          <a:xfrm>
            <a:off x="548640" y="4434840"/>
            <a:ext cx="1005840" cy="32004"/>
          </a:xfrm>
          <a:prstGeom prst="rect">
            <a:avLst/>
          </a:prstGeom>
          <a:solidFill>
            <a:srgbClr val="E39A18"/>
          </a:solidFill>
          <a:ln w="12700">
            <a:solidFill>
              <a:srgbClr val="E39A18"/>
            </a:solidFill>
            <a:prstDash val="solid"/>
          </a:ln>
        </p:spPr>
      </p:sp>
      <p:sp>
        <p:nvSpPr>
          <p:cNvPr id="10" name="Text 8"/>
          <p:cNvSpPr txBox="1"/>
          <p:nvPr/>
        </p:nvSpPr>
        <p:spPr>
          <a:xfrm>
            <a:off x="548640" y="4709160"/>
            <a:ext cx="7315200" cy="320040"/>
          </a:xfrm>
          <a:prstGeom prst="rect">
            <a:avLst/>
          </a:prstGeom>
          <a:noFill/>
        </p:spPr>
        <p:txBody>
          <a:bodyPr wrap="square" lIns="0" tIns="0" rIns="0" bIns="0" rtlCol="0" anchor="ctr"/>
          <a:lstStyle/>
          <a:p>
            <a:pPr marL="0" indent="0">
              <a:buNone/>
            </a:pPr>
            <a:r>
              <a:rPr lang="en-US" sz="1700" b="1" dirty="0">
                <a:solidFill>
                  <a:srgbClr val="FFFFFF"/>
                </a:solidFill>
                <a:latin typeface="Arial" panose="020B0604020202020204" pitchFamily="34" charset="0"/>
                <a:ea typeface="Arial" panose="020B0604020202020204" pitchFamily="34" charset="-122"/>
                <a:cs typeface="Arial" panose="020B0604020202020204" pitchFamily="34" charset="-120"/>
              </a:rPr>
              <a:t>Md Sadman Hafiz</a:t>
            </a:r>
            <a:endParaRPr lang="en-US" sz="1700" dirty="0"/>
          </a:p>
        </p:txBody>
      </p:sp>
      <p:sp>
        <p:nvSpPr>
          <p:cNvPr id="11" name="Text 9"/>
          <p:cNvSpPr txBox="1"/>
          <p:nvPr/>
        </p:nvSpPr>
        <p:spPr>
          <a:xfrm>
            <a:off x="548640" y="5029200"/>
            <a:ext cx="7315200" cy="274320"/>
          </a:xfrm>
          <a:prstGeom prst="rect">
            <a:avLst/>
          </a:prstGeom>
          <a:noFill/>
        </p:spPr>
        <p:txBody>
          <a:bodyPr wrap="square" lIns="0" tIns="0" rIns="0" bIns="0" rtlCol="0" anchor="ctr"/>
          <a:lstStyle/>
          <a:p>
            <a:pPr marL="0" indent="0">
              <a:buNone/>
            </a:pPr>
            <a:r>
              <a:rPr lang="en-US" sz="1300" dirty="0">
                <a:solidFill>
                  <a:srgbClr val="BFD3E6"/>
                </a:solidFill>
                <a:latin typeface="Arial" panose="020B0604020202020204" pitchFamily="34" charset="0"/>
                <a:ea typeface="Arial" panose="020B0604020202020204" pitchFamily="34" charset="-122"/>
                <a:cs typeface="Arial" panose="020B0604020202020204" pitchFamily="34" charset="-120"/>
              </a:rPr>
              <a:t>Lecturer, Dept. of CSE, IIUC</a:t>
            </a:r>
            <a:endParaRPr lang="en-US" sz="1300" dirty="0"/>
          </a:p>
        </p:txBody>
      </p:sp>
      <p:sp>
        <p:nvSpPr>
          <p:cNvPr id="12" name="Text 10"/>
          <p:cNvSpPr txBox="1"/>
          <p:nvPr/>
        </p:nvSpPr>
        <p:spPr>
          <a:xfrm>
            <a:off x="548640" y="5715000"/>
            <a:ext cx="7315200" cy="274320"/>
          </a:xfrm>
          <a:prstGeom prst="rect">
            <a:avLst/>
          </a:prstGeom>
          <a:noFill/>
        </p:spPr>
        <p:txBody>
          <a:bodyPr wrap="square" lIns="0" tIns="0" rIns="0" bIns="0" rtlCol="0" anchor="ctr"/>
          <a:lstStyle/>
          <a:p>
            <a:pPr marL="0" indent="0">
              <a:buNone/>
            </a:pPr>
            <a:r>
              <a:rPr lang="en-US" sz="1200" dirty="0">
                <a:solidFill>
                  <a:srgbClr val="8FB3D4"/>
                </a:solidFill>
                <a:latin typeface="Arial" panose="020B0604020202020204" pitchFamily="34" charset="0"/>
                <a:ea typeface="Arial" panose="020B0604020202020204" pitchFamily="34" charset="-122"/>
                <a:cs typeface="Arial" panose="020B0604020202020204" pitchFamily="34" charset="-120"/>
              </a:rPr>
              <a:t>Autumn 2026  |  50-minute laboratory class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p:spPr>
        <p:txBody>
          <a:bodyPr wrap="square" lIns="0" tIns="0" rIns="0" bIns="0" rtlCol="0" anchor="ctr"/>
          <a:lstStyle/>
          <a:p>
            <a:pPr marL="0" indent="0">
              <a:buNone/>
            </a:pPr>
            <a:r>
              <a:rPr lang="en-US" sz="1100" b="1" kern="0" spc="120" dirty="0">
                <a:solidFill>
                  <a:srgbClr val="E39A18"/>
                </a:solidFill>
                <a:latin typeface="Arial" panose="020B0604020202020204" pitchFamily="34" charset="0"/>
                <a:ea typeface="Arial" panose="020B0604020202020204" pitchFamily="34" charset="-122"/>
                <a:cs typeface="Arial" panose="020B0604020202020204" pitchFamily="34" charset="-120"/>
              </a:rPr>
              <a:t>0-5 MINUTES</a:t>
            </a:r>
            <a:endParaRPr lang="en-US" sz="1100" dirty="0"/>
          </a:p>
        </p:txBody>
      </p:sp>
      <p:sp>
        <p:nvSpPr>
          <p:cNvPr id="3" name="Text 1"/>
          <p:cNvSpPr txBox="1"/>
          <p:nvPr/>
        </p:nvSpPr>
        <p:spPr>
          <a:xfrm>
            <a:off x="548640" y="658368"/>
            <a:ext cx="11064240" cy="566928"/>
          </a:xfrm>
          <a:prstGeom prst="rect">
            <a:avLst/>
          </a:prstGeom>
          <a:noFill/>
        </p:spPr>
        <p:txBody>
          <a:bodyPr wrap="square" lIns="0" tIns="0" rIns="0" bIns="0" rtlCol="0" anchor="ctr"/>
          <a:lstStyle/>
          <a:p>
            <a:pPr marL="0" indent="0">
              <a:buNone/>
            </a:pPr>
            <a:r>
              <a:rPr lang="en-US" sz="3200" b="1" dirty="0">
                <a:solidFill>
                  <a:srgbClr val="003366"/>
                </a:solidFill>
                <a:latin typeface="Arial" panose="020B0604020202020204" pitchFamily="34" charset="0"/>
                <a:ea typeface="Arial" panose="020B0604020202020204" pitchFamily="34" charset="-122"/>
                <a:cs typeface="Arial" panose="020B0604020202020204" pitchFamily="34" charset="-120"/>
              </a:rPr>
              <a:t>Recall &amp; Today's Outcome</a:t>
            </a:r>
            <a:endParaRPr lang="en-US" sz="3200" dirty="0"/>
          </a:p>
        </p:txBody>
      </p:sp>
      <p:sp>
        <p:nvSpPr>
          <p:cNvPr id="4" name="Text 2"/>
          <p:cNvSpPr txBox="1"/>
          <p:nvPr/>
        </p:nvSpPr>
        <p:spPr>
          <a:xfrm>
            <a:off x="548640" y="6355080"/>
            <a:ext cx="5486400" cy="256032"/>
          </a:xfrm>
          <a:prstGeom prst="rect">
            <a:avLst/>
          </a:prstGeom>
          <a:noFill/>
        </p:spPr>
        <p:txBody>
          <a:bodyPr wrap="square" lIns="0" tIns="0" rIns="0" bIns="0" rtlCol="0" anchor="ctr"/>
          <a:lstStyle/>
          <a:p>
            <a:pPr marL="0" indent="0">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p:spPr>
        <p:txBody>
          <a:bodyPr wrap="square" lIns="0" tIns="0" rIns="0" bIns="0" rtlCol="0" anchor="ctr"/>
          <a:lstStyle/>
          <a:p>
            <a:pPr marL="0" indent="0" algn="r">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2</a:t>
            </a:r>
            <a:endParaRPr lang="en-US" sz="900" dirty="0"/>
          </a:p>
        </p:txBody>
      </p:sp>
      <p:sp>
        <p:nvSpPr>
          <p:cNvPr id="6" name="Shape 4"/>
          <p:cNvSpPr/>
          <p:nvPr/>
        </p:nvSpPr>
        <p:spPr>
          <a:xfrm>
            <a:off x="548640" y="1417320"/>
            <a:ext cx="5486400" cy="4480560"/>
          </a:xfrm>
          <a:prstGeom prst="roundRect">
            <a:avLst>
              <a:gd name="adj" fmla="val 1633"/>
            </a:avLst>
          </a:prstGeom>
          <a:solidFill>
            <a:srgbClr val="F2F5F8"/>
          </a:solidFill>
          <a:ln w="12700">
            <a:solidFill>
              <a:srgbClr val="F2F5F8"/>
            </a:solidFill>
            <a:prstDash val="solid"/>
          </a:ln>
          <a:effectLst>
            <a:outerShdw blurRad="76200" dist="12700" dir="5400000" algn="bl" rotWithShape="0">
              <a:srgbClr val="9AA9B8">
                <a:alpha val="18000"/>
              </a:srgbClr>
            </a:outerShdw>
          </a:effectLst>
        </p:spPr>
      </p:sp>
      <p:sp>
        <p:nvSpPr>
          <p:cNvPr id="7" name="Shape 5"/>
          <p:cNvSpPr/>
          <p:nvPr/>
        </p:nvSpPr>
        <p:spPr>
          <a:xfrm>
            <a:off x="749808" y="1618488"/>
            <a:ext cx="384048" cy="384048"/>
          </a:xfrm>
          <a:prstGeom prst="ellipse">
            <a:avLst/>
          </a:prstGeom>
          <a:solidFill>
            <a:srgbClr val="003366"/>
          </a:solidFill>
          <a:ln w="12700">
            <a:solidFill>
              <a:srgbClr val="003366"/>
            </a:solidFill>
            <a:prstDash val="solid"/>
          </a:ln>
        </p:spPr>
      </p:sp>
      <p:sp>
        <p:nvSpPr>
          <p:cNvPr id="8" name="Text 6"/>
          <p:cNvSpPr txBox="1"/>
          <p:nvPr/>
        </p:nvSpPr>
        <p:spPr>
          <a:xfrm>
            <a:off x="749808" y="161848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500" dirty="0"/>
          </a:p>
        </p:txBody>
      </p:sp>
      <p:sp>
        <p:nvSpPr>
          <p:cNvPr id="9" name="Text 7"/>
          <p:cNvSpPr txBox="1"/>
          <p:nvPr/>
        </p:nvSpPr>
        <p:spPr>
          <a:xfrm>
            <a:off x="1261872" y="1645920"/>
            <a:ext cx="4572000" cy="329184"/>
          </a:xfrm>
          <a:prstGeom prst="rect">
            <a:avLst/>
          </a:prstGeom>
          <a:noFill/>
        </p:spPr>
        <p:txBody>
          <a:bodyPr wrap="square" lIns="0" tIns="0" rIns="0" bIns="0" rtlCol="0" anchor="ctr"/>
          <a:lstStyle/>
          <a:p>
            <a:pPr marL="0" indent="0">
              <a:buNone/>
            </a:pPr>
            <a:r>
              <a:rPr lang="en-US" sz="1700" b="1" dirty="0">
                <a:solidFill>
                  <a:srgbClr val="003366"/>
                </a:solidFill>
                <a:latin typeface="Arial" panose="020B0604020202020204" pitchFamily="34" charset="0"/>
                <a:ea typeface="Arial" panose="020B0604020202020204" pitchFamily="34" charset="-122"/>
                <a:cs typeface="Arial" panose="020B0604020202020204" pitchFamily="34" charset="-120"/>
              </a:rPr>
              <a:t>Recall from the last class</a:t>
            </a:r>
            <a:endParaRPr lang="en-US" sz="1700" dirty="0"/>
          </a:p>
        </p:txBody>
      </p:sp>
      <p:sp>
        <p:nvSpPr>
          <p:cNvPr id="10" name="Text 8"/>
          <p:cNvSpPr txBox="1"/>
          <p:nvPr/>
        </p:nvSpPr>
        <p:spPr>
          <a:xfrm>
            <a:off x="804672" y="2039112"/>
            <a:ext cx="4974336" cy="3694176"/>
          </a:xfrm>
          <a:prstGeom prst="rect">
            <a:avLst/>
          </a:prstGeom>
          <a:noFill/>
        </p:spPr>
        <p:txBody>
          <a:bodyPr wrap="square" lIns="0" tIns="0" rIns="0" bIns="0" rtlCol="0" anchor="t"/>
          <a:lstStyle/>
          <a:p>
            <a:pPr marL="342900" indent="-342900">
              <a:spcAft>
                <a:spcPts val="1400"/>
              </a:spcAft>
              <a:buSzPct val="100000"/>
              <a:buChar char="•"/>
            </a:pPr>
            <a:r>
              <a:rPr lang="en-US" sz="1500" dirty="0">
                <a:solidFill>
                  <a:srgbClr val="3D4A57"/>
                </a:solidFill>
                <a:latin typeface="Arial" panose="020B0604020202020204" pitchFamily="34" charset="0"/>
                <a:ea typeface="Arial" panose="020B0604020202020204" pitchFamily="34" charset="-122"/>
                <a:cs typeface="Arial" panose="020B0604020202020204" pitchFamily="34" charset="-120"/>
              </a:rPr>
              <a:t>What makes a group of radio buttons one group?</a:t>
            </a:r>
            <a:endParaRPr lang="en-US" sz="1500" dirty="0"/>
          </a:p>
          <a:p>
            <a:pPr marL="342900" indent="-342900">
              <a:spcAft>
                <a:spcPts val="1400"/>
              </a:spcAft>
              <a:buSzPct val="100000"/>
              <a:buChar char="•"/>
            </a:pPr>
            <a:r>
              <a:rPr lang="en-US" sz="1500" dirty="0">
                <a:solidFill>
                  <a:srgbClr val="3D4A57"/>
                </a:solidFill>
                <a:latin typeface="Arial" panose="020B0604020202020204" pitchFamily="34" charset="0"/>
                <a:ea typeface="Arial" panose="020B0604020202020204" pitchFamily="34" charset="-122"/>
                <a:cs typeface="Arial" panose="020B0604020202020204" pitchFamily="34" charset="-120"/>
              </a:rPr>
              <a:t>Which attribute connects a label to an input?</a:t>
            </a:r>
            <a:endParaRPr lang="en-US" sz="1500" dirty="0"/>
          </a:p>
          <a:p>
            <a:pPr marL="342900" indent="-342900">
              <a:spcAft>
                <a:spcPts val="1400"/>
              </a:spcAft>
              <a:buSzPct val="100000"/>
              <a:buChar char="•"/>
            </a:pPr>
            <a:r>
              <a:rPr lang="en-US" sz="1500" dirty="0">
                <a:solidFill>
                  <a:srgbClr val="3D4A57"/>
                </a:solidFill>
                <a:latin typeface="Arial" panose="020B0604020202020204" pitchFamily="34" charset="0"/>
                <a:ea typeface="Arial" panose="020B0604020202020204" pitchFamily="34" charset="-122"/>
                <a:cs typeface="Arial" panose="020B0604020202020204" pitchFamily="34" charset="-120"/>
              </a:rPr>
              <a:t>What does scope do on a th?</a:t>
            </a:r>
            <a:endParaRPr lang="en-US" sz="1500" dirty="0"/>
          </a:p>
          <a:p>
            <a:pPr marL="342900" indent="-342900">
              <a:spcAft>
                <a:spcPts val="1400"/>
              </a:spcAft>
              <a:buSzPct val="100000"/>
              <a:buChar char="•"/>
            </a:pPr>
            <a:r>
              <a:rPr lang="en-US" sz="1500" dirty="0">
                <a:solidFill>
                  <a:srgbClr val="3D4A57"/>
                </a:solidFill>
                <a:latin typeface="Arial" panose="020B0604020202020204" pitchFamily="34" charset="0"/>
                <a:ea typeface="Arial" panose="020B0604020202020204" pitchFamily="34" charset="-122"/>
                <a:cs typeface="Arial" panose="020B0604020202020204" pitchFamily="34" charset="-120"/>
              </a:rPr>
              <a:t>Open your register.html now.</a:t>
            </a:r>
            <a:endParaRPr lang="en-US" sz="1500" dirty="0"/>
          </a:p>
        </p:txBody>
      </p:sp>
      <p:sp>
        <p:nvSpPr>
          <p:cNvPr id="11" name="Shape 9"/>
          <p:cNvSpPr/>
          <p:nvPr/>
        </p:nvSpPr>
        <p:spPr>
          <a:xfrm>
            <a:off x="6309360" y="1417320"/>
            <a:ext cx="5303520" cy="4480560"/>
          </a:xfrm>
          <a:prstGeom prst="roundRect">
            <a:avLst>
              <a:gd name="adj" fmla="val 1633"/>
            </a:avLst>
          </a:prstGeom>
          <a:solidFill>
            <a:srgbClr val="FDF3E1"/>
          </a:solidFill>
          <a:ln w="12700">
            <a:solidFill>
              <a:srgbClr val="FDF3E1"/>
            </a:solidFill>
            <a:prstDash val="solid"/>
          </a:ln>
          <a:effectLst>
            <a:outerShdw blurRad="76200" dist="12700" dir="5400000" algn="bl" rotWithShape="0">
              <a:srgbClr val="9AA9B8">
                <a:alpha val="18000"/>
              </a:srgbClr>
            </a:outerShdw>
          </a:effectLst>
        </p:spPr>
      </p:sp>
      <p:sp>
        <p:nvSpPr>
          <p:cNvPr id="12" name="Shape 10"/>
          <p:cNvSpPr/>
          <p:nvPr/>
        </p:nvSpPr>
        <p:spPr>
          <a:xfrm>
            <a:off x="6510528" y="1618488"/>
            <a:ext cx="384048" cy="384048"/>
          </a:xfrm>
          <a:prstGeom prst="ellipse">
            <a:avLst/>
          </a:prstGeom>
          <a:solidFill>
            <a:srgbClr val="E39A18"/>
          </a:solidFill>
          <a:ln w="12700">
            <a:solidFill>
              <a:srgbClr val="E39A18"/>
            </a:solidFill>
            <a:prstDash val="solid"/>
          </a:ln>
        </p:spPr>
      </p:sp>
      <p:sp>
        <p:nvSpPr>
          <p:cNvPr id="13" name="Text 11"/>
          <p:cNvSpPr txBox="1"/>
          <p:nvPr/>
        </p:nvSpPr>
        <p:spPr>
          <a:xfrm>
            <a:off x="6510528" y="161848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500" dirty="0"/>
          </a:p>
        </p:txBody>
      </p:sp>
      <p:sp>
        <p:nvSpPr>
          <p:cNvPr id="14" name="Text 12"/>
          <p:cNvSpPr txBox="1"/>
          <p:nvPr/>
        </p:nvSpPr>
        <p:spPr>
          <a:xfrm>
            <a:off x="7022592" y="1645920"/>
            <a:ext cx="4389120" cy="329184"/>
          </a:xfrm>
          <a:prstGeom prst="rect">
            <a:avLst/>
          </a:prstGeom>
          <a:noFill/>
        </p:spPr>
        <p:txBody>
          <a:bodyPr wrap="square" lIns="0" tIns="0" rIns="0" bIns="0" rtlCol="0" anchor="ctr"/>
          <a:lstStyle/>
          <a:p>
            <a:pPr marL="0" indent="0">
              <a:buNone/>
            </a:pPr>
            <a:r>
              <a:rPr lang="en-US" sz="1700" b="1" dirty="0">
                <a:solidFill>
                  <a:srgbClr val="003366"/>
                </a:solidFill>
                <a:latin typeface="Arial" panose="020B0604020202020204" pitchFamily="34" charset="0"/>
                <a:ea typeface="Arial" panose="020B0604020202020204" pitchFamily="34" charset="-122"/>
                <a:cs typeface="Arial" panose="020B0604020202020204" pitchFamily="34" charset="-120"/>
              </a:rPr>
              <a:t>By the end of today you can</a:t>
            </a:r>
            <a:endParaRPr lang="en-US" sz="1700" dirty="0"/>
          </a:p>
        </p:txBody>
      </p:sp>
      <p:sp>
        <p:nvSpPr>
          <p:cNvPr id="15" name="Text 13"/>
          <p:cNvSpPr txBox="1"/>
          <p:nvPr/>
        </p:nvSpPr>
        <p:spPr>
          <a:xfrm>
            <a:off x="6565392" y="2039112"/>
            <a:ext cx="4791456" cy="3694176"/>
          </a:xfrm>
          <a:prstGeom prst="rect">
            <a:avLst/>
          </a:prstGeom>
          <a:noFill/>
        </p:spPr>
        <p:txBody>
          <a:bodyPr wrap="square" lIns="0" tIns="0" rIns="0" bIns="0" rtlCol="0" anchor="t"/>
          <a:lstStyle/>
          <a:p>
            <a:pPr marL="342900" indent="-342900">
              <a:spcAft>
                <a:spcPts val="800"/>
              </a:spcAft>
              <a:buSzPct val="100000"/>
              <a:buChar char="•"/>
            </a:pPr>
            <a:r>
              <a:rPr lang="en-US" sz="1450" dirty="0">
                <a:solidFill>
                  <a:srgbClr val="3D4A57"/>
                </a:solidFill>
                <a:latin typeface="Arial" panose="020B0604020202020204" pitchFamily="34" charset="0"/>
                <a:ea typeface="Arial" panose="020B0604020202020204" pitchFamily="34" charset="-122"/>
                <a:cs typeface="Arial" panose="020B0604020202020204" pitchFamily="34" charset="-120"/>
              </a:rPr>
              <a:t>Explain who is blocked by an inaccessible page</a:t>
            </a:r>
            <a:endParaRPr lang="en-US" sz="1450" dirty="0"/>
          </a:p>
          <a:p>
            <a:pPr marL="342900" indent="-342900">
              <a:spcAft>
                <a:spcPts val="800"/>
              </a:spcAft>
              <a:buSzPct val="100000"/>
              <a:buChar char="•"/>
            </a:pPr>
            <a:r>
              <a:rPr lang="en-US" sz="1450" dirty="0">
                <a:solidFill>
                  <a:srgbClr val="3D4A57"/>
                </a:solidFill>
                <a:latin typeface="Arial" panose="020B0604020202020204" pitchFamily="34" charset="0"/>
                <a:ea typeface="Arial" panose="020B0604020202020204" pitchFamily="34" charset="-122"/>
                <a:cs typeface="Arial" panose="020B0604020202020204" pitchFamily="34" charset="-120"/>
              </a:rPr>
              <a:t>Check landmarks and heading order</a:t>
            </a:r>
            <a:endParaRPr lang="en-US" sz="1450" dirty="0"/>
          </a:p>
          <a:p>
            <a:pPr marL="342900" indent="-342900">
              <a:spcAft>
                <a:spcPts val="800"/>
              </a:spcAft>
              <a:buSzPct val="100000"/>
              <a:buChar char="•"/>
            </a:pPr>
            <a:r>
              <a:rPr lang="en-US" sz="1450" dirty="0">
                <a:solidFill>
                  <a:srgbClr val="3D4A57"/>
                </a:solidFill>
                <a:latin typeface="Arial" panose="020B0604020202020204" pitchFamily="34" charset="0"/>
                <a:ea typeface="Arial" panose="020B0604020202020204" pitchFamily="34" charset="-122"/>
                <a:cs typeface="Arial" panose="020B0604020202020204" pitchFamily="34" charset="-120"/>
              </a:rPr>
              <a:t>Write alt text using a simple decision rule</a:t>
            </a:r>
            <a:endParaRPr lang="en-US" sz="1450" dirty="0"/>
          </a:p>
          <a:p>
            <a:pPr marL="342900" indent="-342900">
              <a:spcAft>
                <a:spcPts val="800"/>
              </a:spcAft>
              <a:buSzPct val="100000"/>
              <a:buChar char="•"/>
            </a:pPr>
            <a:r>
              <a:rPr lang="en-US" sz="1450" dirty="0">
                <a:solidFill>
                  <a:srgbClr val="3D4A57"/>
                </a:solidFill>
                <a:latin typeface="Arial" panose="020B0604020202020204" pitchFamily="34" charset="0"/>
                <a:ea typeface="Arial" panose="020B0604020202020204" pitchFamily="34" charset="-122"/>
                <a:cs typeface="Arial" panose="020B0604020202020204" pitchFamily="34" charset="-120"/>
              </a:rPr>
              <a:t>Operate a whole page with the keyboard only</a:t>
            </a:r>
            <a:endParaRPr lang="en-US" sz="1450" dirty="0"/>
          </a:p>
          <a:p>
            <a:pPr marL="342900" indent="-342900">
              <a:spcAft>
                <a:spcPts val="800"/>
              </a:spcAft>
              <a:buSzPct val="100000"/>
              <a:buChar char="•"/>
            </a:pPr>
            <a:r>
              <a:rPr lang="en-US" sz="1450" dirty="0">
                <a:solidFill>
                  <a:srgbClr val="3D4A57"/>
                </a:solidFill>
                <a:latin typeface="Arial" panose="020B0604020202020204" pitchFamily="34" charset="0"/>
                <a:ea typeface="Arial" panose="020B0604020202020204" pitchFamily="34" charset="-122"/>
                <a:cs typeface="Arial" panose="020B0604020202020204" pitchFamily="34" charset="-120"/>
              </a:rPr>
              <a:t>Keep a visible focus indicator</a:t>
            </a:r>
            <a:endParaRPr lang="en-US" sz="1450" dirty="0"/>
          </a:p>
          <a:p>
            <a:pPr marL="342900" indent="-342900">
              <a:spcAft>
                <a:spcPts val="800"/>
              </a:spcAft>
              <a:buSzPct val="100000"/>
              <a:buChar char="•"/>
            </a:pPr>
            <a:r>
              <a:rPr lang="en-US" sz="1450" dirty="0">
                <a:solidFill>
                  <a:srgbClr val="3D4A57"/>
                </a:solidFill>
                <a:latin typeface="Arial" panose="020B0604020202020204" pitchFamily="34" charset="0"/>
                <a:ea typeface="Arial" panose="020B0604020202020204" pitchFamily="34" charset="-122"/>
                <a:cs typeface="Arial" panose="020B0604020202020204" pitchFamily="34" charset="-120"/>
              </a:rPr>
              <a:t>Check colour contrast and fix failures</a:t>
            </a:r>
            <a:endParaRPr lang="en-US" sz="1450" dirty="0"/>
          </a:p>
          <a:p>
            <a:pPr marL="342900" indent="-342900">
              <a:spcAft>
                <a:spcPts val="800"/>
              </a:spcAft>
              <a:buSzPct val="100000"/>
              <a:buChar char="•"/>
            </a:pPr>
            <a:r>
              <a:rPr lang="en-US" sz="1450" dirty="0">
                <a:solidFill>
                  <a:srgbClr val="3D4A57"/>
                </a:solidFill>
                <a:latin typeface="Arial" panose="020B0604020202020204" pitchFamily="34" charset="0"/>
                <a:ea typeface="Arial" panose="020B0604020202020204" pitchFamily="34" charset="-122"/>
                <a:cs typeface="Arial" panose="020B0604020202020204" pitchFamily="34" charset="-120"/>
              </a:rPr>
              <a:t>Run a Lighthouse accessibility audit</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p:spPr>
        <p:txBody>
          <a:bodyPr wrap="square" lIns="0" tIns="0" rIns="0" bIns="0" rtlCol="0" anchor="ctr"/>
          <a:lstStyle/>
          <a:p>
            <a:pPr marL="0" indent="0">
              <a:buNone/>
            </a:pPr>
            <a:r>
              <a:rPr lang="en-US" sz="1100" b="1" kern="0" spc="120" dirty="0">
                <a:solidFill>
                  <a:srgbClr val="E39A18"/>
                </a:solidFill>
                <a:latin typeface="Arial" panose="020B0604020202020204" pitchFamily="34" charset="0"/>
                <a:ea typeface="Arial" panose="020B0604020202020204" pitchFamily="34" charset="-122"/>
                <a:cs typeface="Arial" panose="020B0604020202020204" pitchFamily="34" charset="-120"/>
              </a:rPr>
              <a:t>CONCEPT</a:t>
            </a:r>
            <a:endParaRPr lang="en-US" sz="1100" dirty="0"/>
          </a:p>
        </p:txBody>
      </p:sp>
      <p:sp>
        <p:nvSpPr>
          <p:cNvPr id="3" name="Text 1"/>
          <p:cNvSpPr txBox="1"/>
          <p:nvPr/>
        </p:nvSpPr>
        <p:spPr>
          <a:xfrm>
            <a:off x="548640" y="658368"/>
            <a:ext cx="11064240" cy="566928"/>
          </a:xfrm>
          <a:prstGeom prst="rect">
            <a:avLst/>
          </a:prstGeom>
          <a:noFill/>
        </p:spPr>
        <p:txBody>
          <a:bodyPr wrap="square" lIns="0" tIns="0" rIns="0" bIns="0" rtlCol="0" anchor="ctr"/>
          <a:lstStyle/>
          <a:p>
            <a:pPr marL="0" indent="0">
              <a:buNone/>
            </a:pPr>
            <a:r>
              <a:rPr lang="en-US" sz="3200" b="1" dirty="0">
                <a:solidFill>
                  <a:srgbClr val="003366"/>
                </a:solidFill>
                <a:latin typeface="Arial" panose="020B0604020202020204" pitchFamily="34" charset="0"/>
                <a:ea typeface="Arial" panose="020B0604020202020204" pitchFamily="34" charset="-122"/>
                <a:cs typeface="Arial" panose="020B0604020202020204" pitchFamily="34" charset="-120"/>
              </a:rPr>
              <a:t>Who Is Blocked by a Bad Page?</a:t>
            </a:r>
            <a:endParaRPr lang="en-US" sz="3200" dirty="0"/>
          </a:p>
        </p:txBody>
      </p:sp>
      <p:sp>
        <p:nvSpPr>
          <p:cNvPr id="4" name="Text 2"/>
          <p:cNvSpPr txBox="1"/>
          <p:nvPr/>
        </p:nvSpPr>
        <p:spPr>
          <a:xfrm>
            <a:off x="548640" y="6355080"/>
            <a:ext cx="5486400" cy="256032"/>
          </a:xfrm>
          <a:prstGeom prst="rect">
            <a:avLst/>
          </a:prstGeom>
          <a:noFill/>
        </p:spPr>
        <p:txBody>
          <a:bodyPr wrap="square" lIns="0" tIns="0" rIns="0" bIns="0" rtlCol="0" anchor="ctr"/>
          <a:lstStyle/>
          <a:p>
            <a:pPr marL="0" indent="0">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p:spPr>
        <p:txBody>
          <a:bodyPr wrap="square" lIns="0" tIns="0" rIns="0" bIns="0" rtlCol="0" anchor="ctr"/>
          <a:lstStyle/>
          <a:p>
            <a:pPr marL="0" indent="0" algn="r">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3</a:t>
            </a:r>
            <a:endParaRPr lang="en-US" sz="900" dirty="0"/>
          </a:p>
        </p:txBody>
      </p:sp>
      <p:sp>
        <p:nvSpPr>
          <p:cNvPr id="6" name="Shape 4"/>
          <p:cNvSpPr/>
          <p:nvPr/>
        </p:nvSpPr>
        <p:spPr>
          <a:xfrm>
            <a:off x="548640" y="1371600"/>
            <a:ext cx="5349240" cy="1143000"/>
          </a:xfrm>
          <a:prstGeom prst="roundRect">
            <a:avLst>
              <a:gd name="adj" fmla="val 6400"/>
            </a:avLst>
          </a:prstGeom>
          <a:solidFill>
            <a:srgbClr val="E8EEF4"/>
          </a:solidFill>
          <a:ln w="12700">
            <a:solidFill>
              <a:srgbClr val="E8EEF4"/>
            </a:solidFill>
            <a:prstDash val="solid"/>
          </a:ln>
        </p:spPr>
      </p:sp>
      <p:sp>
        <p:nvSpPr>
          <p:cNvPr id="7" name="Text 5"/>
          <p:cNvSpPr txBox="1"/>
          <p:nvPr/>
        </p:nvSpPr>
        <p:spPr>
          <a:xfrm>
            <a:off x="804672" y="1572768"/>
            <a:ext cx="4837176" cy="329184"/>
          </a:xfrm>
          <a:prstGeom prst="rect">
            <a:avLst/>
          </a:prstGeom>
          <a:noFill/>
        </p:spPr>
        <p:txBody>
          <a:bodyPr wrap="square" lIns="0" tIns="0" rIns="0" bIns="0" rtlCol="0" anchor="ctr"/>
          <a:lstStyle/>
          <a:p>
            <a:pPr marL="0" indent="0">
              <a:buNone/>
            </a:pPr>
            <a:r>
              <a:rPr lang="en-US" sz="1500" b="1" dirty="0">
                <a:solidFill>
                  <a:srgbClr val="003366"/>
                </a:solidFill>
                <a:latin typeface="Arial" panose="020B0604020202020204" pitchFamily="34" charset="0"/>
                <a:ea typeface="Arial" panose="020B0604020202020204" pitchFamily="34" charset="-122"/>
                <a:cs typeface="Arial" panose="020B0604020202020204" pitchFamily="34" charset="-120"/>
              </a:rPr>
              <a:t>Blind users</a:t>
            </a:r>
            <a:endParaRPr lang="en-US" sz="1500" dirty="0"/>
          </a:p>
        </p:txBody>
      </p:sp>
      <p:sp>
        <p:nvSpPr>
          <p:cNvPr id="8" name="Text 6"/>
          <p:cNvSpPr txBox="1"/>
          <p:nvPr/>
        </p:nvSpPr>
        <p:spPr>
          <a:xfrm>
            <a:off x="804672" y="1993392"/>
            <a:ext cx="4837176" cy="356616"/>
          </a:xfrm>
          <a:prstGeom prst="rect">
            <a:avLst/>
          </a:prstGeom>
          <a:noFill/>
        </p:spPr>
        <p:txBody>
          <a:bodyPr wrap="square" lIns="0" tIns="0" rIns="0" bIns="0" rtlCol="0" anchor="t"/>
          <a:lstStyle/>
          <a:p>
            <a:pPr marL="0" indent="0">
              <a:spcAft>
                <a:spcPts val="600"/>
              </a:spcAft>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Hear the page through a screen reader. If the structure is wrong, the page is unusable.</a:t>
            </a:r>
            <a:endParaRPr lang="en-US" sz="1250" dirty="0"/>
          </a:p>
        </p:txBody>
      </p:sp>
      <p:sp>
        <p:nvSpPr>
          <p:cNvPr id="9" name="Shape 7"/>
          <p:cNvSpPr/>
          <p:nvPr/>
        </p:nvSpPr>
        <p:spPr>
          <a:xfrm>
            <a:off x="6263640" y="1371600"/>
            <a:ext cx="5349240" cy="1143000"/>
          </a:xfrm>
          <a:prstGeom prst="roundRect">
            <a:avLst>
              <a:gd name="adj" fmla="val 6400"/>
            </a:avLst>
          </a:prstGeom>
          <a:solidFill>
            <a:srgbClr val="F2F5F8"/>
          </a:solidFill>
          <a:ln w="12700">
            <a:solidFill>
              <a:srgbClr val="F2F5F8"/>
            </a:solidFill>
            <a:prstDash val="solid"/>
          </a:ln>
        </p:spPr>
      </p:sp>
      <p:sp>
        <p:nvSpPr>
          <p:cNvPr id="10" name="Text 8"/>
          <p:cNvSpPr txBox="1"/>
          <p:nvPr/>
        </p:nvSpPr>
        <p:spPr>
          <a:xfrm>
            <a:off x="6519672" y="1572768"/>
            <a:ext cx="4837176" cy="329184"/>
          </a:xfrm>
          <a:prstGeom prst="rect">
            <a:avLst/>
          </a:prstGeom>
          <a:noFill/>
        </p:spPr>
        <p:txBody>
          <a:bodyPr wrap="square" lIns="0" tIns="0" rIns="0" bIns="0" rtlCol="0" anchor="ctr"/>
          <a:lstStyle/>
          <a:p>
            <a:pPr marL="0" indent="0">
              <a:buNone/>
            </a:pPr>
            <a:r>
              <a:rPr lang="en-US" sz="1500" b="1" dirty="0">
                <a:solidFill>
                  <a:srgbClr val="003366"/>
                </a:solidFill>
                <a:latin typeface="Arial" panose="020B0604020202020204" pitchFamily="34" charset="0"/>
                <a:ea typeface="Arial" panose="020B0604020202020204" pitchFamily="34" charset="-122"/>
                <a:cs typeface="Arial" panose="020B0604020202020204" pitchFamily="34" charset="-120"/>
              </a:rPr>
              <a:t>Low vision users</a:t>
            </a:r>
            <a:endParaRPr lang="en-US" sz="1500" dirty="0"/>
          </a:p>
        </p:txBody>
      </p:sp>
      <p:sp>
        <p:nvSpPr>
          <p:cNvPr id="11" name="Text 9"/>
          <p:cNvSpPr txBox="1"/>
          <p:nvPr/>
        </p:nvSpPr>
        <p:spPr>
          <a:xfrm>
            <a:off x="6519672" y="1993392"/>
            <a:ext cx="4837176" cy="356616"/>
          </a:xfrm>
          <a:prstGeom prst="rect">
            <a:avLst/>
          </a:prstGeom>
          <a:noFill/>
        </p:spPr>
        <p:txBody>
          <a:bodyPr wrap="square" lIns="0" tIns="0" rIns="0" bIns="0" rtlCol="0" anchor="t"/>
          <a:lstStyle/>
          <a:p>
            <a:pPr marL="0" indent="0">
              <a:spcAft>
                <a:spcPts val="600"/>
              </a:spcAft>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Zoom to 200% or more, and need strong colour contrast.</a:t>
            </a:r>
            <a:endParaRPr lang="en-US" sz="1250" dirty="0"/>
          </a:p>
        </p:txBody>
      </p:sp>
      <p:sp>
        <p:nvSpPr>
          <p:cNvPr id="12" name="Shape 10"/>
          <p:cNvSpPr/>
          <p:nvPr/>
        </p:nvSpPr>
        <p:spPr>
          <a:xfrm>
            <a:off x="548640" y="2670048"/>
            <a:ext cx="5349240" cy="1143000"/>
          </a:xfrm>
          <a:prstGeom prst="roundRect">
            <a:avLst>
              <a:gd name="adj" fmla="val 6400"/>
            </a:avLst>
          </a:prstGeom>
          <a:solidFill>
            <a:srgbClr val="E8EEF4"/>
          </a:solidFill>
          <a:ln w="12700">
            <a:solidFill>
              <a:srgbClr val="E8EEF4"/>
            </a:solidFill>
            <a:prstDash val="solid"/>
          </a:ln>
        </p:spPr>
      </p:sp>
      <p:sp>
        <p:nvSpPr>
          <p:cNvPr id="13" name="Text 11"/>
          <p:cNvSpPr txBox="1"/>
          <p:nvPr/>
        </p:nvSpPr>
        <p:spPr>
          <a:xfrm>
            <a:off x="804672" y="2871216"/>
            <a:ext cx="4837176" cy="329184"/>
          </a:xfrm>
          <a:prstGeom prst="rect">
            <a:avLst/>
          </a:prstGeom>
          <a:noFill/>
        </p:spPr>
        <p:txBody>
          <a:bodyPr wrap="square" lIns="0" tIns="0" rIns="0" bIns="0" rtlCol="0" anchor="ctr"/>
          <a:lstStyle/>
          <a:p>
            <a:pPr marL="0" indent="0">
              <a:buNone/>
            </a:pPr>
            <a:r>
              <a:rPr lang="en-US" sz="1500" b="1" dirty="0">
                <a:solidFill>
                  <a:srgbClr val="003366"/>
                </a:solidFill>
                <a:latin typeface="Arial" panose="020B0604020202020204" pitchFamily="34" charset="0"/>
                <a:ea typeface="Arial" panose="020B0604020202020204" pitchFamily="34" charset="-122"/>
                <a:cs typeface="Arial" panose="020B0604020202020204" pitchFamily="34" charset="-120"/>
              </a:rPr>
              <a:t>Motor impairment</a:t>
            </a:r>
            <a:endParaRPr lang="en-US" sz="1500" dirty="0"/>
          </a:p>
        </p:txBody>
      </p:sp>
      <p:sp>
        <p:nvSpPr>
          <p:cNvPr id="14" name="Text 12"/>
          <p:cNvSpPr txBox="1"/>
          <p:nvPr/>
        </p:nvSpPr>
        <p:spPr>
          <a:xfrm>
            <a:off x="804672" y="3291840"/>
            <a:ext cx="4837176" cy="356616"/>
          </a:xfrm>
          <a:prstGeom prst="rect">
            <a:avLst/>
          </a:prstGeom>
          <a:noFill/>
        </p:spPr>
        <p:txBody>
          <a:bodyPr wrap="square" lIns="0" tIns="0" rIns="0" bIns="0" rtlCol="0" anchor="t"/>
          <a:lstStyle/>
          <a:p>
            <a:pPr marL="0" indent="0">
              <a:spcAft>
                <a:spcPts val="600"/>
              </a:spcAft>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Cannot use a mouse. Everything must work with the keyboard.</a:t>
            </a:r>
            <a:endParaRPr lang="en-US" sz="1250" dirty="0"/>
          </a:p>
        </p:txBody>
      </p:sp>
      <p:sp>
        <p:nvSpPr>
          <p:cNvPr id="15" name="Shape 13"/>
          <p:cNvSpPr/>
          <p:nvPr/>
        </p:nvSpPr>
        <p:spPr>
          <a:xfrm>
            <a:off x="6263640" y="2670048"/>
            <a:ext cx="5349240" cy="1143000"/>
          </a:xfrm>
          <a:prstGeom prst="roundRect">
            <a:avLst>
              <a:gd name="adj" fmla="val 6400"/>
            </a:avLst>
          </a:prstGeom>
          <a:solidFill>
            <a:srgbClr val="F2F5F8"/>
          </a:solidFill>
          <a:ln w="12700">
            <a:solidFill>
              <a:srgbClr val="F2F5F8"/>
            </a:solidFill>
            <a:prstDash val="solid"/>
          </a:ln>
        </p:spPr>
      </p:sp>
      <p:sp>
        <p:nvSpPr>
          <p:cNvPr id="16" name="Text 14"/>
          <p:cNvSpPr txBox="1"/>
          <p:nvPr/>
        </p:nvSpPr>
        <p:spPr>
          <a:xfrm>
            <a:off x="6519672" y="2871216"/>
            <a:ext cx="4837176" cy="329184"/>
          </a:xfrm>
          <a:prstGeom prst="rect">
            <a:avLst/>
          </a:prstGeom>
          <a:noFill/>
        </p:spPr>
        <p:txBody>
          <a:bodyPr wrap="square" lIns="0" tIns="0" rIns="0" bIns="0" rtlCol="0" anchor="ctr"/>
          <a:lstStyle/>
          <a:p>
            <a:pPr marL="0" indent="0">
              <a:buNone/>
            </a:pPr>
            <a:r>
              <a:rPr lang="en-US" sz="1500" b="1" dirty="0">
                <a:solidFill>
                  <a:srgbClr val="003366"/>
                </a:solidFill>
                <a:latin typeface="Arial" panose="020B0604020202020204" pitchFamily="34" charset="0"/>
                <a:ea typeface="Arial" panose="020B0604020202020204" pitchFamily="34" charset="-122"/>
                <a:cs typeface="Arial" panose="020B0604020202020204" pitchFamily="34" charset="-120"/>
              </a:rPr>
              <a:t>Colour blindness</a:t>
            </a:r>
            <a:endParaRPr lang="en-US" sz="1500" dirty="0"/>
          </a:p>
        </p:txBody>
      </p:sp>
      <p:sp>
        <p:nvSpPr>
          <p:cNvPr id="17" name="Text 15"/>
          <p:cNvSpPr txBox="1"/>
          <p:nvPr/>
        </p:nvSpPr>
        <p:spPr>
          <a:xfrm>
            <a:off x="6519672" y="3291840"/>
            <a:ext cx="4837176" cy="356616"/>
          </a:xfrm>
          <a:prstGeom prst="rect">
            <a:avLst/>
          </a:prstGeom>
          <a:noFill/>
        </p:spPr>
        <p:txBody>
          <a:bodyPr wrap="square" lIns="0" tIns="0" rIns="0" bIns="0" rtlCol="0" anchor="t"/>
          <a:lstStyle/>
          <a:p>
            <a:pPr marL="0" indent="0">
              <a:spcAft>
                <a:spcPts val="600"/>
              </a:spcAft>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About 1 in 12 men. Cannot rely on red-versus-green alone.</a:t>
            </a:r>
            <a:endParaRPr lang="en-US" sz="1250" dirty="0"/>
          </a:p>
        </p:txBody>
      </p:sp>
      <p:sp>
        <p:nvSpPr>
          <p:cNvPr id="18" name="Shape 16"/>
          <p:cNvSpPr/>
          <p:nvPr/>
        </p:nvSpPr>
        <p:spPr>
          <a:xfrm>
            <a:off x="548640" y="3968496"/>
            <a:ext cx="5349240" cy="1143000"/>
          </a:xfrm>
          <a:prstGeom prst="roundRect">
            <a:avLst>
              <a:gd name="adj" fmla="val 6400"/>
            </a:avLst>
          </a:prstGeom>
          <a:solidFill>
            <a:srgbClr val="E8EEF4"/>
          </a:solidFill>
          <a:ln w="12700">
            <a:solidFill>
              <a:srgbClr val="E8EEF4"/>
            </a:solidFill>
            <a:prstDash val="solid"/>
          </a:ln>
        </p:spPr>
      </p:sp>
      <p:sp>
        <p:nvSpPr>
          <p:cNvPr id="19" name="Text 17"/>
          <p:cNvSpPr txBox="1"/>
          <p:nvPr/>
        </p:nvSpPr>
        <p:spPr>
          <a:xfrm>
            <a:off x="804672" y="4169664"/>
            <a:ext cx="4837176" cy="329184"/>
          </a:xfrm>
          <a:prstGeom prst="rect">
            <a:avLst/>
          </a:prstGeom>
          <a:noFill/>
        </p:spPr>
        <p:txBody>
          <a:bodyPr wrap="square" lIns="0" tIns="0" rIns="0" bIns="0" rtlCol="0" anchor="ctr"/>
          <a:lstStyle/>
          <a:p>
            <a:pPr marL="0" indent="0">
              <a:buNone/>
            </a:pPr>
            <a:r>
              <a:rPr lang="en-US" sz="1500" b="1" dirty="0">
                <a:solidFill>
                  <a:srgbClr val="003366"/>
                </a:solidFill>
                <a:latin typeface="Arial" panose="020B0604020202020204" pitchFamily="34" charset="0"/>
                <a:ea typeface="Arial" panose="020B0604020202020204" pitchFamily="34" charset="-122"/>
                <a:cs typeface="Arial" panose="020B0604020202020204" pitchFamily="34" charset="-120"/>
              </a:rPr>
              <a:t>Temporary and situational</a:t>
            </a:r>
            <a:endParaRPr lang="en-US" sz="1500" dirty="0"/>
          </a:p>
        </p:txBody>
      </p:sp>
      <p:sp>
        <p:nvSpPr>
          <p:cNvPr id="20" name="Text 18"/>
          <p:cNvSpPr txBox="1"/>
          <p:nvPr/>
        </p:nvSpPr>
        <p:spPr>
          <a:xfrm>
            <a:off x="804672" y="4590288"/>
            <a:ext cx="4837176" cy="356616"/>
          </a:xfrm>
          <a:prstGeom prst="rect">
            <a:avLst/>
          </a:prstGeom>
          <a:noFill/>
        </p:spPr>
        <p:txBody>
          <a:bodyPr wrap="square" lIns="0" tIns="0" rIns="0" bIns="0" rtlCol="0" anchor="t"/>
          <a:lstStyle/>
          <a:p>
            <a:pPr marL="0" indent="0">
              <a:spcAft>
                <a:spcPts val="600"/>
              </a:spcAft>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A broken arm, bright sunlight, a slow connection, a noisy bus.</a:t>
            </a:r>
            <a:endParaRPr lang="en-US" sz="1250" dirty="0"/>
          </a:p>
        </p:txBody>
      </p:sp>
      <p:sp>
        <p:nvSpPr>
          <p:cNvPr id="21" name="Shape 19"/>
          <p:cNvSpPr/>
          <p:nvPr/>
        </p:nvSpPr>
        <p:spPr>
          <a:xfrm>
            <a:off x="6263640" y="3968496"/>
            <a:ext cx="5349240" cy="1143000"/>
          </a:xfrm>
          <a:prstGeom prst="roundRect">
            <a:avLst>
              <a:gd name="adj" fmla="val 6400"/>
            </a:avLst>
          </a:prstGeom>
          <a:solidFill>
            <a:srgbClr val="FDF3E1"/>
          </a:solidFill>
          <a:ln w="12700">
            <a:solidFill>
              <a:srgbClr val="FDF3E1"/>
            </a:solidFill>
            <a:prstDash val="solid"/>
          </a:ln>
        </p:spPr>
      </p:sp>
      <p:sp>
        <p:nvSpPr>
          <p:cNvPr id="22" name="Text 20"/>
          <p:cNvSpPr txBox="1"/>
          <p:nvPr/>
        </p:nvSpPr>
        <p:spPr>
          <a:xfrm>
            <a:off x="6519672" y="4169664"/>
            <a:ext cx="4837176" cy="329184"/>
          </a:xfrm>
          <a:prstGeom prst="rect">
            <a:avLst/>
          </a:prstGeom>
          <a:noFill/>
        </p:spPr>
        <p:txBody>
          <a:bodyPr wrap="square" lIns="0" tIns="0" rIns="0" bIns="0" rtlCol="0" anchor="ctr"/>
          <a:lstStyle/>
          <a:p>
            <a:pPr marL="0" indent="0">
              <a:buNone/>
            </a:pPr>
            <a:r>
              <a:rPr lang="en-US" sz="1500" b="1" dirty="0">
                <a:solidFill>
                  <a:srgbClr val="003366"/>
                </a:solidFill>
                <a:latin typeface="Arial" panose="020B0604020202020204" pitchFamily="34" charset="0"/>
                <a:ea typeface="Arial" panose="020B0604020202020204" pitchFamily="34" charset="-122"/>
                <a:cs typeface="Arial" panose="020B0604020202020204" pitchFamily="34" charset="-120"/>
              </a:rPr>
              <a:t>The curb-cut effect</a:t>
            </a:r>
            <a:endParaRPr lang="en-US" sz="1500" dirty="0"/>
          </a:p>
        </p:txBody>
      </p:sp>
      <p:sp>
        <p:nvSpPr>
          <p:cNvPr id="23" name="Text 21"/>
          <p:cNvSpPr txBox="1"/>
          <p:nvPr/>
        </p:nvSpPr>
        <p:spPr>
          <a:xfrm>
            <a:off x="6519672" y="4590288"/>
            <a:ext cx="4837176" cy="356616"/>
          </a:xfrm>
          <a:prstGeom prst="rect">
            <a:avLst/>
          </a:prstGeom>
          <a:noFill/>
        </p:spPr>
        <p:txBody>
          <a:bodyPr wrap="square" lIns="0" tIns="0" rIns="0" bIns="0" rtlCol="0" anchor="t"/>
          <a:lstStyle/>
          <a:p>
            <a:pPr marL="0" indent="0">
              <a:spcAft>
                <a:spcPts val="600"/>
              </a:spcAft>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Ramps were built for wheelchairs. Everyone with a suitcase uses them. Accessible pages are easier for everybody.</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p:spPr>
        <p:txBody>
          <a:bodyPr wrap="square" lIns="0" tIns="0" rIns="0" bIns="0" rtlCol="0" anchor="ctr"/>
          <a:lstStyle/>
          <a:p>
            <a:pPr marL="0" indent="0">
              <a:buNone/>
            </a:pPr>
            <a:r>
              <a:rPr lang="en-US" sz="1100" b="1" kern="0" spc="120" dirty="0">
                <a:solidFill>
                  <a:srgbClr val="E39A18"/>
                </a:solidFill>
                <a:latin typeface="Arial" panose="020B0604020202020204" pitchFamily="34" charset="0"/>
                <a:ea typeface="Arial" panose="020B0604020202020204" pitchFamily="34" charset="-122"/>
                <a:cs typeface="Arial" panose="020B0604020202020204" pitchFamily="34" charset="-120"/>
              </a:rPr>
              <a:t>CONCEPT</a:t>
            </a:r>
            <a:endParaRPr lang="en-US" sz="1100" dirty="0"/>
          </a:p>
        </p:txBody>
      </p:sp>
      <p:sp>
        <p:nvSpPr>
          <p:cNvPr id="3" name="Text 1"/>
          <p:cNvSpPr txBox="1"/>
          <p:nvPr/>
        </p:nvSpPr>
        <p:spPr>
          <a:xfrm>
            <a:off x="548640" y="658368"/>
            <a:ext cx="11064240" cy="566928"/>
          </a:xfrm>
          <a:prstGeom prst="rect">
            <a:avLst/>
          </a:prstGeom>
          <a:noFill/>
        </p:spPr>
        <p:txBody>
          <a:bodyPr wrap="square" lIns="0" tIns="0" rIns="0" bIns="0" rtlCol="0" anchor="ctr"/>
          <a:lstStyle/>
          <a:p>
            <a:pPr marL="0" indent="0">
              <a:buNone/>
            </a:pPr>
            <a:r>
              <a:rPr lang="en-US" sz="3200" b="1" dirty="0">
                <a:solidFill>
                  <a:srgbClr val="003366"/>
                </a:solidFill>
                <a:latin typeface="Arial" panose="020B0604020202020204" pitchFamily="34" charset="0"/>
                <a:ea typeface="Arial" panose="020B0604020202020204" pitchFamily="34" charset="-122"/>
                <a:cs typeface="Arial" panose="020B0604020202020204" pitchFamily="34" charset="-120"/>
              </a:rPr>
              <a:t>Accessibility in Four Questions</a:t>
            </a:r>
            <a:endParaRPr lang="en-US" sz="3200" dirty="0"/>
          </a:p>
        </p:txBody>
      </p:sp>
      <p:sp>
        <p:nvSpPr>
          <p:cNvPr id="4" name="Text 2"/>
          <p:cNvSpPr txBox="1"/>
          <p:nvPr/>
        </p:nvSpPr>
        <p:spPr>
          <a:xfrm>
            <a:off x="548640" y="6355080"/>
            <a:ext cx="5486400" cy="256032"/>
          </a:xfrm>
          <a:prstGeom prst="rect">
            <a:avLst/>
          </a:prstGeom>
          <a:noFill/>
        </p:spPr>
        <p:txBody>
          <a:bodyPr wrap="square" lIns="0" tIns="0" rIns="0" bIns="0" rtlCol="0" anchor="ctr"/>
          <a:lstStyle/>
          <a:p>
            <a:pPr marL="0" indent="0">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p:spPr>
        <p:txBody>
          <a:bodyPr wrap="square" lIns="0" tIns="0" rIns="0" bIns="0" rtlCol="0" anchor="ctr"/>
          <a:lstStyle/>
          <a:p>
            <a:pPr marL="0" indent="0" algn="r">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4</a:t>
            </a:r>
            <a:endParaRPr lang="en-US" sz="900" dirty="0"/>
          </a:p>
        </p:txBody>
      </p:sp>
      <p:sp>
        <p:nvSpPr>
          <p:cNvPr id="6" name="Text 4"/>
          <p:cNvSpPr txBox="1"/>
          <p:nvPr/>
        </p:nvSpPr>
        <p:spPr>
          <a:xfrm>
            <a:off x="548640" y="1325880"/>
            <a:ext cx="11064240" cy="320040"/>
          </a:xfrm>
          <a:prstGeom prst="rect">
            <a:avLst/>
          </a:prstGeom>
          <a:noFill/>
        </p:spPr>
        <p:txBody>
          <a:bodyPr wrap="square" lIns="0" tIns="0" rIns="0" bIns="0" rtlCol="0" anchor="t"/>
          <a:lstStyle/>
          <a:p>
            <a:pPr marL="0" indent="0" algn="l">
              <a:lnSpc>
                <a:spcPts val="2025"/>
              </a:lnSpc>
              <a:buNone/>
            </a:pPr>
            <a:r>
              <a:rPr lang="en-US" sz="1500" dirty="0">
                <a:solidFill>
                  <a:srgbClr val="3D4A57"/>
                </a:solidFill>
                <a:latin typeface="Arial" panose="020B0604020202020204" pitchFamily="34" charset="0"/>
                <a:ea typeface="Arial" panose="020B0604020202020204" pitchFamily="34" charset="-122"/>
                <a:cs typeface="Arial" panose="020B0604020202020204" pitchFamily="34" charset="-120"/>
              </a:rPr>
              <a:t>You do not need to memorise a standard. Ask these four questions about any page.</a:t>
            </a:r>
            <a:endParaRPr lang="en-US" sz="1500" dirty="0"/>
          </a:p>
        </p:txBody>
      </p:sp>
      <p:sp>
        <p:nvSpPr>
          <p:cNvPr id="7" name="Shape 5"/>
          <p:cNvSpPr/>
          <p:nvPr/>
        </p:nvSpPr>
        <p:spPr>
          <a:xfrm>
            <a:off x="548640" y="1828800"/>
            <a:ext cx="2651760" cy="2651760"/>
          </a:xfrm>
          <a:prstGeom prst="roundRect">
            <a:avLst>
              <a:gd name="adj" fmla="val 2759"/>
            </a:avLst>
          </a:prstGeom>
          <a:solidFill>
            <a:srgbClr val="E8EEF4"/>
          </a:solidFill>
          <a:ln w="12700">
            <a:solidFill>
              <a:srgbClr val="E8EEF4"/>
            </a:solidFill>
            <a:prstDash val="solid"/>
          </a:ln>
          <a:effectLst>
            <a:outerShdw blurRad="76200" dist="12700" dir="5400000" algn="bl" rotWithShape="0">
              <a:srgbClr val="9AA9B8">
                <a:alpha val="18000"/>
              </a:srgbClr>
            </a:outerShdw>
          </a:effectLst>
        </p:spPr>
      </p:sp>
      <p:sp>
        <p:nvSpPr>
          <p:cNvPr id="8" name="Shape 6"/>
          <p:cNvSpPr/>
          <p:nvPr/>
        </p:nvSpPr>
        <p:spPr>
          <a:xfrm>
            <a:off x="749808" y="2029968"/>
            <a:ext cx="384048" cy="384048"/>
          </a:xfrm>
          <a:prstGeom prst="ellipse">
            <a:avLst/>
          </a:prstGeom>
          <a:solidFill>
            <a:srgbClr val="003366"/>
          </a:solidFill>
          <a:ln w="12700">
            <a:solidFill>
              <a:srgbClr val="003366"/>
            </a:solidFill>
            <a:prstDash val="solid"/>
          </a:ln>
        </p:spPr>
      </p:sp>
      <p:sp>
        <p:nvSpPr>
          <p:cNvPr id="9" name="Text 7"/>
          <p:cNvSpPr txBox="1"/>
          <p:nvPr/>
        </p:nvSpPr>
        <p:spPr>
          <a:xfrm>
            <a:off x="749808" y="202996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1</a:t>
            </a:r>
            <a:endParaRPr lang="en-US" sz="1500" dirty="0"/>
          </a:p>
        </p:txBody>
      </p:sp>
      <p:sp>
        <p:nvSpPr>
          <p:cNvPr id="10" name="Text 8"/>
          <p:cNvSpPr txBox="1"/>
          <p:nvPr/>
        </p:nvSpPr>
        <p:spPr>
          <a:xfrm>
            <a:off x="1261872" y="2057400"/>
            <a:ext cx="1737360" cy="329184"/>
          </a:xfrm>
          <a:prstGeom prst="rect">
            <a:avLst/>
          </a:prstGeom>
          <a:noFill/>
        </p:spPr>
        <p:txBody>
          <a:bodyPr wrap="square" lIns="0" tIns="0" rIns="0" bIns="0" rtlCol="0" anchor="ctr"/>
          <a:lstStyle/>
          <a:p>
            <a:pPr marL="0" indent="0">
              <a:buNone/>
            </a:pPr>
            <a:r>
              <a:rPr lang="en-US" sz="1500" b="1" dirty="0">
                <a:solidFill>
                  <a:srgbClr val="003366"/>
                </a:solidFill>
                <a:latin typeface="Arial" panose="020B0604020202020204" pitchFamily="34" charset="0"/>
                <a:ea typeface="Arial" panose="020B0604020202020204" pitchFamily="34" charset="-122"/>
                <a:cs typeface="Arial" panose="020B0604020202020204" pitchFamily="34" charset="-120"/>
              </a:rPr>
              <a:t>Can I see it?</a:t>
            </a:r>
            <a:endParaRPr lang="en-US" sz="1500" dirty="0"/>
          </a:p>
        </p:txBody>
      </p:sp>
      <p:sp>
        <p:nvSpPr>
          <p:cNvPr id="11" name="Text 9"/>
          <p:cNvSpPr txBox="1"/>
          <p:nvPr/>
        </p:nvSpPr>
        <p:spPr>
          <a:xfrm>
            <a:off x="804672" y="2450592"/>
            <a:ext cx="2139696" cy="1865376"/>
          </a:xfrm>
          <a:prstGeom prst="rect">
            <a:avLst/>
          </a:prstGeom>
          <a:noFill/>
        </p:spPr>
        <p:txBody>
          <a:bodyPr wrap="square" lIns="0" tIns="0" rIns="0" bIns="0" rtlCol="0" anchor="t"/>
          <a:lstStyle/>
          <a:p>
            <a:pPr marL="0" indent="0">
              <a:spcAft>
                <a:spcPts val="600"/>
              </a:spcAft>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Contrast is strong enough and text can be zoomed.</a:t>
            </a:r>
            <a:endParaRPr lang="en-US" sz="1250" dirty="0"/>
          </a:p>
        </p:txBody>
      </p:sp>
      <p:sp>
        <p:nvSpPr>
          <p:cNvPr id="12" name="Shape 10"/>
          <p:cNvSpPr/>
          <p:nvPr/>
        </p:nvSpPr>
        <p:spPr>
          <a:xfrm>
            <a:off x="3401568" y="1828800"/>
            <a:ext cx="2651760" cy="2651760"/>
          </a:xfrm>
          <a:prstGeom prst="roundRect">
            <a:avLst>
              <a:gd name="adj" fmla="val 2759"/>
            </a:avLst>
          </a:prstGeom>
          <a:solidFill>
            <a:srgbClr val="F2F5F8"/>
          </a:solidFill>
          <a:ln w="12700">
            <a:solidFill>
              <a:srgbClr val="F2F5F8"/>
            </a:solidFill>
            <a:prstDash val="solid"/>
          </a:ln>
          <a:effectLst>
            <a:outerShdw blurRad="76200" dist="12700" dir="5400000" algn="bl" rotWithShape="0">
              <a:srgbClr val="9AA9B8">
                <a:alpha val="18000"/>
              </a:srgbClr>
            </a:outerShdw>
          </a:effectLst>
        </p:spPr>
      </p:sp>
      <p:sp>
        <p:nvSpPr>
          <p:cNvPr id="13" name="Shape 11"/>
          <p:cNvSpPr/>
          <p:nvPr/>
        </p:nvSpPr>
        <p:spPr>
          <a:xfrm>
            <a:off x="3602736" y="2029968"/>
            <a:ext cx="384048" cy="384048"/>
          </a:xfrm>
          <a:prstGeom prst="ellipse">
            <a:avLst/>
          </a:prstGeom>
          <a:solidFill>
            <a:srgbClr val="003366"/>
          </a:solidFill>
          <a:ln w="12700">
            <a:solidFill>
              <a:srgbClr val="003366"/>
            </a:solidFill>
            <a:prstDash val="solid"/>
          </a:ln>
        </p:spPr>
      </p:sp>
      <p:sp>
        <p:nvSpPr>
          <p:cNvPr id="14" name="Text 12"/>
          <p:cNvSpPr txBox="1"/>
          <p:nvPr/>
        </p:nvSpPr>
        <p:spPr>
          <a:xfrm>
            <a:off x="3602736" y="202996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2</a:t>
            </a:r>
            <a:endParaRPr lang="en-US" sz="1500" dirty="0"/>
          </a:p>
        </p:txBody>
      </p:sp>
      <p:sp>
        <p:nvSpPr>
          <p:cNvPr id="15" name="Text 13"/>
          <p:cNvSpPr txBox="1"/>
          <p:nvPr/>
        </p:nvSpPr>
        <p:spPr>
          <a:xfrm>
            <a:off x="4114800" y="2057400"/>
            <a:ext cx="1737360" cy="329184"/>
          </a:xfrm>
          <a:prstGeom prst="rect">
            <a:avLst/>
          </a:prstGeom>
          <a:noFill/>
        </p:spPr>
        <p:txBody>
          <a:bodyPr wrap="square" lIns="0" tIns="0" rIns="0" bIns="0" rtlCol="0" anchor="ctr"/>
          <a:lstStyle/>
          <a:p>
            <a:pPr marL="0" indent="0">
              <a:buNone/>
            </a:pPr>
            <a:r>
              <a:rPr lang="en-US" sz="1500" b="1" dirty="0">
                <a:solidFill>
                  <a:srgbClr val="003366"/>
                </a:solidFill>
                <a:latin typeface="Arial" panose="020B0604020202020204" pitchFamily="34" charset="0"/>
                <a:ea typeface="Arial" panose="020B0604020202020204" pitchFamily="34" charset="-122"/>
                <a:cs typeface="Arial" panose="020B0604020202020204" pitchFamily="34" charset="-120"/>
              </a:rPr>
              <a:t>Can I hear it?</a:t>
            </a:r>
            <a:endParaRPr lang="en-US" sz="1500" dirty="0"/>
          </a:p>
        </p:txBody>
      </p:sp>
      <p:sp>
        <p:nvSpPr>
          <p:cNvPr id="16" name="Text 14"/>
          <p:cNvSpPr txBox="1"/>
          <p:nvPr/>
        </p:nvSpPr>
        <p:spPr>
          <a:xfrm>
            <a:off x="3657600" y="2450592"/>
            <a:ext cx="2139696" cy="1865376"/>
          </a:xfrm>
          <a:prstGeom prst="rect">
            <a:avLst/>
          </a:prstGeom>
          <a:noFill/>
        </p:spPr>
        <p:txBody>
          <a:bodyPr wrap="square" lIns="0" tIns="0" rIns="0" bIns="0" rtlCol="0" anchor="t"/>
          <a:lstStyle/>
          <a:p>
            <a:pPr marL="0" indent="0">
              <a:spcAft>
                <a:spcPts val="600"/>
              </a:spcAft>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A screen reader announces headings, landmarks, labels and alt text.</a:t>
            </a:r>
            <a:endParaRPr lang="en-US" sz="1250" dirty="0"/>
          </a:p>
        </p:txBody>
      </p:sp>
      <p:sp>
        <p:nvSpPr>
          <p:cNvPr id="17" name="Shape 15"/>
          <p:cNvSpPr/>
          <p:nvPr/>
        </p:nvSpPr>
        <p:spPr>
          <a:xfrm>
            <a:off x="6254496" y="1828800"/>
            <a:ext cx="2651760" cy="2651760"/>
          </a:xfrm>
          <a:prstGeom prst="roundRect">
            <a:avLst>
              <a:gd name="adj" fmla="val 2759"/>
            </a:avLst>
          </a:prstGeom>
          <a:solidFill>
            <a:srgbClr val="E8EEF4"/>
          </a:solidFill>
          <a:ln w="12700">
            <a:solidFill>
              <a:srgbClr val="E8EEF4"/>
            </a:solidFill>
            <a:prstDash val="solid"/>
          </a:ln>
          <a:effectLst>
            <a:outerShdw blurRad="76200" dist="12700" dir="5400000" algn="bl" rotWithShape="0">
              <a:srgbClr val="9AA9B8">
                <a:alpha val="18000"/>
              </a:srgbClr>
            </a:outerShdw>
          </a:effectLst>
        </p:spPr>
      </p:sp>
      <p:sp>
        <p:nvSpPr>
          <p:cNvPr id="18" name="Shape 16"/>
          <p:cNvSpPr/>
          <p:nvPr/>
        </p:nvSpPr>
        <p:spPr>
          <a:xfrm>
            <a:off x="6455664" y="2029968"/>
            <a:ext cx="384048" cy="384048"/>
          </a:xfrm>
          <a:prstGeom prst="ellipse">
            <a:avLst/>
          </a:prstGeom>
          <a:solidFill>
            <a:srgbClr val="003366"/>
          </a:solidFill>
          <a:ln w="12700">
            <a:solidFill>
              <a:srgbClr val="003366"/>
            </a:solidFill>
            <a:prstDash val="solid"/>
          </a:ln>
        </p:spPr>
      </p:sp>
      <p:sp>
        <p:nvSpPr>
          <p:cNvPr id="19" name="Text 17"/>
          <p:cNvSpPr txBox="1"/>
          <p:nvPr/>
        </p:nvSpPr>
        <p:spPr>
          <a:xfrm>
            <a:off x="6455664" y="202996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3</a:t>
            </a:r>
            <a:endParaRPr lang="en-US" sz="1500" dirty="0"/>
          </a:p>
        </p:txBody>
      </p:sp>
      <p:sp>
        <p:nvSpPr>
          <p:cNvPr id="20" name="Text 18"/>
          <p:cNvSpPr txBox="1"/>
          <p:nvPr/>
        </p:nvSpPr>
        <p:spPr>
          <a:xfrm>
            <a:off x="6967728" y="2057400"/>
            <a:ext cx="1737360" cy="329184"/>
          </a:xfrm>
          <a:prstGeom prst="rect">
            <a:avLst/>
          </a:prstGeom>
          <a:noFill/>
        </p:spPr>
        <p:txBody>
          <a:bodyPr wrap="square" lIns="0" tIns="0" rIns="0" bIns="0" rtlCol="0" anchor="ctr"/>
          <a:lstStyle/>
          <a:p>
            <a:pPr marL="0" indent="0">
              <a:buNone/>
            </a:pPr>
            <a:r>
              <a:rPr lang="en-US" sz="1500" b="1" dirty="0">
                <a:solidFill>
                  <a:srgbClr val="003366"/>
                </a:solidFill>
                <a:latin typeface="Arial" panose="020B0604020202020204" pitchFamily="34" charset="0"/>
                <a:ea typeface="Arial" panose="020B0604020202020204" pitchFamily="34" charset="-122"/>
                <a:cs typeface="Arial" panose="020B0604020202020204" pitchFamily="34" charset="-120"/>
              </a:rPr>
              <a:t>Can I use it?</a:t>
            </a:r>
            <a:endParaRPr lang="en-US" sz="1500" dirty="0"/>
          </a:p>
        </p:txBody>
      </p:sp>
      <p:sp>
        <p:nvSpPr>
          <p:cNvPr id="21" name="Text 19"/>
          <p:cNvSpPr txBox="1"/>
          <p:nvPr/>
        </p:nvSpPr>
        <p:spPr>
          <a:xfrm>
            <a:off x="6510528" y="2450592"/>
            <a:ext cx="2139696" cy="1865376"/>
          </a:xfrm>
          <a:prstGeom prst="rect">
            <a:avLst/>
          </a:prstGeom>
          <a:noFill/>
        </p:spPr>
        <p:txBody>
          <a:bodyPr wrap="square" lIns="0" tIns="0" rIns="0" bIns="0" rtlCol="0" anchor="t"/>
          <a:lstStyle/>
          <a:p>
            <a:pPr marL="0" indent="0">
              <a:spcAft>
                <a:spcPts val="600"/>
              </a:spcAft>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Everything works with the keyboard, and focus is always visible.</a:t>
            </a:r>
            <a:endParaRPr lang="en-US" sz="1250" dirty="0"/>
          </a:p>
        </p:txBody>
      </p:sp>
      <p:sp>
        <p:nvSpPr>
          <p:cNvPr id="22" name="Shape 20"/>
          <p:cNvSpPr/>
          <p:nvPr/>
        </p:nvSpPr>
        <p:spPr>
          <a:xfrm>
            <a:off x="9107424" y="1828800"/>
            <a:ext cx="2651760" cy="2651760"/>
          </a:xfrm>
          <a:prstGeom prst="roundRect">
            <a:avLst>
              <a:gd name="adj" fmla="val 2759"/>
            </a:avLst>
          </a:prstGeom>
          <a:solidFill>
            <a:srgbClr val="F2F5F8"/>
          </a:solidFill>
          <a:ln w="12700">
            <a:solidFill>
              <a:srgbClr val="F2F5F8"/>
            </a:solidFill>
            <a:prstDash val="solid"/>
          </a:ln>
          <a:effectLst>
            <a:outerShdw blurRad="76200" dist="12700" dir="5400000" algn="bl" rotWithShape="0">
              <a:srgbClr val="9AA9B8">
                <a:alpha val="18000"/>
              </a:srgbClr>
            </a:outerShdw>
          </a:effectLst>
        </p:spPr>
      </p:sp>
      <p:sp>
        <p:nvSpPr>
          <p:cNvPr id="23" name="Shape 21"/>
          <p:cNvSpPr/>
          <p:nvPr/>
        </p:nvSpPr>
        <p:spPr>
          <a:xfrm>
            <a:off x="9308592" y="2029968"/>
            <a:ext cx="384048" cy="384048"/>
          </a:xfrm>
          <a:prstGeom prst="ellipse">
            <a:avLst/>
          </a:prstGeom>
          <a:solidFill>
            <a:srgbClr val="003366"/>
          </a:solidFill>
          <a:ln w="12700">
            <a:solidFill>
              <a:srgbClr val="003366"/>
            </a:solidFill>
            <a:prstDash val="solid"/>
          </a:ln>
        </p:spPr>
      </p:sp>
      <p:sp>
        <p:nvSpPr>
          <p:cNvPr id="24" name="Text 22"/>
          <p:cNvSpPr txBox="1"/>
          <p:nvPr/>
        </p:nvSpPr>
        <p:spPr>
          <a:xfrm>
            <a:off x="9308592" y="202996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4</a:t>
            </a:r>
            <a:endParaRPr lang="en-US" sz="1500" dirty="0"/>
          </a:p>
        </p:txBody>
      </p:sp>
      <p:sp>
        <p:nvSpPr>
          <p:cNvPr id="25" name="Text 23"/>
          <p:cNvSpPr txBox="1"/>
          <p:nvPr/>
        </p:nvSpPr>
        <p:spPr>
          <a:xfrm>
            <a:off x="9820656" y="2057400"/>
            <a:ext cx="1737360" cy="329184"/>
          </a:xfrm>
          <a:prstGeom prst="rect">
            <a:avLst/>
          </a:prstGeom>
          <a:noFill/>
        </p:spPr>
        <p:txBody>
          <a:bodyPr wrap="square" lIns="0" tIns="0" rIns="0" bIns="0" rtlCol="0" anchor="ctr"/>
          <a:lstStyle/>
          <a:p>
            <a:pPr marL="0" indent="0">
              <a:buNone/>
            </a:pPr>
            <a:r>
              <a:rPr lang="en-US" sz="1500" b="1" dirty="0">
                <a:solidFill>
                  <a:srgbClr val="003366"/>
                </a:solidFill>
                <a:latin typeface="Arial" panose="020B0604020202020204" pitchFamily="34" charset="0"/>
                <a:ea typeface="Arial" panose="020B0604020202020204" pitchFamily="34" charset="-122"/>
                <a:cs typeface="Arial" panose="020B0604020202020204" pitchFamily="34" charset="-120"/>
              </a:rPr>
              <a:t>Can I understand it?</a:t>
            </a:r>
            <a:endParaRPr lang="en-US" sz="1500" dirty="0"/>
          </a:p>
        </p:txBody>
      </p:sp>
      <p:sp>
        <p:nvSpPr>
          <p:cNvPr id="26" name="Text 24"/>
          <p:cNvSpPr txBox="1"/>
          <p:nvPr/>
        </p:nvSpPr>
        <p:spPr>
          <a:xfrm>
            <a:off x="9363456" y="2450592"/>
            <a:ext cx="2139696" cy="1865376"/>
          </a:xfrm>
          <a:prstGeom prst="rect">
            <a:avLst/>
          </a:prstGeom>
          <a:noFill/>
        </p:spPr>
        <p:txBody>
          <a:bodyPr wrap="square" lIns="0" tIns="0" rIns="0" bIns="0" rtlCol="0" anchor="t"/>
          <a:lstStyle/>
          <a:p>
            <a:pPr marL="0" indent="0">
              <a:spcAft>
                <a:spcPts val="600"/>
              </a:spcAft>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Labels, link text and error messages say what they mean.</a:t>
            </a:r>
            <a:endParaRPr lang="en-US" sz="1250" dirty="0"/>
          </a:p>
        </p:txBody>
      </p:sp>
      <p:sp>
        <p:nvSpPr>
          <p:cNvPr id="27" name="Shape 25"/>
          <p:cNvSpPr/>
          <p:nvPr/>
        </p:nvSpPr>
        <p:spPr>
          <a:xfrm>
            <a:off x="548640" y="4754880"/>
            <a:ext cx="11064240" cy="1188720"/>
          </a:xfrm>
          <a:prstGeom prst="roundRect">
            <a:avLst>
              <a:gd name="adj" fmla="val 6154"/>
            </a:avLst>
          </a:prstGeom>
          <a:solidFill>
            <a:srgbClr val="E7F4EE"/>
          </a:solidFill>
          <a:ln w="12700">
            <a:solidFill>
              <a:srgbClr val="E7F4EE"/>
            </a:solidFill>
            <a:prstDash val="solid"/>
          </a:ln>
          <a:effectLst>
            <a:outerShdw blurRad="76200" dist="12700" dir="5400000" algn="bl" rotWithShape="0">
              <a:srgbClr val="9AA9B8">
                <a:alpha val="18000"/>
              </a:srgbClr>
            </a:outerShdw>
          </a:effectLst>
        </p:spPr>
      </p:sp>
      <p:sp>
        <p:nvSpPr>
          <p:cNvPr id="28" name="Text 26"/>
          <p:cNvSpPr txBox="1"/>
          <p:nvPr/>
        </p:nvSpPr>
        <p:spPr>
          <a:xfrm>
            <a:off x="804672" y="4956048"/>
            <a:ext cx="10552176" cy="329184"/>
          </a:xfrm>
          <a:prstGeom prst="rect">
            <a:avLst/>
          </a:prstGeom>
          <a:noFill/>
        </p:spPr>
        <p:txBody>
          <a:bodyPr wrap="square" lIns="0" tIns="0" rIns="0" bIns="0" rtlCol="0" anchor="ctr"/>
          <a:lstStyle/>
          <a:p>
            <a:pPr marL="0" indent="0">
              <a:buNone/>
            </a:pPr>
            <a:r>
              <a:rPr lang="en-US" sz="1700" b="1" dirty="0">
                <a:solidFill>
                  <a:srgbClr val="1F7A55"/>
                </a:solidFill>
                <a:latin typeface="Arial" panose="020B0604020202020204" pitchFamily="34" charset="0"/>
                <a:ea typeface="Arial" panose="020B0604020202020204" pitchFamily="34" charset="-122"/>
                <a:cs typeface="Arial" panose="020B0604020202020204" pitchFamily="34" charset="-120"/>
              </a:rPr>
              <a:t>Good news: semantic HTML answers most of these for free</a:t>
            </a:r>
            <a:endParaRPr lang="en-US" sz="1700" dirty="0"/>
          </a:p>
        </p:txBody>
      </p:sp>
      <p:sp>
        <p:nvSpPr>
          <p:cNvPr id="29" name="Text 27"/>
          <p:cNvSpPr txBox="1"/>
          <p:nvPr/>
        </p:nvSpPr>
        <p:spPr>
          <a:xfrm>
            <a:off x="804672" y="5376672"/>
            <a:ext cx="10552176" cy="402336"/>
          </a:xfrm>
          <a:prstGeom prst="rect">
            <a:avLst/>
          </a:prstGeom>
          <a:noFill/>
        </p:spPr>
        <p:txBody>
          <a:bodyPr wrap="square" lIns="0" tIns="0" rIns="0" bIns="0" rtlCol="0" anchor="t"/>
          <a:lstStyle/>
          <a:p>
            <a:pPr marL="0" indent="0">
              <a:spcAft>
                <a:spcPts val="600"/>
              </a:spcAft>
              <a:buNone/>
            </a:pPr>
            <a:r>
              <a:rPr lang="en-US" sz="1400" dirty="0">
                <a:solidFill>
                  <a:srgbClr val="3D4A57"/>
                </a:solidFill>
                <a:latin typeface="Arial" panose="020B0604020202020204" pitchFamily="34" charset="0"/>
                <a:ea typeface="Arial" panose="020B0604020202020204" pitchFamily="34" charset="-122"/>
                <a:cs typeface="Arial" panose="020B0604020202020204" pitchFamily="34" charset="-120"/>
              </a:rPr>
              <a:t>If you used header, nav, main, footer, real headings, real labels and real buttons, you have already passed most checks.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p:spPr>
        <p:txBody>
          <a:bodyPr wrap="square" lIns="0" tIns="0" rIns="0" bIns="0" rtlCol="0" anchor="ctr"/>
          <a:lstStyle/>
          <a:p>
            <a:pPr marL="0" indent="0">
              <a:buNone/>
            </a:pPr>
            <a:r>
              <a:rPr lang="en-US" sz="1100" b="1" kern="0" spc="120" dirty="0">
                <a:solidFill>
                  <a:srgbClr val="E39A18"/>
                </a:solidFill>
                <a:latin typeface="Arial" panose="020B0604020202020204" pitchFamily="34" charset="0"/>
                <a:ea typeface="Arial" panose="020B0604020202020204" pitchFamily="34" charset="-122"/>
                <a:cs typeface="Arial" panose="020B0604020202020204" pitchFamily="34" charset="-120"/>
              </a:rPr>
              <a:t>THE SEVEN CHECKS</a:t>
            </a:r>
            <a:endParaRPr lang="en-US" sz="1100" dirty="0"/>
          </a:p>
        </p:txBody>
      </p:sp>
      <p:sp>
        <p:nvSpPr>
          <p:cNvPr id="3" name="Text 1"/>
          <p:cNvSpPr txBox="1"/>
          <p:nvPr/>
        </p:nvSpPr>
        <p:spPr>
          <a:xfrm>
            <a:off x="548640" y="658368"/>
            <a:ext cx="11064240" cy="566928"/>
          </a:xfrm>
          <a:prstGeom prst="rect">
            <a:avLst/>
          </a:prstGeom>
          <a:noFill/>
        </p:spPr>
        <p:txBody>
          <a:bodyPr wrap="square" lIns="0" tIns="0" rIns="0" bIns="0" rtlCol="0" anchor="ctr"/>
          <a:lstStyle/>
          <a:p>
            <a:pPr marL="0" indent="0">
              <a:buNone/>
            </a:pPr>
            <a:r>
              <a:rPr lang="en-US" sz="3200" b="1" dirty="0">
                <a:solidFill>
                  <a:srgbClr val="003366"/>
                </a:solidFill>
                <a:latin typeface="Arial" panose="020B0604020202020204" pitchFamily="34" charset="0"/>
                <a:ea typeface="Arial" panose="020B0604020202020204" pitchFamily="34" charset="-122"/>
                <a:cs typeface="Arial" panose="020B0604020202020204" pitchFamily="34" charset="-120"/>
              </a:rPr>
              <a:t>Check 1: Landmarks</a:t>
            </a:r>
            <a:endParaRPr lang="en-US" sz="3200" dirty="0"/>
          </a:p>
        </p:txBody>
      </p:sp>
      <p:sp>
        <p:nvSpPr>
          <p:cNvPr id="4" name="Text 2"/>
          <p:cNvSpPr txBox="1"/>
          <p:nvPr/>
        </p:nvSpPr>
        <p:spPr>
          <a:xfrm>
            <a:off x="548640" y="6355080"/>
            <a:ext cx="5486400" cy="256032"/>
          </a:xfrm>
          <a:prstGeom prst="rect">
            <a:avLst/>
          </a:prstGeom>
          <a:noFill/>
        </p:spPr>
        <p:txBody>
          <a:bodyPr wrap="square" lIns="0" tIns="0" rIns="0" bIns="0" rtlCol="0" anchor="ctr"/>
          <a:lstStyle/>
          <a:p>
            <a:pPr marL="0" indent="0">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p:spPr>
        <p:txBody>
          <a:bodyPr wrap="square" lIns="0" tIns="0" rIns="0" bIns="0" rtlCol="0" anchor="ctr"/>
          <a:lstStyle/>
          <a:p>
            <a:pPr marL="0" indent="0" algn="r">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5</a:t>
            </a:r>
            <a:endParaRPr lang="en-US" sz="900" dirty="0"/>
          </a:p>
        </p:txBody>
      </p:sp>
      <p:sp>
        <p:nvSpPr>
          <p:cNvPr id="6" name="Shape 4"/>
          <p:cNvSpPr/>
          <p:nvPr/>
        </p:nvSpPr>
        <p:spPr>
          <a:xfrm>
            <a:off x="548640" y="1371600"/>
            <a:ext cx="5943600" cy="1639824"/>
          </a:xfrm>
          <a:prstGeom prst="roundRect">
            <a:avLst>
              <a:gd name="adj" fmla="val 3346"/>
            </a:avLst>
          </a:prstGeom>
          <a:solidFill>
            <a:srgbClr val="0D1B2A"/>
          </a:solidFill>
          <a:ln w="12700">
            <a:solidFill>
              <a:srgbClr val="0D1B2A"/>
            </a:solidFill>
            <a:prstDash val="solid"/>
          </a:ln>
        </p:spPr>
      </p:sp>
      <p:sp>
        <p:nvSpPr>
          <p:cNvPr id="7" name="Text 5"/>
          <p:cNvSpPr txBox="1"/>
          <p:nvPr/>
        </p:nvSpPr>
        <p:spPr>
          <a:xfrm>
            <a:off x="658368" y="1481328"/>
            <a:ext cx="5724144" cy="1420368"/>
          </a:xfrm>
          <a:prstGeom prst="rect">
            <a:avLst/>
          </a:prstGeom>
          <a:noFill/>
        </p:spPr>
        <p:txBody>
          <a:bodyPr wrap="square" lIns="0" tIns="0" rIns="0" bIns="0" rtlCol="0" anchor="t"/>
          <a:lstStyle/>
          <a:p>
            <a:pPr marL="0" indent="0">
              <a:lnSpc>
                <a:spcPts val="1535"/>
              </a:lnSpc>
              <a:buNone/>
            </a:pP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&lt;body&gt;</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&lt;header&gt;</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&lt;/header&gt;</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&lt;nav aria-label=</a:t>
            </a:r>
            <a:r>
              <a:rPr lang="en-US" sz="12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"Main"</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&lt;/nav&gt;</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&lt;main id=</a:t>
            </a:r>
            <a:r>
              <a:rPr lang="en-US" sz="12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"main-content"</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&gt;</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&lt;/main&gt;</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&lt;aside&gt;</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&lt;/aside&gt;</a:t>
            </a:r>
            <a:endParaRPr lang="en-US" sz="1200" dirty="0"/>
          </a:p>
          <a:p>
            <a:pPr marL="0" indent="0">
              <a:lnSpc>
                <a:spcPts val="1535"/>
              </a:lnSpc>
              <a:buNone/>
            </a:pP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&lt;footer&gt;</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&lt;/footer&gt;</a:t>
            </a:r>
            <a:endParaRPr lang="en-US" sz="1200" dirty="0"/>
          </a:p>
          <a:p>
            <a:pPr marL="0" indent="0">
              <a:lnSpc>
                <a:spcPts val="1535"/>
              </a:lnSpc>
              <a:buNone/>
            </a:pP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&lt;/body&gt;</a:t>
            </a:r>
            <a:endParaRPr lang="en-US" sz="1200" dirty="0"/>
          </a:p>
        </p:txBody>
      </p:sp>
      <p:sp>
        <p:nvSpPr>
          <p:cNvPr id="8" name="Shape 6"/>
          <p:cNvSpPr/>
          <p:nvPr/>
        </p:nvSpPr>
        <p:spPr>
          <a:xfrm>
            <a:off x="6675120" y="1371600"/>
            <a:ext cx="4937760" cy="1828800"/>
          </a:xfrm>
          <a:prstGeom prst="roundRect">
            <a:avLst>
              <a:gd name="adj" fmla="val 4000"/>
            </a:avLst>
          </a:prstGeom>
          <a:solidFill>
            <a:srgbClr val="F2F5F8"/>
          </a:solidFill>
          <a:ln w="12700">
            <a:solidFill>
              <a:srgbClr val="F2F5F8"/>
            </a:solidFill>
            <a:prstDash val="solid"/>
          </a:ln>
          <a:effectLst>
            <a:outerShdw blurRad="76200" dist="12700" dir="5400000" algn="bl" rotWithShape="0">
              <a:srgbClr val="9AA9B8">
                <a:alpha val="18000"/>
              </a:srgbClr>
            </a:outerShdw>
          </a:effectLst>
        </p:spPr>
      </p:sp>
      <p:sp>
        <p:nvSpPr>
          <p:cNvPr id="9" name="Text 7"/>
          <p:cNvSpPr txBox="1"/>
          <p:nvPr/>
        </p:nvSpPr>
        <p:spPr>
          <a:xfrm>
            <a:off x="6931152" y="1572768"/>
            <a:ext cx="4425696" cy="329184"/>
          </a:xfrm>
          <a:prstGeom prst="rect">
            <a:avLst/>
          </a:prstGeom>
          <a:noFill/>
        </p:spPr>
        <p:txBody>
          <a:bodyPr wrap="square" lIns="0" tIns="0" rIns="0" bIns="0" rtlCol="0" anchor="ctr"/>
          <a:lstStyle/>
          <a:p>
            <a:pPr marL="0" indent="0">
              <a:buNone/>
            </a:pPr>
            <a:r>
              <a:rPr lang="en-US" sz="1700" b="1" dirty="0">
                <a:solidFill>
                  <a:srgbClr val="003366"/>
                </a:solidFill>
                <a:latin typeface="Arial" panose="020B0604020202020204" pitchFamily="34" charset="0"/>
                <a:ea typeface="Arial" panose="020B0604020202020204" pitchFamily="34" charset="-122"/>
                <a:cs typeface="Arial" panose="020B0604020202020204" pitchFamily="34" charset="-120"/>
              </a:rPr>
              <a:t>Why it matters</a:t>
            </a:r>
            <a:endParaRPr lang="en-US" sz="1700" dirty="0"/>
          </a:p>
        </p:txBody>
      </p:sp>
      <p:sp>
        <p:nvSpPr>
          <p:cNvPr id="10" name="Text 8"/>
          <p:cNvSpPr txBox="1"/>
          <p:nvPr/>
        </p:nvSpPr>
        <p:spPr>
          <a:xfrm>
            <a:off x="6931152" y="1993392"/>
            <a:ext cx="4425696" cy="1042416"/>
          </a:xfrm>
          <a:prstGeom prst="rect">
            <a:avLst/>
          </a:prstGeom>
          <a:noFill/>
        </p:spPr>
        <p:txBody>
          <a:bodyPr wrap="square" lIns="0" tIns="0" rIns="0" bIns="0" rtlCol="0" anchor="t"/>
          <a:lstStyle/>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A screen reader can list all landmarks and jump straight to one</a:t>
            </a:r>
            <a:endParaRPr lang="en-US" sz="1300" dirty="0"/>
          </a:p>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Without them the user must read the page from the top every time</a:t>
            </a:r>
            <a:endParaRPr lang="en-US" sz="1300" dirty="0"/>
          </a:p>
        </p:txBody>
      </p:sp>
      <p:sp>
        <p:nvSpPr>
          <p:cNvPr id="11" name="Shape 9"/>
          <p:cNvSpPr/>
          <p:nvPr/>
        </p:nvSpPr>
        <p:spPr>
          <a:xfrm>
            <a:off x="548640" y="3108960"/>
            <a:ext cx="5943600" cy="2834640"/>
          </a:xfrm>
          <a:prstGeom prst="roundRect">
            <a:avLst>
              <a:gd name="adj" fmla="val 2581"/>
            </a:avLst>
          </a:prstGeom>
          <a:solidFill>
            <a:srgbClr val="FBEAE8"/>
          </a:solidFill>
          <a:ln w="12700">
            <a:solidFill>
              <a:srgbClr val="FBEAE8"/>
            </a:solidFill>
            <a:prstDash val="solid"/>
          </a:ln>
          <a:effectLst>
            <a:outerShdw blurRad="76200" dist="12700" dir="5400000" algn="bl" rotWithShape="0">
              <a:srgbClr val="9AA9B8">
                <a:alpha val="18000"/>
              </a:srgbClr>
            </a:outerShdw>
          </a:effectLst>
        </p:spPr>
      </p:sp>
      <p:sp>
        <p:nvSpPr>
          <p:cNvPr id="12" name="Text 10"/>
          <p:cNvSpPr txBox="1"/>
          <p:nvPr/>
        </p:nvSpPr>
        <p:spPr>
          <a:xfrm>
            <a:off x="804672" y="3310128"/>
            <a:ext cx="5431536" cy="329184"/>
          </a:xfrm>
          <a:prstGeom prst="rect">
            <a:avLst/>
          </a:prstGeom>
          <a:noFill/>
        </p:spPr>
        <p:txBody>
          <a:bodyPr wrap="square" lIns="0" tIns="0" rIns="0" bIns="0" rtlCol="0" anchor="ctr"/>
          <a:lstStyle/>
          <a:p>
            <a:pPr marL="0" indent="0">
              <a:buNone/>
            </a:pPr>
            <a:r>
              <a:rPr lang="en-US" sz="1700" b="1" dirty="0">
                <a:solidFill>
                  <a:srgbClr val="B3261E"/>
                </a:solidFill>
                <a:latin typeface="Arial" panose="020B0604020202020204" pitchFamily="34" charset="0"/>
                <a:ea typeface="Arial" panose="020B0604020202020204" pitchFamily="34" charset="-122"/>
                <a:cs typeface="Arial" panose="020B0604020202020204" pitchFamily="34" charset="-120"/>
              </a:rPr>
              <a:t>What to look for in the audit</a:t>
            </a:r>
            <a:endParaRPr lang="en-US" sz="1700" dirty="0"/>
          </a:p>
        </p:txBody>
      </p:sp>
      <p:sp>
        <p:nvSpPr>
          <p:cNvPr id="13" name="Text 11"/>
          <p:cNvSpPr txBox="1"/>
          <p:nvPr/>
        </p:nvSpPr>
        <p:spPr>
          <a:xfrm>
            <a:off x="804672" y="3730752"/>
            <a:ext cx="5431536" cy="2048256"/>
          </a:xfrm>
          <a:prstGeom prst="rect">
            <a:avLst/>
          </a:prstGeom>
          <a:noFill/>
        </p:spPr>
        <p:txBody>
          <a:bodyPr wrap="square" lIns="0" tIns="0" rIns="0" bIns="0" rtlCol="0" anchor="t"/>
          <a:lstStyle/>
          <a:p>
            <a:pPr marL="342900" indent="-342900">
              <a:spcAft>
                <a:spcPts val="6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A div id="header" instead of a header element</a:t>
            </a:r>
            <a:endParaRPr lang="en-US" sz="1350" dirty="0"/>
          </a:p>
          <a:p>
            <a:pPr marL="342900" indent="-342900">
              <a:spcAft>
                <a:spcPts val="6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More than one main on the page</a:t>
            </a:r>
            <a:endParaRPr lang="en-US" sz="1350" dirty="0"/>
          </a:p>
          <a:p>
            <a:pPr marL="342900" indent="-342900">
              <a:spcAft>
                <a:spcPts val="6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No main at all</a:t>
            </a:r>
            <a:endParaRPr lang="en-US" sz="1350" dirty="0"/>
          </a:p>
          <a:p>
            <a:pPr marL="342900" indent="-342900">
              <a:spcAft>
                <a:spcPts val="6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A nav that is really just a list of paragraphs</a:t>
            </a:r>
            <a:endParaRPr lang="en-US" sz="1350" dirty="0"/>
          </a:p>
        </p:txBody>
      </p:sp>
      <p:sp>
        <p:nvSpPr>
          <p:cNvPr id="14" name="Shape 12"/>
          <p:cNvSpPr/>
          <p:nvPr/>
        </p:nvSpPr>
        <p:spPr>
          <a:xfrm>
            <a:off x="6675120" y="3383280"/>
            <a:ext cx="4937760" cy="2560320"/>
          </a:xfrm>
          <a:prstGeom prst="roundRect">
            <a:avLst>
              <a:gd name="adj" fmla="val 2857"/>
            </a:avLst>
          </a:prstGeom>
          <a:solidFill>
            <a:srgbClr val="E7F4EE"/>
          </a:solidFill>
          <a:ln w="12700">
            <a:solidFill>
              <a:srgbClr val="E7F4EE"/>
            </a:solidFill>
            <a:prstDash val="solid"/>
          </a:ln>
          <a:effectLst>
            <a:outerShdw blurRad="76200" dist="12700" dir="5400000" algn="bl" rotWithShape="0">
              <a:srgbClr val="9AA9B8">
                <a:alpha val="18000"/>
              </a:srgbClr>
            </a:outerShdw>
          </a:effectLst>
        </p:spPr>
      </p:sp>
      <p:sp>
        <p:nvSpPr>
          <p:cNvPr id="15" name="Shape 13"/>
          <p:cNvSpPr/>
          <p:nvPr/>
        </p:nvSpPr>
        <p:spPr>
          <a:xfrm>
            <a:off x="6876288" y="3584448"/>
            <a:ext cx="384048" cy="384048"/>
          </a:xfrm>
          <a:prstGeom prst="ellipse">
            <a:avLst/>
          </a:prstGeom>
          <a:solidFill>
            <a:srgbClr val="1F7A55"/>
          </a:solidFill>
          <a:ln w="12700">
            <a:solidFill>
              <a:srgbClr val="1F7A55"/>
            </a:solidFill>
            <a:prstDash val="solid"/>
          </a:ln>
        </p:spPr>
      </p:sp>
      <p:sp>
        <p:nvSpPr>
          <p:cNvPr id="16" name="Text 14"/>
          <p:cNvSpPr txBox="1"/>
          <p:nvPr/>
        </p:nvSpPr>
        <p:spPr>
          <a:xfrm>
            <a:off x="6876288" y="358444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500" dirty="0"/>
          </a:p>
        </p:txBody>
      </p:sp>
      <p:sp>
        <p:nvSpPr>
          <p:cNvPr id="17" name="Text 15"/>
          <p:cNvSpPr txBox="1"/>
          <p:nvPr/>
        </p:nvSpPr>
        <p:spPr>
          <a:xfrm>
            <a:off x="7388352" y="3611880"/>
            <a:ext cx="4023360" cy="329184"/>
          </a:xfrm>
          <a:prstGeom prst="rect">
            <a:avLst/>
          </a:prstGeom>
          <a:noFill/>
        </p:spPr>
        <p:txBody>
          <a:bodyPr wrap="square" lIns="0" tIns="0" rIns="0" bIns="0" rtlCol="0" anchor="ctr"/>
          <a:lstStyle/>
          <a:p>
            <a:pPr marL="0" indent="0">
              <a:buNone/>
            </a:pPr>
            <a:r>
              <a:rPr lang="en-US" sz="1700" b="1" dirty="0">
                <a:solidFill>
                  <a:srgbClr val="003366"/>
                </a:solidFill>
                <a:latin typeface="Arial" panose="020B0604020202020204" pitchFamily="34" charset="0"/>
                <a:ea typeface="Arial" panose="020B0604020202020204" pitchFamily="34" charset="-122"/>
                <a:cs typeface="Arial" panose="020B0604020202020204" pitchFamily="34" charset="-120"/>
              </a:rPr>
              <a:t>How to check in 10 seconds</a:t>
            </a:r>
            <a:endParaRPr lang="en-US" sz="1700" dirty="0"/>
          </a:p>
        </p:txBody>
      </p:sp>
      <p:sp>
        <p:nvSpPr>
          <p:cNvPr id="18" name="Text 16"/>
          <p:cNvSpPr txBox="1"/>
          <p:nvPr/>
        </p:nvSpPr>
        <p:spPr>
          <a:xfrm>
            <a:off x="6931152" y="4005072"/>
            <a:ext cx="4425696" cy="1773936"/>
          </a:xfrm>
          <a:prstGeom prst="rect">
            <a:avLst/>
          </a:prstGeom>
          <a:noFill/>
        </p:spPr>
        <p:txBody>
          <a:bodyPr wrap="square" lIns="0" tIns="0" rIns="0" bIns="0" rtlCol="0" anchor="t"/>
          <a:lstStyle/>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Open DevTools</a:t>
            </a:r>
            <a:endParaRPr lang="en-US" sz="1300" dirty="0"/>
          </a:p>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Elements tab → Accessibility panel</a:t>
            </a:r>
            <a:endParaRPr lang="en-US" sz="1300" dirty="0"/>
          </a:p>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Read the accessibility tree</a:t>
            </a:r>
            <a:endParaRPr lang="en-US" sz="1300" dirty="0"/>
          </a:p>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Every region should have a name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p:spPr>
        <p:txBody>
          <a:bodyPr wrap="square" lIns="0" tIns="0" rIns="0" bIns="0" rtlCol="0" anchor="ctr"/>
          <a:lstStyle/>
          <a:p>
            <a:pPr marL="0" indent="0">
              <a:buNone/>
            </a:pPr>
            <a:r>
              <a:rPr lang="en-US" sz="1100" b="1" kern="0" spc="120" dirty="0">
                <a:solidFill>
                  <a:srgbClr val="E39A18"/>
                </a:solidFill>
                <a:latin typeface="Arial" panose="020B0604020202020204" pitchFamily="34" charset="0"/>
                <a:ea typeface="Arial" panose="020B0604020202020204" pitchFamily="34" charset="-122"/>
                <a:cs typeface="Arial" panose="020B0604020202020204" pitchFamily="34" charset="-120"/>
              </a:rPr>
              <a:t>THE SEVEN CHECKS</a:t>
            </a:r>
            <a:endParaRPr lang="en-US" sz="1100" dirty="0"/>
          </a:p>
        </p:txBody>
      </p:sp>
      <p:sp>
        <p:nvSpPr>
          <p:cNvPr id="3" name="Text 1"/>
          <p:cNvSpPr txBox="1"/>
          <p:nvPr/>
        </p:nvSpPr>
        <p:spPr>
          <a:xfrm>
            <a:off x="548640" y="658368"/>
            <a:ext cx="11064240" cy="566928"/>
          </a:xfrm>
          <a:prstGeom prst="rect">
            <a:avLst/>
          </a:prstGeom>
          <a:noFill/>
        </p:spPr>
        <p:txBody>
          <a:bodyPr wrap="square" lIns="0" tIns="0" rIns="0" bIns="0" rtlCol="0" anchor="ctr"/>
          <a:lstStyle/>
          <a:p>
            <a:pPr marL="0" indent="0">
              <a:buNone/>
            </a:pPr>
            <a:r>
              <a:rPr lang="en-US" sz="3200" b="1" dirty="0">
                <a:solidFill>
                  <a:srgbClr val="003366"/>
                </a:solidFill>
                <a:latin typeface="Arial" panose="020B0604020202020204" pitchFamily="34" charset="0"/>
                <a:ea typeface="Arial" panose="020B0604020202020204" pitchFamily="34" charset="-122"/>
                <a:cs typeface="Arial" panose="020B0604020202020204" pitchFamily="34" charset="-120"/>
              </a:rPr>
              <a:t>Check 2: Heading Order</a:t>
            </a:r>
            <a:endParaRPr lang="en-US" sz="3200" dirty="0"/>
          </a:p>
        </p:txBody>
      </p:sp>
      <p:sp>
        <p:nvSpPr>
          <p:cNvPr id="4" name="Text 2"/>
          <p:cNvSpPr txBox="1"/>
          <p:nvPr/>
        </p:nvSpPr>
        <p:spPr>
          <a:xfrm>
            <a:off x="548640" y="6355080"/>
            <a:ext cx="5486400" cy="256032"/>
          </a:xfrm>
          <a:prstGeom prst="rect">
            <a:avLst/>
          </a:prstGeom>
          <a:noFill/>
        </p:spPr>
        <p:txBody>
          <a:bodyPr wrap="square" lIns="0" tIns="0" rIns="0" bIns="0" rtlCol="0" anchor="ctr"/>
          <a:lstStyle/>
          <a:p>
            <a:pPr marL="0" indent="0">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p:spPr>
        <p:txBody>
          <a:bodyPr wrap="square" lIns="0" tIns="0" rIns="0" bIns="0" rtlCol="0" anchor="ctr"/>
          <a:lstStyle/>
          <a:p>
            <a:pPr marL="0" indent="0" algn="r">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6</a:t>
            </a:r>
            <a:endParaRPr lang="en-US" sz="900" dirty="0"/>
          </a:p>
        </p:txBody>
      </p:sp>
      <p:sp>
        <p:nvSpPr>
          <p:cNvPr id="6" name="Text 4"/>
          <p:cNvSpPr txBox="1"/>
          <p:nvPr/>
        </p:nvSpPr>
        <p:spPr>
          <a:xfrm>
            <a:off x="548640" y="1371600"/>
            <a:ext cx="5303520" cy="256032"/>
          </a:xfrm>
          <a:prstGeom prst="rect">
            <a:avLst/>
          </a:prstGeom>
          <a:noFill/>
        </p:spPr>
        <p:txBody>
          <a:bodyPr wrap="square" lIns="0" tIns="0" rIns="0" bIns="0" rtlCol="0" anchor="ctr"/>
          <a:lstStyle/>
          <a:p>
            <a:pPr marL="0" indent="0">
              <a:buNone/>
            </a:pPr>
            <a:r>
              <a:rPr lang="en-US" sz="1200" b="1" kern="0" spc="60" dirty="0">
                <a:solidFill>
                  <a:srgbClr val="B3261E"/>
                </a:solidFill>
                <a:latin typeface="Arial" panose="020B0604020202020204" pitchFamily="34" charset="0"/>
                <a:ea typeface="Arial" panose="020B0604020202020204" pitchFamily="34" charset="-122"/>
                <a:cs typeface="Arial" panose="020B0604020202020204" pitchFamily="34" charset="-120"/>
              </a:rPr>
              <a:t>WRONG</a:t>
            </a:r>
            <a:endParaRPr lang="en-US" sz="1200" dirty="0"/>
          </a:p>
        </p:txBody>
      </p:sp>
      <p:sp>
        <p:nvSpPr>
          <p:cNvPr id="7" name="Shape 5"/>
          <p:cNvSpPr/>
          <p:nvPr/>
        </p:nvSpPr>
        <p:spPr>
          <a:xfrm>
            <a:off x="548640" y="1645920"/>
            <a:ext cx="5303520" cy="1249680"/>
          </a:xfrm>
          <a:prstGeom prst="roundRect">
            <a:avLst>
              <a:gd name="adj" fmla="val 4390"/>
            </a:avLst>
          </a:prstGeom>
          <a:solidFill>
            <a:srgbClr val="0D1B2A"/>
          </a:solidFill>
          <a:ln w="12700">
            <a:solidFill>
              <a:srgbClr val="0D1B2A"/>
            </a:solidFill>
            <a:prstDash val="solid"/>
          </a:ln>
        </p:spPr>
      </p:sp>
      <p:sp>
        <p:nvSpPr>
          <p:cNvPr id="8" name="Text 6"/>
          <p:cNvSpPr txBox="1"/>
          <p:nvPr/>
        </p:nvSpPr>
        <p:spPr>
          <a:xfrm>
            <a:off x="658368" y="1755648"/>
            <a:ext cx="5084064" cy="1030224"/>
          </a:xfrm>
          <a:prstGeom prst="rect">
            <a:avLst/>
          </a:prstGeom>
          <a:noFill/>
        </p:spPr>
        <p:txBody>
          <a:bodyPr wrap="square" lIns="0" tIns="0" rIns="0" bIns="0" rtlCol="0" anchor="t"/>
          <a:lstStyle/>
          <a:p>
            <a:pPr marL="0" indent="0">
              <a:lnSpc>
                <a:spcPts val="1535"/>
              </a:lnSpc>
              <a:buNone/>
            </a:pP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&lt;h1&gt;</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Registration</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&lt;/h1&gt;</a:t>
            </a:r>
            <a:endParaRPr lang="en-US" sz="1200" dirty="0"/>
          </a:p>
          <a:p>
            <a:pPr marL="0" indent="0">
              <a:lnSpc>
                <a:spcPts val="1535"/>
              </a:lnSpc>
              <a:buNone/>
            </a:pP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&lt;h4&gt;</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Personal Info</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&lt;/h4&gt;</a:t>
            </a:r>
            <a:endParaRPr lang="en-US" sz="1200" dirty="0"/>
          </a:p>
          <a:p>
            <a:pPr marL="0" indent="0">
              <a:lnSpc>
                <a:spcPts val="1535"/>
              </a:lnSpc>
              <a:buNone/>
            </a:pP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&lt;h2&gt;</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Preferences</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&lt;/h2&gt;</a:t>
            </a:r>
            <a:endParaRPr lang="en-US" sz="1200" dirty="0"/>
          </a:p>
          <a:p>
            <a:pPr marL="0" indent="0">
              <a:lnSpc>
                <a:spcPts val="1535"/>
              </a:lnSpc>
              <a:buNone/>
            </a:pP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&lt;h1&gt;</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Routine</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&lt;/h1&gt;</a:t>
            </a:r>
            <a:endParaRPr lang="en-US" sz="1200" dirty="0"/>
          </a:p>
          <a:p>
            <a:pPr marL="0" indent="0">
              <a:lnSpc>
                <a:spcPts val="1535"/>
              </a:lnSpc>
              <a:buNone/>
            </a:pP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&lt;h3&gt;</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Notes</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&lt;/h3&gt;</a:t>
            </a:r>
            <a:endParaRPr lang="en-US" sz="1200" dirty="0"/>
          </a:p>
        </p:txBody>
      </p:sp>
      <p:sp>
        <p:nvSpPr>
          <p:cNvPr id="9" name="Text 7"/>
          <p:cNvSpPr txBox="1"/>
          <p:nvPr/>
        </p:nvSpPr>
        <p:spPr>
          <a:xfrm>
            <a:off x="6309360" y="1371600"/>
            <a:ext cx="5303520" cy="256032"/>
          </a:xfrm>
          <a:prstGeom prst="rect">
            <a:avLst/>
          </a:prstGeom>
          <a:noFill/>
        </p:spPr>
        <p:txBody>
          <a:bodyPr wrap="square" lIns="0" tIns="0" rIns="0" bIns="0" rtlCol="0" anchor="ctr"/>
          <a:lstStyle/>
          <a:p>
            <a:pPr marL="0" indent="0">
              <a:buNone/>
            </a:pPr>
            <a:r>
              <a:rPr lang="en-US" sz="1200" b="1" kern="0" spc="60" dirty="0">
                <a:solidFill>
                  <a:srgbClr val="1F7A55"/>
                </a:solidFill>
                <a:latin typeface="Arial" panose="020B0604020202020204" pitchFamily="34" charset="0"/>
                <a:ea typeface="Arial" panose="020B0604020202020204" pitchFamily="34" charset="-122"/>
                <a:cs typeface="Arial" panose="020B0604020202020204" pitchFamily="34" charset="-120"/>
              </a:rPr>
              <a:t>CORRECT</a:t>
            </a:r>
            <a:endParaRPr lang="en-US" sz="1200" dirty="0"/>
          </a:p>
        </p:txBody>
      </p:sp>
      <p:sp>
        <p:nvSpPr>
          <p:cNvPr id="10" name="Shape 8"/>
          <p:cNvSpPr/>
          <p:nvPr/>
        </p:nvSpPr>
        <p:spPr>
          <a:xfrm>
            <a:off x="6309360" y="1645920"/>
            <a:ext cx="5303520" cy="1249680"/>
          </a:xfrm>
          <a:prstGeom prst="roundRect">
            <a:avLst>
              <a:gd name="adj" fmla="val 4390"/>
            </a:avLst>
          </a:prstGeom>
          <a:solidFill>
            <a:srgbClr val="0D1B2A"/>
          </a:solidFill>
          <a:ln w="12700">
            <a:solidFill>
              <a:srgbClr val="0D1B2A"/>
            </a:solidFill>
            <a:prstDash val="solid"/>
          </a:ln>
        </p:spPr>
      </p:sp>
      <p:sp>
        <p:nvSpPr>
          <p:cNvPr id="11" name="Text 9"/>
          <p:cNvSpPr txBox="1"/>
          <p:nvPr/>
        </p:nvSpPr>
        <p:spPr>
          <a:xfrm>
            <a:off x="6419088" y="1755648"/>
            <a:ext cx="5084064" cy="1030224"/>
          </a:xfrm>
          <a:prstGeom prst="rect">
            <a:avLst/>
          </a:prstGeom>
          <a:noFill/>
        </p:spPr>
        <p:txBody>
          <a:bodyPr wrap="square" lIns="0" tIns="0" rIns="0" bIns="0" rtlCol="0" anchor="t"/>
          <a:lstStyle/>
          <a:p>
            <a:pPr marL="0" indent="0">
              <a:lnSpc>
                <a:spcPts val="1535"/>
              </a:lnSpc>
              <a:buNone/>
            </a:pP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&lt;h1&gt;</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Registration</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&lt;/h1&gt;</a:t>
            </a:r>
            <a:endParaRPr lang="en-US" sz="1200" dirty="0"/>
          </a:p>
          <a:p>
            <a:pPr marL="0" indent="0">
              <a:lnSpc>
                <a:spcPts val="1535"/>
              </a:lnSpc>
              <a:buNone/>
            </a:pP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&lt;h2&gt;</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Personal Info</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&lt;/h2&gt;</a:t>
            </a:r>
            <a:endParaRPr lang="en-US" sz="1200" dirty="0"/>
          </a:p>
          <a:p>
            <a:pPr marL="0" indent="0">
              <a:lnSpc>
                <a:spcPts val="1535"/>
              </a:lnSpc>
              <a:buNone/>
            </a:pP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&lt;h2&gt;</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Preferences</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&lt;/h2&gt;</a:t>
            </a:r>
            <a:endParaRPr lang="en-US" sz="1200" dirty="0"/>
          </a:p>
          <a:p>
            <a:pPr marL="0" indent="0">
              <a:lnSpc>
                <a:spcPts val="1535"/>
              </a:lnSpc>
              <a:buNone/>
            </a:pP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&lt;h2&gt;</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Routine</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&lt;/h2&gt;</a:t>
            </a:r>
            <a:endParaRPr lang="en-US" sz="1200" dirty="0"/>
          </a:p>
          <a:p>
            <a:pPr marL="0" indent="0">
              <a:lnSpc>
                <a:spcPts val="1535"/>
              </a:lnSpc>
              <a:buNone/>
            </a:pP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&lt;h3&gt;</a:t>
            </a:r>
            <a:r>
              <a:rPr lang="en-US" sz="12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Notes</a:t>
            </a:r>
            <a:r>
              <a:rPr lang="en-US" sz="12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&lt;/h3&gt;</a:t>
            </a:r>
            <a:endParaRPr lang="en-US" sz="1200" dirty="0"/>
          </a:p>
        </p:txBody>
      </p:sp>
      <p:sp>
        <p:nvSpPr>
          <p:cNvPr id="12" name="Shape 10"/>
          <p:cNvSpPr/>
          <p:nvPr/>
        </p:nvSpPr>
        <p:spPr>
          <a:xfrm>
            <a:off x="548640" y="3291840"/>
            <a:ext cx="5486400" cy="2651760"/>
          </a:xfrm>
          <a:prstGeom prst="roundRect">
            <a:avLst>
              <a:gd name="adj" fmla="val 2759"/>
            </a:avLst>
          </a:prstGeom>
          <a:solidFill>
            <a:srgbClr val="F2F5F8"/>
          </a:solidFill>
          <a:ln w="12700">
            <a:solidFill>
              <a:srgbClr val="F2F5F8"/>
            </a:solidFill>
            <a:prstDash val="solid"/>
          </a:ln>
          <a:effectLst>
            <a:outerShdw blurRad="76200" dist="12700" dir="5400000" algn="bl" rotWithShape="0">
              <a:srgbClr val="9AA9B8">
                <a:alpha val="18000"/>
              </a:srgbClr>
            </a:outerShdw>
          </a:effectLst>
        </p:spPr>
      </p:sp>
      <p:sp>
        <p:nvSpPr>
          <p:cNvPr id="13" name="Text 11"/>
          <p:cNvSpPr txBox="1"/>
          <p:nvPr/>
        </p:nvSpPr>
        <p:spPr>
          <a:xfrm>
            <a:off x="804672" y="3493008"/>
            <a:ext cx="4974336" cy="329184"/>
          </a:xfrm>
          <a:prstGeom prst="rect">
            <a:avLst/>
          </a:prstGeom>
          <a:noFill/>
        </p:spPr>
        <p:txBody>
          <a:bodyPr wrap="square" lIns="0" tIns="0" rIns="0" bIns="0" rtlCol="0" anchor="ctr"/>
          <a:lstStyle/>
          <a:p>
            <a:pPr marL="0" indent="0">
              <a:buNone/>
            </a:pPr>
            <a:r>
              <a:rPr lang="en-US" sz="1700" b="1" dirty="0">
                <a:solidFill>
                  <a:srgbClr val="003366"/>
                </a:solidFill>
                <a:latin typeface="Arial" panose="020B0604020202020204" pitchFamily="34" charset="0"/>
                <a:ea typeface="Arial" panose="020B0604020202020204" pitchFamily="34" charset="-122"/>
                <a:cs typeface="Arial" panose="020B0604020202020204" pitchFamily="34" charset="-120"/>
              </a:rPr>
              <a:t>The rules</a:t>
            </a:r>
            <a:endParaRPr lang="en-US" sz="1700" dirty="0"/>
          </a:p>
        </p:txBody>
      </p:sp>
      <p:sp>
        <p:nvSpPr>
          <p:cNvPr id="14" name="Text 12"/>
          <p:cNvSpPr txBox="1"/>
          <p:nvPr/>
        </p:nvSpPr>
        <p:spPr>
          <a:xfrm>
            <a:off x="804672" y="3913632"/>
            <a:ext cx="4974336" cy="1865376"/>
          </a:xfrm>
          <a:prstGeom prst="rect">
            <a:avLst/>
          </a:prstGeom>
          <a:noFill/>
        </p:spPr>
        <p:txBody>
          <a:bodyPr wrap="square" lIns="0" tIns="0" rIns="0" bIns="0" rtlCol="0" anchor="t"/>
          <a:lstStyle/>
          <a:p>
            <a:pPr marL="342900" indent="-342900">
              <a:spcAft>
                <a:spcPts val="6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Exactly one h1: the page title</a:t>
            </a:r>
            <a:endParaRPr lang="en-US" sz="1350" dirty="0"/>
          </a:p>
          <a:p>
            <a:pPr marL="342900" indent="-342900">
              <a:spcAft>
                <a:spcPts val="6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Never skip a level going down</a:t>
            </a:r>
            <a:endParaRPr lang="en-US" sz="1350" dirty="0"/>
          </a:p>
          <a:p>
            <a:pPr marL="342900" indent="-342900">
              <a:spcAft>
                <a:spcPts val="6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You may jump back up (h3 then h2)</a:t>
            </a:r>
            <a:endParaRPr lang="en-US" sz="1350" dirty="0"/>
          </a:p>
          <a:p>
            <a:pPr marL="342900" indent="-342900">
              <a:spcAft>
                <a:spcPts val="6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Never choose a heading level for its size - that is CSS</a:t>
            </a:r>
            <a:endParaRPr lang="en-US" sz="1350" dirty="0"/>
          </a:p>
        </p:txBody>
      </p:sp>
      <p:sp>
        <p:nvSpPr>
          <p:cNvPr id="15" name="Shape 13"/>
          <p:cNvSpPr/>
          <p:nvPr/>
        </p:nvSpPr>
        <p:spPr>
          <a:xfrm>
            <a:off x="6309360" y="3291840"/>
            <a:ext cx="5303520" cy="2651760"/>
          </a:xfrm>
          <a:prstGeom prst="roundRect">
            <a:avLst>
              <a:gd name="adj" fmla="val 2759"/>
            </a:avLst>
          </a:prstGeom>
          <a:solidFill>
            <a:srgbClr val="FDF3E1"/>
          </a:solidFill>
          <a:ln w="12700">
            <a:solidFill>
              <a:srgbClr val="FDF3E1"/>
            </a:solidFill>
            <a:prstDash val="solid"/>
          </a:ln>
          <a:effectLst>
            <a:outerShdw blurRad="76200" dist="12700" dir="5400000" algn="bl" rotWithShape="0">
              <a:srgbClr val="9AA9B8">
                <a:alpha val="18000"/>
              </a:srgbClr>
            </a:outerShdw>
          </a:effectLst>
        </p:spPr>
      </p:sp>
      <p:sp>
        <p:nvSpPr>
          <p:cNvPr id="16" name="Shape 14"/>
          <p:cNvSpPr/>
          <p:nvPr/>
        </p:nvSpPr>
        <p:spPr>
          <a:xfrm>
            <a:off x="6510528" y="3493008"/>
            <a:ext cx="384048" cy="384048"/>
          </a:xfrm>
          <a:prstGeom prst="ellipse">
            <a:avLst/>
          </a:prstGeom>
          <a:solidFill>
            <a:srgbClr val="E39A18"/>
          </a:solidFill>
          <a:ln w="12700">
            <a:solidFill>
              <a:srgbClr val="E39A18"/>
            </a:solidFill>
            <a:prstDash val="solid"/>
          </a:ln>
        </p:spPr>
      </p:sp>
      <p:sp>
        <p:nvSpPr>
          <p:cNvPr id="17" name="Text 15"/>
          <p:cNvSpPr txBox="1"/>
          <p:nvPr/>
        </p:nvSpPr>
        <p:spPr>
          <a:xfrm>
            <a:off x="6510528" y="349300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500" dirty="0"/>
          </a:p>
        </p:txBody>
      </p:sp>
      <p:sp>
        <p:nvSpPr>
          <p:cNvPr id="18" name="Text 16"/>
          <p:cNvSpPr txBox="1"/>
          <p:nvPr/>
        </p:nvSpPr>
        <p:spPr>
          <a:xfrm>
            <a:off x="7022592" y="3520440"/>
            <a:ext cx="4389120" cy="329184"/>
          </a:xfrm>
          <a:prstGeom prst="rect">
            <a:avLst/>
          </a:prstGeom>
          <a:noFill/>
        </p:spPr>
        <p:txBody>
          <a:bodyPr wrap="square" lIns="0" tIns="0" rIns="0" bIns="0" rtlCol="0" anchor="ctr"/>
          <a:lstStyle/>
          <a:p>
            <a:pPr marL="0" indent="0">
              <a:buNone/>
            </a:pPr>
            <a:r>
              <a:rPr lang="en-US" sz="1700" b="1" dirty="0">
                <a:solidFill>
                  <a:srgbClr val="003366"/>
                </a:solidFill>
                <a:latin typeface="Arial" panose="020B0604020202020204" pitchFamily="34" charset="0"/>
                <a:ea typeface="Arial" panose="020B0604020202020204" pitchFamily="34" charset="-122"/>
                <a:cs typeface="Arial" panose="020B0604020202020204" pitchFamily="34" charset="-120"/>
              </a:rPr>
              <a:t>Why users care</a:t>
            </a:r>
            <a:endParaRPr lang="en-US" sz="1700" dirty="0"/>
          </a:p>
        </p:txBody>
      </p:sp>
      <p:sp>
        <p:nvSpPr>
          <p:cNvPr id="19" name="Text 17"/>
          <p:cNvSpPr txBox="1"/>
          <p:nvPr/>
        </p:nvSpPr>
        <p:spPr>
          <a:xfrm>
            <a:off x="6565392" y="3913632"/>
            <a:ext cx="4791456" cy="1865376"/>
          </a:xfrm>
          <a:prstGeom prst="rect">
            <a:avLst/>
          </a:prstGeom>
          <a:noFill/>
        </p:spPr>
        <p:txBody>
          <a:bodyPr wrap="square" lIns="0" tIns="0" rIns="0" bIns="0" rtlCol="0" anchor="t"/>
          <a:lstStyle/>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Screen reader users press H to jump heading by heading</a:t>
            </a:r>
            <a:endParaRPr lang="en-US" sz="1300" dirty="0"/>
          </a:p>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Headings are the table of contents of your page</a:t>
            </a:r>
            <a:endParaRPr lang="en-US" sz="1300" dirty="0"/>
          </a:p>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A wrong order is like a book with chapter 1, then 4, then 2</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p:spPr>
        <p:txBody>
          <a:bodyPr wrap="square" lIns="0" tIns="0" rIns="0" bIns="0" rtlCol="0" anchor="ctr"/>
          <a:lstStyle/>
          <a:p>
            <a:pPr marL="0" indent="0">
              <a:buNone/>
            </a:pPr>
            <a:r>
              <a:rPr lang="en-US" sz="1100" b="1" kern="0" spc="120" dirty="0">
                <a:solidFill>
                  <a:srgbClr val="E39A18"/>
                </a:solidFill>
                <a:latin typeface="Arial" panose="020B0604020202020204" pitchFamily="34" charset="0"/>
                <a:ea typeface="Arial" panose="020B0604020202020204" pitchFamily="34" charset="-122"/>
                <a:cs typeface="Arial" panose="020B0604020202020204" pitchFamily="34" charset="-120"/>
              </a:rPr>
              <a:t>THE SEVEN CHECKS</a:t>
            </a:r>
            <a:endParaRPr lang="en-US" sz="1100" dirty="0"/>
          </a:p>
        </p:txBody>
      </p:sp>
      <p:sp>
        <p:nvSpPr>
          <p:cNvPr id="3" name="Text 1"/>
          <p:cNvSpPr txBox="1"/>
          <p:nvPr/>
        </p:nvSpPr>
        <p:spPr>
          <a:xfrm>
            <a:off x="548640" y="658368"/>
            <a:ext cx="11064240" cy="566928"/>
          </a:xfrm>
          <a:prstGeom prst="rect">
            <a:avLst/>
          </a:prstGeom>
          <a:noFill/>
        </p:spPr>
        <p:txBody>
          <a:bodyPr wrap="square" lIns="0" tIns="0" rIns="0" bIns="0" rtlCol="0" anchor="ctr"/>
          <a:lstStyle/>
          <a:p>
            <a:pPr marL="0" indent="0">
              <a:buNone/>
            </a:pPr>
            <a:r>
              <a:rPr lang="en-US" sz="3200" b="1" dirty="0">
                <a:solidFill>
                  <a:srgbClr val="003366"/>
                </a:solidFill>
                <a:latin typeface="Arial" panose="020B0604020202020204" pitchFamily="34" charset="0"/>
                <a:ea typeface="Arial" panose="020B0604020202020204" pitchFamily="34" charset="-122"/>
                <a:cs typeface="Arial" panose="020B0604020202020204" pitchFamily="34" charset="-120"/>
              </a:rPr>
              <a:t>Check 3: Alt Text Decision Rule</a:t>
            </a:r>
            <a:endParaRPr lang="en-US" sz="3200" dirty="0"/>
          </a:p>
        </p:txBody>
      </p:sp>
      <p:sp>
        <p:nvSpPr>
          <p:cNvPr id="4" name="Text 2"/>
          <p:cNvSpPr txBox="1"/>
          <p:nvPr/>
        </p:nvSpPr>
        <p:spPr>
          <a:xfrm>
            <a:off x="548640" y="6355080"/>
            <a:ext cx="5486400" cy="256032"/>
          </a:xfrm>
          <a:prstGeom prst="rect">
            <a:avLst/>
          </a:prstGeom>
          <a:noFill/>
        </p:spPr>
        <p:txBody>
          <a:bodyPr wrap="square" lIns="0" tIns="0" rIns="0" bIns="0" rtlCol="0" anchor="ctr"/>
          <a:lstStyle/>
          <a:p>
            <a:pPr marL="0" indent="0">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p:spPr>
        <p:txBody>
          <a:bodyPr wrap="square" lIns="0" tIns="0" rIns="0" bIns="0" rtlCol="0" anchor="ctr"/>
          <a:lstStyle/>
          <a:p>
            <a:pPr marL="0" indent="0" algn="r">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7</a:t>
            </a:r>
            <a:endParaRPr lang="en-US" sz="900" dirty="0"/>
          </a:p>
        </p:txBody>
      </p:sp>
      <p:sp>
        <p:nvSpPr>
          <p:cNvPr id="6" name="Text 4"/>
          <p:cNvSpPr txBox="1"/>
          <p:nvPr/>
        </p:nvSpPr>
        <p:spPr>
          <a:xfrm>
            <a:off x="548640" y="1325880"/>
            <a:ext cx="11064240" cy="320040"/>
          </a:xfrm>
          <a:prstGeom prst="rect">
            <a:avLst/>
          </a:prstGeom>
          <a:noFill/>
        </p:spPr>
        <p:txBody>
          <a:bodyPr wrap="square" lIns="0" tIns="0" rIns="0" bIns="0" rtlCol="0" anchor="t"/>
          <a:lstStyle/>
          <a:p>
            <a:pPr marL="0" indent="0" algn="l">
              <a:lnSpc>
                <a:spcPts val="2025"/>
              </a:lnSpc>
              <a:buNone/>
            </a:pPr>
            <a:r>
              <a:rPr lang="en-US" sz="1500" dirty="0">
                <a:solidFill>
                  <a:srgbClr val="3D4A57"/>
                </a:solidFill>
                <a:latin typeface="Arial" panose="020B0604020202020204" pitchFamily="34" charset="0"/>
                <a:ea typeface="Arial" panose="020B0604020202020204" pitchFamily="34" charset="-122"/>
                <a:cs typeface="Arial" panose="020B0604020202020204" pitchFamily="34" charset="-120"/>
              </a:rPr>
              <a:t>Ask one question: what job is this image doing on the page?</a:t>
            </a:r>
            <a:endParaRPr lang="en-US" sz="1500" dirty="0"/>
          </a:p>
        </p:txBody>
      </p:sp>
      <p:sp>
        <p:nvSpPr>
          <p:cNvPr id="7" name="Shape 5"/>
          <p:cNvSpPr/>
          <p:nvPr/>
        </p:nvSpPr>
        <p:spPr>
          <a:xfrm>
            <a:off x="548640" y="1737360"/>
            <a:ext cx="11064240" cy="841248"/>
          </a:xfrm>
          <a:prstGeom prst="roundRect">
            <a:avLst>
              <a:gd name="adj" fmla="val 8696"/>
            </a:avLst>
          </a:prstGeom>
          <a:solidFill>
            <a:srgbClr val="E8EEF4"/>
          </a:solidFill>
          <a:ln w="12700">
            <a:solidFill>
              <a:srgbClr val="E8EEF4"/>
            </a:solidFill>
            <a:prstDash val="solid"/>
          </a:ln>
        </p:spPr>
      </p:sp>
      <p:sp>
        <p:nvSpPr>
          <p:cNvPr id="8" name="Text 6"/>
          <p:cNvSpPr txBox="1"/>
          <p:nvPr/>
        </p:nvSpPr>
        <p:spPr>
          <a:xfrm>
            <a:off x="777240" y="1773936"/>
            <a:ext cx="1828800" cy="768096"/>
          </a:xfrm>
          <a:prstGeom prst="rect">
            <a:avLst/>
          </a:prstGeom>
          <a:noFill/>
        </p:spPr>
        <p:txBody>
          <a:bodyPr wrap="square" lIns="0" tIns="0" rIns="0" bIns="0" rtlCol="0" anchor="ctr"/>
          <a:lstStyle/>
          <a:p>
            <a:pPr marL="0" indent="0">
              <a:buNone/>
            </a:pPr>
            <a:r>
              <a:rPr lang="en-US" sz="1400" b="1" dirty="0">
                <a:solidFill>
                  <a:srgbClr val="003366"/>
                </a:solidFill>
                <a:latin typeface="Arial" panose="020B0604020202020204" pitchFamily="34" charset="0"/>
                <a:ea typeface="Arial" panose="020B0604020202020204" pitchFamily="34" charset="-122"/>
                <a:cs typeface="Arial" panose="020B0604020202020204" pitchFamily="34" charset="-120"/>
              </a:rPr>
              <a:t>Informative</a:t>
            </a:r>
            <a:endParaRPr lang="en-US" sz="1400" dirty="0"/>
          </a:p>
        </p:txBody>
      </p:sp>
      <p:sp>
        <p:nvSpPr>
          <p:cNvPr id="9" name="Text 7"/>
          <p:cNvSpPr txBox="1"/>
          <p:nvPr/>
        </p:nvSpPr>
        <p:spPr>
          <a:xfrm>
            <a:off x="2697480" y="1773936"/>
            <a:ext cx="2834640" cy="768096"/>
          </a:xfrm>
          <a:prstGeom prst="rect">
            <a:avLst/>
          </a:prstGeom>
          <a:noFill/>
        </p:spPr>
        <p:txBody>
          <a:bodyPr wrap="square" lIns="0" tIns="0" rIns="0" bIns="0" rtlCol="0" anchor="ctr"/>
          <a:lstStyle/>
          <a:p>
            <a:pPr marL="0" indent="0">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It carries information</a:t>
            </a:r>
            <a:endParaRPr lang="en-US" sz="1250" dirty="0"/>
          </a:p>
        </p:txBody>
      </p:sp>
      <p:sp>
        <p:nvSpPr>
          <p:cNvPr id="10" name="Text 8"/>
          <p:cNvSpPr txBox="1"/>
          <p:nvPr/>
        </p:nvSpPr>
        <p:spPr>
          <a:xfrm>
            <a:off x="5669280" y="1773936"/>
            <a:ext cx="5669280" cy="768096"/>
          </a:xfrm>
          <a:prstGeom prst="rect">
            <a:avLst/>
          </a:prstGeom>
          <a:noFill/>
        </p:spPr>
        <p:txBody>
          <a:bodyPr wrap="square" lIns="0" tIns="0" rIns="0" bIns="0" rtlCol="0" anchor="ctr"/>
          <a:lstStyle/>
          <a:p>
            <a:pPr marL="0" indent="0">
              <a:buNone/>
            </a:pPr>
            <a:r>
              <a:rPr lang="en-US" sz="1150" dirty="0">
                <a:solidFill>
                  <a:srgbClr val="1F7A55"/>
                </a:solidFill>
                <a:latin typeface="Courier New" panose="02070309020205020404" pitchFamily="34" charset="0"/>
                <a:ea typeface="Courier New" panose="02070309020205020404" pitchFamily="34" charset="-122"/>
                <a:cs typeface="Courier New" panose="02070309020205020404" pitchFamily="34" charset="-120"/>
              </a:rPr>
              <a:t>alt="Photo of Md Sadman at the IIUC campus"</a:t>
            </a:r>
            <a:endParaRPr lang="en-US" sz="1150" dirty="0"/>
          </a:p>
        </p:txBody>
      </p:sp>
      <p:sp>
        <p:nvSpPr>
          <p:cNvPr id="11" name="Shape 9"/>
          <p:cNvSpPr/>
          <p:nvPr/>
        </p:nvSpPr>
        <p:spPr>
          <a:xfrm>
            <a:off x="548640" y="2697480"/>
            <a:ext cx="11064240" cy="841248"/>
          </a:xfrm>
          <a:prstGeom prst="roundRect">
            <a:avLst>
              <a:gd name="adj" fmla="val 8696"/>
            </a:avLst>
          </a:prstGeom>
          <a:solidFill>
            <a:srgbClr val="F2F5F8"/>
          </a:solidFill>
          <a:ln w="12700">
            <a:solidFill>
              <a:srgbClr val="F2F5F8"/>
            </a:solidFill>
            <a:prstDash val="solid"/>
          </a:ln>
        </p:spPr>
      </p:sp>
      <p:sp>
        <p:nvSpPr>
          <p:cNvPr id="12" name="Text 10"/>
          <p:cNvSpPr txBox="1"/>
          <p:nvPr/>
        </p:nvSpPr>
        <p:spPr>
          <a:xfrm>
            <a:off x="777240" y="2734056"/>
            <a:ext cx="1828800" cy="768096"/>
          </a:xfrm>
          <a:prstGeom prst="rect">
            <a:avLst/>
          </a:prstGeom>
          <a:noFill/>
        </p:spPr>
        <p:txBody>
          <a:bodyPr wrap="square" lIns="0" tIns="0" rIns="0" bIns="0" rtlCol="0" anchor="ctr"/>
          <a:lstStyle/>
          <a:p>
            <a:pPr marL="0" indent="0">
              <a:buNone/>
            </a:pPr>
            <a:r>
              <a:rPr lang="en-US" sz="1400" b="1" dirty="0">
                <a:solidFill>
                  <a:srgbClr val="003366"/>
                </a:solidFill>
                <a:latin typeface="Arial" panose="020B0604020202020204" pitchFamily="34" charset="0"/>
                <a:ea typeface="Arial" panose="020B0604020202020204" pitchFamily="34" charset="-122"/>
                <a:cs typeface="Arial" panose="020B0604020202020204" pitchFamily="34" charset="-120"/>
              </a:rPr>
              <a:t>Decorative</a:t>
            </a:r>
            <a:endParaRPr lang="en-US" sz="1400" dirty="0"/>
          </a:p>
        </p:txBody>
      </p:sp>
      <p:sp>
        <p:nvSpPr>
          <p:cNvPr id="13" name="Text 11"/>
          <p:cNvSpPr txBox="1"/>
          <p:nvPr/>
        </p:nvSpPr>
        <p:spPr>
          <a:xfrm>
            <a:off x="2697480" y="2734056"/>
            <a:ext cx="2834640" cy="768096"/>
          </a:xfrm>
          <a:prstGeom prst="rect">
            <a:avLst/>
          </a:prstGeom>
          <a:noFill/>
        </p:spPr>
        <p:txBody>
          <a:bodyPr wrap="square" lIns="0" tIns="0" rIns="0" bIns="0" rtlCol="0" anchor="ctr"/>
          <a:lstStyle/>
          <a:p>
            <a:pPr marL="0" indent="0">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It is only decoration</a:t>
            </a:r>
            <a:endParaRPr lang="en-US" sz="1250" dirty="0"/>
          </a:p>
        </p:txBody>
      </p:sp>
      <p:sp>
        <p:nvSpPr>
          <p:cNvPr id="14" name="Text 12"/>
          <p:cNvSpPr txBox="1"/>
          <p:nvPr/>
        </p:nvSpPr>
        <p:spPr>
          <a:xfrm>
            <a:off x="5669280" y="2734056"/>
            <a:ext cx="5669280" cy="768096"/>
          </a:xfrm>
          <a:prstGeom prst="rect">
            <a:avLst/>
          </a:prstGeom>
          <a:noFill/>
        </p:spPr>
        <p:txBody>
          <a:bodyPr wrap="square" lIns="0" tIns="0" rIns="0" bIns="0" rtlCol="0" anchor="ctr"/>
          <a:lstStyle/>
          <a:p>
            <a:pPr marL="0" indent="0">
              <a:buNone/>
            </a:pPr>
            <a:r>
              <a:rPr lang="en-US" sz="1150" dirty="0">
                <a:solidFill>
                  <a:srgbClr val="1F7A55"/>
                </a:solidFill>
                <a:latin typeface="Courier New" panose="02070309020205020404" pitchFamily="34" charset="0"/>
                <a:ea typeface="Courier New" panose="02070309020205020404" pitchFamily="34" charset="-122"/>
                <a:cs typeface="Courier New" panose="02070309020205020404" pitchFamily="34" charset="-120"/>
              </a:rPr>
              <a:t>alt=""  (empty, but still present)</a:t>
            </a:r>
            <a:endParaRPr lang="en-US" sz="1150" dirty="0"/>
          </a:p>
        </p:txBody>
      </p:sp>
      <p:sp>
        <p:nvSpPr>
          <p:cNvPr id="15" name="Shape 13"/>
          <p:cNvSpPr/>
          <p:nvPr/>
        </p:nvSpPr>
        <p:spPr>
          <a:xfrm>
            <a:off x="548640" y="3657600"/>
            <a:ext cx="11064240" cy="841248"/>
          </a:xfrm>
          <a:prstGeom prst="roundRect">
            <a:avLst>
              <a:gd name="adj" fmla="val 8696"/>
            </a:avLst>
          </a:prstGeom>
          <a:solidFill>
            <a:srgbClr val="E8EEF4"/>
          </a:solidFill>
          <a:ln w="12700">
            <a:solidFill>
              <a:srgbClr val="E8EEF4"/>
            </a:solidFill>
            <a:prstDash val="solid"/>
          </a:ln>
        </p:spPr>
      </p:sp>
      <p:sp>
        <p:nvSpPr>
          <p:cNvPr id="16" name="Text 14"/>
          <p:cNvSpPr txBox="1"/>
          <p:nvPr/>
        </p:nvSpPr>
        <p:spPr>
          <a:xfrm>
            <a:off x="777240" y="3694176"/>
            <a:ext cx="1828800" cy="768096"/>
          </a:xfrm>
          <a:prstGeom prst="rect">
            <a:avLst/>
          </a:prstGeom>
          <a:noFill/>
        </p:spPr>
        <p:txBody>
          <a:bodyPr wrap="square" lIns="0" tIns="0" rIns="0" bIns="0" rtlCol="0" anchor="ctr"/>
          <a:lstStyle/>
          <a:p>
            <a:pPr marL="0" indent="0">
              <a:buNone/>
            </a:pPr>
            <a:r>
              <a:rPr lang="en-US" sz="1400" b="1" dirty="0">
                <a:solidFill>
                  <a:srgbClr val="003366"/>
                </a:solidFill>
                <a:latin typeface="Arial" panose="020B0604020202020204" pitchFamily="34" charset="0"/>
                <a:ea typeface="Arial" panose="020B0604020202020204" pitchFamily="34" charset="-122"/>
                <a:cs typeface="Arial" panose="020B0604020202020204" pitchFamily="34" charset="-120"/>
              </a:rPr>
              <a:t>Functional</a:t>
            </a:r>
            <a:endParaRPr lang="en-US" sz="1400" dirty="0"/>
          </a:p>
        </p:txBody>
      </p:sp>
      <p:sp>
        <p:nvSpPr>
          <p:cNvPr id="17" name="Text 15"/>
          <p:cNvSpPr txBox="1"/>
          <p:nvPr/>
        </p:nvSpPr>
        <p:spPr>
          <a:xfrm>
            <a:off x="2697480" y="3694176"/>
            <a:ext cx="2834640" cy="768096"/>
          </a:xfrm>
          <a:prstGeom prst="rect">
            <a:avLst/>
          </a:prstGeom>
          <a:noFill/>
        </p:spPr>
        <p:txBody>
          <a:bodyPr wrap="square" lIns="0" tIns="0" rIns="0" bIns="0" rtlCol="0" anchor="ctr"/>
          <a:lstStyle/>
          <a:p>
            <a:pPr marL="0" indent="0">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It is inside a link or button</a:t>
            </a:r>
            <a:endParaRPr lang="en-US" sz="1250" dirty="0"/>
          </a:p>
        </p:txBody>
      </p:sp>
      <p:sp>
        <p:nvSpPr>
          <p:cNvPr id="18" name="Text 16"/>
          <p:cNvSpPr txBox="1"/>
          <p:nvPr/>
        </p:nvSpPr>
        <p:spPr>
          <a:xfrm>
            <a:off x="5669280" y="3694176"/>
            <a:ext cx="5669280" cy="768096"/>
          </a:xfrm>
          <a:prstGeom prst="rect">
            <a:avLst/>
          </a:prstGeom>
          <a:noFill/>
        </p:spPr>
        <p:txBody>
          <a:bodyPr wrap="square" lIns="0" tIns="0" rIns="0" bIns="0" rtlCol="0" anchor="ctr"/>
          <a:lstStyle/>
          <a:p>
            <a:pPr marL="0" indent="0">
              <a:buNone/>
            </a:pPr>
            <a:r>
              <a:rPr lang="en-US" sz="1150" dirty="0">
                <a:solidFill>
                  <a:srgbClr val="1F7A55"/>
                </a:solidFill>
                <a:latin typeface="Courier New" panose="02070309020205020404" pitchFamily="34" charset="0"/>
                <a:ea typeface="Courier New" panose="02070309020205020404" pitchFamily="34" charset="-122"/>
                <a:cs typeface="Courier New" panose="02070309020205020404" pitchFamily="34" charset="-120"/>
              </a:rPr>
              <a:t>alt="Search"  (describe the ACTION)</a:t>
            </a:r>
            <a:endParaRPr lang="en-US" sz="1150" dirty="0"/>
          </a:p>
        </p:txBody>
      </p:sp>
      <p:sp>
        <p:nvSpPr>
          <p:cNvPr id="19" name="Shape 17"/>
          <p:cNvSpPr/>
          <p:nvPr/>
        </p:nvSpPr>
        <p:spPr>
          <a:xfrm>
            <a:off x="548640" y="4617720"/>
            <a:ext cx="11064240" cy="841248"/>
          </a:xfrm>
          <a:prstGeom prst="roundRect">
            <a:avLst>
              <a:gd name="adj" fmla="val 8696"/>
            </a:avLst>
          </a:prstGeom>
          <a:solidFill>
            <a:srgbClr val="F2F5F8"/>
          </a:solidFill>
          <a:ln w="12700">
            <a:solidFill>
              <a:srgbClr val="F2F5F8"/>
            </a:solidFill>
            <a:prstDash val="solid"/>
          </a:ln>
        </p:spPr>
      </p:sp>
      <p:sp>
        <p:nvSpPr>
          <p:cNvPr id="20" name="Text 18"/>
          <p:cNvSpPr txBox="1"/>
          <p:nvPr/>
        </p:nvSpPr>
        <p:spPr>
          <a:xfrm>
            <a:off x="777240" y="4654296"/>
            <a:ext cx="1828800" cy="768096"/>
          </a:xfrm>
          <a:prstGeom prst="rect">
            <a:avLst/>
          </a:prstGeom>
          <a:noFill/>
        </p:spPr>
        <p:txBody>
          <a:bodyPr wrap="square" lIns="0" tIns="0" rIns="0" bIns="0" rtlCol="0" anchor="ctr"/>
          <a:lstStyle/>
          <a:p>
            <a:pPr marL="0" indent="0">
              <a:buNone/>
            </a:pPr>
            <a:r>
              <a:rPr lang="en-US" sz="1400" b="1" dirty="0">
                <a:solidFill>
                  <a:srgbClr val="003366"/>
                </a:solidFill>
                <a:latin typeface="Arial" panose="020B0604020202020204" pitchFamily="34" charset="0"/>
                <a:ea typeface="Arial" panose="020B0604020202020204" pitchFamily="34" charset="-122"/>
                <a:cs typeface="Arial" panose="020B0604020202020204" pitchFamily="34" charset="-120"/>
              </a:rPr>
              <a:t>Text in image</a:t>
            </a:r>
            <a:endParaRPr lang="en-US" sz="1400" dirty="0"/>
          </a:p>
        </p:txBody>
      </p:sp>
      <p:sp>
        <p:nvSpPr>
          <p:cNvPr id="21" name="Text 19"/>
          <p:cNvSpPr txBox="1"/>
          <p:nvPr/>
        </p:nvSpPr>
        <p:spPr>
          <a:xfrm>
            <a:off x="2697480" y="4654296"/>
            <a:ext cx="2834640" cy="768096"/>
          </a:xfrm>
          <a:prstGeom prst="rect">
            <a:avLst/>
          </a:prstGeom>
          <a:noFill/>
        </p:spPr>
        <p:txBody>
          <a:bodyPr wrap="square" lIns="0" tIns="0" rIns="0" bIns="0" rtlCol="0" anchor="ctr"/>
          <a:lstStyle/>
          <a:p>
            <a:pPr marL="0" indent="0">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It contains words</a:t>
            </a:r>
            <a:endParaRPr lang="en-US" sz="1250" dirty="0"/>
          </a:p>
        </p:txBody>
      </p:sp>
      <p:sp>
        <p:nvSpPr>
          <p:cNvPr id="22" name="Text 20"/>
          <p:cNvSpPr txBox="1"/>
          <p:nvPr/>
        </p:nvSpPr>
        <p:spPr>
          <a:xfrm>
            <a:off x="5669280" y="4654296"/>
            <a:ext cx="5669280" cy="768096"/>
          </a:xfrm>
          <a:prstGeom prst="rect">
            <a:avLst/>
          </a:prstGeom>
          <a:noFill/>
        </p:spPr>
        <p:txBody>
          <a:bodyPr wrap="square" lIns="0" tIns="0" rIns="0" bIns="0" rtlCol="0" anchor="ctr"/>
          <a:lstStyle/>
          <a:p>
            <a:pPr marL="0" indent="0">
              <a:buNone/>
            </a:pPr>
            <a:r>
              <a:rPr lang="en-US" sz="1150" dirty="0">
                <a:solidFill>
                  <a:srgbClr val="1F7A55"/>
                </a:solidFill>
                <a:latin typeface="Courier New" panose="02070309020205020404" pitchFamily="34" charset="0"/>
                <a:ea typeface="Courier New" panose="02070309020205020404" pitchFamily="34" charset="-122"/>
                <a:cs typeface="Courier New" panose="02070309020205020404" pitchFamily="34" charset="-120"/>
              </a:rPr>
              <a:t>alt="IIUC — 100 years of excellence"</a:t>
            </a:r>
            <a:endParaRPr lang="en-US" sz="1150" dirty="0"/>
          </a:p>
        </p:txBody>
      </p:sp>
      <p:sp>
        <p:nvSpPr>
          <p:cNvPr id="23" name="Shape 21"/>
          <p:cNvSpPr/>
          <p:nvPr/>
        </p:nvSpPr>
        <p:spPr>
          <a:xfrm>
            <a:off x="548640" y="5623560"/>
            <a:ext cx="11064240" cy="731520"/>
          </a:xfrm>
          <a:prstGeom prst="roundRect">
            <a:avLst>
              <a:gd name="adj" fmla="val 10000"/>
            </a:avLst>
          </a:prstGeom>
          <a:solidFill>
            <a:srgbClr val="FBEAE8"/>
          </a:solidFill>
          <a:ln w="12700">
            <a:solidFill>
              <a:srgbClr val="FBEAE8"/>
            </a:solidFill>
            <a:prstDash val="solid"/>
          </a:ln>
        </p:spPr>
      </p:sp>
      <p:sp>
        <p:nvSpPr>
          <p:cNvPr id="24" name="Text 22"/>
          <p:cNvSpPr txBox="1"/>
          <p:nvPr/>
        </p:nvSpPr>
        <p:spPr>
          <a:xfrm>
            <a:off x="804672" y="5824728"/>
            <a:ext cx="10552176" cy="329184"/>
          </a:xfrm>
          <a:prstGeom prst="rect">
            <a:avLst/>
          </a:prstGeom>
          <a:noFill/>
        </p:spPr>
        <p:txBody>
          <a:bodyPr wrap="square" lIns="0" tIns="0" rIns="0" bIns="0" rtlCol="0" anchor="ctr"/>
          <a:lstStyle/>
          <a:p>
            <a:pPr marL="0" indent="0">
              <a:buNone/>
            </a:pPr>
            <a:r>
              <a:rPr lang="en-US" sz="1350" b="1" dirty="0">
                <a:solidFill>
                  <a:srgbClr val="B3261E"/>
                </a:solidFill>
                <a:latin typeface="Arial" panose="020B0604020202020204" pitchFamily="34" charset="0"/>
                <a:ea typeface="Arial" panose="020B0604020202020204" pitchFamily="34" charset="-122"/>
                <a:cs typeface="Arial" panose="020B0604020202020204" pitchFamily="34" charset="-120"/>
              </a:rPr>
              <a:t>Never write: alt="image", alt="photo", alt="picture1.jpg", or leave alt out completely.</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p:spPr>
        <p:txBody>
          <a:bodyPr wrap="square" lIns="0" tIns="0" rIns="0" bIns="0" rtlCol="0" anchor="ctr"/>
          <a:lstStyle/>
          <a:p>
            <a:pPr marL="0" indent="0">
              <a:buNone/>
            </a:pPr>
            <a:r>
              <a:rPr lang="en-US" sz="1100" b="1" kern="0" spc="120" dirty="0">
                <a:solidFill>
                  <a:srgbClr val="E39A18"/>
                </a:solidFill>
                <a:latin typeface="Arial" panose="020B0604020202020204" pitchFamily="34" charset="0"/>
                <a:ea typeface="Arial" panose="020B0604020202020204" pitchFamily="34" charset="-122"/>
                <a:cs typeface="Arial" panose="020B0604020202020204" pitchFamily="34" charset="-120"/>
              </a:rPr>
              <a:t>THE SEVEN CHECKS</a:t>
            </a:r>
            <a:endParaRPr lang="en-US" sz="1100" dirty="0"/>
          </a:p>
        </p:txBody>
      </p:sp>
      <p:sp>
        <p:nvSpPr>
          <p:cNvPr id="3" name="Text 1"/>
          <p:cNvSpPr txBox="1"/>
          <p:nvPr/>
        </p:nvSpPr>
        <p:spPr>
          <a:xfrm>
            <a:off x="548640" y="658368"/>
            <a:ext cx="11064240" cy="566928"/>
          </a:xfrm>
          <a:prstGeom prst="rect">
            <a:avLst/>
          </a:prstGeom>
          <a:noFill/>
        </p:spPr>
        <p:txBody>
          <a:bodyPr wrap="square" lIns="0" tIns="0" rIns="0" bIns="0" rtlCol="0" anchor="ctr"/>
          <a:lstStyle/>
          <a:p>
            <a:pPr marL="0" indent="0">
              <a:buNone/>
            </a:pPr>
            <a:r>
              <a:rPr lang="en-US" sz="3200" b="1" dirty="0">
                <a:solidFill>
                  <a:srgbClr val="003366"/>
                </a:solidFill>
                <a:latin typeface="Arial" panose="020B0604020202020204" pitchFamily="34" charset="0"/>
                <a:ea typeface="Arial" panose="020B0604020202020204" pitchFamily="34" charset="-122"/>
                <a:cs typeface="Arial" panose="020B0604020202020204" pitchFamily="34" charset="-120"/>
              </a:rPr>
              <a:t>Check 4: Labels and Form Names</a:t>
            </a:r>
            <a:endParaRPr lang="en-US" sz="3200" dirty="0"/>
          </a:p>
        </p:txBody>
      </p:sp>
      <p:sp>
        <p:nvSpPr>
          <p:cNvPr id="4" name="Text 2"/>
          <p:cNvSpPr txBox="1"/>
          <p:nvPr/>
        </p:nvSpPr>
        <p:spPr>
          <a:xfrm>
            <a:off x="548640" y="6355080"/>
            <a:ext cx="5486400" cy="256032"/>
          </a:xfrm>
          <a:prstGeom prst="rect">
            <a:avLst/>
          </a:prstGeom>
          <a:noFill/>
        </p:spPr>
        <p:txBody>
          <a:bodyPr wrap="square" lIns="0" tIns="0" rIns="0" bIns="0" rtlCol="0" anchor="ctr"/>
          <a:lstStyle/>
          <a:p>
            <a:pPr marL="0" indent="0">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p:spPr>
        <p:txBody>
          <a:bodyPr wrap="square" lIns="0" tIns="0" rIns="0" bIns="0" rtlCol="0" anchor="ctr"/>
          <a:lstStyle/>
          <a:p>
            <a:pPr marL="0" indent="0" algn="r">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8</a:t>
            </a:r>
            <a:endParaRPr lang="en-US" sz="900" dirty="0"/>
          </a:p>
        </p:txBody>
      </p:sp>
      <p:sp>
        <p:nvSpPr>
          <p:cNvPr id="6" name="Shape 4"/>
          <p:cNvSpPr/>
          <p:nvPr/>
        </p:nvSpPr>
        <p:spPr>
          <a:xfrm>
            <a:off x="548640" y="1371600"/>
            <a:ext cx="6400800" cy="3265424"/>
          </a:xfrm>
          <a:prstGeom prst="roundRect">
            <a:avLst>
              <a:gd name="adj" fmla="val 1680"/>
            </a:avLst>
          </a:prstGeom>
          <a:solidFill>
            <a:srgbClr val="0D1B2A"/>
          </a:solidFill>
          <a:ln w="12700">
            <a:solidFill>
              <a:srgbClr val="0D1B2A"/>
            </a:solidFill>
            <a:prstDash val="solid"/>
          </a:ln>
        </p:spPr>
      </p:sp>
      <p:sp>
        <p:nvSpPr>
          <p:cNvPr id="7" name="Text 5"/>
          <p:cNvSpPr txBox="1"/>
          <p:nvPr/>
        </p:nvSpPr>
        <p:spPr>
          <a:xfrm>
            <a:off x="658368" y="1481328"/>
            <a:ext cx="6181344" cy="3045968"/>
          </a:xfrm>
          <a:prstGeom prst="rect">
            <a:avLst/>
          </a:prstGeom>
          <a:noFill/>
        </p:spPr>
        <p:txBody>
          <a:bodyPr wrap="square" lIns="0" tIns="0" rIns="0" bIns="0" rtlCol="0" anchor="t"/>
          <a:lstStyle/>
          <a:p>
            <a:pPr marL="0" indent="0">
              <a:lnSpc>
                <a:spcPts val="1470"/>
              </a:lnSpc>
              <a:buNone/>
            </a:pPr>
            <a:r>
              <a:rPr lang="en-US" sz="1150" dirty="0">
                <a:solidFill>
                  <a:srgbClr val="8296A8"/>
                </a:solidFill>
                <a:latin typeface="Courier New" panose="02070309020205020404" pitchFamily="34" charset="0"/>
                <a:ea typeface="Courier New" panose="02070309020205020404" pitchFamily="34" charset="-122"/>
                <a:cs typeface="Courier New" panose="02070309020205020404" pitchFamily="34" charset="-120"/>
              </a:rPr>
              <a:t>&lt;!-- WRONG: placeholder is not a label --&gt;</a:t>
            </a:r>
            <a:endParaRPr lang="en-US" sz="1150" dirty="0"/>
          </a:p>
          <a:p>
            <a:pPr marL="0" indent="0">
              <a:lnSpc>
                <a:spcPts val="1470"/>
              </a:lnSpc>
              <a:buNone/>
            </a:pP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&lt;input type=</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"text"</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 name=</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"fullname"</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 placeholder=</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"Name"</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50" dirty="0"/>
          </a:p>
          <a:p>
            <a:pPr marL="0" indent="0">
              <a:lnSpc>
                <a:spcPts val="1470"/>
              </a:lnSpc>
              <a:buNone/>
            </a:pPr>
            <a:r>
              <a:rPr lang="en-US" sz="1150" dirty="0">
                <a:solidFill>
                  <a:srgbClr val="8296A8"/>
                </a:solidFill>
                <a:latin typeface="Courier New" panose="02070309020205020404" pitchFamily="34" charset="0"/>
                <a:ea typeface="Courier New" panose="02070309020205020404" pitchFamily="34" charset="-122"/>
                <a:cs typeface="Courier New" panose="02070309020205020404" pitchFamily="34" charset="-120"/>
              </a:rPr>
              <a:t>&lt;!-- WRONG: text near the box is not connected --&gt;</a:t>
            </a:r>
            <a:endParaRPr lang="en-US" sz="1150" dirty="0"/>
          </a:p>
          <a:p>
            <a:pPr marL="0" indent="0">
              <a:lnSpc>
                <a:spcPts val="1470"/>
              </a:lnSpc>
              <a:buNone/>
            </a:pP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&lt;span&gt;</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Name</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&lt;/span&gt;</a:t>
            </a:r>
            <a:endParaRPr lang="en-US" sz="1150" dirty="0"/>
          </a:p>
          <a:p>
            <a:pPr marL="0" indent="0">
              <a:lnSpc>
                <a:spcPts val="1470"/>
              </a:lnSpc>
              <a:buNone/>
            </a:pP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&lt;input type=</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"text"</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 id=</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"n1"</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50" dirty="0"/>
          </a:p>
          <a:p>
            <a:pPr marL="0" indent="0">
              <a:lnSpc>
                <a:spcPts val="1470"/>
              </a:lnSpc>
              <a:buNone/>
            </a:pPr>
            <a:r>
              <a:rPr lang="en-US" sz="1150" dirty="0">
                <a:solidFill>
                  <a:srgbClr val="8296A8"/>
                </a:solidFill>
                <a:latin typeface="Courier New" panose="02070309020205020404" pitchFamily="34" charset="0"/>
                <a:ea typeface="Courier New" panose="02070309020205020404" pitchFamily="34" charset="-122"/>
                <a:cs typeface="Courier New" panose="02070309020205020404" pitchFamily="34" charset="-120"/>
              </a:rPr>
              <a:t>&lt;!-- CORRECT --&gt;</a:t>
            </a:r>
            <a:endParaRPr lang="en-US" sz="1150" dirty="0"/>
          </a:p>
          <a:p>
            <a:pPr marL="0" indent="0">
              <a:lnSpc>
                <a:spcPts val="1470"/>
              </a:lnSpc>
              <a:buNone/>
            </a:pP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&lt;label for=</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"fullname"</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&gt;</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Full Name</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&lt;/label&gt;</a:t>
            </a:r>
            <a:endParaRPr lang="en-US" sz="1150" dirty="0"/>
          </a:p>
          <a:p>
            <a:pPr marL="0" indent="0">
              <a:lnSpc>
                <a:spcPts val="1470"/>
              </a:lnSpc>
              <a:buNone/>
            </a:pP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&lt;input type=</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"text"</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 id=</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"fullname"</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 name=</a:t>
            </a:r>
            <a:r>
              <a:rPr lang="en-US" sz="115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"fullname"</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50" dirty="0"/>
          </a:p>
          <a:p>
            <a:pPr marL="0" indent="0">
              <a:lnSpc>
                <a:spcPts val="1470"/>
              </a:lnSpc>
              <a:buNone/>
            </a:pPr>
            <a:r>
              <a:rPr lang="en-US" sz="1150" dirty="0">
                <a:solidFill>
                  <a:srgbClr val="8296A8"/>
                </a:solidFill>
                <a:latin typeface="Courier New" panose="02070309020205020404" pitchFamily="34" charset="0"/>
                <a:ea typeface="Courier New" panose="02070309020205020404" pitchFamily="34" charset="-122"/>
                <a:cs typeface="Courier New" panose="02070309020205020404" pitchFamily="34" charset="-120"/>
              </a:rPr>
              <a:t>&lt;!-- Groups need a name too --&gt;</a:t>
            </a:r>
            <a:endParaRPr lang="en-US" sz="1150" dirty="0"/>
          </a:p>
          <a:p>
            <a:pPr marL="0" indent="0">
              <a:lnSpc>
                <a:spcPts val="1470"/>
              </a:lnSpc>
              <a:buNone/>
            </a:pP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&lt;fieldset&gt;</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&lt;legend&gt;</a:t>
            </a: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Preferred shift</a:t>
            </a: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&lt;/legend&gt;</a:t>
            </a:r>
            <a:endParaRPr lang="en-US" sz="1150" dirty="0"/>
          </a:p>
          <a:p>
            <a:pPr marL="0" indent="0">
              <a:lnSpc>
                <a:spcPts val="1470"/>
              </a:lnSpc>
              <a:buNone/>
            </a:pPr>
            <a:r>
              <a:rPr lang="en-US" sz="115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50" dirty="0"/>
          </a:p>
          <a:p>
            <a:pPr marL="0" indent="0">
              <a:lnSpc>
                <a:spcPts val="1470"/>
              </a:lnSpc>
              <a:buNone/>
            </a:pPr>
            <a:r>
              <a:rPr lang="en-US" sz="115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&lt;/fieldset&gt;</a:t>
            </a:r>
            <a:endParaRPr lang="en-US" sz="1150" dirty="0"/>
          </a:p>
        </p:txBody>
      </p:sp>
      <p:sp>
        <p:nvSpPr>
          <p:cNvPr id="8" name="Shape 6"/>
          <p:cNvSpPr/>
          <p:nvPr/>
        </p:nvSpPr>
        <p:spPr>
          <a:xfrm>
            <a:off x="7132320" y="1371600"/>
            <a:ext cx="4480560" cy="2194560"/>
          </a:xfrm>
          <a:prstGeom prst="roundRect">
            <a:avLst>
              <a:gd name="adj" fmla="val 3333"/>
            </a:avLst>
          </a:prstGeom>
          <a:solidFill>
            <a:srgbClr val="FBEAE8"/>
          </a:solidFill>
          <a:ln w="12700">
            <a:solidFill>
              <a:srgbClr val="FBEAE8"/>
            </a:solidFill>
            <a:prstDash val="solid"/>
          </a:ln>
          <a:effectLst>
            <a:outerShdw blurRad="76200" dist="12700" dir="5400000" algn="bl" rotWithShape="0">
              <a:srgbClr val="9AA9B8">
                <a:alpha val="18000"/>
              </a:srgbClr>
            </a:outerShdw>
          </a:effectLst>
        </p:spPr>
      </p:sp>
      <p:sp>
        <p:nvSpPr>
          <p:cNvPr id="9" name="Text 7"/>
          <p:cNvSpPr txBox="1"/>
          <p:nvPr/>
        </p:nvSpPr>
        <p:spPr>
          <a:xfrm>
            <a:off x="7388352" y="1572768"/>
            <a:ext cx="3968496" cy="329184"/>
          </a:xfrm>
          <a:prstGeom prst="rect">
            <a:avLst/>
          </a:prstGeom>
          <a:noFill/>
        </p:spPr>
        <p:txBody>
          <a:bodyPr wrap="square" lIns="0" tIns="0" rIns="0" bIns="0" rtlCol="0" anchor="ctr"/>
          <a:lstStyle/>
          <a:p>
            <a:pPr marL="0" indent="0">
              <a:buNone/>
            </a:pPr>
            <a:r>
              <a:rPr lang="en-US" sz="1700" b="1" dirty="0">
                <a:solidFill>
                  <a:srgbClr val="B3261E"/>
                </a:solidFill>
                <a:latin typeface="Arial" panose="020B0604020202020204" pitchFamily="34" charset="0"/>
                <a:ea typeface="Arial" panose="020B0604020202020204" pitchFamily="34" charset="-122"/>
                <a:cs typeface="Arial" panose="020B0604020202020204" pitchFamily="34" charset="-120"/>
              </a:rPr>
              <a:t>Why placeholder fails</a:t>
            </a:r>
            <a:endParaRPr lang="en-US" sz="1700" dirty="0"/>
          </a:p>
        </p:txBody>
      </p:sp>
      <p:sp>
        <p:nvSpPr>
          <p:cNvPr id="10" name="Text 8"/>
          <p:cNvSpPr txBox="1"/>
          <p:nvPr/>
        </p:nvSpPr>
        <p:spPr>
          <a:xfrm>
            <a:off x="7388352" y="1993392"/>
            <a:ext cx="3968496" cy="1408176"/>
          </a:xfrm>
          <a:prstGeom prst="rect">
            <a:avLst/>
          </a:prstGeom>
          <a:noFill/>
        </p:spPr>
        <p:txBody>
          <a:bodyPr wrap="square" lIns="0" tIns="0" rIns="0" bIns="0" rtlCol="0" anchor="t"/>
          <a:lstStyle/>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It disappears as soon as the user types</a:t>
            </a:r>
            <a:endParaRPr lang="en-US" sz="1300" dirty="0"/>
          </a:p>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Its contrast is usually too low</a:t>
            </a:r>
            <a:endParaRPr lang="en-US" sz="1300" dirty="0"/>
          </a:p>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Some screen readers ignore it</a:t>
            </a:r>
            <a:endParaRPr lang="en-US" sz="1300" dirty="0"/>
          </a:p>
        </p:txBody>
      </p:sp>
      <p:sp>
        <p:nvSpPr>
          <p:cNvPr id="11" name="Shape 9"/>
          <p:cNvSpPr/>
          <p:nvPr/>
        </p:nvSpPr>
        <p:spPr>
          <a:xfrm>
            <a:off x="7132320" y="3749040"/>
            <a:ext cx="4480560" cy="2194560"/>
          </a:xfrm>
          <a:prstGeom prst="roundRect">
            <a:avLst>
              <a:gd name="adj" fmla="val 3333"/>
            </a:avLst>
          </a:prstGeom>
          <a:solidFill>
            <a:srgbClr val="E7F4EE"/>
          </a:solidFill>
          <a:ln w="12700">
            <a:solidFill>
              <a:srgbClr val="E7F4EE"/>
            </a:solidFill>
            <a:prstDash val="solid"/>
          </a:ln>
          <a:effectLst>
            <a:outerShdw blurRad="76200" dist="12700" dir="5400000" algn="bl" rotWithShape="0">
              <a:srgbClr val="9AA9B8">
                <a:alpha val="18000"/>
              </a:srgbClr>
            </a:outerShdw>
          </a:effectLst>
        </p:spPr>
      </p:sp>
      <p:sp>
        <p:nvSpPr>
          <p:cNvPr id="12" name="Shape 10"/>
          <p:cNvSpPr/>
          <p:nvPr/>
        </p:nvSpPr>
        <p:spPr>
          <a:xfrm>
            <a:off x="7333488" y="3950208"/>
            <a:ext cx="384048" cy="384048"/>
          </a:xfrm>
          <a:prstGeom prst="ellipse">
            <a:avLst/>
          </a:prstGeom>
          <a:solidFill>
            <a:srgbClr val="1F7A55"/>
          </a:solidFill>
          <a:ln w="12700">
            <a:solidFill>
              <a:srgbClr val="1F7A55"/>
            </a:solidFill>
            <a:prstDash val="solid"/>
          </a:ln>
        </p:spPr>
      </p:sp>
      <p:sp>
        <p:nvSpPr>
          <p:cNvPr id="13" name="Text 11"/>
          <p:cNvSpPr txBox="1"/>
          <p:nvPr/>
        </p:nvSpPr>
        <p:spPr>
          <a:xfrm>
            <a:off x="7333488" y="395020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500" dirty="0"/>
          </a:p>
        </p:txBody>
      </p:sp>
      <p:sp>
        <p:nvSpPr>
          <p:cNvPr id="14" name="Text 12"/>
          <p:cNvSpPr txBox="1"/>
          <p:nvPr/>
        </p:nvSpPr>
        <p:spPr>
          <a:xfrm>
            <a:off x="7845552" y="3977640"/>
            <a:ext cx="3566160" cy="329184"/>
          </a:xfrm>
          <a:prstGeom prst="rect">
            <a:avLst/>
          </a:prstGeom>
          <a:noFill/>
        </p:spPr>
        <p:txBody>
          <a:bodyPr wrap="square" lIns="0" tIns="0" rIns="0" bIns="0" rtlCol="0" anchor="ctr"/>
          <a:lstStyle/>
          <a:p>
            <a:pPr marL="0" indent="0">
              <a:buNone/>
            </a:pPr>
            <a:r>
              <a:rPr lang="en-US" sz="1700" b="1" dirty="0">
                <a:solidFill>
                  <a:srgbClr val="003366"/>
                </a:solidFill>
                <a:latin typeface="Arial" panose="020B0604020202020204" pitchFamily="34" charset="0"/>
                <a:ea typeface="Arial" panose="020B0604020202020204" pitchFamily="34" charset="-122"/>
                <a:cs typeface="Arial" panose="020B0604020202020204" pitchFamily="34" charset="-120"/>
              </a:rPr>
              <a:t>The 3-second test</a:t>
            </a:r>
            <a:endParaRPr lang="en-US" sz="1700" dirty="0"/>
          </a:p>
        </p:txBody>
      </p:sp>
      <p:sp>
        <p:nvSpPr>
          <p:cNvPr id="15" name="Text 13"/>
          <p:cNvSpPr txBox="1"/>
          <p:nvPr/>
        </p:nvSpPr>
        <p:spPr>
          <a:xfrm>
            <a:off x="7388352" y="4370832"/>
            <a:ext cx="3968496" cy="1408176"/>
          </a:xfrm>
          <a:prstGeom prst="rect">
            <a:avLst/>
          </a:prstGeom>
          <a:noFill/>
        </p:spPr>
        <p:txBody>
          <a:bodyPr wrap="square" lIns="0" tIns="0" rIns="0" bIns="0" rtlCol="0" anchor="t"/>
          <a:lstStyle/>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Click the label text</a:t>
            </a:r>
            <a:endParaRPr lang="en-US" sz="1300" dirty="0"/>
          </a:p>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If the cursor jumps into the box, it is connected</a:t>
            </a:r>
            <a:endParaRPr lang="en-US" sz="1300" dirty="0"/>
          </a:p>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If nothing happens, for and id do not match</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p:spPr>
        <p:txBody>
          <a:bodyPr wrap="square" lIns="0" tIns="0" rIns="0" bIns="0" rtlCol="0" anchor="ctr"/>
          <a:lstStyle/>
          <a:p>
            <a:pPr marL="0" indent="0">
              <a:buNone/>
            </a:pPr>
            <a:r>
              <a:rPr lang="en-US" sz="1100" b="1" kern="0" spc="120" dirty="0">
                <a:solidFill>
                  <a:srgbClr val="E39A18"/>
                </a:solidFill>
                <a:latin typeface="Arial" panose="020B0604020202020204" pitchFamily="34" charset="0"/>
                <a:ea typeface="Arial" panose="020B0604020202020204" pitchFamily="34" charset="-122"/>
                <a:cs typeface="Arial" panose="020B0604020202020204" pitchFamily="34" charset="-120"/>
              </a:rPr>
              <a:t>THE SEVEN CHECKS</a:t>
            </a:r>
            <a:endParaRPr lang="en-US" sz="1100" dirty="0"/>
          </a:p>
        </p:txBody>
      </p:sp>
      <p:sp>
        <p:nvSpPr>
          <p:cNvPr id="3" name="Text 1"/>
          <p:cNvSpPr txBox="1"/>
          <p:nvPr/>
        </p:nvSpPr>
        <p:spPr>
          <a:xfrm>
            <a:off x="548640" y="658368"/>
            <a:ext cx="11064240" cy="566928"/>
          </a:xfrm>
          <a:prstGeom prst="rect">
            <a:avLst/>
          </a:prstGeom>
          <a:noFill/>
        </p:spPr>
        <p:txBody>
          <a:bodyPr wrap="square" lIns="0" tIns="0" rIns="0" bIns="0" rtlCol="0" anchor="ctr"/>
          <a:lstStyle/>
          <a:p>
            <a:pPr marL="0" indent="0">
              <a:buNone/>
            </a:pPr>
            <a:r>
              <a:rPr lang="en-US" sz="3200" b="1" dirty="0">
                <a:solidFill>
                  <a:srgbClr val="003366"/>
                </a:solidFill>
                <a:latin typeface="Arial" panose="020B0604020202020204" pitchFamily="34" charset="0"/>
                <a:ea typeface="Arial" panose="020B0604020202020204" pitchFamily="34" charset="-122"/>
                <a:cs typeface="Arial" panose="020B0604020202020204" pitchFamily="34" charset="-120"/>
              </a:rPr>
              <a:t>Check 5: Keyboard Navigation</a:t>
            </a:r>
            <a:endParaRPr lang="en-US" sz="3200" dirty="0"/>
          </a:p>
        </p:txBody>
      </p:sp>
      <p:sp>
        <p:nvSpPr>
          <p:cNvPr id="4" name="Text 2"/>
          <p:cNvSpPr txBox="1"/>
          <p:nvPr/>
        </p:nvSpPr>
        <p:spPr>
          <a:xfrm>
            <a:off x="548640" y="6355080"/>
            <a:ext cx="5486400" cy="256032"/>
          </a:xfrm>
          <a:prstGeom prst="rect">
            <a:avLst/>
          </a:prstGeom>
          <a:noFill/>
        </p:spPr>
        <p:txBody>
          <a:bodyPr wrap="square" lIns="0" tIns="0" rIns="0" bIns="0" rtlCol="0" anchor="ctr"/>
          <a:lstStyle/>
          <a:p>
            <a:pPr marL="0" indent="0">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p:spPr>
        <p:txBody>
          <a:bodyPr wrap="square" lIns="0" tIns="0" rIns="0" bIns="0" rtlCol="0" anchor="ctr"/>
          <a:lstStyle/>
          <a:p>
            <a:pPr marL="0" indent="0" algn="r">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9</a:t>
            </a:r>
            <a:endParaRPr lang="en-US" sz="900" dirty="0"/>
          </a:p>
        </p:txBody>
      </p:sp>
      <p:sp>
        <p:nvSpPr>
          <p:cNvPr id="6" name="Shape 4"/>
          <p:cNvSpPr/>
          <p:nvPr/>
        </p:nvSpPr>
        <p:spPr>
          <a:xfrm>
            <a:off x="548640" y="1371600"/>
            <a:ext cx="5669280" cy="621792"/>
          </a:xfrm>
          <a:prstGeom prst="roundRect">
            <a:avLst>
              <a:gd name="adj" fmla="val 11765"/>
            </a:avLst>
          </a:prstGeom>
          <a:solidFill>
            <a:srgbClr val="E8EEF4"/>
          </a:solidFill>
          <a:ln w="12700">
            <a:solidFill>
              <a:srgbClr val="E8EEF4"/>
            </a:solidFill>
            <a:prstDash val="solid"/>
          </a:ln>
        </p:spPr>
      </p:sp>
      <p:sp>
        <p:nvSpPr>
          <p:cNvPr id="7" name="Text 5"/>
          <p:cNvSpPr txBox="1"/>
          <p:nvPr/>
        </p:nvSpPr>
        <p:spPr>
          <a:xfrm>
            <a:off x="749808" y="1371600"/>
            <a:ext cx="1737360" cy="621792"/>
          </a:xfrm>
          <a:prstGeom prst="rect">
            <a:avLst/>
          </a:prstGeom>
          <a:noFill/>
        </p:spPr>
        <p:txBody>
          <a:bodyPr wrap="square" lIns="0" tIns="0" rIns="0" bIns="0" rtlCol="0" anchor="ctr"/>
          <a:lstStyle/>
          <a:p>
            <a:pPr marL="0" indent="0">
              <a:buNone/>
            </a:pPr>
            <a:r>
              <a:rPr lang="en-US" sz="1250" b="1" dirty="0">
                <a:solidFill>
                  <a:srgbClr val="003366"/>
                </a:solidFill>
                <a:latin typeface="Courier New" panose="02070309020205020404" pitchFamily="34" charset="0"/>
                <a:ea typeface="Courier New" panose="02070309020205020404" pitchFamily="34" charset="-122"/>
                <a:cs typeface="Courier New" panose="02070309020205020404" pitchFamily="34" charset="-120"/>
              </a:rPr>
              <a:t>Tab</a:t>
            </a:r>
            <a:endParaRPr lang="en-US" sz="1250" dirty="0"/>
          </a:p>
        </p:txBody>
      </p:sp>
      <p:sp>
        <p:nvSpPr>
          <p:cNvPr id="8" name="Text 6"/>
          <p:cNvSpPr txBox="1"/>
          <p:nvPr/>
        </p:nvSpPr>
        <p:spPr>
          <a:xfrm>
            <a:off x="2560320" y="1371600"/>
            <a:ext cx="3566160" cy="621792"/>
          </a:xfrm>
          <a:prstGeom prst="rect">
            <a:avLst/>
          </a:prstGeom>
          <a:noFill/>
        </p:spPr>
        <p:txBody>
          <a:bodyPr wrap="square" lIns="0" tIns="0" rIns="0" bIns="0" rtlCol="0" anchor="ctr"/>
          <a:lstStyle/>
          <a:p>
            <a:pPr marL="0" indent="0">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Move to the next control</a:t>
            </a:r>
            <a:endParaRPr lang="en-US" sz="1250" dirty="0"/>
          </a:p>
        </p:txBody>
      </p:sp>
      <p:sp>
        <p:nvSpPr>
          <p:cNvPr id="9" name="Shape 7"/>
          <p:cNvSpPr/>
          <p:nvPr/>
        </p:nvSpPr>
        <p:spPr>
          <a:xfrm>
            <a:off x="548640" y="2084832"/>
            <a:ext cx="5669280" cy="621792"/>
          </a:xfrm>
          <a:prstGeom prst="roundRect">
            <a:avLst>
              <a:gd name="adj" fmla="val 11765"/>
            </a:avLst>
          </a:prstGeom>
          <a:solidFill>
            <a:srgbClr val="F2F5F8"/>
          </a:solidFill>
          <a:ln w="12700">
            <a:solidFill>
              <a:srgbClr val="F2F5F8"/>
            </a:solidFill>
            <a:prstDash val="solid"/>
          </a:ln>
        </p:spPr>
      </p:sp>
      <p:sp>
        <p:nvSpPr>
          <p:cNvPr id="10" name="Text 8"/>
          <p:cNvSpPr txBox="1"/>
          <p:nvPr/>
        </p:nvSpPr>
        <p:spPr>
          <a:xfrm>
            <a:off x="749808" y="2084832"/>
            <a:ext cx="1737360" cy="621792"/>
          </a:xfrm>
          <a:prstGeom prst="rect">
            <a:avLst/>
          </a:prstGeom>
          <a:noFill/>
        </p:spPr>
        <p:txBody>
          <a:bodyPr wrap="square" lIns="0" tIns="0" rIns="0" bIns="0" rtlCol="0" anchor="ctr"/>
          <a:lstStyle/>
          <a:p>
            <a:pPr marL="0" indent="0">
              <a:buNone/>
            </a:pPr>
            <a:r>
              <a:rPr lang="en-US" sz="1250" b="1" dirty="0">
                <a:solidFill>
                  <a:srgbClr val="003366"/>
                </a:solidFill>
                <a:latin typeface="Courier New" panose="02070309020205020404" pitchFamily="34" charset="0"/>
                <a:ea typeface="Courier New" panose="02070309020205020404" pitchFamily="34" charset="-122"/>
                <a:cs typeface="Courier New" panose="02070309020205020404" pitchFamily="34" charset="-120"/>
              </a:rPr>
              <a:t>Shift + Tab</a:t>
            </a:r>
            <a:endParaRPr lang="en-US" sz="1250" dirty="0"/>
          </a:p>
        </p:txBody>
      </p:sp>
      <p:sp>
        <p:nvSpPr>
          <p:cNvPr id="11" name="Text 9"/>
          <p:cNvSpPr txBox="1"/>
          <p:nvPr/>
        </p:nvSpPr>
        <p:spPr>
          <a:xfrm>
            <a:off x="2560320" y="2084832"/>
            <a:ext cx="3566160" cy="621792"/>
          </a:xfrm>
          <a:prstGeom prst="rect">
            <a:avLst/>
          </a:prstGeom>
          <a:noFill/>
        </p:spPr>
        <p:txBody>
          <a:bodyPr wrap="square" lIns="0" tIns="0" rIns="0" bIns="0" rtlCol="0" anchor="ctr"/>
          <a:lstStyle/>
          <a:p>
            <a:pPr marL="0" indent="0">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Move back</a:t>
            </a:r>
            <a:endParaRPr lang="en-US" sz="1250" dirty="0"/>
          </a:p>
        </p:txBody>
      </p:sp>
      <p:sp>
        <p:nvSpPr>
          <p:cNvPr id="12" name="Shape 10"/>
          <p:cNvSpPr/>
          <p:nvPr/>
        </p:nvSpPr>
        <p:spPr>
          <a:xfrm>
            <a:off x="548640" y="2798064"/>
            <a:ext cx="5669280" cy="621792"/>
          </a:xfrm>
          <a:prstGeom prst="roundRect">
            <a:avLst>
              <a:gd name="adj" fmla="val 11765"/>
            </a:avLst>
          </a:prstGeom>
          <a:solidFill>
            <a:srgbClr val="E8EEF4"/>
          </a:solidFill>
          <a:ln w="12700">
            <a:solidFill>
              <a:srgbClr val="E8EEF4"/>
            </a:solidFill>
            <a:prstDash val="solid"/>
          </a:ln>
        </p:spPr>
      </p:sp>
      <p:sp>
        <p:nvSpPr>
          <p:cNvPr id="13" name="Text 11"/>
          <p:cNvSpPr txBox="1"/>
          <p:nvPr/>
        </p:nvSpPr>
        <p:spPr>
          <a:xfrm>
            <a:off x="749808" y="2798064"/>
            <a:ext cx="1737360" cy="621792"/>
          </a:xfrm>
          <a:prstGeom prst="rect">
            <a:avLst/>
          </a:prstGeom>
          <a:noFill/>
        </p:spPr>
        <p:txBody>
          <a:bodyPr wrap="square" lIns="0" tIns="0" rIns="0" bIns="0" rtlCol="0" anchor="ctr"/>
          <a:lstStyle/>
          <a:p>
            <a:pPr marL="0" indent="0">
              <a:buNone/>
            </a:pPr>
            <a:r>
              <a:rPr lang="en-US" sz="1250" b="1" dirty="0">
                <a:solidFill>
                  <a:srgbClr val="003366"/>
                </a:solidFill>
                <a:latin typeface="Courier New" panose="02070309020205020404" pitchFamily="34" charset="0"/>
                <a:ea typeface="Courier New" panose="02070309020205020404" pitchFamily="34" charset="-122"/>
                <a:cs typeface="Courier New" panose="02070309020205020404" pitchFamily="34" charset="-120"/>
              </a:rPr>
              <a:t>Enter</a:t>
            </a:r>
            <a:endParaRPr lang="en-US" sz="1250" dirty="0"/>
          </a:p>
        </p:txBody>
      </p:sp>
      <p:sp>
        <p:nvSpPr>
          <p:cNvPr id="14" name="Text 12"/>
          <p:cNvSpPr txBox="1"/>
          <p:nvPr/>
        </p:nvSpPr>
        <p:spPr>
          <a:xfrm>
            <a:off x="2560320" y="2798064"/>
            <a:ext cx="3566160" cy="621792"/>
          </a:xfrm>
          <a:prstGeom prst="rect">
            <a:avLst/>
          </a:prstGeom>
          <a:noFill/>
        </p:spPr>
        <p:txBody>
          <a:bodyPr wrap="square" lIns="0" tIns="0" rIns="0" bIns="0" rtlCol="0" anchor="ctr"/>
          <a:lstStyle/>
          <a:p>
            <a:pPr marL="0" indent="0">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Follow a link, press a button</a:t>
            </a:r>
            <a:endParaRPr lang="en-US" sz="1250" dirty="0"/>
          </a:p>
        </p:txBody>
      </p:sp>
      <p:sp>
        <p:nvSpPr>
          <p:cNvPr id="15" name="Shape 13"/>
          <p:cNvSpPr/>
          <p:nvPr/>
        </p:nvSpPr>
        <p:spPr>
          <a:xfrm>
            <a:off x="548640" y="3511296"/>
            <a:ext cx="5669280" cy="621792"/>
          </a:xfrm>
          <a:prstGeom prst="roundRect">
            <a:avLst>
              <a:gd name="adj" fmla="val 11765"/>
            </a:avLst>
          </a:prstGeom>
          <a:solidFill>
            <a:srgbClr val="F2F5F8"/>
          </a:solidFill>
          <a:ln w="12700">
            <a:solidFill>
              <a:srgbClr val="F2F5F8"/>
            </a:solidFill>
            <a:prstDash val="solid"/>
          </a:ln>
        </p:spPr>
      </p:sp>
      <p:sp>
        <p:nvSpPr>
          <p:cNvPr id="16" name="Text 14"/>
          <p:cNvSpPr txBox="1"/>
          <p:nvPr/>
        </p:nvSpPr>
        <p:spPr>
          <a:xfrm>
            <a:off x="749808" y="3511296"/>
            <a:ext cx="1737360" cy="621792"/>
          </a:xfrm>
          <a:prstGeom prst="rect">
            <a:avLst/>
          </a:prstGeom>
          <a:noFill/>
        </p:spPr>
        <p:txBody>
          <a:bodyPr wrap="square" lIns="0" tIns="0" rIns="0" bIns="0" rtlCol="0" anchor="ctr"/>
          <a:lstStyle/>
          <a:p>
            <a:pPr marL="0" indent="0">
              <a:buNone/>
            </a:pPr>
            <a:r>
              <a:rPr lang="en-US" sz="1250" b="1" dirty="0">
                <a:solidFill>
                  <a:srgbClr val="003366"/>
                </a:solidFill>
                <a:latin typeface="Courier New" panose="02070309020205020404" pitchFamily="34" charset="0"/>
                <a:ea typeface="Courier New" panose="02070309020205020404" pitchFamily="34" charset="-122"/>
                <a:cs typeface="Courier New" panose="02070309020205020404" pitchFamily="34" charset="-120"/>
              </a:rPr>
              <a:t>Space</a:t>
            </a:r>
            <a:endParaRPr lang="en-US" sz="1250" dirty="0"/>
          </a:p>
        </p:txBody>
      </p:sp>
      <p:sp>
        <p:nvSpPr>
          <p:cNvPr id="17" name="Text 15"/>
          <p:cNvSpPr txBox="1"/>
          <p:nvPr/>
        </p:nvSpPr>
        <p:spPr>
          <a:xfrm>
            <a:off x="2560320" y="3511296"/>
            <a:ext cx="3566160" cy="621792"/>
          </a:xfrm>
          <a:prstGeom prst="rect">
            <a:avLst/>
          </a:prstGeom>
          <a:noFill/>
        </p:spPr>
        <p:txBody>
          <a:bodyPr wrap="square" lIns="0" tIns="0" rIns="0" bIns="0" rtlCol="0" anchor="ctr"/>
          <a:lstStyle/>
          <a:p>
            <a:pPr marL="0" indent="0">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Tick a checkbox, press a button</a:t>
            </a:r>
            <a:endParaRPr lang="en-US" sz="1250" dirty="0"/>
          </a:p>
        </p:txBody>
      </p:sp>
      <p:sp>
        <p:nvSpPr>
          <p:cNvPr id="18" name="Shape 16"/>
          <p:cNvSpPr/>
          <p:nvPr/>
        </p:nvSpPr>
        <p:spPr>
          <a:xfrm>
            <a:off x="548640" y="4224528"/>
            <a:ext cx="5669280" cy="621792"/>
          </a:xfrm>
          <a:prstGeom prst="roundRect">
            <a:avLst>
              <a:gd name="adj" fmla="val 11765"/>
            </a:avLst>
          </a:prstGeom>
          <a:solidFill>
            <a:srgbClr val="E8EEF4"/>
          </a:solidFill>
          <a:ln w="12700">
            <a:solidFill>
              <a:srgbClr val="E8EEF4"/>
            </a:solidFill>
            <a:prstDash val="solid"/>
          </a:ln>
        </p:spPr>
      </p:sp>
      <p:sp>
        <p:nvSpPr>
          <p:cNvPr id="19" name="Text 17"/>
          <p:cNvSpPr txBox="1"/>
          <p:nvPr/>
        </p:nvSpPr>
        <p:spPr>
          <a:xfrm>
            <a:off x="749808" y="4224528"/>
            <a:ext cx="1737360" cy="621792"/>
          </a:xfrm>
          <a:prstGeom prst="rect">
            <a:avLst/>
          </a:prstGeom>
          <a:noFill/>
        </p:spPr>
        <p:txBody>
          <a:bodyPr wrap="square" lIns="0" tIns="0" rIns="0" bIns="0" rtlCol="0" anchor="ctr"/>
          <a:lstStyle/>
          <a:p>
            <a:pPr marL="0" indent="0">
              <a:buNone/>
            </a:pPr>
            <a:r>
              <a:rPr lang="en-US" sz="1250" b="1" dirty="0">
                <a:solidFill>
                  <a:srgbClr val="003366"/>
                </a:solidFill>
                <a:latin typeface="Courier New" panose="02070309020205020404" pitchFamily="34" charset="0"/>
                <a:ea typeface="Courier New" panose="02070309020205020404" pitchFamily="34" charset="-122"/>
                <a:cs typeface="Courier New" panose="02070309020205020404" pitchFamily="34" charset="-120"/>
              </a:rPr>
              <a:t>Arrow keys</a:t>
            </a:r>
            <a:endParaRPr lang="en-US" sz="1250" dirty="0"/>
          </a:p>
        </p:txBody>
      </p:sp>
      <p:sp>
        <p:nvSpPr>
          <p:cNvPr id="20" name="Text 18"/>
          <p:cNvSpPr txBox="1"/>
          <p:nvPr/>
        </p:nvSpPr>
        <p:spPr>
          <a:xfrm>
            <a:off x="2560320" y="4224528"/>
            <a:ext cx="3566160" cy="621792"/>
          </a:xfrm>
          <a:prstGeom prst="rect">
            <a:avLst/>
          </a:prstGeom>
          <a:noFill/>
        </p:spPr>
        <p:txBody>
          <a:bodyPr wrap="square" lIns="0" tIns="0" rIns="0" bIns="0" rtlCol="0" anchor="ctr"/>
          <a:lstStyle/>
          <a:p>
            <a:pPr marL="0" indent="0">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Move inside a radio group or select</a:t>
            </a:r>
            <a:endParaRPr lang="en-US" sz="1250" dirty="0"/>
          </a:p>
        </p:txBody>
      </p:sp>
      <p:sp>
        <p:nvSpPr>
          <p:cNvPr id="21" name="Shape 19"/>
          <p:cNvSpPr/>
          <p:nvPr/>
        </p:nvSpPr>
        <p:spPr>
          <a:xfrm>
            <a:off x="6492240" y="1371600"/>
            <a:ext cx="5120640" cy="2103120"/>
          </a:xfrm>
          <a:prstGeom prst="roundRect">
            <a:avLst>
              <a:gd name="adj" fmla="val 3478"/>
            </a:avLst>
          </a:prstGeom>
          <a:solidFill>
            <a:srgbClr val="FDF3E1"/>
          </a:solidFill>
          <a:ln w="12700">
            <a:solidFill>
              <a:srgbClr val="FDF3E1"/>
            </a:solidFill>
            <a:prstDash val="solid"/>
          </a:ln>
          <a:effectLst>
            <a:outerShdw blurRad="76200" dist="12700" dir="5400000" algn="bl" rotWithShape="0">
              <a:srgbClr val="9AA9B8">
                <a:alpha val="18000"/>
              </a:srgbClr>
            </a:outerShdw>
          </a:effectLst>
        </p:spPr>
      </p:sp>
      <p:sp>
        <p:nvSpPr>
          <p:cNvPr id="22" name="Shape 20"/>
          <p:cNvSpPr/>
          <p:nvPr/>
        </p:nvSpPr>
        <p:spPr>
          <a:xfrm>
            <a:off x="6693408" y="1572768"/>
            <a:ext cx="384048" cy="384048"/>
          </a:xfrm>
          <a:prstGeom prst="ellipse">
            <a:avLst/>
          </a:prstGeom>
          <a:solidFill>
            <a:srgbClr val="E39A18"/>
          </a:solidFill>
          <a:ln w="12700">
            <a:solidFill>
              <a:srgbClr val="E39A18"/>
            </a:solidFill>
            <a:prstDash val="solid"/>
          </a:ln>
        </p:spPr>
      </p:sp>
      <p:sp>
        <p:nvSpPr>
          <p:cNvPr id="23" name="Text 21"/>
          <p:cNvSpPr txBox="1"/>
          <p:nvPr/>
        </p:nvSpPr>
        <p:spPr>
          <a:xfrm>
            <a:off x="6693408" y="157276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500" dirty="0"/>
          </a:p>
        </p:txBody>
      </p:sp>
      <p:sp>
        <p:nvSpPr>
          <p:cNvPr id="24" name="Text 22"/>
          <p:cNvSpPr txBox="1"/>
          <p:nvPr/>
        </p:nvSpPr>
        <p:spPr>
          <a:xfrm>
            <a:off x="7205472" y="1600200"/>
            <a:ext cx="4206240" cy="329184"/>
          </a:xfrm>
          <a:prstGeom prst="rect">
            <a:avLst/>
          </a:prstGeom>
          <a:noFill/>
        </p:spPr>
        <p:txBody>
          <a:bodyPr wrap="square" lIns="0" tIns="0" rIns="0" bIns="0" rtlCol="0" anchor="ctr"/>
          <a:lstStyle/>
          <a:p>
            <a:pPr marL="0" indent="0">
              <a:buNone/>
            </a:pPr>
            <a:r>
              <a:rPr lang="en-US" sz="1700" b="1" dirty="0">
                <a:solidFill>
                  <a:srgbClr val="003366"/>
                </a:solidFill>
                <a:latin typeface="Arial" panose="020B0604020202020204" pitchFamily="34" charset="0"/>
                <a:ea typeface="Arial" panose="020B0604020202020204" pitchFamily="34" charset="-122"/>
                <a:cs typeface="Arial" panose="020B0604020202020204" pitchFamily="34" charset="-120"/>
              </a:rPr>
              <a:t>Do this right now</a:t>
            </a:r>
            <a:endParaRPr lang="en-US" sz="1700" dirty="0"/>
          </a:p>
        </p:txBody>
      </p:sp>
      <p:sp>
        <p:nvSpPr>
          <p:cNvPr id="25" name="Text 23"/>
          <p:cNvSpPr txBox="1"/>
          <p:nvPr/>
        </p:nvSpPr>
        <p:spPr>
          <a:xfrm>
            <a:off x="6748272" y="1993392"/>
            <a:ext cx="4608576" cy="1316736"/>
          </a:xfrm>
          <a:prstGeom prst="rect">
            <a:avLst/>
          </a:prstGeom>
          <a:noFill/>
        </p:spPr>
        <p:txBody>
          <a:bodyPr wrap="square" lIns="0" tIns="0" rIns="0" bIns="0" rtlCol="0" anchor="t"/>
          <a:lstStyle/>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Put your mouse down</a:t>
            </a:r>
            <a:endParaRPr lang="en-US" sz="1300" dirty="0"/>
          </a:p>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Press Tab from the top of your page</a:t>
            </a:r>
            <a:endParaRPr lang="en-US" sz="1300" dirty="0"/>
          </a:p>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Can you reach and use every control?</a:t>
            </a:r>
            <a:endParaRPr lang="en-US" sz="1300" dirty="0"/>
          </a:p>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If not, your page has a real bug</a:t>
            </a:r>
            <a:endParaRPr lang="en-US" sz="1300" dirty="0"/>
          </a:p>
        </p:txBody>
      </p:sp>
      <p:sp>
        <p:nvSpPr>
          <p:cNvPr id="26" name="Shape 24"/>
          <p:cNvSpPr/>
          <p:nvPr/>
        </p:nvSpPr>
        <p:spPr>
          <a:xfrm>
            <a:off x="6492240" y="3657600"/>
            <a:ext cx="5120640" cy="2286000"/>
          </a:xfrm>
          <a:prstGeom prst="roundRect">
            <a:avLst>
              <a:gd name="adj" fmla="val 3200"/>
            </a:avLst>
          </a:prstGeom>
          <a:solidFill>
            <a:srgbClr val="FBEAE8"/>
          </a:solidFill>
          <a:ln w="12700">
            <a:solidFill>
              <a:srgbClr val="FBEAE8"/>
            </a:solidFill>
            <a:prstDash val="solid"/>
          </a:ln>
          <a:effectLst>
            <a:outerShdw blurRad="76200" dist="12700" dir="5400000" algn="bl" rotWithShape="0">
              <a:srgbClr val="9AA9B8">
                <a:alpha val="18000"/>
              </a:srgbClr>
            </a:outerShdw>
          </a:effectLst>
        </p:spPr>
      </p:sp>
      <p:sp>
        <p:nvSpPr>
          <p:cNvPr id="27" name="Text 25"/>
          <p:cNvSpPr txBox="1"/>
          <p:nvPr/>
        </p:nvSpPr>
        <p:spPr>
          <a:xfrm>
            <a:off x="6748272" y="3858768"/>
            <a:ext cx="4608576" cy="329184"/>
          </a:xfrm>
          <a:prstGeom prst="rect">
            <a:avLst/>
          </a:prstGeom>
          <a:noFill/>
        </p:spPr>
        <p:txBody>
          <a:bodyPr wrap="square" lIns="0" tIns="0" rIns="0" bIns="0" rtlCol="0" anchor="ctr"/>
          <a:lstStyle/>
          <a:p>
            <a:pPr marL="0" indent="0">
              <a:buNone/>
            </a:pPr>
            <a:r>
              <a:rPr lang="en-US" sz="1700" b="1" dirty="0">
                <a:solidFill>
                  <a:srgbClr val="B3261E"/>
                </a:solidFill>
                <a:latin typeface="Arial" panose="020B0604020202020204" pitchFamily="34" charset="0"/>
                <a:ea typeface="Arial" panose="020B0604020202020204" pitchFamily="34" charset="-122"/>
                <a:cs typeface="Arial" panose="020B0604020202020204" pitchFamily="34" charset="-120"/>
              </a:rPr>
              <a:t>Things that break the keyboard</a:t>
            </a:r>
            <a:endParaRPr lang="en-US" sz="1700" dirty="0"/>
          </a:p>
        </p:txBody>
      </p:sp>
      <p:sp>
        <p:nvSpPr>
          <p:cNvPr id="28" name="Text 26"/>
          <p:cNvSpPr txBox="1"/>
          <p:nvPr/>
        </p:nvSpPr>
        <p:spPr>
          <a:xfrm>
            <a:off x="6748272" y="4279392"/>
            <a:ext cx="4608576" cy="1499616"/>
          </a:xfrm>
          <a:prstGeom prst="rect">
            <a:avLst/>
          </a:prstGeom>
          <a:noFill/>
        </p:spPr>
        <p:txBody>
          <a:bodyPr wrap="square" lIns="0" tIns="0" rIns="0" bIns="0" rtlCol="0" anchor="t"/>
          <a:lstStyle/>
          <a:p>
            <a:pPr marL="342900" indent="-342900">
              <a:spcAft>
                <a:spcPts val="600"/>
              </a:spcAft>
              <a:buSzPct val="100000"/>
              <a:buChar char="•"/>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A div with a click handler instead of a button</a:t>
            </a:r>
            <a:endParaRPr lang="en-US" sz="1250" dirty="0"/>
          </a:p>
          <a:p>
            <a:pPr marL="342900" indent="-342900">
              <a:spcAft>
                <a:spcPts val="600"/>
              </a:spcAft>
              <a:buSzPct val="100000"/>
              <a:buChar char="•"/>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Custom dropdowns built from div tags</a:t>
            </a:r>
            <a:endParaRPr lang="en-US" sz="1250" dirty="0"/>
          </a:p>
          <a:p>
            <a:pPr marL="342900" indent="-342900">
              <a:spcAft>
                <a:spcPts val="600"/>
              </a:spcAft>
              <a:buSzPct val="100000"/>
              <a:buChar char="•"/>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tabindex values greater than 0</a:t>
            </a:r>
            <a:endParaRPr lang="en-US" sz="1250" dirty="0"/>
          </a:p>
          <a:p>
            <a:pPr marL="342900" indent="-342900">
              <a:spcAft>
                <a:spcPts val="600"/>
              </a:spcAft>
              <a:buSzPct val="100000"/>
              <a:buChar char="•"/>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Anything that only responds to a mouse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p:spPr>
        <p:txBody>
          <a:bodyPr wrap="square" lIns="0" tIns="0" rIns="0" bIns="0" rtlCol="0" anchor="ctr"/>
          <a:lstStyle/>
          <a:p>
            <a:pPr marL="0" indent="0">
              <a:buNone/>
            </a:pPr>
            <a:r>
              <a:rPr lang="en-US" sz="1100" b="1" kern="0" spc="120" dirty="0">
                <a:solidFill>
                  <a:srgbClr val="E39A18"/>
                </a:solidFill>
                <a:latin typeface="Arial" panose="020B0604020202020204" pitchFamily="34" charset="0"/>
                <a:ea typeface="Arial" panose="020B0604020202020204" pitchFamily="34" charset="-122"/>
                <a:cs typeface="Arial" panose="020B0604020202020204" pitchFamily="34" charset="-120"/>
              </a:rPr>
              <a:t>THE SEVEN CHECKS</a:t>
            </a:r>
            <a:endParaRPr lang="en-US" sz="1100" dirty="0"/>
          </a:p>
        </p:txBody>
      </p:sp>
      <p:sp>
        <p:nvSpPr>
          <p:cNvPr id="3" name="Text 1"/>
          <p:cNvSpPr txBox="1"/>
          <p:nvPr/>
        </p:nvSpPr>
        <p:spPr>
          <a:xfrm>
            <a:off x="548640" y="658368"/>
            <a:ext cx="11064240" cy="566928"/>
          </a:xfrm>
          <a:prstGeom prst="rect">
            <a:avLst/>
          </a:prstGeom>
          <a:noFill/>
        </p:spPr>
        <p:txBody>
          <a:bodyPr wrap="square" lIns="0" tIns="0" rIns="0" bIns="0" rtlCol="0" anchor="ctr"/>
          <a:lstStyle/>
          <a:p>
            <a:pPr marL="0" indent="0">
              <a:buNone/>
            </a:pPr>
            <a:r>
              <a:rPr lang="en-US" sz="3200" b="1" dirty="0">
                <a:solidFill>
                  <a:srgbClr val="003366"/>
                </a:solidFill>
                <a:latin typeface="Arial" panose="020B0604020202020204" pitchFamily="34" charset="0"/>
                <a:ea typeface="Arial" panose="020B0604020202020204" pitchFamily="34" charset="-122"/>
                <a:cs typeface="Arial" panose="020B0604020202020204" pitchFamily="34" charset="-120"/>
              </a:rPr>
              <a:t>Check 6: Visible Focus</a:t>
            </a:r>
            <a:endParaRPr lang="en-US" sz="3200" dirty="0"/>
          </a:p>
        </p:txBody>
      </p:sp>
      <p:sp>
        <p:nvSpPr>
          <p:cNvPr id="4" name="Text 2"/>
          <p:cNvSpPr txBox="1"/>
          <p:nvPr/>
        </p:nvSpPr>
        <p:spPr>
          <a:xfrm>
            <a:off x="548640" y="6355080"/>
            <a:ext cx="5486400" cy="256032"/>
          </a:xfrm>
          <a:prstGeom prst="rect">
            <a:avLst/>
          </a:prstGeom>
          <a:noFill/>
        </p:spPr>
        <p:txBody>
          <a:bodyPr wrap="square" lIns="0" tIns="0" rIns="0" bIns="0" rtlCol="0" anchor="ctr"/>
          <a:lstStyle/>
          <a:p>
            <a:pPr marL="0" indent="0">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p:spPr>
        <p:txBody>
          <a:bodyPr wrap="square" lIns="0" tIns="0" rIns="0" bIns="0" rtlCol="0" anchor="ctr"/>
          <a:lstStyle/>
          <a:p>
            <a:pPr marL="0" indent="0" algn="r">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10</a:t>
            </a:r>
            <a:endParaRPr lang="en-US" sz="900" dirty="0"/>
          </a:p>
        </p:txBody>
      </p:sp>
      <p:sp>
        <p:nvSpPr>
          <p:cNvPr id="6" name="Shape 4"/>
          <p:cNvSpPr/>
          <p:nvPr/>
        </p:nvSpPr>
        <p:spPr>
          <a:xfrm>
            <a:off x="548640" y="1371600"/>
            <a:ext cx="6035040" cy="1054608"/>
          </a:xfrm>
          <a:prstGeom prst="roundRect">
            <a:avLst>
              <a:gd name="adj" fmla="val 5202"/>
            </a:avLst>
          </a:prstGeom>
          <a:solidFill>
            <a:srgbClr val="0D1B2A"/>
          </a:solidFill>
          <a:ln w="12700">
            <a:solidFill>
              <a:srgbClr val="0D1B2A"/>
            </a:solidFill>
            <a:prstDash val="solid"/>
          </a:ln>
        </p:spPr>
      </p:sp>
      <p:sp>
        <p:nvSpPr>
          <p:cNvPr id="7" name="Text 5"/>
          <p:cNvSpPr txBox="1"/>
          <p:nvPr/>
        </p:nvSpPr>
        <p:spPr>
          <a:xfrm>
            <a:off x="658368" y="1481328"/>
            <a:ext cx="5815584" cy="835152"/>
          </a:xfrm>
          <a:prstGeom prst="rect">
            <a:avLst/>
          </a:prstGeom>
          <a:noFill/>
        </p:spPr>
        <p:txBody>
          <a:bodyPr wrap="square" lIns="0" tIns="0" rIns="0" bIns="0" rtlCol="0" anchor="t"/>
          <a:lstStyle/>
          <a:p>
            <a:pPr marL="0" indent="0">
              <a:lnSpc>
                <a:spcPts val="1535"/>
              </a:lnSpc>
              <a:buNone/>
            </a:pPr>
            <a:r>
              <a:rPr lang="en-US" sz="1200" dirty="0">
                <a:solidFill>
                  <a:srgbClr val="FF9E9E"/>
                </a:solidFill>
                <a:latin typeface="Courier New" panose="02070309020205020404" pitchFamily="34" charset="0"/>
                <a:ea typeface="Courier New" panose="02070309020205020404" pitchFamily="34" charset="-122"/>
                <a:cs typeface="Courier New" panose="02070309020205020404" pitchFamily="34" charset="-120"/>
              </a:rPr>
              <a:t>/* NEVER do this */</a:t>
            </a:r>
            <a:endParaRPr lang="en-US" sz="1200" dirty="0"/>
          </a:p>
          <a:p>
            <a:pPr marL="0" indent="0">
              <a:lnSpc>
                <a:spcPts val="1535"/>
              </a:lnSpc>
              <a:buNone/>
            </a:pPr>
            <a:r>
              <a:rPr lang="en-US" sz="1200" dirty="0">
                <a:solidFill>
                  <a:srgbClr val="FF9E9E"/>
                </a:solidFill>
                <a:latin typeface="Courier New" panose="02070309020205020404" pitchFamily="34" charset="0"/>
                <a:ea typeface="Courier New" panose="02070309020205020404" pitchFamily="34" charset="-122"/>
                <a:cs typeface="Courier New" panose="02070309020205020404" pitchFamily="34" charset="-120"/>
              </a:rPr>
              <a:t>*:focus {</a:t>
            </a:r>
            <a:endParaRPr lang="en-US" sz="1200" dirty="0"/>
          </a:p>
          <a:p>
            <a:pPr marL="0" indent="0">
              <a:lnSpc>
                <a:spcPts val="1535"/>
              </a:lnSpc>
              <a:buNone/>
            </a:pPr>
            <a:r>
              <a:rPr lang="en-US" sz="1200" dirty="0">
                <a:solidFill>
                  <a:srgbClr val="FF9E9E"/>
                </a:solidFill>
                <a:latin typeface="Courier New" panose="02070309020205020404" pitchFamily="34" charset="0"/>
                <a:ea typeface="Courier New" panose="02070309020205020404" pitchFamily="34" charset="-122"/>
                <a:cs typeface="Courier New" panose="02070309020205020404" pitchFamily="34" charset="-120"/>
              </a:rPr>
              <a:t>  outline: none;</a:t>
            </a:r>
            <a:endParaRPr lang="en-US" sz="1200" dirty="0"/>
          </a:p>
          <a:p>
            <a:pPr marL="0" indent="0">
              <a:lnSpc>
                <a:spcPts val="1535"/>
              </a:lnSpc>
              <a:buNone/>
            </a:pPr>
            <a:r>
              <a:rPr lang="en-US" sz="1200" dirty="0">
                <a:solidFill>
                  <a:srgbClr val="FF9E9E"/>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p:txBody>
      </p:sp>
      <p:sp>
        <p:nvSpPr>
          <p:cNvPr id="8" name="Shape 6"/>
          <p:cNvSpPr/>
          <p:nvPr/>
        </p:nvSpPr>
        <p:spPr>
          <a:xfrm>
            <a:off x="548640" y="2560320"/>
            <a:ext cx="6035040" cy="1249680"/>
          </a:xfrm>
          <a:prstGeom prst="roundRect">
            <a:avLst>
              <a:gd name="adj" fmla="val 4390"/>
            </a:avLst>
          </a:prstGeom>
          <a:solidFill>
            <a:srgbClr val="0D1B2A"/>
          </a:solidFill>
          <a:ln w="12700">
            <a:solidFill>
              <a:srgbClr val="0D1B2A"/>
            </a:solidFill>
            <a:prstDash val="solid"/>
          </a:ln>
        </p:spPr>
      </p:sp>
      <p:sp>
        <p:nvSpPr>
          <p:cNvPr id="9" name="Text 7"/>
          <p:cNvSpPr txBox="1"/>
          <p:nvPr/>
        </p:nvSpPr>
        <p:spPr>
          <a:xfrm>
            <a:off x="658368" y="2670048"/>
            <a:ext cx="5815584" cy="1030224"/>
          </a:xfrm>
          <a:prstGeom prst="rect">
            <a:avLst/>
          </a:prstGeom>
          <a:noFill/>
        </p:spPr>
        <p:txBody>
          <a:bodyPr wrap="square" lIns="0" tIns="0" rIns="0" bIns="0" rtlCol="0" anchor="t"/>
          <a:lstStyle/>
          <a:p>
            <a:pPr marL="0" indent="0">
              <a:lnSpc>
                <a:spcPts val="1535"/>
              </a:lnSpc>
              <a:buNone/>
            </a:pPr>
            <a:r>
              <a:rPr lang="en-US" sz="1200" dirty="0">
                <a:solidFill>
                  <a:srgbClr val="9BE6A8"/>
                </a:solidFill>
                <a:latin typeface="Courier New" panose="02070309020205020404" pitchFamily="34" charset="0"/>
                <a:ea typeface="Courier New" panose="02070309020205020404" pitchFamily="34" charset="-122"/>
                <a:cs typeface="Courier New" panose="02070309020205020404" pitchFamily="34" charset="-120"/>
              </a:rPr>
              <a:t>/* If you must restyle it, replace it */</a:t>
            </a:r>
            <a:endParaRPr lang="en-US" sz="1200" dirty="0"/>
          </a:p>
          <a:p>
            <a:pPr marL="0" indent="0">
              <a:lnSpc>
                <a:spcPts val="1535"/>
              </a:lnSpc>
              <a:buNone/>
            </a:pPr>
            <a:r>
              <a:rPr lang="en-US" sz="1200" dirty="0">
                <a:solidFill>
                  <a:srgbClr val="9BE6A8"/>
                </a:solidFill>
                <a:latin typeface="Courier New" panose="02070309020205020404" pitchFamily="34" charset="0"/>
                <a:ea typeface="Courier New" panose="02070309020205020404" pitchFamily="34" charset="-122"/>
                <a:cs typeface="Courier New" panose="02070309020205020404" pitchFamily="34" charset="-120"/>
              </a:rPr>
              <a:t>*:focus {</a:t>
            </a:r>
            <a:endParaRPr lang="en-US" sz="1200" dirty="0"/>
          </a:p>
          <a:p>
            <a:pPr marL="0" indent="0">
              <a:lnSpc>
                <a:spcPts val="1535"/>
              </a:lnSpc>
              <a:buNone/>
            </a:pPr>
            <a:r>
              <a:rPr lang="en-US" sz="1200" dirty="0">
                <a:solidFill>
                  <a:srgbClr val="9BE6A8"/>
                </a:solidFill>
                <a:latin typeface="Courier New" panose="02070309020205020404" pitchFamily="34" charset="0"/>
                <a:ea typeface="Courier New" panose="02070309020205020404" pitchFamily="34" charset="-122"/>
                <a:cs typeface="Courier New" panose="02070309020205020404" pitchFamily="34" charset="-120"/>
              </a:rPr>
              <a:t>  outline: 3px solid #E39A18;</a:t>
            </a:r>
            <a:endParaRPr lang="en-US" sz="1200" dirty="0"/>
          </a:p>
          <a:p>
            <a:pPr marL="0" indent="0">
              <a:lnSpc>
                <a:spcPts val="1535"/>
              </a:lnSpc>
              <a:buNone/>
            </a:pPr>
            <a:r>
              <a:rPr lang="en-US" sz="1200" dirty="0">
                <a:solidFill>
                  <a:srgbClr val="9BE6A8"/>
                </a:solidFill>
                <a:latin typeface="Courier New" panose="02070309020205020404" pitchFamily="34" charset="0"/>
                <a:ea typeface="Courier New" panose="02070309020205020404" pitchFamily="34" charset="-122"/>
                <a:cs typeface="Courier New" panose="02070309020205020404" pitchFamily="34" charset="-120"/>
              </a:rPr>
              <a:t>  outline-offset: 2px;</a:t>
            </a:r>
            <a:endParaRPr lang="en-US" sz="1200" dirty="0"/>
          </a:p>
          <a:p>
            <a:pPr marL="0" indent="0">
              <a:lnSpc>
                <a:spcPts val="1535"/>
              </a:lnSpc>
              <a:buNone/>
            </a:pPr>
            <a:r>
              <a:rPr lang="en-US" sz="1200" dirty="0">
                <a:solidFill>
                  <a:srgbClr val="9BE6A8"/>
                </a:solidFill>
                <a:latin typeface="Courier New" panose="02070309020205020404" pitchFamily="34" charset="0"/>
                <a:ea typeface="Courier New" panose="02070309020205020404" pitchFamily="34" charset="-122"/>
                <a:cs typeface="Courier New" panose="02070309020205020404" pitchFamily="34" charset="-120"/>
              </a:rPr>
              <a:t>}</a:t>
            </a:r>
            <a:endParaRPr lang="en-US" sz="1200" dirty="0"/>
          </a:p>
        </p:txBody>
      </p:sp>
      <p:sp>
        <p:nvSpPr>
          <p:cNvPr id="10" name="Shape 8"/>
          <p:cNvSpPr/>
          <p:nvPr/>
        </p:nvSpPr>
        <p:spPr>
          <a:xfrm>
            <a:off x="6766560" y="1371600"/>
            <a:ext cx="4846320" cy="2194560"/>
          </a:xfrm>
          <a:prstGeom prst="roundRect">
            <a:avLst>
              <a:gd name="adj" fmla="val 3333"/>
            </a:avLst>
          </a:prstGeom>
          <a:solidFill>
            <a:srgbClr val="F2F5F8"/>
          </a:solidFill>
          <a:ln w="12700">
            <a:solidFill>
              <a:srgbClr val="F2F5F8"/>
            </a:solidFill>
            <a:prstDash val="solid"/>
          </a:ln>
          <a:effectLst>
            <a:outerShdw blurRad="76200" dist="12700" dir="5400000" algn="bl" rotWithShape="0">
              <a:srgbClr val="9AA9B8">
                <a:alpha val="18000"/>
              </a:srgbClr>
            </a:outerShdw>
          </a:effectLst>
        </p:spPr>
      </p:sp>
      <p:sp>
        <p:nvSpPr>
          <p:cNvPr id="11" name="Text 9"/>
          <p:cNvSpPr txBox="1"/>
          <p:nvPr/>
        </p:nvSpPr>
        <p:spPr>
          <a:xfrm>
            <a:off x="7022592" y="1572768"/>
            <a:ext cx="4334256" cy="329184"/>
          </a:xfrm>
          <a:prstGeom prst="rect">
            <a:avLst/>
          </a:prstGeom>
          <a:noFill/>
        </p:spPr>
        <p:txBody>
          <a:bodyPr wrap="square" lIns="0" tIns="0" rIns="0" bIns="0" rtlCol="0" anchor="ctr"/>
          <a:lstStyle/>
          <a:p>
            <a:pPr marL="0" indent="0">
              <a:buNone/>
            </a:pPr>
            <a:r>
              <a:rPr lang="en-US" sz="1700" b="1" dirty="0">
                <a:solidFill>
                  <a:srgbClr val="003366"/>
                </a:solidFill>
                <a:latin typeface="Arial" panose="020B0604020202020204" pitchFamily="34" charset="0"/>
                <a:ea typeface="Arial" panose="020B0604020202020204" pitchFamily="34" charset="-122"/>
                <a:cs typeface="Arial" panose="020B0604020202020204" pitchFamily="34" charset="-120"/>
              </a:rPr>
              <a:t>What focus is</a:t>
            </a:r>
            <a:endParaRPr lang="en-US" sz="1700" dirty="0"/>
          </a:p>
        </p:txBody>
      </p:sp>
      <p:sp>
        <p:nvSpPr>
          <p:cNvPr id="12" name="Text 10"/>
          <p:cNvSpPr txBox="1"/>
          <p:nvPr/>
        </p:nvSpPr>
        <p:spPr>
          <a:xfrm>
            <a:off x="7022592" y="1993392"/>
            <a:ext cx="4334256" cy="1408176"/>
          </a:xfrm>
          <a:prstGeom prst="rect">
            <a:avLst/>
          </a:prstGeom>
          <a:noFill/>
        </p:spPr>
        <p:txBody>
          <a:bodyPr wrap="square" lIns="0" tIns="0" rIns="0" bIns="0" rtlCol="0" anchor="t"/>
          <a:lstStyle/>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The ring the browser draws around the control you reached with Tab</a:t>
            </a:r>
            <a:endParaRPr lang="en-US" sz="1300" dirty="0"/>
          </a:p>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It is the keyboard user's mouse cursor</a:t>
            </a:r>
            <a:endParaRPr lang="en-US" sz="1300" dirty="0"/>
          </a:p>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Remove it and they are lost on the page</a:t>
            </a:r>
            <a:endParaRPr lang="en-US" sz="1300" dirty="0"/>
          </a:p>
        </p:txBody>
      </p:sp>
      <p:sp>
        <p:nvSpPr>
          <p:cNvPr id="13" name="Shape 11"/>
          <p:cNvSpPr/>
          <p:nvPr/>
        </p:nvSpPr>
        <p:spPr>
          <a:xfrm>
            <a:off x="548640" y="4206240"/>
            <a:ext cx="6035040" cy="1737360"/>
          </a:xfrm>
          <a:prstGeom prst="roundRect">
            <a:avLst>
              <a:gd name="adj" fmla="val 4211"/>
            </a:avLst>
          </a:prstGeom>
          <a:solidFill>
            <a:srgbClr val="FDF3E1"/>
          </a:solidFill>
          <a:ln w="12700">
            <a:solidFill>
              <a:srgbClr val="FDF3E1"/>
            </a:solidFill>
            <a:prstDash val="solid"/>
          </a:ln>
          <a:effectLst>
            <a:outerShdw blurRad="76200" dist="12700" dir="5400000" algn="bl" rotWithShape="0">
              <a:srgbClr val="9AA9B8">
                <a:alpha val="18000"/>
              </a:srgbClr>
            </a:outerShdw>
          </a:effectLst>
        </p:spPr>
      </p:sp>
      <p:sp>
        <p:nvSpPr>
          <p:cNvPr id="14" name="Shape 12"/>
          <p:cNvSpPr/>
          <p:nvPr/>
        </p:nvSpPr>
        <p:spPr>
          <a:xfrm>
            <a:off x="749808" y="4407408"/>
            <a:ext cx="384048" cy="384048"/>
          </a:xfrm>
          <a:prstGeom prst="ellipse">
            <a:avLst/>
          </a:prstGeom>
          <a:solidFill>
            <a:srgbClr val="E39A18"/>
          </a:solidFill>
          <a:ln w="12700">
            <a:solidFill>
              <a:srgbClr val="E39A18"/>
            </a:solidFill>
            <a:prstDash val="solid"/>
          </a:ln>
        </p:spPr>
      </p:sp>
      <p:sp>
        <p:nvSpPr>
          <p:cNvPr id="15" name="Text 13"/>
          <p:cNvSpPr txBox="1"/>
          <p:nvPr/>
        </p:nvSpPr>
        <p:spPr>
          <a:xfrm>
            <a:off x="749808" y="440740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500" dirty="0"/>
          </a:p>
        </p:txBody>
      </p:sp>
      <p:sp>
        <p:nvSpPr>
          <p:cNvPr id="16" name="Text 14"/>
          <p:cNvSpPr txBox="1"/>
          <p:nvPr/>
        </p:nvSpPr>
        <p:spPr>
          <a:xfrm>
            <a:off x="1261872" y="4434840"/>
            <a:ext cx="5120640" cy="329184"/>
          </a:xfrm>
          <a:prstGeom prst="rect">
            <a:avLst/>
          </a:prstGeom>
          <a:noFill/>
        </p:spPr>
        <p:txBody>
          <a:bodyPr wrap="square" lIns="0" tIns="0" rIns="0" bIns="0" rtlCol="0" anchor="ctr"/>
          <a:lstStyle/>
          <a:p>
            <a:pPr marL="0" indent="0">
              <a:buNone/>
            </a:pPr>
            <a:r>
              <a:rPr lang="en-US" sz="1700" b="1" dirty="0">
                <a:solidFill>
                  <a:srgbClr val="003366"/>
                </a:solidFill>
                <a:latin typeface="Arial" panose="020B0604020202020204" pitchFamily="34" charset="0"/>
                <a:ea typeface="Arial" panose="020B0604020202020204" pitchFamily="34" charset="-122"/>
                <a:cs typeface="Arial" panose="020B0604020202020204" pitchFamily="34" charset="-120"/>
              </a:rPr>
              <a:t>Why students remove it</a:t>
            </a:r>
            <a:endParaRPr lang="en-US" sz="1700" dirty="0"/>
          </a:p>
        </p:txBody>
      </p:sp>
      <p:sp>
        <p:nvSpPr>
          <p:cNvPr id="17" name="Text 15"/>
          <p:cNvSpPr txBox="1"/>
          <p:nvPr/>
        </p:nvSpPr>
        <p:spPr>
          <a:xfrm>
            <a:off x="804672" y="4828032"/>
            <a:ext cx="5522976" cy="950976"/>
          </a:xfrm>
          <a:prstGeom prst="rect">
            <a:avLst/>
          </a:prstGeom>
          <a:noFill/>
        </p:spPr>
        <p:txBody>
          <a:bodyPr wrap="square" lIns="0" tIns="0" rIns="0" bIns="0" rtlCol="0" anchor="t"/>
          <a:lstStyle/>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They find the default ring ugly</a:t>
            </a:r>
            <a:endParaRPr lang="en-US" sz="1300" dirty="0"/>
          </a:p>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A tutorial told them to</a:t>
            </a:r>
            <a:endParaRPr lang="en-US" sz="1300" dirty="0"/>
          </a:p>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Both are bad reasons. Restyle it, never delete it.</a:t>
            </a:r>
            <a:endParaRPr lang="en-US" sz="1300" dirty="0"/>
          </a:p>
        </p:txBody>
      </p:sp>
      <p:sp>
        <p:nvSpPr>
          <p:cNvPr id="18" name="Shape 16"/>
          <p:cNvSpPr/>
          <p:nvPr/>
        </p:nvSpPr>
        <p:spPr>
          <a:xfrm>
            <a:off x="6766560" y="3749040"/>
            <a:ext cx="4846320" cy="2194560"/>
          </a:xfrm>
          <a:prstGeom prst="roundRect">
            <a:avLst>
              <a:gd name="adj" fmla="val 3333"/>
            </a:avLst>
          </a:prstGeom>
          <a:solidFill>
            <a:srgbClr val="E7F4EE"/>
          </a:solidFill>
          <a:ln w="12700">
            <a:solidFill>
              <a:srgbClr val="E7F4EE"/>
            </a:solidFill>
            <a:prstDash val="solid"/>
          </a:ln>
          <a:effectLst>
            <a:outerShdw blurRad="76200" dist="12700" dir="5400000" algn="bl" rotWithShape="0">
              <a:srgbClr val="9AA9B8">
                <a:alpha val="18000"/>
              </a:srgbClr>
            </a:outerShdw>
          </a:effectLst>
        </p:spPr>
      </p:sp>
      <p:sp>
        <p:nvSpPr>
          <p:cNvPr id="19" name="Shape 17"/>
          <p:cNvSpPr/>
          <p:nvPr/>
        </p:nvSpPr>
        <p:spPr>
          <a:xfrm>
            <a:off x="6967728" y="3950208"/>
            <a:ext cx="384048" cy="384048"/>
          </a:xfrm>
          <a:prstGeom prst="ellipse">
            <a:avLst/>
          </a:prstGeom>
          <a:solidFill>
            <a:srgbClr val="1F7A55"/>
          </a:solidFill>
          <a:ln w="12700">
            <a:solidFill>
              <a:srgbClr val="1F7A55"/>
            </a:solidFill>
            <a:prstDash val="solid"/>
          </a:ln>
        </p:spPr>
      </p:sp>
      <p:sp>
        <p:nvSpPr>
          <p:cNvPr id="20" name="Text 18"/>
          <p:cNvSpPr txBox="1"/>
          <p:nvPr/>
        </p:nvSpPr>
        <p:spPr>
          <a:xfrm>
            <a:off x="6967728" y="395020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500" dirty="0"/>
          </a:p>
        </p:txBody>
      </p:sp>
      <p:sp>
        <p:nvSpPr>
          <p:cNvPr id="21" name="Text 19"/>
          <p:cNvSpPr txBox="1"/>
          <p:nvPr/>
        </p:nvSpPr>
        <p:spPr>
          <a:xfrm>
            <a:off x="7479792" y="3977640"/>
            <a:ext cx="3931920" cy="329184"/>
          </a:xfrm>
          <a:prstGeom prst="rect">
            <a:avLst/>
          </a:prstGeom>
          <a:noFill/>
        </p:spPr>
        <p:txBody>
          <a:bodyPr wrap="square" lIns="0" tIns="0" rIns="0" bIns="0" rtlCol="0" anchor="ctr"/>
          <a:lstStyle/>
          <a:p>
            <a:pPr marL="0" indent="0">
              <a:buNone/>
            </a:pPr>
            <a:r>
              <a:rPr lang="en-US" sz="1700" b="1" dirty="0">
                <a:solidFill>
                  <a:srgbClr val="003366"/>
                </a:solidFill>
                <a:latin typeface="Arial" panose="020B0604020202020204" pitchFamily="34" charset="0"/>
                <a:ea typeface="Arial" panose="020B0604020202020204" pitchFamily="34" charset="-122"/>
                <a:cs typeface="Arial" panose="020B0604020202020204" pitchFamily="34" charset="-120"/>
              </a:rPr>
              <a:t>Skip link</a:t>
            </a:r>
            <a:endParaRPr lang="en-US" sz="1700" dirty="0"/>
          </a:p>
        </p:txBody>
      </p:sp>
      <p:sp>
        <p:nvSpPr>
          <p:cNvPr id="22" name="Text 20"/>
          <p:cNvSpPr txBox="1"/>
          <p:nvPr/>
        </p:nvSpPr>
        <p:spPr>
          <a:xfrm>
            <a:off x="7022592" y="4370832"/>
            <a:ext cx="4334256" cy="1408176"/>
          </a:xfrm>
          <a:prstGeom prst="rect">
            <a:avLst/>
          </a:prstGeom>
          <a:noFill/>
        </p:spPr>
        <p:txBody>
          <a:bodyPr wrap="square" lIns="0" tIns="0" rIns="0" bIns="0" rtlCol="0" anchor="t"/>
          <a:lstStyle/>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The first focusable item on the page</a:t>
            </a:r>
            <a:endParaRPr lang="en-US" sz="1300" dirty="0"/>
          </a:p>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Jumps past the nav to main</a:t>
            </a:r>
            <a:endParaRPr lang="en-US" sz="1300" dirty="0"/>
          </a:p>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Usually hidden until it receives focus</a:t>
            </a:r>
            <a:endParaRPr lang="en-US" sz="1300" dirty="0"/>
          </a:p>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You already added one last class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p:spPr>
        <p:txBody>
          <a:bodyPr wrap="square" lIns="0" tIns="0" rIns="0" bIns="0" rtlCol="0" anchor="ctr"/>
          <a:lstStyle/>
          <a:p>
            <a:pPr marL="0" indent="0">
              <a:buNone/>
            </a:pPr>
            <a:r>
              <a:rPr lang="en-US" sz="1100" b="1" kern="0" spc="120" dirty="0">
                <a:solidFill>
                  <a:srgbClr val="E39A18"/>
                </a:solidFill>
                <a:latin typeface="Arial" panose="020B0604020202020204" pitchFamily="34" charset="0"/>
                <a:ea typeface="Arial" panose="020B0604020202020204" pitchFamily="34" charset="-122"/>
                <a:cs typeface="Arial" panose="020B0604020202020204" pitchFamily="34" charset="-120"/>
              </a:rPr>
              <a:t>THE SEVEN CHECKS</a:t>
            </a:r>
            <a:endParaRPr lang="en-US" sz="1100" dirty="0"/>
          </a:p>
        </p:txBody>
      </p:sp>
      <p:sp>
        <p:nvSpPr>
          <p:cNvPr id="3" name="Text 1"/>
          <p:cNvSpPr txBox="1"/>
          <p:nvPr/>
        </p:nvSpPr>
        <p:spPr>
          <a:xfrm>
            <a:off x="548640" y="658368"/>
            <a:ext cx="11064240" cy="566928"/>
          </a:xfrm>
          <a:prstGeom prst="rect">
            <a:avLst/>
          </a:prstGeom>
          <a:noFill/>
        </p:spPr>
        <p:txBody>
          <a:bodyPr wrap="square" lIns="0" tIns="0" rIns="0" bIns="0" rtlCol="0" anchor="ctr"/>
          <a:lstStyle/>
          <a:p>
            <a:pPr marL="0" indent="0">
              <a:buNone/>
            </a:pPr>
            <a:r>
              <a:rPr lang="en-US" sz="3200" b="1" dirty="0">
                <a:solidFill>
                  <a:srgbClr val="003366"/>
                </a:solidFill>
                <a:latin typeface="Arial" panose="020B0604020202020204" pitchFamily="34" charset="0"/>
                <a:ea typeface="Arial" panose="020B0604020202020204" pitchFamily="34" charset="-122"/>
                <a:cs typeface="Arial" panose="020B0604020202020204" pitchFamily="34" charset="-120"/>
              </a:rPr>
              <a:t>Check 7: Colour and Contrast</a:t>
            </a:r>
            <a:endParaRPr lang="en-US" sz="3200" dirty="0"/>
          </a:p>
        </p:txBody>
      </p:sp>
      <p:sp>
        <p:nvSpPr>
          <p:cNvPr id="4" name="Text 2"/>
          <p:cNvSpPr txBox="1"/>
          <p:nvPr/>
        </p:nvSpPr>
        <p:spPr>
          <a:xfrm>
            <a:off x="548640" y="6355080"/>
            <a:ext cx="5486400" cy="256032"/>
          </a:xfrm>
          <a:prstGeom prst="rect">
            <a:avLst/>
          </a:prstGeom>
          <a:noFill/>
        </p:spPr>
        <p:txBody>
          <a:bodyPr wrap="square" lIns="0" tIns="0" rIns="0" bIns="0" rtlCol="0" anchor="ctr"/>
          <a:lstStyle/>
          <a:p>
            <a:pPr marL="0" indent="0">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p:spPr>
        <p:txBody>
          <a:bodyPr wrap="square" lIns="0" tIns="0" rIns="0" bIns="0" rtlCol="0" anchor="ctr"/>
          <a:lstStyle/>
          <a:p>
            <a:pPr marL="0" indent="0" algn="r">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11</a:t>
            </a:r>
            <a:endParaRPr lang="en-US" sz="900" dirty="0"/>
          </a:p>
        </p:txBody>
      </p:sp>
      <p:sp>
        <p:nvSpPr>
          <p:cNvPr id="6" name="Shape 4"/>
          <p:cNvSpPr/>
          <p:nvPr/>
        </p:nvSpPr>
        <p:spPr>
          <a:xfrm>
            <a:off x="548640" y="1371600"/>
            <a:ext cx="3566160" cy="2286000"/>
          </a:xfrm>
          <a:prstGeom prst="roundRect">
            <a:avLst>
              <a:gd name="adj" fmla="val 3200"/>
            </a:avLst>
          </a:prstGeom>
          <a:solidFill>
            <a:srgbClr val="F2F5F8"/>
          </a:solidFill>
          <a:ln w="12700">
            <a:solidFill>
              <a:srgbClr val="F2F5F8"/>
            </a:solidFill>
            <a:prstDash val="solid"/>
          </a:ln>
          <a:effectLst>
            <a:outerShdw blurRad="76200" dist="12700" dir="5400000" algn="bl" rotWithShape="0">
              <a:srgbClr val="9AA9B8">
                <a:alpha val="18000"/>
              </a:srgbClr>
            </a:outerShdw>
          </a:effectLst>
        </p:spPr>
      </p:sp>
      <p:sp>
        <p:nvSpPr>
          <p:cNvPr id="7" name="Text 5"/>
          <p:cNvSpPr txBox="1"/>
          <p:nvPr/>
        </p:nvSpPr>
        <p:spPr>
          <a:xfrm>
            <a:off x="804672" y="1572768"/>
            <a:ext cx="3054096" cy="329184"/>
          </a:xfrm>
          <a:prstGeom prst="rect">
            <a:avLst/>
          </a:prstGeom>
          <a:noFill/>
        </p:spPr>
        <p:txBody>
          <a:bodyPr wrap="square" lIns="0" tIns="0" rIns="0" bIns="0" rtlCol="0" anchor="ctr"/>
          <a:lstStyle/>
          <a:p>
            <a:pPr marL="0" indent="0">
              <a:buNone/>
            </a:pPr>
            <a:r>
              <a:rPr lang="en-US" sz="1700" b="1" dirty="0">
                <a:solidFill>
                  <a:srgbClr val="003366"/>
                </a:solidFill>
                <a:latin typeface="Arial" panose="020B0604020202020204" pitchFamily="34" charset="0"/>
                <a:ea typeface="Arial" panose="020B0604020202020204" pitchFamily="34" charset="-122"/>
                <a:cs typeface="Arial" panose="020B0604020202020204" pitchFamily="34" charset="-120"/>
              </a:rPr>
              <a:t>The numbers</a:t>
            </a:r>
            <a:endParaRPr lang="en-US" sz="1700" dirty="0"/>
          </a:p>
        </p:txBody>
      </p:sp>
      <p:sp>
        <p:nvSpPr>
          <p:cNvPr id="8" name="Text 6"/>
          <p:cNvSpPr txBox="1"/>
          <p:nvPr/>
        </p:nvSpPr>
        <p:spPr>
          <a:xfrm>
            <a:off x="804672" y="1993392"/>
            <a:ext cx="3054096" cy="1499616"/>
          </a:xfrm>
          <a:prstGeom prst="rect">
            <a:avLst/>
          </a:prstGeom>
          <a:noFill/>
        </p:spPr>
        <p:txBody>
          <a:bodyPr wrap="square" lIns="0" tIns="0" rIns="0" bIns="0" rtlCol="0" anchor="t"/>
          <a:lstStyle/>
          <a:p>
            <a:pPr marL="342900" indent="-342900">
              <a:spcAft>
                <a:spcPts val="6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Normal text: 4.5 to 1</a:t>
            </a:r>
            <a:endParaRPr lang="en-US" sz="1350" dirty="0"/>
          </a:p>
          <a:p>
            <a:pPr marL="342900" indent="-342900">
              <a:spcAft>
                <a:spcPts val="6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Large text (24px+): 3 to 1</a:t>
            </a:r>
            <a:endParaRPr lang="en-US" sz="1350" dirty="0"/>
          </a:p>
          <a:p>
            <a:pPr marL="342900" indent="-342900">
              <a:spcAft>
                <a:spcPts val="6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Interface borders: 3 to 1</a:t>
            </a:r>
            <a:endParaRPr lang="en-US" sz="1350" dirty="0"/>
          </a:p>
        </p:txBody>
      </p:sp>
      <p:sp>
        <p:nvSpPr>
          <p:cNvPr id="9" name="Shape 7"/>
          <p:cNvSpPr/>
          <p:nvPr/>
        </p:nvSpPr>
        <p:spPr>
          <a:xfrm>
            <a:off x="4343400" y="1371600"/>
            <a:ext cx="3566160" cy="2286000"/>
          </a:xfrm>
          <a:prstGeom prst="roundRect">
            <a:avLst>
              <a:gd name="adj" fmla="val 3200"/>
            </a:avLst>
          </a:prstGeom>
          <a:solidFill>
            <a:srgbClr val="F2F5F8"/>
          </a:solidFill>
          <a:ln w="12700">
            <a:solidFill>
              <a:srgbClr val="D6DEE6"/>
            </a:solidFill>
            <a:prstDash val="solid"/>
          </a:ln>
        </p:spPr>
      </p:sp>
      <p:sp>
        <p:nvSpPr>
          <p:cNvPr id="10" name="Text 8"/>
          <p:cNvSpPr txBox="1"/>
          <p:nvPr/>
        </p:nvSpPr>
        <p:spPr>
          <a:xfrm>
            <a:off x="4526280" y="1508760"/>
            <a:ext cx="3200400" cy="274320"/>
          </a:xfrm>
          <a:prstGeom prst="rect">
            <a:avLst/>
          </a:prstGeom>
          <a:noFill/>
        </p:spPr>
        <p:txBody>
          <a:bodyPr wrap="square" lIns="0" tIns="0" rIns="0" bIns="0" rtlCol="0" anchor="ctr"/>
          <a:lstStyle/>
          <a:p>
            <a:pPr marL="0" indent="0">
              <a:buNone/>
            </a:pPr>
            <a:r>
              <a:rPr lang="en-US" sz="1400" b="1" dirty="0">
                <a:solidFill>
                  <a:srgbClr val="B3261E"/>
                </a:solidFill>
                <a:latin typeface="Arial" panose="020B0604020202020204" pitchFamily="34" charset="0"/>
                <a:ea typeface="Arial" panose="020B0604020202020204" pitchFamily="34" charset="-122"/>
                <a:cs typeface="Arial" panose="020B0604020202020204" pitchFamily="34" charset="-120"/>
              </a:rPr>
              <a:t>Fails</a:t>
            </a:r>
            <a:endParaRPr lang="en-US" sz="1400" dirty="0"/>
          </a:p>
        </p:txBody>
      </p:sp>
      <p:sp>
        <p:nvSpPr>
          <p:cNvPr id="11" name="Text 9"/>
          <p:cNvSpPr txBox="1"/>
          <p:nvPr/>
        </p:nvSpPr>
        <p:spPr>
          <a:xfrm>
            <a:off x="4526280" y="1874520"/>
            <a:ext cx="3200400" cy="320040"/>
          </a:xfrm>
          <a:prstGeom prst="rect">
            <a:avLst/>
          </a:prstGeom>
          <a:noFill/>
        </p:spPr>
        <p:txBody>
          <a:bodyPr wrap="square" lIns="0" tIns="0" rIns="0" bIns="0" rtlCol="0" anchor="ctr"/>
          <a:lstStyle/>
          <a:p>
            <a:pPr marL="0" indent="0">
              <a:buNone/>
            </a:pPr>
            <a:r>
              <a:rPr lang="en-US" sz="1400" dirty="0">
                <a:solidFill>
                  <a:srgbClr val="C9CFD6"/>
                </a:solidFill>
                <a:latin typeface="Arial" panose="020B0604020202020204" pitchFamily="34" charset="0"/>
                <a:ea typeface="Arial" panose="020B0604020202020204" pitchFamily="34" charset="-122"/>
                <a:cs typeface="Arial" panose="020B0604020202020204" pitchFamily="34" charset="-120"/>
              </a:rPr>
              <a:t>Light grey text on white</a:t>
            </a:r>
            <a:endParaRPr lang="en-US" sz="1400" dirty="0"/>
          </a:p>
        </p:txBody>
      </p:sp>
      <p:sp>
        <p:nvSpPr>
          <p:cNvPr id="12" name="Text 10"/>
          <p:cNvSpPr txBox="1"/>
          <p:nvPr/>
        </p:nvSpPr>
        <p:spPr>
          <a:xfrm>
            <a:off x="4526280" y="2240280"/>
            <a:ext cx="3200400" cy="320040"/>
          </a:xfrm>
          <a:prstGeom prst="rect">
            <a:avLst/>
          </a:prstGeom>
          <a:noFill/>
        </p:spPr>
        <p:txBody>
          <a:bodyPr wrap="square" lIns="0" tIns="0" rIns="0" bIns="0" rtlCol="0" anchor="ctr"/>
          <a:lstStyle/>
          <a:p>
            <a:pPr marL="0" indent="0">
              <a:buNone/>
            </a:pPr>
            <a:r>
              <a:rPr lang="en-US" sz="1400" dirty="0">
                <a:solidFill>
                  <a:srgbClr val="F0C64B"/>
                </a:solidFill>
                <a:latin typeface="Arial" panose="020B0604020202020204" pitchFamily="34" charset="0"/>
                <a:ea typeface="Arial" panose="020B0604020202020204" pitchFamily="34" charset="-122"/>
                <a:cs typeface="Arial" panose="020B0604020202020204" pitchFamily="34" charset="-120"/>
              </a:rPr>
              <a:t>Yellow text on white</a:t>
            </a:r>
            <a:endParaRPr lang="en-US" sz="1400" dirty="0"/>
          </a:p>
        </p:txBody>
      </p:sp>
      <p:sp>
        <p:nvSpPr>
          <p:cNvPr id="13" name="Text 11"/>
          <p:cNvSpPr txBox="1"/>
          <p:nvPr/>
        </p:nvSpPr>
        <p:spPr>
          <a:xfrm>
            <a:off x="4526280" y="2697480"/>
            <a:ext cx="3200400" cy="274320"/>
          </a:xfrm>
          <a:prstGeom prst="rect">
            <a:avLst/>
          </a:prstGeom>
          <a:noFill/>
        </p:spPr>
        <p:txBody>
          <a:bodyPr wrap="square" lIns="0" tIns="0" rIns="0" bIns="0" rtlCol="0" anchor="ctr"/>
          <a:lstStyle/>
          <a:p>
            <a:pPr marL="0" indent="0">
              <a:buNone/>
            </a:pPr>
            <a:r>
              <a:rPr lang="en-US" sz="1400" b="1" dirty="0">
                <a:solidFill>
                  <a:srgbClr val="1F7A55"/>
                </a:solidFill>
                <a:latin typeface="Arial" panose="020B0604020202020204" pitchFamily="34" charset="0"/>
                <a:ea typeface="Arial" panose="020B0604020202020204" pitchFamily="34" charset="-122"/>
                <a:cs typeface="Arial" panose="020B0604020202020204" pitchFamily="34" charset="-120"/>
              </a:rPr>
              <a:t>Passes</a:t>
            </a:r>
            <a:endParaRPr lang="en-US" sz="1400" dirty="0"/>
          </a:p>
        </p:txBody>
      </p:sp>
      <p:sp>
        <p:nvSpPr>
          <p:cNvPr id="14" name="Text 12"/>
          <p:cNvSpPr txBox="1"/>
          <p:nvPr/>
        </p:nvSpPr>
        <p:spPr>
          <a:xfrm>
            <a:off x="4526280" y="3063240"/>
            <a:ext cx="3200400" cy="320040"/>
          </a:xfrm>
          <a:prstGeom prst="rect">
            <a:avLst/>
          </a:prstGeom>
          <a:noFill/>
        </p:spPr>
        <p:txBody>
          <a:bodyPr wrap="square" lIns="0" tIns="0" rIns="0" bIns="0" rtlCol="0" anchor="ctr"/>
          <a:lstStyle/>
          <a:p>
            <a:pPr marL="0" indent="0">
              <a:buNone/>
            </a:pPr>
            <a:r>
              <a:rPr lang="en-US" sz="1400" dirty="0">
                <a:solidFill>
                  <a:srgbClr val="003366"/>
                </a:solidFill>
                <a:latin typeface="Arial" panose="020B0604020202020204" pitchFamily="34" charset="0"/>
                <a:ea typeface="Arial" panose="020B0604020202020204" pitchFamily="34" charset="-122"/>
                <a:cs typeface="Arial" panose="020B0604020202020204" pitchFamily="34" charset="-120"/>
              </a:rPr>
              <a:t>Dark navy text on white</a:t>
            </a:r>
            <a:endParaRPr lang="en-US" sz="1400" dirty="0"/>
          </a:p>
        </p:txBody>
      </p:sp>
      <p:sp>
        <p:nvSpPr>
          <p:cNvPr id="15" name="Shape 13"/>
          <p:cNvSpPr/>
          <p:nvPr/>
        </p:nvSpPr>
        <p:spPr>
          <a:xfrm>
            <a:off x="8046720" y="1371600"/>
            <a:ext cx="3566160" cy="2286000"/>
          </a:xfrm>
          <a:prstGeom prst="roundRect">
            <a:avLst>
              <a:gd name="adj" fmla="val 3200"/>
            </a:avLst>
          </a:prstGeom>
          <a:solidFill>
            <a:srgbClr val="E8EEF4"/>
          </a:solidFill>
          <a:ln w="12700">
            <a:solidFill>
              <a:srgbClr val="E8EEF4"/>
            </a:solidFill>
            <a:prstDash val="solid"/>
          </a:ln>
          <a:effectLst>
            <a:outerShdw blurRad="76200" dist="12700" dir="5400000" algn="bl" rotWithShape="0">
              <a:srgbClr val="9AA9B8">
                <a:alpha val="18000"/>
              </a:srgbClr>
            </a:outerShdw>
          </a:effectLst>
        </p:spPr>
      </p:sp>
      <p:sp>
        <p:nvSpPr>
          <p:cNvPr id="16" name="Text 14"/>
          <p:cNvSpPr txBox="1"/>
          <p:nvPr/>
        </p:nvSpPr>
        <p:spPr>
          <a:xfrm>
            <a:off x="8302752" y="1572768"/>
            <a:ext cx="3054096" cy="329184"/>
          </a:xfrm>
          <a:prstGeom prst="rect">
            <a:avLst/>
          </a:prstGeom>
          <a:noFill/>
        </p:spPr>
        <p:txBody>
          <a:bodyPr wrap="square" lIns="0" tIns="0" rIns="0" bIns="0" rtlCol="0" anchor="ctr"/>
          <a:lstStyle/>
          <a:p>
            <a:pPr marL="0" indent="0">
              <a:buNone/>
            </a:pPr>
            <a:r>
              <a:rPr lang="en-US" sz="1700" b="1" dirty="0">
                <a:solidFill>
                  <a:srgbClr val="003366"/>
                </a:solidFill>
                <a:latin typeface="Arial" panose="020B0604020202020204" pitchFamily="34" charset="0"/>
                <a:ea typeface="Arial" panose="020B0604020202020204" pitchFamily="34" charset="-122"/>
                <a:cs typeface="Arial" panose="020B0604020202020204" pitchFamily="34" charset="-120"/>
              </a:rPr>
              <a:t>How to check</a:t>
            </a:r>
            <a:endParaRPr lang="en-US" sz="1700" dirty="0"/>
          </a:p>
        </p:txBody>
      </p:sp>
      <p:sp>
        <p:nvSpPr>
          <p:cNvPr id="17" name="Text 15"/>
          <p:cNvSpPr txBox="1"/>
          <p:nvPr/>
        </p:nvSpPr>
        <p:spPr>
          <a:xfrm>
            <a:off x="8302752" y="1993392"/>
            <a:ext cx="3054096" cy="1499616"/>
          </a:xfrm>
          <a:prstGeom prst="rect">
            <a:avLst/>
          </a:prstGeom>
          <a:noFill/>
        </p:spPr>
        <p:txBody>
          <a:bodyPr wrap="square" lIns="0" tIns="0" rIns="0" bIns="0" rtlCol="0" anchor="t"/>
          <a:lstStyle/>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DevTools: click a colour swatch and read the contrast ratio</a:t>
            </a:r>
            <a:endParaRPr lang="en-US" sz="1300" dirty="0"/>
          </a:p>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Lighthouse reports every failure</a:t>
            </a:r>
            <a:endParaRPr lang="en-US" sz="1300" dirty="0"/>
          </a:p>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WebAIM contrast checker online</a:t>
            </a:r>
            <a:endParaRPr lang="en-US" sz="1300" dirty="0"/>
          </a:p>
        </p:txBody>
      </p:sp>
      <p:sp>
        <p:nvSpPr>
          <p:cNvPr id="18" name="Shape 16"/>
          <p:cNvSpPr/>
          <p:nvPr/>
        </p:nvSpPr>
        <p:spPr>
          <a:xfrm>
            <a:off x="548640" y="3886200"/>
            <a:ext cx="5486400" cy="2057400"/>
          </a:xfrm>
          <a:prstGeom prst="roundRect">
            <a:avLst>
              <a:gd name="adj" fmla="val 3556"/>
            </a:avLst>
          </a:prstGeom>
          <a:solidFill>
            <a:srgbClr val="FBEAE8"/>
          </a:solidFill>
          <a:ln w="12700">
            <a:solidFill>
              <a:srgbClr val="FBEAE8"/>
            </a:solidFill>
            <a:prstDash val="solid"/>
          </a:ln>
          <a:effectLst>
            <a:outerShdw blurRad="76200" dist="12700" dir="5400000" algn="bl" rotWithShape="0">
              <a:srgbClr val="9AA9B8">
                <a:alpha val="18000"/>
              </a:srgbClr>
            </a:outerShdw>
          </a:effectLst>
        </p:spPr>
      </p:sp>
      <p:sp>
        <p:nvSpPr>
          <p:cNvPr id="19" name="Text 17"/>
          <p:cNvSpPr txBox="1"/>
          <p:nvPr/>
        </p:nvSpPr>
        <p:spPr>
          <a:xfrm>
            <a:off x="804672" y="4087368"/>
            <a:ext cx="4974336" cy="329184"/>
          </a:xfrm>
          <a:prstGeom prst="rect">
            <a:avLst/>
          </a:prstGeom>
          <a:noFill/>
        </p:spPr>
        <p:txBody>
          <a:bodyPr wrap="square" lIns="0" tIns="0" rIns="0" bIns="0" rtlCol="0" anchor="ctr"/>
          <a:lstStyle/>
          <a:p>
            <a:pPr marL="0" indent="0">
              <a:buNone/>
            </a:pPr>
            <a:r>
              <a:rPr lang="en-US" sz="1700" b="1" dirty="0">
                <a:solidFill>
                  <a:srgbClr val="B3261E"/>
                </a:solidFill>
                <a:latin typeface="Arial" panose="020B0604020202020204" pitchFamily="34" charset="0"/>
                <a:ea typeface="Arial" panose="020B0604020202020204" pitchFamily="34" charset="-122"/>
                <a:cs typeface="Arial" panose="020B0604020202020204" pitchFamily="34" charset="-120"/>
              </a:rPr>
              <a:t>Never use colour alone</a:t>
            </a:r>
            <a:endParaRPr lang="en-US" sz="1700" dirty="0"/>
          </a:p>
        </p:txBody>
      </p:sp>
      <p:sp>
        <p:nvSpPr>
          <p:cNvPr id="20" name="Text 18"/>
          <p:cNvSpPr txBox="1"/>
          <p:nvPr/>
        </p:nvSpPr>
        <p:spPr>
          <a:xfrm>
            <a:off x="804672" y="4507992"/>
            <a:ext cx="4974336" cy="1271016"/>
          </a:xfrm>
          <a:prstGeom prst="rect">
            <a:avLst/>
          </a:prstGeom>
          <a:noFill/>
        </p:spPr>
        <p:txBody>
          <a:bodyPr wrap="square" lIns="0" tIns="0" rIns="0" bIns="0" rtlCol="0" anchor="t"/>
          <a:lstStyle/>
          <a:p>
            <a:pPr marL="342900" indent="-342900">
              <a:spcAft>
                <a:spcPts val="6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"Fields in red are required" - invisible to a colour blind user</a:t>
            </a:r>
            <a:endParaRPr lang="en-US" sz="1350" dirty="0"/>
          </a:p>
          <a:p>
            <a:pPr marL="342900" indent="-342900">
              <a:spcAft>
                <a:spcPts val="6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Add a symbol, a word, or an icon as well</a:t>
            </a:r>
            <a:endParaRPr lang="en-US" sz="1350" dirty="0"/>
          </a:p>
        </p:txBody>
      </p:sp>
      <p:sp>
        <p:nvSpPr>
          <p:cNvPr id="21" name="Shape 19"/>
          <p:cNvSpPr/>
          <p:nvPr/>
        </p:nvSpPr>
        <p:spPr>
          <a:xfrm>
            <a:off x="6309360" y="3886200"/>
            <a:ext cx="5303520" cy="2057400"/>
          </a:xfrm>
          <a:prstGeom prst="roundRect">
            <a:avLst>
              <a:gd name="adj" fmla="val 3556"/>
            </a:avLst>
          </a:prstGeom>
          <a:solidFill>
            <a:srgbClr val="E7F4EE"/>
          </a:solidFill>
          <a:ln w="12700">
            <a:solidFill>
              <a:srgbClr val="E7F4EE"/>
            </a:solidFill>
            <a:prstDash val="solid"/>
          </a:ln>
          <a:effectLst>
            <a:outerShdw blurRad="76200" dist="12700" dir="5400000" algn="bl" rotWithShape="0">
              <a:srgbClr val="9AA9B8">
                <a:alpha val="18000"/>
              </a:srgbClr>
            </a:outerShdw>
          </a:effectLst>
        </p:spPr>
      </p:sp>
      <p:sp>
        <p:nvSpPr>
          <p:cNvPr id="22" name="Shape 20"/>
          <p:cNvSpPr/>
          <p:nvPr/>
        </p:nvSpPr>
        <p:spPr>
          <a:xfrm>
            <a:off x="6510528" y="4087368"/>
            <a:ext cx="384048" cy="384048"/>
          </a:xfrm>
          <a:prstGeom prst="ellipse">
            <a:avLst/>
          </a:prstGeom>
          <a:solidFill>
            <a:srgbClr val="1F7A55"/>
          </a:solidFill>
          <a:ln w="12700">
            <a:solidFill>
              <a:srgbClr val="1F7A55"/>
            </a:solidFill>
            <a:prstDash val="solid"/>
          </a:ln>
        </p:spPr>
      </p:sp>
      <p:sp>
        <p:nvSpPr>
          <p:cNvPr id="23" name="Text 21"/>
          <p:cNvSpPr txBox="1"/>
          <p:nvPr/>
        </p:nvSpPr>
        <p:spPr>
          <a:xfrm>
            <a:off x="6510528" y="408736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500" dirty="0"/>
          </a:p>
        </p:txBody>
      </p:sp>
      <p:sp>
        <p:nvSpPr>
          <p:cNvPr id="24" name="Text 22"/>
          <p:cNvSpPr txBox="1"/>
          <p:nvPr/>
        </p:nvSpPr>
        <p:spPr>
          <a:xfrm>
            <a:off x="7022592" y="4114800"/>
            <a:ext cx="4389120" cy="329184"/>
          </a:xfrm>
          <a:prstGeom prst="rect">
            <a:avLst/>
          </a:prstGeom>
          <a:noFill/>
        </p:spPr>
        <p:txBody>
          <a:bodyPr wrap="square" lIns="0" tIns="0" rIns="0" bIns="0" rtlCol="0" anchor="ctr"/>
          <a:lstStyle/>
          <a:p>
            <a:pPr marL="0" indent="0">
              <a:buNone/>
            </a:pPr>
            <a:r>
              <a:rPr lang="en-US" sz="1700" b="1" dirty="0">
                <a:solidFill>
                  <a:srgbClr val="003366"/>
                </a:solidFill>
                <a:latin typeface="Arial" panose="020B0604020202020204" pitchFamily="34" charset="0"/>
                <a:ea typeface="Arial" panose="020B0604020202020204" pitchFamily="34" charset="-122"/>
                <a:cs typeface="Arial" panose="020B0604020202020204" pitchFamily="34" charset="-120"/>
              </a:rPr>
              <a:t>The fix</a:t>
            </a:r>
            <a:endParaRPr lang="en-US" sz="1700" dirty="0"/>
          </a:p>
        </p:txBody>
      </p:sp>
      <p:sp>
        <p:nvSpPr>
          <p:cNvPr id="25" name="Text 23"/>
          <p:cNvSpPr txBox="1"/>
          <p:nvPr/>
        </p:nvSpPr>
        <p:spPr>
          <a:xfrm>
            <a:off x="6565392" y="4507992"/>
            <a:ext cx="4791456" cy="1271016"/>
          </a:xfrm>
          <a:prstGeom prst="rect">
            <a:avLst/>
          </a:prstGeom>
          <a:noFill/>
        </p:spPr>
        <p:txBody>
          <a:bodyPr wrap="square" lIns="0" tIns="0" rIns="0" bIns="0" rtlCol="0" anchor="t"/>
          <a:lstStyle/>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Required fields: add the word Required or a * with an explanation</a:t>
            </a:r>
            <a:endParaRPr lang="en-US" sz="1300" dirty="0"/>
          </a:p>
          <a:p>
            <a:pPr marL="342900" indent="-342900">
              <a:spcAft>
                <a:spcPts val="600"/>
              </a:spcAft>
              <a:buSzPct val="100000"/>
              <a:buChar char="•"/>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Errors: add an icon and a text message, not just a red border</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
        <p:cNvGrpSpPr/>
        <p:nvPr/>
      </p:nvGrpSpPr>
      <p:grpSpPr>
        <a:xfrm>
          <a:off x="0" y="0"/>
          <a:ext cx="0" cy="0"/>
          <a:chOff x="0" y="0"/>
          <a:chExt cx="0" cy="0"/>
        </a:xfrm>
      </p:grpSpPr>
      <p:sp>
        <p:nvSpPr>
          <p:cNvPr id="2" name="Shape 0"/>
          <p:cNvSpPr/>
          <p:nvPr/>
        </p:nvSpPr>
        <p:spPr>
          <a:xfrm>
            <a:off x="10241280" y="4480560"/>
            <a:ext cx="2743200" cy="2743200"/>
          </a:xfrm>
          <a:prstGeom prst="ellipse">
            <a:avLst/>
          </a:prstGeom>
          <a:solidFill>
            <a:srgbClr val="07386A"/>
          </a:solidFill>
          <a:ln w="12700">
            <a:solidFill>
              <a:srgbClr val="07386A"/>
            </a:solidFill>
            <a:prstDash val="solid"/>
          </a:ln>
        </p:spPr>
      </p:sp>
      <p:sp>
        <p:nvSpPr>
          <p:cNvPr id="3" name="Text 1"/>
          <p:cNvSpPr txBox="1"/>
          <p:nvPr/>
        </p:nvSpPr>
        <p:spPr>
          <a:xfrm>
            <a:off x="548640" y="2057400"/>
            <a:ext cx="1828800" cy="822960"/>
          </a:xfrm>
          <a:prstGeom prst="rect">
            <a:avLst/>
          </a:prstGeom>
          <a:noFill/>
        </p:spPr>
        <p:txBody>
          <a:bodyPr wrap="square" lIns="0" tIns="0" rIns="0" bIns="0" rtlCol="0" anchor="ctr"/>
          <a:lstStyle/>
          <a:p>
            <a:pPr marL="0" indent="0">
              <a:buNone/>
            </a:pPr>
            <a:r>
              <a:rPr lang="en-US" sz="6400" b="1" dirty="0">
                <a:solidFill>
                  <a:srgbClr val="E39A18"/>
                </a:solidFill>
                <a:latin typeface="Arial" panose="020B0604020202020204" pitchFamily="34" charset="0"/>
                <a:ea typeface="Arial" panose="020B0604020202020204" pitchFamily="34" charset="-122"/>
                <a:cs typeface="Arial" panose="020B0604020202020204" pitchFamily="34" charset="-120"/>
              </a:rPr>
              <a:t>01</a:t>
            </a:r>
            <a:endParaRPr lang="en-US" sz="6400" dirty="0"/>
          </a:p>
        </p:txBody>
      </p:sp>
      <p:sp>
        <p:nvSpPr>
          <p:cNvPr id="4" name="Text 2"/>
          <p:cNvSpPr txBox="1"/>
          <p:nvPr/>
        </p:nvSpPr>
        <p:spPr>
          <a:xfrm>
            <a:off x="548640" y="2971800"/>
            <a:ext cx="10058400" cy="731520"/>
          </a:xfrm>
          <a:prstGeom prst="rect">
            <a:avLst/>
          </a:prstGeom>
          <a:noFill/>
        </p:spPr>
        <p:txBody>
          <a:bodyPr wrap="square" lIns="0" tIns="0" rIns="0" bIns="0" rtlCol="0" anchor="ctr"/>
          <a:lstStyle/>
          <a:p>
            <a:pPr marL="0" indent="0">
              <a:buNone/>
            </a:pPr>
            <a:r>
              <a:rPr lang="en-US" sz="3800" b="1" dirty="0">
                <a:solidFill>
                  <a:srgbClr val="FFFFFF"/>
                </a:solidFill>
                <a:latin typeface="Arial" panose="020B0604020202020204" pitchFamily="34" charset="0"/>
                <a:ea typeface="Arial" panose="020B0604020202020204" pitchFamily="34" charset="-122"/>
                <a:cs typeface="Arial" panose="020B0604020202020204" pitchFamily="34" charset="-120"/>
              </a:rPr>
              <a:t>Live Audit: Fix the Broken Page</a:t>
            </a:r>
            <a:endParaRPr lang="en-US" sz="3800" dirty="0"/>
          </a:p>
        </p:txBody>
      </p:sp>
      <p:sp>
        <p:nvSpPr>
          <p:cNvPr id="5" name="Text 3"/>
          <p:cNvSpPr txBox="1"/>
          <p:nvPr/>
        </p:nvSpPr>
        <p:spPr>
          <a:xfrm>
            <a:off x="548640" y="3749040"/>
            <a:ext cx="9601200" cy="457200"/>
          </a:xfrm>
          <a:prstGeom prst="rect">
            <a:avLst/>
          </a:prstGeom>
          <a:noFill/>
        </p:spPr>
        <p:txBody>
          <a:bodyPr wrap="square" lIns="0" tIns="0" rIns="0" bIns="0" rtlCol="0" anchor="ctr"/>
          <a:lstStyle/>
          <a:p>
            <a:pPr marL="0" indent="0">
              <a:buNone/>
            </a:pPr>
            <a:r>
              <a:rPr lang="en-US" sz="1500" dirty="0">
                <a:solidFill>
                  <a:srgbClr val="9FC0DE"/>
                </a:solidFill>
                <a:latin typeface="Arial" panose="020B0604020202020204" pitchFamily="34" charset="0"/>
                <a:ea typeface="Arial" panose="020B0604020202020204" pitchFamily="34" charset="-122"/>
                <a:cs typeface="Arial" panose="020B0604020202020204" pitchFamily="34" charset="-120"/>
              </a:rPr>
              <a:t>Open week2-class2-inaccessible.html. We find every problem and fix it together.</a:t>
            </a:r>
            <a:endParaRPr lang="en-US" sz="1500" dirty="0"/>
          </a:p>
        </p:txBody>
      </p:sp>
      <p:sp>
        <p:nvSpPr>
          <p:cNvPr id="6" name="Text 4"/>
          <p:cNvSpPr txBox="1"/>
          <p:nvPr/>
        </p:nvSpPr>
        <p:spPr>
          <a:xfrm>
            <a:off x="10972800" y="6355080"/>
            <a:ext cx="667512" cy="256032"/>
          </a:xfrm>
          <a:prstGeom prst="rect">
            <a:avLst/>
          </a:prstGeom>
          <a:noFill/>
        </p:spPr>
        <p:txBody>
          <a:bodyPr wrap="square" lIns="0" tIns="0" rIns="0" bIns="0" rtlCol="0" anchor="ctr"/>
          <a:lstStyle/>
          <a:p>
            <a:pPr marL="0" indent="0" algn="r">
              <a:buNone/>
            </a:pPr>
            <a:r>
              <a:rPr lang="en-US" sz="900" dirty="0">
                <a:solidFill>
                  <a:srgbClr val="6E93B8"/>
                </a:solidFill>
                <a:latin typeface="Arial" panose="020B0604020202020204" pitchFamily="34" charset="0"/>
                <a:ea typeface="Arial" panose="020B0604020202020204" pitchFamily="34" charset="-122"/>
                <a:cs typeface="Arial" panose="020B0604020202020204"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p:spPr>
        <p:txBody>
          <a:bodyPr wrap="square" lIns="0" tIns="0" rIns="0" bIns="0" rtlCol="0" anchor="ctr"/>
          <a:lstStyle/>
          <a:p>
            <a:pPr marL="0" indent="0">
              <a:buNone/>
            </a:pPr>
            <a:r>
              <a:rPr lang="en-US" sz="1100" b="1" kern="0" spc="120" dirty="0">
                <a:solidFill>
                  <a:srgbClr val="E39A18"/>
                </a:solidFill>
                <a:latin typeface="Arial" panose="020B0604020202020204" pitchFamily="34" charset="0"/>
                <a:ea typeface="Arial" panose="020B0604020202020204" pitchFamily="34" charset="-122"/>
                <a:cs typeface="Arial" panose="020B0604020202020204" pitchFamily="34" charset="-120"/>
              </a:rPr>
              <a:t>LIVE AUDIT</a:t>
            </a:r>
            <a:endParaRPr lang="en-US" sz="1100" dirty="0"/>
          </a:p>
        </p:txBody>
      </p:sp>
      <p:sp>
        <p:nvSpPr>
          <p:cNvPr id="3" name="Text 1"/>
          <p:cNvSpPr txBox="1"/>
          <p:nvPr/>
        </p:nvSpPr>
        <p:spPr>
          <a:xfrm>
            <a:off x="548640" y="658368"/>
            <a:ext cx="11064240" cy="566928"/>
          </a:xfrm>
          <a:prstGeom prst="rect">
            <a:avLst/>
          </a:prstGeom>
          <a:noFill/>
        </p:spPr>
        <p:txBody>
          <a:bodyPr wrap="square" lIns="0" tIns="0" rIns="0" bIns="0" rtlCol="0" anchor="ctr"/>
          <a:lstStyle/>
          <a:p>
            <a:pPr marL="0" indent="0">
              <a:buNone/>
            </a:pPr>
            <a:r>
              <a:rPr lang="en-US" sz="3200" b="1" dirty="0">
                <a:solidFill>
                  <a:srgbClr val="003366"/>
                </a:solidFill>
                <a:latin typeface="Arial" panose="020B0604020202020204" pitchFamily="34" charset="0"/>
                <a:ea typeface="Arial" panose="020B0604020202020204" pitchFamily="34" charset="-122"/>
                <a:cs typeface="Arial" panose="020B0604020202020204" pitchFamily="34" charset="-120"/>
              </a:rPr>
              <a:t>Running a Lighthouse Audit</a:t>
            </a:r>
            <a:endParaRPr lang="en-US" sz="3200" dirty="0"/>
          </a:p>
        </p:txBody>
      </p:sp>
      <p:sp>
        <p:nvSpPr>
          <p:cNvPr id="4" name="Text 2"/>
          <p:cNvSpPr txBox="1"/>
          <p:nvPr/>
        </p:nvSpPr>
        <p:spPr>
          <a:xfrm>
            <a:off x="548640" y="6355080"/>
            <a:ext cx="5486400" cy="256032"/>
          </a:xfrm>
          <a:prstGeom prst="rect">
            <a:avLst/>
          </a:prstGeom>
          <a:noFill/>
        </p:spPr>
        <p:txBody>
          <a:bodyPr wrap="square" lIns="0" tIns="0" rIns="0" bIns="0" rtlCol="0" anchor="ctr"/>
          <a:lstStyle/>
          <a:p>
            <a:pPr marL="0" indent="0">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p:spPr>
        <p:txBody>
          <a:bodyPr wrap="square" lIns="0" tIns="0" rIns="0" bIns="0" rtlCol="0" anchor="ctr"/>
          <a:lstStyle/>
          <a:p>
            <a:pPr marL="0" indent="0" algn="r">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13</a:t>
            </a:r>
            <a:endParaRPr lang="en-US" sz="900" dirty="0"/>
          </a:p>
        </p:txBody>
      </p:sp>
      <p:sp>
        <p:nvSpPr>
          <p:cNvPr id="6" name="Shape 4"/>
          <p:cNvSpPr/>
          <p:nvPr/>
        </p:nvSpPr>
        <p:spPr>
          <a:xfrm>
            <a:off x="548640" y="1371600"/>
            <a:ext cx="5349240" cy="822960"/>
          </a:xfrm>
          <a:prstGeom prst="roundRect">
            <a:avLst>
              <a:gd name="adj" fmla="val 8889"/>
            </a:avLst>
          </a:prstGeom>
          <a:solidFill>
            <a:srgbClr val="E8EEF4"/>
          </a:solidFill>
          <a:ln w="12700">
            <a:solidFill>
              <a:srgbClr val="E8EEF4"/>
            </a:solidFill>
            <a:prstDash val="solid"/>
          </a:ln>
        </p:spPr>
      </p:sp>
      <p:sp>
        <p:nvSpPr>
          <p:cNvPr id="7" name="Shape 5"/>
          <p:cNvSpPr/>
          <p:nvPr/>
        </p:nvSpPr>
        <p:spPr>
          <a:xfrm>
            <a:off x="749808" y="1572768"/>
            <a:ext cx="384048" cy="384048"/>
          </a:xfrm>
          <a:prstGeom prst="ellipse">
            <a:avLst/>
          </a:prstGeom>
          <a:solidFill>
            <a:srgbClr val="003366"/>
          </a:solidFill>
          <a:ln w="12700">
            <a:solidFill>
              <a:srgbClr val="003366"/>
            </a:solidFill>
            <a:prstDash val="solid"/>
          </a:ln>
        </p:spPr>
      </p:sp>
      <p:sp>
        <p:nvSpPr>
          <p:cNvPr id="8" name="Text 6"/>
          <p:cNvSpPr txBox="1"/>
          <p:nvPr/>
        </p:nvSpPr>
        <p:spPr>
          <a:xfrm>
            <a:off x="749808" y="157276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1</a:t>
            </a:r>
            <a:endParaRPr lang="en-US" sz="1500" dirty="0"/>
          </a:p>
        </p:txBody>
      </p:sp>
      <p:sp>
        <p:nvSpPr>
          <p:cNvPr id="9" name="Text 7"/>
          <p:cNvSpPr txBox="1"/>
          <p:nvPr/>
        </p:nvSpPr>
        <p:spPr>
          <a:xfrm>
            <a:off x="1261872" y="1600200"/>
            <a:ext cx="4434840" cy="329184"/>
          </a:xfrm>
          <a:prstGeom prst="rect">
            <a:avLst/>
          </a:prstGeom>
          <a:noFill/>
        </p:spPr>
        <p:txBody>
          <a:bodyPr wrap="square" lIns="0" tIns="0" rIns="0" bIns="0" rtlCol="0" anchor="ctr"/>
          <a:lstStyle/>
          <a:p>
            <a:pPr marL="0" indent="0">
              <a:buNone/>
            </a:pPr>
            <a:r>
              <a:rPr lang="en-US" sz="1400" b="1" dirty="0">
                <a:solidFill>
                  <a:srgbClr val="003366"/>
                </a:solidFill>
                <a:latin typeface="Arial" panose="020B0604020202020204" pitchFamily="34" charset="0"/>
                <a:ea typeface="Arial" panose="020B0604020202020204" pitchFamily="34" charset="-122"/>
                <a:cs typeface="Arial" panose="020B0604020202020204" pitchFamily="34" charset="-120"/>
              </a:rPr>
              <a:t>Open the page with Live Server</a:t>
            </a:r>
            <a:endParaRPr lang="en-US" sz="1400" dirty="0"/>
          </a:p>
        </p:txBody>
      </p:sp>
      <p:sp>
        <p:nvSpPr>
          <p:cNvPr id="10" name="Shape 8"/>
          <p:cNvSpPr/>
          <p:nvPr/>
        </p:nvSpPr>
        <p:spPr>
          <a:xfrm>
            <a:off x="6263640" y="1371600"/>
            <a:ext cx="5349240" cy="822960"/>
          </a:xfrm>
          <a:prstGeom prst="roundRect">
            <a:avLst>
              <a:gd name="adj" fmla="val 8889"/>
            </a:avLst>
          </a:prstGeom>
          <a:solidFill>
            <a:srgbClr val="F2F5F8"/>
          </a:solidFill>
          <a:ln w="12700">
            <a:solidFill>
              <a:srgbClr val="F2F5F8"/>
            </a:solidFill>
            <a:prstDash val="solid"/>
          </a:ln>
        </p:spPr>
      </p:sp>
      <p:sp>
        <p:nvSpPr>
          <p:cNvPr id="11" name="Shape 9"/>
          <p:cNvSpPr/>
          <p:nvPr/>
        </p:nvSpPr>
        <p:spPr>
          <a:xfrm>
            <a:off x="6464808" y="1572768"/>
            <a:ext cx="384048" cy="384048"/>
          </a:xfrm>
          <a:prstGeom prst="ellipse">
            <a:avLst/>
          </a:prstGeom>
          <a:solidFill>
            <a:srgbClr val="003366"/>
          </a:solidFill>
          <a:ln w="12700">
            <a:solidFill>
              <a:srgbClr val="003366"/>
            </a:solidFill>
            <a:prstDash val="solid"/>
          </a:ln>
        </p:spPr>
      </p:sp>
      <p:sp>
        <p:nvSpPr>
          <p:cNvPr id="12" name="Text 10"/>
          <p:cNvSpPr txBox="1"/>
          <p:nvPr/>
        </p:nvSpPr>
        <p:spPr>
          <a:xfrm>
            <a:off x="6464808" y="157276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2</a:t>
            </a:r>
            <a:endParaRPr lang="en-US" sz="1500" dirty="0"/>
          </a:p>
        </p:txBody>
      </p:sp>
      <p:sp>
        <p:nvSpPr>
          <p:cNvPr id="13" name="Text 11"/>
          <p:cNvSpPr txBox="1"/>
          <p:nvPr/>
        </p:nvSpPr>
        <p:spPr>
          <a:xfrm>
            <a:off x="6976872" y="1600200"/>
            <a:ext cx="4434840" cy="329184"/>
          </a:xfrm>
          <a:prstGeom prst="rect">
            <a:avLst/>
          </a:prstGeom>
          <a:noFill/>
        </p:spPr>
        <p:txBody>
          <a:bodyPr wrap="square" lIns="0" tIns="0" rIns="0" bIns="0" rtlCol="0" anchor="ctr"/>
          <a:lstStyle/>
          <a:p>
            <a:pPr marL="0" indent="0">
              <a:buNone/>
            </a:pPr>
            <a:r>
              <a:rPr lang="en-US" sz="1400" b="1" dirty="0">
                <a:solidFill>
                  <a:srgbClr val="003366"/>
                </a:solidFill>
                <a:latin typeface="Arial" panose="020B0604020202020204" pitchFamily="34" charset="0"/>
                <a:ea typeface="Arial" panose="020B0604020202020204" pitchFamily="34" charset="-122"/>
                <a:cs typeface="Arial" panose="020B0604020202020204" pitchFamily="34" charset="-120"/>
              </a:rPr>
              <a:t>Press F12 to open DevTools</a:t>
            </a:r>
            <a:endParaRPr lang="en-US" sz="1400" dirty="0"/>
          </a:p>
        </p:txBody>
      </p:sp>
      <p:sp>
        <p:nvSpPr>
          <p:cNvPr id="14" name="Shape 12"/>
          <p:cNvSpPr/>
          <p:nvPr/>
        </p:nvSpPr>
        <p:spPr>
          <a:xfrm>
            <a:off x="548640" y="2331720"/>
            <a:ext cx="5349240" cy="822960"/>
          </a:xfrm>
          <a:prstGeom prst="roundRect">
            <a:avLst>
              <a:gd name="adj" fmla="val 8889"/>
            </a:avLst>
          </a:prstGeom>
          <a:solidFill>
            <a:srgbClr val="E8EEF4"/>
          </a:solidFill>
          <a:ln w="12700">
            <a:solidFill>
              <a:srgbClr val="E8EEF4"/>
            </a:solidFill>
            <a:prstDash val="solid"/>
          </a:ln>
        </p:spPr>
      </p:sp>
      <p:sp>
        <p:nvSpPr>
          <p:cNvPr id="15" name="Shape 13"/>
          <p:cNvSpPr/>
          <p:nvPr/>
        </p:nvSpPr>
        <p:spPr>
          <a:xfrm>
            <a:off x="749808" y="2532888"/>
            <a:ext cx="384048" cy="384048"/>
          </a:xfrm>
          <a:prstGeom prst="ellipse">
            <a:avLst/>
          </a:prstGeom>
          <a:solidFill>
            <a:srgbClr val="003366"/>
          </a:solidFill>
          <a:ln w="12700">
            <a:solidFill>
              <a:srgbClr val="003366"/>
            </a:solidFill>
            <a:prstDash val="solid"/>
          </a:ln>
        </p:spPr>
      </p:sp>
      <p:sp>
        <p:nvSpPr>
          <p:cNvPr id="16" name="Text 14"/>
          <p:cNvSpPr txBox="1"/>
          <p:nvPr/>
        </p:nvSpPr>
        <p:spPr>
          <a:xfrm>
            <a:off x="749808" y="253288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3</a:t>
            </a:r>
            <a:endParaRPr lang="en-US" sz="1500" dirty="0"/>
          </a:p>
        </p:txBody>
      </p:sp>
      <p:sp>
        <p:nvSpPr>
          <p:cNvPr id="17" name="Text 15"/>
          <p:cNvSpPr txBox="1"/>
          <p:nvPr/>
        </p:nvSpPr>
        <p:spPr>
          <a:xfrm>
            <a:off x="1261872" y="2560320"/>
            <a:ext cx="4434840" cy="329184"/>
          </a:xfrm>
          <a:prstGeom prst="rect">
            <a:avLst/>
          </a:prstGeom>
          <a:noFill/>
        </p:spPr>
        <p:txBody>
          <a:bodyPr wrap="square" lIns="0" tIns="0" rIns="0" bIns="0" rtlCol="0" anchor="ctr"/>
          <a:lstStyle/>
          <a:p>
            <a:pPr marL="0" indent="0">
              <a:buNone/>
            </a:pPr>
            <a:r>
              <a:rPr lang="en-US" sz="1400" b="1" dirty="0">
                <a:solidFill>
                  <a:srgbClr val="003366"/>
                </a:solidFill>
                <a:latin typeface="Arial" panose="020B0604020202020204" pitchFamily="34" charset="0"/>
                <a:ea typeface="Arial" panose="020B0604020202020204" pitchFamily="34" charset="-122"/>
                <a:cs typeface="Arial" panose="020B0604020202020204" pitchFamily="34" charset="-120"/>
              </a:rPr>
              <a:t>Choose the Lighthouse tab</a:t>
            </a:r>
            <a:endParaRPr lang="en-US" sz="1400" dirty="0"/>
          </a:p>
        </p:txBody>
      </p:sp>
      <p:sp>
        <p:nvSpPr>
          <p:cNvPr id="18" name="Shape 16"/>
          <p:cNvSpPr/>
          <p:nvPr/>
        </p:nvSpPr>
        <p:spPr>
          <a:xfrm>
            <a:off x="6263640" y="2331720"/>
            <a:ext cx="5349240" cy="822960"/>
          </a:xfrm>
          <a:prstGeom prst="roundRect">
            <a:avLst>
              <a:gd name="adj" fmla="val 8889"/>
            </a:avLst>
          </a:prstGeom>
          <a:solidFill>
            <a:srgbClr val="F2F5F8"/>
          </a:solidFill>
          <a:ln w="12700">
            <a:solidFill>
              <a:srgbClr val="F2F5F8"/>
            </a:solidFill>
            <a:prstDash val="solid"/>
          </a:ln>
        </p:spPr>
      </p:sp>
      <p:sp>
        <p:nvSpPr>
          <p:cNvPr id="19" name="Shape 17"/>
          <p:cNvSpPr/>
          <p:nvPr/>
        </p:nvSpPr>
        <p:spPr>
          <a:xfrm>
            <a:off x="6464808" y="2532888"/>
            <a:ext cx="384048" cy="384048"/>
          </a:xfrm>
          <a:prstGeom prst="ellipse">
            <a:avLst/>
          </a:prstGeom>
          <a:solidFill>
            <a:srgbClr val="003366"/>
          </a:solidFill>
          <a:ln w="12700">
            <a:solidFill>
              <a:srgbClr val="003366"/>
            </a:solidFill>
            <a:prstDash val="solid"/>
          </a:ln>
        </p:spPr>
      </p:sp>
      <p:sp>
        <p:nvSpPr>
          <p:cNvPr id="20" name="Text 18"/>
          <p:cNvSpPr txBox="1"/>
          <p:nvPr/>
        </p:nvSpPr>
        <p:spPr>
          <a:xfrm>
            <a:off x="6464808" y="253288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4</a:t>
            </a:r>
            <a:endParaRPr lang="en-US" sz="1500" dirty="0"/>
          </a:p>
        </p:txBody>
      </p:sp>
      <p:sp>
        <p:nvSpPr>
          <p:cNvPr id="21" name="Text 19"/>
          <p:cNvSpPr txBox="1"/>
          <p:nvPr/>
        </p:nvSpPr>
        <p:spPr>
          <a:xfrm>
            <a:off x="6976872" y="2560320"/>
            <a:ext cx="4434840" cy="329184"/>
          </a:xfrm>
          <a:prstGeom prst="rect">
            <a:avLst/>
          </a:prstGeom>
          <a:noFill/>
        </p:spPr>
        <p:txBody>
          <a:bodyPr wrap="square" lIns="0" tIns="0" rIns="0" bIns="0" rtlCol="0" anchor="ctr"/>
          <a:lstStyle/>
          <a:p>
            <a:pPr marL="0" indent="0">
              <a:buNone/>
            </a:pPr>
            <a:r>
              <a:rPr lang="en-US" sz="1400" b="1" dirty="0">
                <a:solidFill>
                  <a:srgbClr val="003366"/>
                </a:solidFill>
                <a:latin typeface="Arial" panose="020B0604020202020204" pitchFamily="34" charset="0"/>
                <a:ea typeface="Arial" panose="020B0604020202020204" pitchFamily="34" charset="-122"/>
                <a:cs typeface="Arial" panose="020B0604020202020204" pitchFamily="34" charset="-120"/>
              </a:rPr>
              <a:t>Tick only Accessibility</a:t>
            </a:r>
            <a:endParaRPr lang="en-US" sz="1400" dirty="0"/>
          </a:p>
        </p:txBody>
      </p:sp>
      <p:sp>
        <p:nvSpPr>
          <p:cNvPr id="22" name="Shape 20"/>
          <p:cNvSpPr/>
          <p:nvPr/>
        </p:nvSpPr>
        <p:spPr>
          <a:xfrm>
            <a:off x="548640" y="3291840"/>
            <a:ext cx="5349240" cy="822960"/>
          </a:xfrm>
          <a:prstGeom prst="roundRect">
            <a:avLst>
              <a:gd name="adj" fmla="val 8889"/>
            </a:avLst>
          </a:prstGeom>
          <a:solidFill>
            <a:srgbClr val="E8EEF4"/>
          </a:solidFill>
          <a:ln w="12700">
            <a:solidFill>
              <a:srgbClr val="E8EEF4"/>
            </a:solidFill>
            <a:prstDash val="solid"/>
          </a:ln>
        </p:spPr>
      </p:sp>
      <p:sp>
        <p:nvSpPr>
          <p:cNvPr id="23" name="Shape 21"/>
          <p:cNvSpPr/>
          <p:nvPr/>
        </p:nvSpPr>
        <p:spPr>
          <a:xfrm>
            <a:off x="749808" y="3493008"/>
            <a:ext cx="384048" cy="384048"/>
          </a:xfrm>
          <a:prstGeom prst="ellipse">
            <a:avLst/>
          </a:prstGeom>
          <a:solidFill>
            <a:srgbClr val="003366"/>
          </a:solidFill>
          <a:ln w="12700">
            <a:solidFill>
              <a:srgbClr val="003366"/>
            </a:solidFill>
            <a:prstDash val="solid"/>
          </a:ln>
        </p:spPr>
      </p:sp>
      <p:sp>
        <p:nvSpPr>
          <p:cNvPr id="24" name="Text 22"/>
          <p:cNvSpPr txBox="1"/>
          <p:nvPr/>
        </p:nvSpPr>
        <p:spPr>
          <a:xfrm>
            <a:off x="749808" y="349300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5</a:t>
            </a:r>
            <a:endParaRPr lang="en-US" sz="1500" dirty="0"/>
          </a:p>
        </p:txBody>
      </p:sp>
      <p:sp>
        <p:nvSpPr>
          <p:cNvPr id="25" name="Text 23"/>
          <p:cNvSpPr txBox="1"/>
          <p:nvPr/>
        </p:nvSpPr>
        <p:spPr>
          <a:xfrm>
            <a:off x="1261872" y="3520440"/>
            <a:ext cx="4434840" cy="329184"/>
          </a:xfrm>
          <a:prstGeom prst="rect">
            <a:avLst/>
          </a:prstGeom>
          <a:noFill/>
        </p:spPr>
        <p:txBody>
          <a:bodyPr wrap="square" lIns="0" tIns="0" rIns="0" bIns="0" rtlCol="0" anchor="ctr"/>
          <a:lstStyle/>
          <a:p>
            <a:pPr marL="0" indent="0">
              <a:buNone/>
            </a:pPr>
            <a:r>
              <a:rPr lang="en-US" sz="1400" b="1" dirty="0">
                <a:solidFill>
                  <a:srgbClr val="003366"/>
                </a:solidFill>
                <a:latin typeface="Arial" panose="020B0604020202020204" pitchFamily="34" charset="0"/>
                <a:ea typeface="Arial" panose="020B0604020202020204" pitchFamily="34" charset="-122"/>
                <a:cs typeface="Arial" panose="020B0604020202020204" pitchFamily="34" charset="-120"/>
              </a:rPr>
              <a:t>Click Analyze page load</a:t>
            </a:r>
            <a:endParaRPr lang="en-US" sz="1400" dirty="0"/>
          </a:p>
        </p:txBody>
      </p:sp>
      <p:sp>
        <p:nvSpPr>
          <p:cNvPr id="26" name="Shape 24"/>
          <p:cNvSpPr/>
          <p:nvPr/>
        </p:nvSpPr>
        <p:spPr>
          <a:xfrm>
            <a:off x="6263640" y="3291840"/>
            <a:ext cx="5349240" cy="822960"/>
          </a:xfrm>
          <a:prstGeom prst="roundRect">
            <a:avLst>
              <a:gd name="adj" fmla="val 8889"/>
            </a:avLst>
          </a:prstGeom>
          <a:solidFill>
            <a:srgbClr val="F2F5F8"/>
          </a:solidFill>
          <a:ln w="12700">
            <a:solidFill>
              <a:srgbClr val="F2F5F8"/>
            </a:solidFill>
            <a:prstDash val="solid"/>
          </a:ln>
        </p:spPr>
      </p:sp>
      <p:sp>
        <p:nvSpPr>
          <p:cNvPr id="27" name="Shape 25"/>
          <p:cNvSpPr/>
          <p:nvPr/>
        </p:nvSpPr>
        <p:spPr>
          <a:xfrm>
            <a:off x="6464808" y="3493008"/>
            <a:ext cx="384048" cy="384048"/>
          </a:xfrm>
          <a:prstGeom prst="ellipse">
            <a:avLst/>
          </a:prstGeom>
          <a:solidFill>
            <a:srgbClr val="003366"/>
          </a:solidFill>
          <a:ln w="12700">
            <a:solidFill>
              <a:srgbClr val="003366"/>
            </a:solidFill>
            <a:prstDash val="solid"/>
          </a:ln>
        </p:spPr>
      </p:sp>
      <p:sp>
        <p:nvSpPr>
          <p:cNvPr id="28" name="Text 26"/>
          <p:cNvSpPr txBox="1"/>
          <p:nvPr/>
        </p:nvSpPr>
        <p:spPr>
          <a:xfrm>
            <a:off x="6464808" y="349300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6</a:t>
            </a:r>
            <a:endParaRPr lang="en-US" sz="1500" dirty="0"/>
          </a:p>
        </p:txBody>
      </p:sp>
      <p:sp>
        <p:nvSpPr>
          <p:cNvPr id="29" name="Text 27"/>
          <p:cNvSpPr txBox="1"/>
          <p:nvPr/>
        </p:nvSpPr>
        <p:spPr>
          <a:xfrm>
            <a:off x="6976872" y="3520440"/>
            <a:ext cx="4434840" cy="329184"/>
          </a:xfrm>
          <a:prstGeom prst="rect">
            <a:avLst/>
          </a:prstGeom>
          <a:noFill/>
        </p:spPr>
        <p:txBody>
          <a:bodyPr wrap="square" lIns="0" tIns="0" rIns="0" bIns="0" rtlCol="0" anchor="ctr"/>
          <a:lstStyle/>
          <a:p>
            <a:pPr marL="0" indent="0">
              <a:buNone/>
            </a:pPr>
            <a:r>
              <a:rPr lang="en-US" sz="1400" b="1" dirty="0">
                <a:solidFill>
                  <a:srgbClr val="003366"/>
                </a:solidFill>
                <a:latin typeface="Arial" panose="020B0604020202020204" pitchFamily="34" charset="0"/>
                <a:ea typeface="Arial" panose="020B0604020202020204" pitchFamily="34" charset="-122"/>
                <a:cs typeface="Arial" panose="020B0604020202020204" pitchFamily="34" charset="-120"/>
              </a:rPr>
              <a:t>Read each failure and open the affected element</a:t>
            </a:r>
            <a:endParaRPr lang="en-US" sz="1400" dirty="0"/>
          </a:p>
        </p:txBody>
      </p:sp>
      <p:sp>
        <p:nvSpPr>
          <p:cNvPr id="30" name="Shape 28"/>
          <p:cNvSpPr/>
          <p:nvPr/>
        </p:nvSpPr>
        <p:spPr>
          <a:xfrm>
            <a:off x="548640" y="4389120"/>
            <a:ext cx="11064240" cy="1554480"/>
          </a:xfrm>
          <a:prstGeom prst="roundRect">
            <a:avLst>
              <a:gd name="adj" fmla="val 4706"/>
            </a:avLst>
          </a:prstGeom>
          <a:solidFill>
            <a:srgbClr val="FDF3E1"/>
          </a:solidFill>
          <a:ln w="12700">
            <a:solidFill>
              <a:srgbClr val="FDF3E1"/>
            </a:solidFill>
            <a:prstDash val="solid"/>
          </a:ln>
          <a:effectLst>
            <a:outerShdw blurRad="76200" dist="12700" dir="5400000" algn="bl" rotWithShape="0">
              <a:srgbClr val="9AA9B8">
                <a:alpha val="18000"/>
              </a:srgbClr>
            </a:outerShdw>
          </a:effectLst>
        </p:spPr>
      </p:sp>
      <p:sp>
        <p:nvSpPr>
          <p:cNvPr id="31" name="Shape 29"/>
          <p:cNvSpPr/>
          <p:nvPr/>
        </p:nvSpPr>
        <p:spPr>
          <a:xfrm>
            <a:off x="749808" y="4590288"/>
            <a:ext cx="384048" cy="384048"/>
          </a:xfrm>
          <a:prstGeom prst="ellipse">
            <a:avLst/>
          </a:prstGeom>
          <a:solidFill>
            <a:srgbClr val="E39A18"/>
          </a:solidFill>
          <a:ln w="12700">
            <a:solidFill>
              <a:srgbClr val="E39A18"/>
            </a:solidFill>
            <a:prstDash val="solid"/>
          </a:ln>
        </p:spPr>
      </p:sp>
      <p:sp>
        <p:nvSpPr>
          <p:cNvPr id="32" name="Text 30"/>
          <p:cNvSpPr txBox="1"/>
          <p:nvPr/>
        </p:nvSpPr>
        <p:spPr>
          <a:xfrm>
            <a:off x="749808" y="459028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500" dirty="0"/>
          </a:p>
        </p:txBody>
      </p:sp>
      <p:sp>
        <p:nvSpPr>
          <p:cNvPr id="33" name="Text 31"/>
          <p:cNvSpPr txBox="1"/>
          <p:nvPr/>
        </p:nvSpPr>
        <p:spPr>
          <a:xfrm>
            <a:off x="1261872" y="4617720"/>
            <a:ext cx="10149840" cy="329184"/>
          </a:xfrm>
          <a:prstGeom prst="rect">
            <a:avLst/>
          </a:prstGeom>
          <a:noFill/>
        </p:spPr>
        <p:txBody>
          <a:bodyPr wrap="square" lIns="0" tIns="0" rIns="0" bIns="0" rtlCol="0" anchor="ctr"/>
          <a:lstStyle/>
          <a:p>
            <a:pPr marL="0" indent="0">
              <a:buNone/>
            </a:pPr>
            <a:r>
              <a:rPr lang="en-US" sz="1700" b="1" dirty="0">
                <a:solidFill>
                  <a:srgbClr val="003366"/>
                </a:solidFill>
                <a:latin typeface="Arial" panose="020B0604020202020204" pitchFamily="34" charset="0"/>
                <a:ea typeface="Arial" panose="020B0604020202020204" pitchFamily="34" charset="-122"/>
                <a:cs typeface="Arial" panose="020B0604020202020204" pitchFamily="34" charset="-120"/>
              </a:rPr>
              <a:t>A score of 100 does NOT mean the page is accessible</a:t>
            </a:r>
            <a:endParaRPr lang="en-US" sz="1700" dirty="0"/>
          </a:p>
        </p:txBody>
      </p:sp>
      <p:sp>
        <p:nvSpPr>
          <p:cNvPr id="34" name="Text 32"/>
          <p:cNvSpPr txBox="1"/>
          <p:nvPr/>
        </p:nvSpPr>
        <p:spPr>
          <a:xfrm>
            <a:off x="804672" y="5010912"/>
            <a:ext cx="10552176" cy="768096"/>
          </a:xfrm>
          <a:prstGeom prst="rect">
            <a:avLst/>
          </a:prstGeom>
          <a:noFill/>
        </p:spPr>
        <p:txBody>
          <a:bodyPr wrap="square" lIns="0" tIns="0" rIns="0" bIns="0" rtlCol="0" anchor="t"/>
          <a:lstStyle/>
          <a:p>
            <a:pPr marL="342900" indent="-342900">
              <a:spcAft>
                <a:spcPts val="4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An automatic tool can only find about a third of real problems.</a:t>
            </a:r>
            <a:endParaRPr lang="en-US" sz="1350" dirty="0"/>
          </a:p>
          <a:p>
            <a:pPr marL="342900" indent="-342900">
              <a:spcAft>
                <a:spcPts val="4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It cannot tell you whether your alt text is meaningful or your heading order makes sense. Only a human can.</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p:spPr>
        <p:txBody>
          <a:bodyPr wrap="square" lIns="0" tIns="0" rIns="0" bIns="0" rtlCol="0" anchor="ctr"/>
          <a:lstStyle/>
          <a:p>
            <a:pPr marL="0" indent="0">
              <a:buNone/>
            </a:pPr>
            <a:r>
              <a:rPr lang="en-US" sz="1100" b="1" kern="0" spc="120" dirty="0">
                <a:solidFill>
                  <a:srgbClr val="E39A18"/>
                </a:solidFill>
                <a:latin typeface="Arial" panose="020B0604020202020204" pitchFamily="34" charset="0"/>
                <a:ea typeface="Arial" panose="020B0604020202020204" pitchFamily="34" charset="-122"/>
                <a:cs typeface="Arial" panose="020B0604020202020204" pitchFamily="34" charset="-120"/>
              </a:rPr>
              <a:t>LIVE AUDIT</a:t>
            </a:r>
            <a:endParaRPr lang="en-US" sz="1100" dirty="0"/>
          </a:p>
        </p:txBody>
      </p:sp>
      <p:sp>
        <p:nvSpPr>
          <p:cNvPr id="3" name="Text 1"/>
          <p:cNvSpPr txBox="1"/>
          <p:nvPr/>
        </p:nvSpPr>
        <p:spPr>
          <a:xfrm>
            <a:off x="548640" y="658368"/>
            <a:ext cx="11064240" cy="566928"/>
          </a:xfrm>
          <a:prstGeom prst="rect">
            <a:avLst/>
          </a:prstGeom>
          <a:noFill/>
        </p:spPr>
        <p:txBody>
          <a:bodyPr wrap="square" lIns="0" tIns="0" rIns="0" bIns="0" rtlCol="0" anchor="ctr"/>
          <a:lstStyle/>
          <a:p>
            <a:pPr marL="0" indent="0">
              <a:buNone/>
            </a:pPr>
            <a:r>
              <a:rPr lang="en-US" sz="3200" b="1" dirty="0">
                <a:solidFill>
                  <a:srgbClr val="003366"/>
                </a:solidFill>
                <a:latin typeface="Arial" panose="020B0604020202020204" pitchFamily="34" charset="0"/>
                <a:ea typeface="Arial" panose="020B0604020202020204" pitchFamily="34" charset="-122"/>
                <a:cs typeface="Arial" panose="020B0604020202020204" pitchFamily="34" charset="-120"/>
              </a:rPr>
              <a:t>The Broken Page: What Is Wrong?</a:t>
            </a:r>
            <a:endParaRPr lang="en-US" sz="3200" dirty="0"/>
          </a:p>
        </p:txBody>
      </p:sp>
      <p:sp>
        <p:nvSpPr>
          <p:cNvPr id="4" name="Text 2"/>
          <p:cNvSpPr txBox="1"/>
          <p:nvPr/>
        </p:nvSpPr>
        <p:spPr>
          <a:xfrm>
            <a:off x="548640" y="6355080"/>
            <a:ext cx="5486400" cy="256032"/>
          </a:xfrm>
          <a:prstGeom prst="rect">
            <a:avLst/>
          </a:prstGeom>
          <a:noFill/>
        </p:spPr>
        <p:txBody>
          <a:bodyPr wrap="square" lIns="0" tIns="0" rIns="0" bIns="0" rtlCol="0" anchor="ctr"/>
          <a:lstStyle/>
          <a:p>
            <a:pPr marL="0" indent="0">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p:spPr>
        <p:txBody>
          <a:bodyPr wrap="square" lIns="0" tIns="0" rIns="0" bIns="0" rtlCol="0" anchor="ctr"/>
          <a:lstStyle/>
          <a:p>
            <a:pPr marL="0" indent="0" algn="r">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14</a:t>
            </a:r>
            <a:endParaRPr lang="en-US" sz="900" dirty="0"/>
          </a:p>
        </p:txBody>
      </p:sp>
      <p:sp>
        <p:nvSpPr>
          <p:cNvPr id="6" name="Shape 4"/>
          <p:cNvSpPr/>
          <p:nvPr/>
        </p:nvSpPr>
        <p:spPr>
          <a:xfrm>
            <a:off x="548640" y="1325880"/>
            <a:ext cx="11064240" cy="4387088"/>
          </a:xfrm>
          <a:prstGeom prst="roundRect">
            <a:avLst>
              <a:gd name="adj" fmla="val 1251"/>
            </a:avLst>
          </a:prstGeom>
          <a:solidFill>
            <a:srgbClr val="0D1B2A"/>
          </a:solidFill>
          <a:ln w="12700">
            <a:solidFill>
              <a:srgbClr val="0D1B2A"/>
            </a:solidFill>
            <a:prstDash val="solid"/>
          </a:ln>
        </p:spPr>
      </p:sp>
      <p:sp>
        <p:nvSpPr>
          <p:cNvPr id="7" name="Text 5"/>
          <p:cNvSpPr txBox="1"/>
          <p:nvPr/>
        </p:nvSpPr>
        <p:spPr>
          <a:xfrm>
            <a:off x="658368" y="1435608"/>
            <a:ext cx="10844784" cy="4167632"/>
          </a:xfrm>
          <a:prstGeom prst="rect">
            <a:avLst/>
          </a:prstGeom>
          <a:noFill/>
        </p:spPr>
        <p:txBody>
          <a:bodyPr wrap="square" lIns="0" tIns="0" rIns="0" bIns="0" rtlCol="0" anchor="t"/>
          <a:lstStyle/>
          <a:p>
            <a:pPr marL="0" indent="0">
              <a:lnSpc>
                <a:spcPts val="1410"/>
              </a:lnSpc>
              <a:buNone/>
            </a:pP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&lt;body&gt;</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&lt;div id=</a:t>
            </a:r>
            <a:r>
              <a:rPr lang="en-US" sz="11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"header"</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&lt;div class=</a:t>
            </a:r>
            <a:r>
              <a:rPr lang="en-US" sz="11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"title"</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&gt;</a:t>
            </a: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IIUC Student Portal</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&lt;/div&gt;</a:t>
            </a: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296A8"/>
                </a:solidFill>
                <a:latin typeface="Courier New" panose="02070309020205020404" pitchFamily="34" charset="0"/>
                <a:ea typeface="Courier New" panose="02070309020205020404" pitchFamily="34" charset="-122"/>
                <a:cs typeface="Courier New" panose="02070309020205020404" pitchFamily="34" charset="-120"/>
              </a:rPr>
              <a:t>&lt;!-- 1. not a heading, not a header --&gt;</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&lt;div class=</a:t>
            </a:r>
            <a:r>
              <a:rPr lang="en-US" sz="11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"menu"</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&lt;span onclick=</a:t>
            </a:r>
            <a:r>
              <a:rPr lang="en-US" sz="11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"go('home')"</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&gt;</a:t>
            </a: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Home</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&lt;/span&gt;</a:t>
            </a: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296A8"/>
                </a:solidFill>
                <a:latin typeface="Courier New" panose="02070309020205020404" pitchFamily="34" charset="0"/>
                <a:ea typeface="Courier New" panose="02070309020205020404" pitchFamily="34" charset="-122"/>
                <a:cs typeface="Courier New" panose="02070309020205020404" pitchFamily="34" charset="-120"/>
              </a:rPr>
              <a:t>&lt;!-- 2. cannot be reached by keyboard --&gt;</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&lt;span onclick=</a:t>
            </a:r>
            <a:r>
              <a:rPr lang="en-US" sz="11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"go('reg')"</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&gt;</a:t>
            </a: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Register</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&lt;/span&gt;</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&lt;/div&gt;</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&lt;/div&gt;</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&lt;div id=</a:t>
            </a:r>
            <a:r>
              <a:rPr lang="en-US" sz="11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"content"</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&lt;h3&gt;</a:t>
            </a: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Student Registration</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&lt;/h3&gt;</a:t>
            </a: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296A8"/>
                </a:solidFill>
                <a:latin typeface="Courier New" panose="02070309020205020404" pitchFamily="34" charset="0"/>
                <a:ea typeface="Courier New" panose="02070309020205020404" pitchFamily="34" charset="-122"/>
                <a:cs typeface="Courier New" panose="02070309020205020404" pitchFamily="34" charset="-120"/>
              </a:rPr>
              <a:t>&lt;!-- 3. no h1, starts at h3 --&gt;</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&lt;img src=</a:t>
            </a:r>
            <a:r>
              <a:rPr lang="en-US" sz="11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"images/campus.jpg"</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&gt;</a:t>
            </a: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296A8"/>
                </a:solidFill>
                <a:latin typeface="Courier New" panose="02070309020205020404" pitchFamily="34" charset="0"/>
                <a:ea typeface="Courier New" panose="02070309020205020404" pitchFamily="34" charset="-122"/>
                <a:cs typeface="Courier New" panose="02070309020205020404" pitchFamily="34" charset="-120"/>
              </a:rPr>
              <a:t>&lt;!-- 4. no alt attribute --&gt;</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&lt;form&gt;</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&lt;input type=</a:t>
            </a:r>
            <a:r>
              <a:rPr lang="en-US" sz="11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"text"</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 name=</a:t>
            </a:r>
            <a:r>
              <a:rPr lang="en-US" sz="11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"fullname"</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 placeholder=</a:t>
            </a:r>
            <a:r>
              <a:rPr lang="en-US" sz="11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"Name"</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&gt;</a:t>
            </a: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296A8"/>
                </a:solidFill>
                <a:latin typeface="Courier New" panose="02070309020205020404" pitchFamily="34" charset="0"/>
                <a:ea typeface="Courier New" panose="02070309020205020404" pitchFamily="34" charset="-122"/>
                <a:cs typeface="Courier New" panose="02070309020205020404" pitchFamily="34" charset="-120"/>
              </a:rPr>
              <a:t>&lt;!-- 5. no label --&gt;</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&lt;input type=</a:t>
            </a:r>
            <a:r>
              <a:rPr lang="en-US" sz="11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"text"</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 name=</a:t>
            </a:r>
            <a:r>
              <a:rPr lang="en-US" sz="11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"sid"</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 placeholder=</a:t>
            </a:r>
            <a:r>
              <a:rPr lang="en-US" sz="11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"Student ID"</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&lt;p style=</a:t>
            </a:r>
            <a:r>
              <a:rPr lang="en-US" sz="11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"color:#c9cfd6"</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&gt;</a:t>
            </a: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Fields in red are required</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&lt;/p&gt;</a:t>
            </a: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296A8"/>
                </a:solidFill>
                <a:latin typeface="Courier New" panose="02070309020205020404" pitchFamily="34" charset="0"/>
                <a:ea typeface="Courier New" panose="02070309020205020404" pitchFamily="34" charset="-122"/>
                <a:cs typeface="Courier New" panose="02070309020205020404" pitchFamily="34" charset="-120"/>
              </a:rPr>
              <a:t>&lt;!-- 6. colour only, low contrast --&gt;</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&lt;div class=</a:t>
            </a:r>
            <a:r>
              <a:rPr lang="en-US" sz="11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"btn"</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 onclick=</a:t>
            </a:r>
            <a:r>
              <a:rPr lang="en-US" sz="11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"submitForm()"</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&gt;</a:t>
            </a: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Register</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&lt;/div&gt;</a:t>
            </a: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296A8"/>
                </a:solidFill>
                <a:latin typeface="Courier New" panose="02070309020205020404" pitchFamily="34" charset="0"/>
                <a:ea typeface="Courier New" panose="02070309020205020404" pitchFamily="34" charset="-122"/>
                <a:cs typeface="Courier New" panose="02070309020205020404" pitchFamily="34" charset="-120"/>
              </a:rPr>
              <a:t>&lt;!-- 7. a div, not a button --&gt;</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&lt;/form&gt;</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&lt;/div&gt;</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&lt;div id=</a:t>
            </a:r>
            <a:r>
              <a:rPr lang="en-US" sz="11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"foot"</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&gt;</a:t>
            </a: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Copyright 2026</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&lt;/div&gt;</a:t>
            </a: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296A8"/>
                </a:solidFill>
                <a:latin typeface="Courier New" panose="02070309020205020404" pitchFamily="34" charset="0"/>
                <a:ea typeface="Courier New" panose="02070309020205020404" pitchFamily="34" charset="-122"/>
                <a:cs typeface="Courier New" panose="02070309020205020404" pitchFamily="34" charset="-120"/>
              </a:rPr>
              <a:t>&lt;!-- 8. not a footer --&gt;</a:t>
            </a:r>
            <a:endParaRPr lang="en-US" sz="1100" dirty="0"/>
          </a:p>
          <a:p>
            <a:pPr marL="0" indent="0">
              <a:lnSpc>
                <a:spcPts val="1410"/>
              </a:lnSpc>
              <a:buNone/>
            </a:pP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&lt;/body&gt;</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p:spPr>
        <p:txBody>
          <a:bodyPr wrap="square" lIns="0" tIns="0" rIns="0" bIns="0" rtlCol="0" anchor="ctr"/>
          <a:lstStyle/>
          <a:p>
            <a:pPr marL="0" indent="0">
              <a:buNone/>
            </a:pPr>
            <a:r>
              <a:rPr lang="en-US" sz="1100" b="1" kern="0" spc="120" dirty="0">
                <a:solidFill>
                  <a:srgbClr val="E39A18"/>
                </a:solidFill>
                <a:latin typeface="Arial" panose="020B0604020202020204" pitchFamily="34" charset="0"/>
                <a:ea typeface="Arial" panose="020B0604020202020204" pitchFamily="34" charset="-122"/>
                <a:cs typeface="Arial" panose="020B0604020202020204" pitchFamily="34" charset="-120"/>
              </a:rPr>
              <a:t>LIVE AUDIT</a:t>
            </a:r>
            <a:endParaRPr lang="en-US" sz="1100" dirty="0"/>
          </a:p>
        </p:txBody>
      </p:sp>
      <p:sp>
        <p:nvSpPr>
          <p:cNvPr id="3" name="Text 1"/>
          <p:cNvSpPr txBox="1"/>
          <p:nvPr/>
        </p:nvSpPr>
        <p:spPr>
          <a:xfrm>
            <a:off x="548640" y="658368"/>
            <a:ext cx="11064240" cy="566928"/>
          </a:xfrm>
          <a:prstGeom prst="rect">
            <a:avLst/>
          </a:prstGeom>
          <a:noFill/>
        </p:spPr>
        <p:txBody>
          <a:bodyPr wrap="square" lIns="0" tIns="0" rIns="0" bIns="0" rtlCol="0" anchor="ctr"/>
          <a:lstStyle/>
          <a:p>
            <a:pPr marL="0" indent="0">
              <a:buNone/>
            </a:pPr>
            <a:r>
              <a:rPr lang="en-US" sz="3200" b="1" dirty="0">
                <a:solidFill>
                  <a:srgbClr val="003366"/>
                </a:solidFill>
                <a:latin typeface="Arial" panose="020B0604020202020204" pitchFamily="34" charset="0"/>
                <a:ea typeface="Arial" panose="020B0604020202020204" pitchFamily="34" charset="-122"/>
                <a:cs typeface="Arial" panose="020B0604020202020204" pitchFamily="34" charset="-120"/>
              </a:rPr>
              <a:t>The Fixed Page</a:t>
            </a:r>
            <a:endParaRPr lang="en-US" sz="3200" dirty="0"/>
          </a:p>
        </p:txBody>
      </p:sp>
      <p:sp>
        <p:nvSpPr>
          <p:cNvPr id="4" name="Text 2"/>
          <p:cNvSpPr txBox="1"/>
          <p:nvPr/>
        </p:nvSpPr>
        <p:spPr>
          <a:xfrm>
            <a:off x="548640" y="6355080"/>
            <a:ext cx="5486400" cy="256032"/>
          </a:xfrm>
          <a:prstGeom prst="rect">
            <a:avLst/>
          </a:prstGeom>
          <a:noFill/>
        </p:spPr>
        <p:txBody>
          <a:bodyPr wrap="square" lIns="0" tIns="0" rIns="0" bIns="0" rtlCol="0" anchor="ctr"/>
          <a:lstStyle/>
          <a:p>
            <a:pPr marL="0" indent="0">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p:spPr>
        <p:txBody>
          <a:bodyPr wrap="square" lIns="0" tIns="0" rIns="0" bIns="0" rtlCol="0" anchor="ctr"/>
          <a:lstStyle/>
          <a:p>
            <a:pPr marL="0" indent="0" algn="r">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15</a:t>
            </a:r>
            <a:endParaRPr lang="en-US" sz="900" dirty="0"/>
          </a:p>
        </p:txBody>
      </p:sp>
      <p:sp>
        <p:nvSpPr>
          <p:cNvPr id="6" name="Shape 4"/>
          <p:cNvSpPr/>
          <p:nvPr/>
        </p:nvSpPr>
        <p:spPr>
          <a:xfrm>
            <a:off x="548640" y="1325880"/>
            <a:ext cx="11064240" cy="5102352"/>
          </a:xfrm>
          <a:prstGeom prst="roundRect">
            <a:avLst>
              <a:gd name="adj" fmla="val 1075"/>
            </a:avLst>
          </a:prstGeom>
          <a:solidFill>
            <a:srgbClr val="0D1B2A"/>
          </a:solidFill>
          <a:ln w="12700">
            <a:solidFill>
              <a:srgbClr val="0D1B2A"/>
            </a:solidFill>
            <a:prstDash val="solid"/>
          </a:ln>
        </p:spPr>
      </p:sp>
      <p:sp>
        <p:nvSpPr>
          <p:cNvPr id="7" name="Text 5"/>
          <p:cNvSpPr txBox="1"/>
          <p:nvPr/>
        </p:nvSpPr>
        <p:spPr>
          <a:xfrm>
            <a:off x="658368" y="1435608"/>
            <a:ext cx="10844784" cy="4882896"/>
          </a:xfrm>
          <a:prstGeom prst="rect">
            <a:avLst/>
          </a:prstGeom>
          <a:noFill/>
        </p:spPr>
        <p:txBody>
          <a:bodyPr wrap="square" lIns="0" tIns="0" rIns="0" bIns="0" rtlCol="0" anchor="t"/>
          <a:lstStyle/>
          <a:p>
            <a:pPr marL="0" indent="0">
              <a:lnSpc>
                <a:spcPts val="1410"/>
              </a:lnSpc>
              <a:buNone/>
            </a:pP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&lt;body&gt;</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&lt;a href=</a:t>
            </a:r>
            <a:r>
              <a:rPr lang="en-US" sz="11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"#main-content"</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 class=</a:t>
            </a:r>
            <a:r>
              <a:rPr lang="en-US" sz="11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"skip-link"</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&gt;</a:t>
            </a: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Skip to main content</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&lt;/a&gt;</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&lt;header&gt;</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&lt;h1&gt;</a:t>
            </a: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IIUC Student Portal</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&lt;/h1&gt;</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&lt;nav aria-label=</a:t>
            </a:r>
            <a:r>
              <a:rPr lang="en-US" sz="11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"Main navigation"</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&lt;ul&gt;</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&lt;li&gt;</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&lt;a href=</a:t>
            </a:r>
            <a:r>
              <a:rPr lang="en-US" sz="11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"index.html"</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&gt;</a:t>
            </a: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Home</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&lt;/a&gt;</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&lt;/li&gt;</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&lt;li&gt;</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&lt;a href=</a:t>
            </a:r>
            <a:r>
              <a:rPr lang="en-US" sz="11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"register.html"</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 aria-current=</a:t>
            </a:r>
            <a:r>
              <a:rPr lang="en-US" sz="11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"page"</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&gt;</a:t>
            </a: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Register</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&lt;/a&gt;</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&lt;/li&gt;</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&lt;/ul&gt;</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&lt;/nav&gt;</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&lt;/header&gt;</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&lt;main id=</a:t>
            </a:r>
            <a:r>
              <a:rPr lang="en-US" sz="11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"main-content"</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&lt;h2&gt;</a:t>
            </a: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Student Registration</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&lt;/h2&gt;</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&lt;img src=</a:t>
            </a:r>
            <a:r>
              <a:rPr lang="en-US" sz="11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"images/campus.jpg"</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 alt=</a:t>
            </a:r>
            <a:r>
              <a:rPr lang="en-US" sz="11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"Students walking in front of the IIUC main building"</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&gt;</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&lt;form&gt;</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&lt;label for=</a:t>
            </a:r>
            <a:r>
              <a:rPr lang="en-US" sz="11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"fullname"</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&gt;</a:t>
            </a: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Full Name (required)</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&lt;/label&gt;</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&lt;input type=</a:t>
            </a:r>
            <a:r>
              <a:rPr lang="en-US" sz="11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"text"</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 id=</a:t>
            </a:r>
            <a:r>
              <a:rPr lang="en-US" sz="11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"fullname"</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 name=</a:t>
            </a:r>
            <a:r>
              <a:rPr lang="en-US" sz="11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"fullname"</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 required&gt;</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&lt;button type=</a:t>
            </a:r>
            <a:r>
              <a:rPr lang="en-US" sz="1100" dirty="0">
                <a:solidFill>
                  <a:srgbClr val="A8E6A3"/>
                </a:solidFill>
                <a:latin typeface="Courier New" panose="02070309020205020404" pitchFamily="34" charset="0"/>
                <a:ea typeface="Courier New" panose="02070309020205020404" pitchFamily="34" charset="-122"/>
                <a:cs typeface="Courier New" panose="02070309020205020404" pitchFamily="34" charset="-120"/>
              </a:rPr>
              <a:t>"submit"</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&gt;</a:t>
            </a: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Register</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&lt;/button&gt;</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&lt;/form&gt;</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&lt;/main&gt;</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endParaRPr lang="en-US" sz="1100" dirty="0"/>
          </a:p>
          <a:p>
            <a:pPr marL="0" indent="0">
              <a:lnSpc>
                <a:spcPts val="1410"/>
              </a:lnSpc>
              <a:buNone/>
            </a:pP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  </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&lt;footer&gt;</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&lt;p&gt;</a:t>
            </a:r>
            <a:r>
              <a:rPr lang="en-US" sz="1100" dirty="0">
                <a:solidFill>
                  <a:srgbClr val="E8EEF7"/>
                </a:solidFill>
                <a:latin typeface="Courier New" panose="02070309020205020404" pitchFamily="34" charset="0"/>
                <a:ea typeface="Courier New" panose="02070309020205020404" pitchFamily="34" charset="-122"/>
                <a:cs typeface="Courier New" panose="02070309020205020404" pitchFamily="34" charset="-120"/>
              </a:rPr>
              <a:t>&amp;copy; 2026 IIUC Department of CSE</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&lt;/p&gt;</a:t>
            </a: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&lt;/footer&gt;</a:t>
            </a:r>
            <a:endParaRPr lang="en-US" sz="1100" dirty="0"/>
          </a:p>
          <a:p>
            <a:pPr marL="0" indent="0">
              <a:lnSpc>
                <a:spcPts val="1410"/>
              </a:lnSpc>
              <a:buNone/>
            </a:pPr>
            <a:r>
              <a:rPr lang="en-US" sz="1100" dirty="0">
                <a:solidFill>
                  <a:srgbClr val="8FD3FF"/>
                </a:solidFill>
                <a:latin typeface="Courier New" panose="02070309020205020404" pitchFamily="34" charset="0"/>
                <a:ea typeface="Courier New" panose="02070309020205020404" pitchFamily="34" charset="-122"/>
                <a:cs typeface="Courier New" panose="02070309020205020404" pitchFamily="34" charset="-120"/>
              </a:rPr>
              <a:t>&lt;/body&gt;</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p:spPr>
        <p:txBody>
          <a:bodyPr wrap="square" lIns="0" tIns="0" rIns="0" bIns="0" rtlCol="0" anchor="ctr"/>
          <a:lstStyle/>
          <a:p>
            <a:pPr marL="0" indent="0">
              <a:buNone/>
            </a:pPr>
            <a:r>
              <a:rPr lang="en-US" sz="1100" b="1" kern="0" spc="120" dirty="0">
                <a:solidFill>
                  <a:srgbClr val="E39A18"/>
                </a:solidFill>
                <a:latin typeface="Arial" panose="020B0604020202020204" pitchFamily="34" charset="0"/>
                <a:ea typeface="Arial" panose="020B0604020202020204" pitchFamily="34" charset="-122"/>
                <a:cs typeface="Arial" panose="020B0604020202020204" pitchFamily="34" charset="-120"/>
              </a:rPr>
              <a:t>REFERENCE</a:t>
            </a:r>
            <a:endParaRPr lang="en-US" sz="1100" dirty="0"/>
          </a:p>
        </p:txBody>
      </p:sp>
      <p:sp>
        <p:nvSpPr>
          <p:cNvPr id="3" name="Text 1"/>
          <p:cNvSpPr txBox="1"/>
          <p:nvPr/>
        </p:nvSpPr>
        <p:spPr>
          <a:xfrm>
            <a:off x="548640" y="658368"/>
            <a:ext cx="11064240" cy="566928"/>
          </a:xfrm>
          <a:prstGeom prst="rect">
            <a:avLst/>
          </a:prstGeom>
          <a:noFill/>
        </p:spPr>
        <p:txBody>
          <a:bodyPr wrap="square" lIns="0" tIns="0" rIns="0" bIns="0" rtlCol="0" anchor="ctr"/>
          <a:lstStyle/>
          <a:p>
            <a:pPr marL="0" indent="0">
              <a:buNone/>
            </a:pPr>
            <a:r>
              <a:rPr lang="en-US" sz="3200" b="1" dirty="0">
                <a:solidFill>
                  <a:srgbClr val="003366"/>
                </a:solidFill>
                <a:latin typeface="Arial" panose="020B0604020202020204" pitchFamily="34" charset="0"/>
                <a:ea typeface="Arial" panose="020B0604020202020204" pitchFamily="34" charset="-122"/>
                <a:cs typeface="Arial" panose="020B0604020202020204" pitchFamily="34" charset="-120"/>
              </a:rPr>
              <a:t>The Course Accessibility Checklist</a:t>
            </a:r>
            <a:endParaRPr lang="en-US" sz="3200" dirty="0"/>
          </a:p>
        </p:txBody>
      </p:sp>
      <p:sp>
        <p:nvSpPr>
          <p:cNvPr id="4" name="Text 2"/>
          <p:cNvSpPr txBox="1"/>
          <p:nvPr/>
        </p:nvSpPr>
        <p:spPr>
          <a:xfrm>
            <a:off x="548640" y="6355080"/>
            <a:ext cx="5486400" cy="256032"/>
          </a:xfrm>
          <a:prstGeom prst="rect">
            <a:avLst/>
          </a:prstGeom>
          <a:noFill/>
        </p:spPr>
        <p:txBody>
          <a:bodyPr wrap="square" lIns="0" tIns="0" rIns="0" bIns="0" rtlCol="0" anchor="ctr"/>
          <a:lstStyle/>
          <a:p>
            <a:pPr marL="0" indent="0">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p:spPr>
        <p:txBody>
          <a:bodyPr wrap="square" lIns="0" tIns="0" rIns="0" bIns="0" rtlCol="0" anchor="ctr"/>
          <a:lstStyle/>
          <a:p>
            <a:pPr marL="0" indent="0" algn="r">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16</a:t>
            </a:r>
            <a:endParaRPr lang="en-US" sz="900" dirty="0"/>
          </a:p>
        </p:txBody>
      </p:sp>
      <p:sp>
        <p:nvSpPr>
          <p:cNvPr id="6" name="Text 4"/>
          <p:cNvSpPr txBox="1"/>
          <p:nvPr/>
        </p:nvSpPr>
        <p:spPr>
          <a:xfrm>
            <a:off x="548640" y="1298448"/>
            <a:ext cx="11064240" cy="292608"/>
          </a:xfrm>
          <a:prstGeom prst="rect">
            <a:avLst/>
          </a:prstGeom>
          <a:noFill/>
        </p:spPr>
        <p:txBody>
          <a:bodyPr wrap="square" lIns="0" tIns="0" rIns="0" bIns="0" rtlCol="0" anchor="t"/>
          <a:lstStyle/>
          <a:p>
            <a:pPr marL="0" indent="0" algn="l">
              <a:lnSpc>
                <a:spcPts val="1890"/>
              </a:lnSpc>
              <a:buNone/>
            </a:pPr>
            <a:r>
              <a:rPr lang="en-US" sz="1400" dirty="0">
                <a:solidFill>
                  <a:srgbClr val="3D4A57"/>
                </a:solidFill>
                <a:latin typeface="Arial" panose="020B0604020202020204" pitchFamily="34" charset="0"/>
                <a:ea typeface="Arial" panose="020B0604020202020204" pitchFamily="34" charset="-122"/>
                <a:cs typeface="Arial" panose="020B0604020202020204" pitchFamily="34" charset="-120"/>
              </a:rPr>
              <a:t>Every mini project is checked against this list. Print it or keep it open.</a:t>
            </a:r>
            <a:endParaRPr lang="en-US" sz="1400" dirty="0"/>
          </a:p>
        </p:txBody>
      </p:sp>
      <p:sp>
        <p:nvSpPr>
          <p:cNvPr id="7" name="Shape 5"/>
          <p:cNvSpPr/>
          <p:nvPr/>
        </p:nvSpPr>
        <p:spPr>
          <a:xfrm>
            <a:off x="548640" y="1691640"/>
            <a:ext cx="5349240" cy="749808"/>
          </a:xfrm>
          <a:prstGeom prst="roundRect">
            <a:avLst>
              <a:gd name="adj" fmla="val 9756"/>
            </a:avLst>
          </a:prstGeom>
          <a:solidFill>
            <a:srgbClr val="E8EEF4"/>
          </a:solidFill>
          <a:ln w="12700">
            <a:solidFill>
              <a:srgbClr val="E8EEF4"/>
            </a:solidFill>
            <a:prstDash val="solid"/>
          </a:ln>
        </p:spPr>
      </p:sp>
      <p:sp>
        <p:nvSpPr>
          <p:cNvPr id="8" name="Shape 6"/>
          <p:cNvSpPr/>
          <p:nvPr/>
        </p:nvSpPr>
        <p:spPr>
          <a:xfrm>
            <a:off x="749808" y="1911096"/>
            <a:ext cx="310896" cy="310896"/>
          </a:xfrm>
          <a:prstGeom prst="ellipse">
            <a:avLst/>
          </a:prstGeom>
          <a:solidFill>
            <a:srgbClr val="1F7A55"/>
          </a:solidFill>
          <a:ln w="12700">
            <a:solidFill>
              <a:srgbClr val="1F7A55"/>
            </a:solidFill>
            <a:prstDash val="solid"/>
          </a:ln>
        </p:spPr>
      </p:sp>
      <p:sp>
        <p:nvSpPr>
          <p:cNvPr id="9" name="Text 7"/>
          <p:cNvSpPr txBox="1"/>
          <p:nvPr/>
        </p:nvSpPr>
        <p:spPr>
          <a:xfrm>
            <a:off x="749808" y="1911096"/>
            <a:ext cx="310896" cy="310896"/>
          </a:xfrm>
          <a:prstGeom prst="rect">
            <a:avLst/>
          </a:prstGeom>
          <a:noFill/>
        </p:spPr>
        <p:txBody>
          <a:bodyPr wrap="square" lIns="0" tIns="0" rIns="0" bIns="0" rtlCol="0" anchor="ctr"/>
          <a:lstStyle/>
          <a:p>
            <a:pPr marL="0" indent="0" algn="ctr">
              <a:buNone/>
            </a:pPr>
            <a:r>
              <a:rPr lang="en-US" sz="1200" b="1"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200" dirty="0"/>
          </a:p>
        </p:txBody>
      </p:sp>
      <p:sp>
        <p:nvSpPr>
          <p:cNvPr id="10" name="Text 8"/>
          <p:cNvSpPr txBox="1"/>
          <p:nvPr/>
        </p:nvSpPr>
        <p:spPr>
          <a:xfrm>
            <a:off x="1170432" y="1691640"/>
            <a:ext cx="4572000" cy="749808"/>
          </a:xfrm>
          <a:prstGeom prst="rect">
            <a:avLst/>
          </a:prstGeom>
          <a:noFill/>
        </p:spPr>
        <p:txBody>
          <a:bodyPr wrap="square" lIns="0" tIns="0" rIns="0" bIns="0" rtlCol="0" anchor="ctr"/>
          <a:lstStyle/>
          <a:p>
            <a:pPr marL="0" indent="0">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One h1, and heading levels never skip downwards</a:t>
            </a:r>
            <a:endParaRPr lang="en-US" sz="1250" dirty="0"/>
          </a:p>
        </p:txBody>
      </p:sp>
      <p:sp>
        <p:nvSpPr>
          <p:cNvPr id="11" name="Shape 9"/>
          <p:cNvSpPr/>
          <p:nvPr/>
        </p:nvSpPr>
        <p:spPr>
          <a:xfrm>
            <a:off x="6263640" y="1691640"/>
            <a:ext cx="5349240" cy="749808"/>
          </a:xfrm>
          <a:prstGeom prst="roundRect">
            <a:avLst>
              <a:gd name="adj" fmla="val 9756"/>
            </a:avLst>
          </a:prstGeom>
          <a:solidFill>
            <a:srgbClr val="F2F5F8"/>
          </a:solidFill>
          <a:ln w="12700">
            <a:solidFill>
              <a:srgbClr val="F2F5F8"/>
            </a:solidFill>
            <a:prstDash val="solid"/>
          </a:ln>
        </p:spPr>
      </p:sp>
      <p:sp>
        <p:nvSpPr>
          <p:cNvPr id="12" name="Shape 10"/>
          <p:cNvSpPr/>
          <p:nvPr/>
        </p:nvSpPr>
        <p:spPr>
          <a:xfrm>
            <a:off x="6464808" y="1911096"/>
            <a:ext cx="310896" cy="310896"/>
          </a:xfrm>
          <a:prstGeom prst="ellipse">
            <a:avLst/>
          </a:prstGeom>
          <a:solidFill>
            <a:srgbClr val="1F7A55"/>
          </a:solidFill>
          <a:ln w="12700">
            <a:solidFill>
              <a:srgbClr val="1F7A55"/>
            </a:solidFill>
            <a:prstDash val="solid"/>
          </a:ln>
        </p:spPr>
      </p:sp>
      <p:sp>
        <p:nvSpPr>
          <p:cNvPr id="13" name="Text 11"/>
          <p:cNvSpPr txBox="1"/>
          <p:nvPr/>
        </p:nvSpPr>
        <p:spPr>
          <a:xfrm>
            <a:off x="6464808" y="1911096"/>
            <a:ext cx="310896" cy="310896"/>
          </a:xfrm>
          <a:prstGeom prst="rect">
            <a:avLst/>
          </a:prstGeom>
          <a:noFill/>
        </p:spPr>
        <p:txBody>
          <a:bodyPr wrap="square" lIns="0" tIns="0" rIns="0" bIns="0" rtlCol="0" anchor="ctr"/>
          <a:lstStyle/>
          <a:p>
            <a:pPr marL="0" indent="0" algn="ctr">
              <a:buNone/>
            </a:pPr>
            <a:r>
              <a:rPr lang="en-US" sz="1200" b="1"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200" dirty="0"/>
          </a:p>
        </p:txBody>
      </p:sp>
      <p:sp>
        <p:nvSpPr>
          <p:cNvPr id="14" name="Text 12"/>
          <p:cNvSpPr txBox="1"/>
          <p:nvPr/>
        </p:nvSpPr>
        <p:spPr>
          <a:xfrm>
            <a:off x="6885432" y="1691640"/>
            <a:ext cx="4572000" cy="749808"/>
          </a:xfrm>
          <a:prstGeom prst="rect">
            <a:avLst/>
          </a:prstGeom>
          <a:noFill/>
        </p:spPr>
        <p:txBody>
          <a:bodyPr wrap="square" lIns="0" tIns="0" rIns="0" bIns="0" rtlCol="0" anchor="ctr"/>
          <a:lstStyle/>
          <a:p>
            <a:pPr marL="0" indent="0">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header, nav, main and footer are present; exactly one main</a:t>
            </a:r>
            <a:endParaRPr lang="en-US" sz="1250" dirty="0"/>
          </a:p>
        </p:txBody>
      </p:sp>
      <p:sp>
        <p:nvSpPr>
          <p:cNvPr id="15" name="Shape 13"/>
          <p:cNvSpPr/>
          <p:nvPr/>
        </p:nvSpPr>
        <p:spPr>
          <a:xfrm>
            <a:off x="548640" y="2587752"/>
            <a:ext cx="5349240" cy="749808"/>
          </a:xfrm>
          <a:prstGeom prst="roundRect">
            <a:avLst>
              <a:gd name="adj" fmla="val 9756"/>
            </a:avLst>
          </a:prstGeom>
          <a:solidFill>
            <a:srgbClr val="E8EEF4"/>
          </a:solidFill>
          <a:ln w="12700">
            <a:solidFill>
              <a:srgbClr val="E8EEF4"/>
            </a:solidFill>
            <a:prstDash val="solid"/>
          </a:ln>
        </p:spPr>
      </p:sp>
      <p:sp>
        <p:nvSpPr>
          <p:cNvPr id="16" name="Shape 14"/>
          <p:cNvSpPr/>
          <p:nvPr/>
        </p:nvSpPr>
        <p:spPr>
          <a:xfrm>
            <a:off x="749808" y="2807208"/>
            <a:ext cx="310896" cy="310896"/>
          </a:xfrm>
          <a:prstGeom prst="ellipse">
            <a:avLst/>
          </a:prstGeom>
          <a:solidFill>
            <a:srgbClr val="1F7A55"/>
          </a:solidFill>
          <a:ln w="12700">
            <a:solidFill>
              <a:srgbClr val="1F7A55"/>
            </a:solidFill>
            <a:prstDash val="solid"/>
          </a:ln>
        </p:spPr>
      </p:sp>
      <p:sp>
        <p:nvSpPr>
          <p:cNvPr id="17" name="Text 15"/>
          <p:cNvSpPr txBox="1"/>
          <p:nvPr/>
        </p:nvSpPr>
        <p:spPr>
          <a:xfrm>
            <a:off x="749808" y="2807208"/>
            <a:ext cx="310896" cy="310896"/>
          </a:xfrm>
          <a:prstGeom prst="rect">
            <a:avLst/>
          </a:prstGeom>
          <a:noFill/>
        </p:spPr>
        <p:txBody>
          <a:bodyPr wrap="square" lIns="0" tIns="0" rIns="0" bIns="0" rtlCol="0" anchor="ctr"/>
          <a:lstStyle/>
          <a:p>
            <a:pPr marL="0" indent="0" algn="ctr">
              <a:buNone/>
            </a:pPr>
            <a:r>
              <a:rPr lang="en-US" sz="1200" b="1"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200" dirty="0"/>
          </a:p>
        </p:txBody>
      </p:sp>
      <p:sp>
        <p:nvSpPr>
          <p:cNvPr id="18" name="Text 16"/>
          <p:cNvSpPr txBox="1"/>
          <p:nvPr/>
        </p:nvSpPr>
        <p:spPr>
          <a:xfrm>
            <a:off x="1170432" y="2587752"/>
            <a:ext cx="4572000" cy="749808"/>
          </a:xfrm>
          <a:prstGeom prst="rect">
            <a:avLst/>
          </a:prstGeom>
          <a:noFill/>
        </p:spPr>
        <p:txBody>
          <a:bodyPr wrap="square" lIns="0" tIns="0" rIns="0" bIns="0" rtlCol="0" anchor="ctr"/>
          <a:lstStyle/>
          <a:p>
            <a:pPr marL="0" indent="0">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Every image has an alt attribute (empty if decorative)</a:t>
            </a:r>
            <a:endParaRPr lang="en-US" sz="1250" dirty="0"/>
          </a:p>
        </p:txBody>
      </p:sp>
      <p:sp>
        <p:nvSpPr>
          <p:cNvPr id="19" name="Shape 17"/>
          <p:cNvSpPr/>
          <p:nvPr/>
        </p:nvSpPr>
        <p:spPr>
          <a:xfrm>
            <a:off x="6263640" y="2587752"/>
            <a:ext cx="5349240" cy="749808"/>
          </a:xfrm>
          <a:prstGeom prst="roundRect">
            <a:avLst>
              <a:gd name="adj" fmla="val 9756"/>
            </a:avLst>
          </a:prstGeom>
          <a:solidFill>
            <a:srgbClr val="F2F5F8"/>
          </a:solidFill>
          <a:ln w="12700">
            <a:solidFill>
              <a:srgbClr val="F2F5F8"/>
            </a:solidFill>
            <a:prstDash val="solid"/>
          </a:ln>
        </p:spPr>
      </p:sp>
      <p:sp>
        <p:nvSpPr>
          <p:cNvPr id="20" name="Shape 18"/>
          <p:cNvSpPr/>
          <p:nvPr/>
        </p:nvSpPr>
        <p:spPr>
          <a:xfrm>
            <a:off x="6464808" y="2807208"/>
            <a:ext cx="310896" cy="310896"/>
          </a:xfrm>
          <a:prstGeom prst="ellipse">
            <a:avLst/>
          </a:prstGeom>
          <a:solidFill>
            <a:srgbClr val="1F7A55"/>
          </a:solidFill>
          <a:ln w="12700">
            <a:solidFill>
              <a:srgbClr val="1F7A55"/>
            </a:solidFill>
            <a:prstDash val="solid"/>
          </a:ln>
        </p:spPr>
      </p:sp>
      <p:sp>
        <p:nvSpPr>
          <p:cNvPr id="21" name="Text 19"/>
          <p:cNvSpPr txBox="1"/>
          <p:nvPr/>
        </p:nvSpPr>
        <p:spPr>
          <a:xfrm>
            <a:off x="6464808" y="2807208"/>
            <a:ext cx="310896" cy="310896"/>
          </a:xfrm>
          <a:prstGeom prst="rect">
            <a:avLst/>
          </a:prstGeom>
          <a:noFill/>
        </p:spPr>
        <p:txBody>
          <a:bodyPr wrap="square" lIns="0" tIns="0" rIns="0" bIns="0" rtlCol="0" anchor="ctr"/>
          <a:lstStyle/>
          <a:p>
            <a:pPr marL="0" indent="0" algn="ctr">
              <a:buNone/>
            </a:pPr>
            <a:r>
              <a:rPr lang="en-US" sz="1200" b="1"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200" dirty="0"/>
          </a:p>
        </p:txBody>
      </p:sp>
      <p:sp>
        <p:nvSpPr>
          <p:cNvPr id="22" name="Text 20"/>
          <p:cNvSpPr txBox="1"/>
          <p:nvPr/>
        </p:nvSpPr>
        <p:spPr>
          <a:xfrm>
            <a:off x="6885432" y="2587752"/>
            <a:ext cx="4572000" cy="749808"/>
          </a:xfrm>
          <a:prstGeom prst="rect">
            <a:avLst/>
          </a:prstGeom>
          <a:noFill/>
        </p:spPr>
        <p:txBody>
          <a:bodyPr wrap="square" lIns="0" tIns="0" rIns="0" bIns="0" rtlCol="0" anchor="ctr"/>
          <a:lstStyle/>
          <a:p>
            <a:pPr marL="0" indent="0">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Every input has a label whose for matches its id</a:t>
            </a:r>
            <a:endParaRPr lang="en-US" sz="1250" dirty="0"/>
          </a:p>
        </p:txBody>
      </p:sp>
      <p:sp>
        <p:nvSpPr>
          <p:cNvPr id="23" name="Shape 21"/>
          <p:cNvSpPr/>
          <p:nvPr/>
        </p:nvSpPr>
        <p:spPr>
          <a:xfrm>
            <a:off x="548640" y="3483864"/>
            <a:ext cx="5349240" cy="749808"/>
          </a:xfrm>
          <a:prstGeom prst="roundRect">
            <a:avLst>
              <a:gd name="adj" fmla="val 9756"/>
            </a:avLst>
          </a:prstGeom>
          <a:solidFill>
            <a:srgbClr val="E8EEF4"/>
          </a:solidFill>
          <a:ln w="12700">
            <a:solidFill>
              <a:srgbClr val="E8EEF4"/>
            </a:solidFill>
            <a:prstDash val="solid"/>
          </a:ln>
        </p:spPr>
      </p:sp>
      <p:sp>
        <p:nvSpPr>
          <p:cNvPr id="24" name="Shape 22"/>
          <p:cNvSpPr/>
          <p:nvPr/>
        </p:nvSpPr>
        <p:spPr>
          <a:xfrm>
            <a:off x="749808" y="3703320"/>
            <a:ext cx="310896" cy="310896"/>
          </a:xfrm>
          <a:prstGeom prst="ellipse">
            <a:avLst/>
          </a:prstGeom>
          <a:solidFill>
            <a:srgbClr val="1F7A55"/>
          </a:solidFill>
          <a:ln w="12700">
            <a:solidFill>
              <a:srgbClr val="1F7A55"/>
            </a:solidFill>
            <a:prstDash val="solid"/>
          </a:ln>
        </p:spPr>
      </p:sp>
      <p:sp>
        <p:nvSpPr>
          <p:cNvPr id="25" name="Text 23"/>
          <p:cNvSpPr txBox="1"/>
          <p:nvPr/>
        </p:nvSpPr>
        <p:spPr>
          <a:xfrm>
            <a:off x="749808" y="3703320"/>
            <a:ext cx="310896" cy="310896"/>
          </a:xfrm>
          <a:prstGeom prst="rect">
            <a:avLst/>
          </a:prstGeom>
          <a:noFill/>
        </p:spPr>
        <p:txBody>
          <a:bodyPr wrap="square" lIns="0" tIns="0" rIns="0" bIns="0" rtlCol="0" anchor="ctr"/>
          <a:lstStyle/>
          <a:p>
            <a:pPr marL="0" indent="0" algn="ctr">
              <a:buNone/>
            </a:pPr>
            <a:r>
              <a:rPr lang="en-US" sz="1200" b="1"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200" dirty="0"/>
          </a:p>
        </p:txBody>
      </p:sp>
      <p:sp>
        <p:nvSpPr>
          <p:cNvPr id="26" name="Text 24"/>
          <p:cNvSpPr txBox="1"/>
          <p:nvPr/>
        </p:nvSpPr>
        <p:spPr>
          <a:xfrm>
            <a:off x="1170432" y="3483864"/>
            <a:ext cx="4572000" cy="749808"/>
          </a:xfrm>
          <a:prstGeom prst="rect">
            <a:avLst/>
          </a:prstGeom>
          <a:noFill/>
        </p:spPr>
        <p:txBody>
          <a:bodyPr wrap="square" lIns="0" tIns="0" rIns="0" bIns="0" rtlCol="0" anchor="ctr"/>
          <a:lstStyle/>
          <a:p>
            <a:pPr marL="0" indent="0">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Field groups use fieldset and legend</a:t>
            </a:r>
            <a:endParaRPr lang="en-US" sz="1250" dirty="0"/>
          </a:p>
        </p:txBody>
      </p:sp>
      <p:sp>
        <p:nvSpPr>
          <p:cNvPr id="27" name="Shape 25"/>
          <p:cNvSpPr/>
          <p:nvPr/>
        </p:nvSpPr>
        <p:spPr>
          <a:xfrm>
            <a:off x="6263640" y="3483864"/>
            <a:ext cx="5349240" cy="749808"/>
          </a:xfrm>
          <a:prstGeom prst="roundRect">
            <a:avLst>
              <a:gd name="adj" fmla="val 9756"/>
            </a:avLst>
          </a:prstGeom>
          <a:solidFill>
            <a:srgbClr val="F2F5F8"/>
          </a:solidFill>
          <a:ln w="12700">
            <a:solidFill>
              <a:srgbClr val="F2F5F8"/>
            </a:solidFill>
            <a:prstDash val="solid"/>
          </a:ln>
        </p:spPr>
      </p:sp>
      <p:sp>
        <p:nvSpPr>
          <p:cNvPr id="28" name="Shape 26"/>
          <p:cNvSpPr/>
          <p:nvPr/>
        </p:nvSpPr>
        <p:spPr>
          <a:xfrm>
            <a:off x="6464808" y="3703320"/>
            <a:ext cx="310896" cy="310896"/>
          </a:xfrm>
          <a:prstGeom prst="ellipse">
            <a:avLst/>
          </a:prstGeom>
          <a:solidFill>
            <a:srgbClr val="1F7A55"/>
          </a:solidFill>
          <a:ln w="12700">
            <a:solidFill>
              <a:srgbClr val="1F7A55"/>
            </a:solidFill>
            <a:prstDash val="solid"/>
          </a:ln>
        </p:spPr>
      </p:sp>
      <p:sp>
        <p:nvSpPr>
          <p:cNvPr id="29" name="Text 27"/>
          <p:cNvSpPr txBox="1"/>
          <p:nvPr/>
        </p:nvSpPr>
        <p:spPr>
          <a:xfrm>
            <a:off x="6464808" y="3703320"/>
            <a:ext cx="310896" cy="310896"/>
          </a:xfrm>
          <a:prstGeom prst="rect">
            <a:avLst/>
          </a:prstGeom>
          <a:noFill/>
        </p:spPr>
        <p:txBody>
          <a:bodyPr wrap="square" lIns="0" tIns="0" rIns="0" bIns="0" rtlCol="0" anchor="ctr"/>
          <a:lstStyle/>
          <a:p>
            <a:pPr marL="0" indent="0" algn="ctr">
              <a:buNone/>
            </a:pPr>
            <a:r>
              <a:rPr lang="en-US" sz="1200" b="1"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200" dirty="0"/>
          </a:p>
        </p:txBody>
      </p:sp>
      <p:sp>
        <p:nvSpPr>
          <p:cNvPr id="30" name="Text 28"/>
          <p:cNvSpPr txBox="1"/>
          <p:nvPr/>
        </p:nvSpPr>
        <p:spPr>
          <a:xfrm>
            <a:off x="6885432" y="3483864"/>
            <a:ext cx="4572000" cy="749808"/>
          </a:xfrm>
          <a:prstGeom prst="rect">
            <a:avLst/>
          </a:prstGeom>
          <a:noFill/>
        </p:spPr>
        <p:txBody>
          <a:bodyPr wrap="square" lIns="0" tIns="0" rIns="0" bIns="0" rtlCol="0" anchor="ctr"/>
          <a:lstStyle/>
          <a:p>
            <a:pPr marL="0" indent="0">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Every control is reachable and usable with Tab alone</a:t>
            </a:r>
            <a:endParaRPr lang="en-US" sz="1250" dirty="0"/>
          </a:p>
        </p:txBody>
      </p:sp>
      <p:sp>
        <p:nvSpPr>
          <p:cNvPr id="31" name="Shape 29"/>
          <p:cNvSpPr/>
          <p:nvPr/>
        </p:nvSpPr>
        <p:spPr>
          <a:xfrm>
            <a:off x="548640" y="4379976"/>
            <a:ext cx="5349240" cy="749808"/>
          </a:xfrm>
          <a:prstGeom prst="roundRect">
            <a:avLst>
              <a:gd name="adj" fmla="val 9756"/>
            </a:avLst>
          </a:prstGeom>
          <a:solidFill>
            <a:srgbClr val="E8EEF4"/>
          </a:solidFill>
          <a:ln w="12700">
            <a:solidFill>
              <a:srgbClr val="E8EEF4"/>
            </a:solidFill>
            <a:prstDash val="solid"/>
          </a:ln>
        </p:spPr>
      </p:sp>
      <p:sp>
        <p:nvSpPr>
          <p:cNvPr id="32" name="Shape 30"/>
          <p:cNvSpPr/>
          <p:nvPr/>
        </p:nvSpPr>
        <p:spPr>
          <a:xfrm>
            <a:off x="749808" y="4599432"/>
            <a:ext cx="310896" cy="310896"/>
          </a:xfrm>
          <a:prstGeom prst="ellipse">
            <a:avLst/>
          </a:prstGeom>
          <a:solidFill>
            <a:srgbClr val="1F7A55"/>
          </a:solidFill>
          <a:ln w="12700">
            <a:solidFill>
              <a:srgbClr val="1F7A55"/>
            </a:solidFill>
            <a:prstDash val="solid"/>
          </a:ln>
        </p:spPr>
      </p:sp>
      <p:sp>
        <p:nvSpPr>
          <p:cNvPr id="33" name="Text 31"/>
          <p:cNvSpPr txBox="1"/>
          <p:nvPr/>
        </p:nvSpPr>
        <p:spPr>
          <a:xfrm>
            <a:off x="749808" y="4599432"/>
            <a:ext cx="310896" cy="310896"/>
          </a:xfrm>
          <a:prstGeom prst="rect">
            <a:avLst/>
          </a:prstGeom>
          <a:noFill/>
        </p:spPr>
        <p:txBody>
          <a:bodyPr wrap="square" lIns="0" tIns="0" rIns="0" bIns="0" rtlCol="0" anchor="ctr"/>
          <a:lstStyle/>
          <a:p>
            <a:pPr marL="0" indent="0" algn="ctr">
              <a:buNone/>
            </a:pPr>
            <a:r>
              <a:rPr lang="en-US" sz="1200" b="1"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200" dirty="0"/>
          </a:p>
        </p:txBody>
      </p:sp>
      <p:sp>
        <p:nvSpPr>
          <p:cNvPr id="34" name="Text 32"/>
          <p:cNvSpPr txBox="1"/>
          <p:nvPr/>
        </p:nvSpPr>
        <p:spPr>
          <a:xfrm>
            <a:off x="1170432" y="4379976"/>
            <a:ext cx="4572000" cy="749808"/>
          </a:xfrm>
          <a:prstGeom prst="rect">
            <a:avLst/>
          </a:prstGeom>
          <a:noFill/>
        </p:spPr>
        <p:txBody>
          <a:bodyPr wrap="square" lIns="0" tIns="0" rIns="0" bIns="0" rtlCol="0" anchor="ctr"/>
          <a:lstStyle/>
          <a:p>
            <a:pPr marL="0" indent="0">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Focus is always visible; outline is never set to none</a:t>
            </a:r>
            <a:endParaRPr lang="en-US" sz="1250" dirty="0"/>
          </a:p>
        </p:txBody>
      </p:sp>
      <p:sp>
        <p:nvSpPr>
          <p:cNvPr id="35" name="Shape 33"/>
          <p:cNvSpPr/>
          <p:nvPr/>
        </p:nvSpPr>
        <p:spPr>
          <a:xfrm>
            <a:off x="6263640" y="4379976"/>
            <a:ext cx="5349240" cy="749808"/>
          </a:xfrm>
          <a:prstGeom prst="roundRect">
            <a:avLst>
              <a:gd name="adj" fmla="val 9756"/>
            </a:avLst>
          </a:prstGeom>
          <a:solidFill>
            <a:srgbClr val="F2F5F8"/>
          </a:solidFill>
          <a:ln w="12700">
            <a:solidFill>
              <a:srgbClr val="F2F5F8"/>
            </a:solidFill>
            <a:prstDash val="solid"/>
          </a:ln>
        </p:spPr>
      </p:sp>
      <p:sp>
        <p:nvSpPr>
          <p:cNvPr id="36" name="Shape 34"/>
          <p:cNvSpPr/>
          <p:nvPr/>
        </p:nvSpPr>
        <p:spPr>
          <a:xfrm>
            <a:off x="6464808" y="4599432"/>
            <a:ext cx="310896" cy="310896"/>
          </a:xfrm>
          <a:prstGeom prst="ellipse">
            <a:avLst/>
          </a:prstGeom>
          <a:solidFill>
            <a:srgbClr val="1F7A55"/>
          </a:solidFill>
          <a:ln w="12700">
            <a:solidFill>
              <a:srgbClr val="1F7A55"/>
            </a:solidFill>
            <a:prstDash val="solid"/>
          </a:ln>
        </p:spPr>
      </p:sp>
      <p:sp>
        <p:nvSpPr>
          <p:cNvPr id="37" name="Text 35"/>
          <p:cNvSpPr txBox="1"/>
          <p:nvPr/>
        </p:nvSpPr>
        <p:spPr>
          <a:xfrm>
            <a:off x="6464808" y="4599432"/>
            <a:ext cx="310896" cy="310896"/>
          </a:xfrm>
          <a:prstGeom prst="rect">
            <a:avLst/>
          </a:prstGeom>
          <a:noFill/>
        </p:spPr>
        <p:txBody>
          <a:bodyPr wrap="square" lIns="0" tIns="0" rIns="0" bIns="0" rtlCol="0" anchor="ctr"/>
          <a:lstStyle/>
          <a:p>
            <a:pPr marL="0" indent="0" algn="ctr">
              <a:buNone/>
            </a:pPr>
            <a:r>
              <a:rPr lang="en-US" sz="1200" b="1"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200" dirty="0"/>
          </a:p>
        </p:txBody>
      </p:sp>
      <p:sp>
        <p:nvSpPr>
          <p:cNvPr id="38" name="Text 36"/>
          <p:cNvSpPr txBox="1"/>
          <p:nvPr/>
        </p:nvSpPr>
        <p:spPr>
          <a:xfrm>
            <a:off x="6885432" y="4379976"/>
            <a:ext cx="4572000" cy="749808"/>
          </a:xfrm>
          <a:prstGeom prst="rect">
            <a:avLst/>
          </a:prstGeom>
          <a:noFill/>
        </p:spPr>
        <p:txBody>
          <a:bodyPr wrap="square" lIns="0" tIns="0" rIns="0" bIns="0" rtlCol="0" anchor="ctr"/>
          <a:lstStyle/>
          <a:p>
            <a:pPr marL="0" indent="0">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Text contrast is at least 4.5 to 1</a:t>
            </a:r>
            <a:endParaRPr lang="en-US" sz="1250" dirty="0"/>
          </a:p>
        </p:txBody>
      </p:sp>
      <p:sp>
        <p:nvSpPr>
          <p:cNvPr id="39" name="Shape 37"/>
          <p:cNvSpPr/>
          <p:nvPr/>
        </p:nvSpPr>
        <p:spPr>
          <a:xfrm>
            <a:off x="548640" y="5276088"/>
            <a:ext cx="5349240" cy="749808"/>
          </a:xfrm>
          <a:prstGeom prst="roundRect">
            <a:avLst>
              <a:gd name="adj" fmla="val 9756"/>
            </a:avLst>
          </a:prstGeom>
          <a:solidFill>
            <a:srgbClr val="E8EEF4"/>
          </a:solidFill>
          <a:ln w="12700">
            <a:solidFill>
              <a:srgbClr val="E8EEF4"/>
            </a:solidFill>
            <a:prstDash val="solid"/>
          </a:ln>
        </p:spPr>
      </p:sp>
      <p:sp>
        <p:nvSpPr>
          <p:cNvPr id="40" name="Shape 38"/>
          <p:cNvSpPr/>
          <p:nvPr/>
        </p:nvSpPr>
        <p:spPr>
          <a:xfrm>
            <a:off x="749808" y="5495544"/>
            <a:ext cx="310896" cy="310896"/>
          </a:xfrm>
          <a:prstGeom prst="ellipse">
            <a:avLst/>
          </a:prstGeom>
          <a:solidFill>
            <a:srgbClr val="1F7A55"/>
          </a:solidFill>
          <a:ln w="12700">
            <a:solidFill>
              <a:srgbClr val="1F7A55"/>
            </a:solidFill>
            <a:prstDash val="solid"/>
          </a:ln>
        </p:spPr>
      </p:sp>
      <p:sp>
        <p:nvSpPr>
          <p:cNvPr id="41" name="Text 39"/>
          <p:cNvSpPr txBox="1"/>
          <p:nvPr/>
        </p:nvSpPr>
        <p:spPr>
          <a:xfrm>
            <a:off x="749808" y="5495544"/>
            <a:ext cx="310896" cy="310896"/>
          </a:xfrm>
          <a:prstGeom prst="rect">
            <a:avLst/>
          </a:prstGeom>
          <a:noFill/>
        </p:spPr>
        <p:txBody>
          <a:bodyPr wrap="square" lIns="0" tIns="0" rIns="0" bIns="0" rtlCol="0" anchor="ctr"/>
          <a:lstStyle/>
          <a:p>
            <a:pPr marL="0" indent="0" algn="ctr">
              <a:buNone/>
            </a:pPr>
            <a:r>
              <a:rPr lang="en-US" sz="1200" b="1"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200" dirty="0"/>
          </a:p>
        </p:txBody>
      </p:sp>
      <p:sp>
        <p:nvSpPr>
          <p:cNvPr id="42" name="Text 40"/>
          <p:cNvSpPr txBox="1"/>
          <p:nvPr/>
        </p:nvSpPr>
        <p:spPr>
          <a:xfrm>
            <a:off x="1170432" y="5276088"/>
            <a:ext cx="4572000" cy="749808"/>
          </a:xfrm>
          <a:prstGeom prst="rect">
            <a:avLst/>
          </a:prstGeom>
          <a:noFill/>
        </p:spPr>
        <p:txBody>
          <a:bodyPr wrap="square" lIns="0" tIns="0" rIns="0" bIns="0" rtlCol="0" anchor="ctr"/>
          <a:lstStyle/>
          <a:p>
            <a:pPr marL="0" indent="0">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Meaning is never carried by colour alone</a:t>
            </a:r>
            <a:endParaRPr lang="en-US" sz="1250" dirty="0"/>
          </a:p>
        </p:txBody>
      </p:sp>
      <p:sp>
        <p:nvSpPr>
          <p:cNvPr id="43" name="Shape 41"/>
          <p:cNvSpPr/>
          <p:nvPr/>
        </p:nvSpPr>
        <p:spPr>
          <a:xfrm>
            <a:off x="6263640" y="5276088"/>
            <a:ext cx="5349240" cy="749808"/>
          </a:xfrm>
          <a:prstGeom prst="roundRect">
            <a:avLst>
              <a:gd name="adj" fmla="val 9756"/>
            </a:avLst>
          </a:prstGeom>
          <a:solidFill>
            <a:srgbClr val="F2F5F8"/>
          </a:solidFill>
          <a:ln w="12700">
            <a:solidFill>
              <a:srgbClr val="F2F5F8"/>
            </a:solidFill>
            <a:prstDash val="solid"/>
          </a:ln>
        </p:spPr>
      </p:sp>
      <p:sp>
        <p:nvSpPr>
          <p:cNvPr id="44" name="Shape 42"/>
          <p:cNvSpPr/>
          <p:nvPr/>
        </p:nvSpPr>
        <p:spPr>
          <a:xfrm>
            <a:off x="6464808" y="5495544"/>
            <a:ext cx="310896" cy="310896"/>
          </a:xfrm>
          <a:prstGeom prst="ellipse">
            <a:avLst/>
          </a:prstGeom>
          <a:solidFill>
            <a:srgbClr val="1F7A55"/>
          </a:solidFill>
          <a:ln w="12700">
            <a:solidFill>
              <a:srgbClr val="1F7A55"/>
            </a:solidFill>
            <a:prstDash val="solid"/>
          </a:ln>
        </p:spPr>
      </p:sp>
      <p:sp>
        <p:nvSpPr>
          <p:cNvPr id="45" name="Text 43"/>
          <p:cNvSpPr txBox="1"/>
          <p:nvPr/>
        </p:nvSpPr>
        <p:spPr>
          <a:xfrm>
            <a:off x="6464808" y="5495544"/>
            <a:ext cx="310896" cy="310896"/>
          </a:xfrm>
          <a:prstGeom prst="rect">
            <a:avLst/>
          </a:prstGeom>
          <a:noFill/>
        </p:spPr>
        <p:txBody>
          <a:bodyPr wrap="square" lIns="0" tIns="0" rIns="0" bIns="0" rtlCol="0" anchor="ctr"/>
          <a:lstStyle/>
          <a:p>
            <a:pPr marL="0" indent="0" algn="ctr">
              <a:buNone/>
            </a:pPr>
            <a:r>
              <a:rPr lang="en-US" sz="1200" b="1" dirty="0">
                <a:solidFill>
                  <a:srgbClr val="FFFFFF"/>
                </a:solidFill>
                <a:latin typeface="Arial" panose="020B0604020202020204" pitchFamily="34" charset="0"/>
                <a:ea typeface="Arial" panose="020B0604020202020204" pitchFamily="34" charset="-122"/>
                <a:cs typeface="Arial" panose="020B0604020202020204" pitchFamily="34" charset="-120"/>
              </a:rPr>
              <a:t>✓</a:t>
            </a:r>
            <a:endParaRPr lang="en-US" sz="1200" dirty="0"/>
          </a:p>
        </p:txBody>
      </p:sp>
      <p:sp>
        <p:nvSpPr>
          <p:cNvPr id="46" name="Text 44"/>
          <p:cNvSpPr txBox="1"/>
          <p:nvPr/>
        </p:nvSpPr>
        <p:spPr>
          <a:xfrm>
            <a:off x="6885432" y="5276088"/>
            <a:ext cx="4572000" cy="749808"/>
          </a:xfrm>
          <a:prstGeom prst="rect">
            <a:avLst/>
          </a:prstGeom>
          <a:noFill/>
        </p:spPr>
        <p:txBody>
          <a:bodyPr wrap="square" lIns="0" tIns="0" rIns="0" bIns="0" rtlCol="0" anchor="ctr"/>
          <a:lstStyle/>
          <a:p>
            <a:pPr marL="0" indent="0">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Link text describes its destination; html has a lang attribute</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p:spPr>
        <p:txBody>
          <a:bodyPr wrap="square" lIns="0" tIns="0" rIns="0" bIns="0" rtlCol="0" anchor="ctr"/>
          <a:lstStyle/>
          <a:p>
            <a:pPr marL="0" indent="0">
              <a:buNone/>
            </a:pPr>
            <a:r>
              <a:rPr lang="en-US" sz="1100" b="1" kern="0" spc="120" dirty="0">
                <a:solidFill>
                  <a:srgbClr val="E39A18"/>
                </a:solidFill>
                <a:latin typeface="Arial" panose="020B0604020202020204" pitchFamily="34" charset="0"/>
                <a:ea typeface="Arial" panose="020B0604020202020204" pitchFamily="34" charset="-122"/>
                <a:cs typeface="Arial" panose="020B0604020202020204" pitchFamily="34" charset="-120"/>
              </a:rPr>
              <a:t>DEBUG CLINIC</a:t>
            </a:r>
            <a:endParaRPr lang="en-US" sz="1100" dirty="0"/>
          </a:p>
        </p:txBody>
      </p:sp>
      <p:sp>
        <p:nvSpPr>
          <p:cNvPr id="3" name="Text 1"/>
          <p:cNvSpPr txBox="1"/>
          <p:nvPr/>
        </p:nvSpPr>
        <p:spPr>
          <a:xfrm>
            <a:off x="548640" y="658368"/>
            <a:ext cx="11064240" cy="566928"/>
          </a:xfrm>
          <a:prstGeom prst="rect">
            <a:avLst/>
          </a:prstGeom>
          <a:noFill/>
        </p:spPr>
        <p:txBody>
          <a:bodyPr wrap="square" lIns="0" tIns="0" rIns="0" bIns="0" rtlCol="0" anchor="ctr"/>
          <a:lstStyle/>
          <a:p>
            <a:pPr marL="0" indent="0">
              <a:buNone/>
            </a:pPr>
            <a:r>
              <a:rPr lang="en-US" sz="3200" b="1" dirty="0">
                <a:solidFill>
                  <a:srgbClr val="003366"/>
                </a:solidFill>
                <a:latin typeface="Arial" panose="020B0604020202020204" pitchFamily="34" charset="0"/>
                <a:ea typeface="Arial" panose="020B0604020202020204" pitchFamily="34" charset="-122"/>
                <a:cs typeface="Arial" panose="020B0604020202020204" pitchFamily="34" charset="-120"/>
              </a:rPr>
              <a:t>Common Mistakes and Fixes</a:t>
            </a:r>
            <a:endParaRPr lang="en-US" sz="3200" dirty="0"/>
          </a:p>
        </p:txBody>
      </p:sp>
      <p:sp>
        <p:nvSpPr>
          <p:cNvPr id="4" name="Text 2"/>
          <p:cNvSpPr txBox="1"/>
          <p:nvPr/>
        </p:nvSpPr>
        <p:spPr>
          <a:xfrm>
            <a:off x="548640" y="6355080"/>
            <a:ext cx="5486400" cy="256032"/>
          </a:xfrm>
          <a:prstGeom prst="rect">
            <a:avLst/>
          </a:prstGeom>
          <a:noFill/>
        </p:spPr>
        <p:txBody>
          <a:bodyPr wrap="square" lIns="0" tIns="0" rIns="0" bIns="0" rtlCol="0" anchor="ctr"/>
          <a:lstStyle/>
          <a:p>
            <a:pPr marL="0" indent="0">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p:spPr>
        <p:txBody>
          <a:bodyPr wrap="square" lIns="0" tIns="0" rIns="0" bIns="0" rtlCol="0" anchor="ctr"/>
          <a:lstStyle/>
          <a:p>
            <a:pPr marL="0" indent="0" algn="r">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17</a:t>
            </a:r>
            <a:endParaRPr lang="en-US" sz="900" dirty="0"/>
          </a:p>
        </p:txBody>
      </p:sp>
      <p:sp>
        <p:nvSpPr>
          <p:cNvPr id="6" name="Shape 4"/>
          <p:cNvSpPr/>
          <p:nvPr/>
        </p:nvSpPr>
        <p:spPr>
          <a:xfrm>
            <a:off x="548640" y="1325880"/>
            <a:ext cx="11064240" cy="804672"/>
          </a:xfrm>
          <a:prstGeom prst="roundRect">
            <a:avLst>
              <a:gd name="adj" fmla="val 9091"/>
            </a:avLst>
          </a:prstGeom>
          <a:solidFill>
            <a:srgbClr val="FBEAE8"/>
          </a:solidFill>
          <a:ln w="12700">
            <a:solidFill>
              <a:srgbClr val="FBEAE8"/>
            </a:solidFill>
            <a:prstDash val="solid"/>
          </a:ln>
        </p:spPr>
      </p:sp>
      <p:sp>
        <p:nvSpPr>
          <p:cNvPr id="7" name="Text 5"/>
          <p:cNvSpPr txBox="1"/>
          <p:nvPr/>
        </p:nvSpPr>
        <p:spPr>
          <a:xfrm>
            <a:off x="777240" y="1362456"/>
            <a:ext cx="4023360" cy="731520"/>
          </a:xfrm>
          <a:prstGeom prst="rect">
            <a:avLst/>
          </a:prstGeom>
          <a:noFill/>
        </p:spPr>
        <p:txBody>
          <a:bodyPr wrap="square" lIns="0" tIns="0" rIns="0" bIns="0" rtlCol="0" anchor="ctr"/>
          <a:lstStyle/>
          <a:p>
            <a:pPr marL="0" indent="0">
              <a:buNone/>
            </a:pPr>
            <a:r>
              <a:rPr lang="en-US" sz="1350" b="1" dirty="0">
                <a:solidFill>
                  <a:srgbClr val="003366"/>
                </a:solidFill>
                <a:latin typeface="Arial" panose="020B0604020202020204" pitchFamily="34" charset="0"/>
                <a:ea typeface="Arial" panose="020B0604020202020204" pitchFamily="34" charset="-122"/>
                <a:cs typeface="Arial" panose="020B0604020202020204" pitchFamily="34" charset="-120"/>
              </a:rPr>
              <a:t>Using a div as a button</a:t>
            </a:r>
            <a:endParaRPr lang="en-US" sz="1350" dirty="0"/>
          </a:p>
        </p:txBody>
      </p:sp>
      <p:sp>
        <p:nvSpPr>
          <p:cNvPr id="8" name="Text 6"/>
          <p:cNvSpPr txBox="1"/>
          <p:nvPr/>
        </p:nvSpPr>
        <p:spPr>
          <a:xfrm>
            <a:off x="4983480" y="1362456"/>
            <a:ext cx="6400800" cy="731520"/>
          </a:xfrm>
          <a:prstGeom prst="rect">
            <a:avLst/>
          </a:prstGeom>
          <a:noFill/>
        </p:spPr>
        <p:txBody>
          <a:bodyPr wrap="square" lIns="0" tIns="0" rIns="0" bIns="0" rtlCol="0" anchor="ctr"/>
          <a:lstStyle/>
          <a:p>
            <a:pPr marL="0" indent="0">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A div is not focusable and does not respond to Enter. Use &lt;button type="button"&gt;.</a:t>
            </a:r>
            <a:endParaRPr lang="en-US" sz="1250" dirty="0"/>
          </a:p>
        </p:txBody>
      </p:sp>
      <p:sp>
        <p:nvSpPr>
          <p:cNvPr id="9" name="Shape 7"/>
          <p:cNvSpPr/>
          <p:nvPr/>
        </p:nvSpPr>
        <p:spPr>
          <a:xfrm>
            <a:off x="548640" y="2240280"/>
            <a:ext cx="11064240" cy="804672"/>
          </a:xfrm>
          <a:prstGeom prst="roundRect">
            <a:avLst>
              <a:gd name="adj" fmla="val 9091"/>
            </a:avLst>
          </a:prstGeom>
          <a:solidFill>
            <a:srgbClr val="F2F5F8"/>
          </a:solidFill>
          <a:ln w="12700">
            <a:solidFill>
              <a:srgbClr val="F2F5F8"/>
            </a:solidFill>
            <a:prstDash val="solid"/>
          </a:ln>
        </p:spPr>
      </p:sp>
      <p:sp>
        <p:nvSpPr>
          <p:cNvPr id="10" name="Text 8"/>
          <p:cNvSpPr txBox="1"/>
          <p:nvPr/>
        </p:nvSpPr>
        <p:spPr>
          <a:xfrm>
            <a:off x="777240" y="2276856"/>
            <a:ext cx="4023360" cy="731520"/>
          </a:xfrm>
          <a:prstGeom prst="rect">
            <a:avLst/>
          </a:prstGeom>
          <a:noFill/>
        </p:spPr>
        <p:txBody>
          <a:bodyPr wrap="square" lIns="0" tIns="0" rIns="0" bIns="0" rtlCol="0" anchor="ctr"/>
          <a:lstStyle/>
          <a:p>
            <a:pPr marL="0" indent="0">
              <a:buNone/>
            </a:pPr>
            <a:r>
              <a:rPr lang="en-US" sz="1350" b="1" dirty="0">
                <a:solidFill>
                  <a:srgbClr val="003366"/>
                </a:solidFill>
                <a:latin typeface="Arial" panose="020B0604020202020204" pitchFamily="34" charset="0"/>
                <a:ea typeface="Arial" panose="020B0604020202020204" pitchFamily="34" charset="-122"/>
                <a:cs typeface="Arial" panose="020B0604020202020204" pitchFamily="34" charset="-120"/>
              </a:rPr>
              <a:t>alt attribute left out entirely</a:t>
            </a:r>
            <a:endParaRPr lang="en-US" sz="1350" dirty="0"/>
          </a:p>
        </p:txBody>
      </p:sp>
      <p:sp>
        <p:nvSpPr>
          <p:cNvPr id="11" name="Text 9"/>
          <p:cNvSpPr txBox="1"/>
          <p:nvPr/>
        </p:nvSpPr>
        <p:spPr>
          <a:xfrm>
            <a:off x="4983480" y="2276856"/>
            <a:ext cx="6400800" cy="731520"/>
          </a:xfrm>
          <a:prstGeom prst="rect">
            <a:avLst/>
          </a:prstGeom>
          <a:noFill/>
        </p:spPr>
        <p:txBody>
          <a:bodyPr wrap="square" lIns="0" tIns="0" rIns="0" bIns="0" rtlCol="0" anchor="ctr"/>
          <a:lstStyle/>
          <a:p>
            <a:pPr marL="0" indent="0">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The screen reader reads the file name aloud. Use alt="" for decoration.</a:t>
            </a:r>
            <a:endParaRPr lang="en-US" sz="1250" dirty="0"/>
          </a:p>
        </p:txBody>
      </p:sp>
      <p:sp>
        <p:nvSpPr>
          <p:cNvPr id="12" name="Shape 10"/>
          <p:cNvSpPr/>
          <p:nvPr/>
        </p:nvSpPr>
        <p:spPr>
          <a:xfrm>
            <a:off x="548640" y="3154680"/>
            <a:ext cx="11064240" cy="804672"/>
          </a:xfrm>
          <a:prstGeom prst="roundRect">
            <a:avLst>
              <a:gd name="adj" fmla="val 9091"/>
            </a:avLst>
          </a:prstGeom>
          <a:solidFill>
            <a:srgbClr val="FBEAE8"/>
          </a:solidFill>
          <a:ln w="12700">
            <a:solidFill>
              <a:srgbClr val="FBEAE8"/>
            </a:solidFill>
            <a:prstDash val="solid"/>
          </a:ln>
        </p:spPr>
      </p:sp>
      <p:sp>
        <p:nvSpPr>
          <p:cNvPr id="13" name="Text 11"/>
          <p:cNvSpPr txBox="1"/>
          <p:nvPr/>
        </p:nvSpPr>
        <p:spPr>
          <a:xfrm>
            <a:off x="777240" y="3191256"/>
            <a:ext cx="4023360" cy="731520"/>
          </a:xfrm>
          <a:prstGeom prst="rect">
            <a:avLst/>
          </a:prstGeom>
          <a:noFill/>
        </p:spPr>
        <p:txBody>
          <a:bodyPr wrap="square" lIns="0" tIns="0" rIns="0" bIns="0" rtlCol="0" anchor="ctr"/>
          <a:lstStyle/>
          <a:p>
            <a:pPr marL="0" indent="0">
              <a:buNone/>
            </a:pPr>
            <a:r>
              <a:rPr lang="en-US" sz="1350" b="1" dirty="0">
                <a:solidFill>
                  <a:srgbClr val="003366"/>
                </a:solidFill>
                <a:latin typeface="Arial" panose="020B0604020202020204" pitchFamily="34" charset="0"/>
                <a:ea typeface="Arial" panose="020B0604020202020204" pitchFamily="34" charset="-122"/>
                <a:cs typeface="Arial" panose="020B0604020202020204" pitchFamily="34" charset="-120"/>
              </a:rPr>
              <a:t>Placeholder used instead of a label</a:t>
            </a:r>
            <a:endParaRPr lang="en-US" sz="1350" dirty="0"/>
          </a:p>
        </p:txBody>
      </p:sp>
      <p:sp>
        <p:nvSpPr>
          <p:cNvPr id="14" name="Text 12"/>
          <p:cNvSpPr txBox="1"/>
          <p:nvPr/>
        </p:nvSpPr>
        <p:spPr>
          <a:xfrm>
            <a:off x="4983480" y="3191256"/>
            <a:ext cx="6400800" cy="731520"/>
          </a:xfrm>
          <a:prstGeom prst="rect">
            <a:avLst/>
          </a:prstGeom>
          <a:noFill/>
        </p:spPr>
        <p:txBody>
          <a:bodyPr wrap="square" lIns="0" tIns="0" rIns="0" bIns="0" rtlCol="0" anchor="ctr"/>
          <a:lstStyle/>
          <a:p>
            <a:pPr marL="0" indent="0">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It vanishes when typing. Add a real label; keep the placeholder as a hint.</a:t>
            </a:r>
            <a:endParaRPr lang="en-US" sz="1250" dirty="0"/>
          </a:p>
        </p:txBody>
      </p:sp>
      <p:sp>
        <p:nvSpPr>
          <p:cNvPr id="15" name="Shape 13"/>
          <p:cNvSpPr/>
          <p:nvPr/>
        </p:nvSpPr>
        <p:spPr>
          <a:xfrm>
            <a:off x="548640" y="4069080"/>
            <a:ext cx="11064240" cy="804672"/>
          </a:xfrm>
          <a:prstGeom prst="roundRect">
            <a:avLst>
              <a:gd name="adj" fmla="val 9091"/>
            </a:avLst>
          </a:prstGeom>
          <a:solidFill>
            <a:srgbClr val="F2F5F8"/>
          </a:solidFill>
          <a:ln w="12700">
            <a:solidFill>
              <a:srgbClr val="F2F5F8"/>
            </a:solidFill>
            <a:prstDash val="solid"/>
          </a:ln>
        </p:spPr>
      </p:sp>
      <p:sp>
        <p:nvSpPr>
          <p:cNvPr id="16" name="Text 14"/>
          <p:cNvSpPr txBox="1"/>
          <p:nvPr/>
        </p:nvSpPr>
        <p:spPr>
          <a:xfrm>
            <a:off x="777240" y="4105656"/>
            <a:ext cx="4023360" cy="731520"/>
          </a:xfrm>
          <a:prstGeom prst="rect">
            <a:avLst/>
          </a:prstGeom>
          <a:noFill/>
        </p:spPr>
        <p:txBody>
          <a:bodyPr wrap="square" lIns="0" tIns="0" rIns="0" bIns="0" rtlCol="0" anchor="ctr"/>
          <a:lstStyle/>
          <a:p>
            <a:pPr marL="0" indent="0">
              <a:buNone/>
            </a:pPr>
            <a:r>
              <a:rPr lang="en-US" sz="1350" b="1" dirty="0">
                <a:solidFill>
                  <a:srgbClr val="003366"/>
                </a:solidFill>
                <a:latin typeface="Arial" panose="020B0604020202020204" pitchFamily="34" charset="0"/>
                <a:ea typeface="Arial" panose="020B0604020202020204" pitchFamily="34" charset="-122"/>
                <a:cs typeface="Arial" panose="020B0604020202020204" pitchFamily="34" charset="-120"/>
              </a:rPr>
              <a:t>outline: none in the CSS</a:t>
            </a:r>
            <a:endParaRPr lang="en-US" sz="1350" dirty="0"/>
          </a:p>
        </p:txBody>
      </p:sp>
      <p:sp>
        <p:nvSpPr>
          <p:cNvPr id="17" name="Text 15"/>
          <p:cNvSpPr txBox="1"/>
          <p:nvPr/>
        </p:nvSpPr>
        <p:spPr>
          <a:xfrm>
            <a:off x="4983480" y="4105656"/>
            <a:ext cx="6400800" cy="731520"/>
          </a:xfrm>
          <a:prstGeom prst="rect">
            <a:avLst/>
          </a:prstGeom>
          <a:noFill/>
        </p:spPr>
        <p:txBody>
          <a:bodyPr wrap="square" lIns="0" tIns="0" rIns="0" bIns="0" rtlCol="0" anchor="ctr"/>
          <a:lstStyle/>
          <a:p>
            <a:pPr marL="0" indent="0">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The keyboard user cannot see where they are. Replace the outline, never delete it.</a:t>
            </a:r>
            <a:endParaRPr lang="en-US" sz="1250" dirty="0"/>
          </a:p>
        </p:txBody>
      </p:sp>
      <p:sp>
        <p:nvSpPr>
          <p:cNvPr id="18" name="Shape 16"/>
          <p:cNvSpPr/>
          <p:nvPr/>
        </p:nvSpPr>
        <p:spPr>
          <a:xfrm>
            <a:off x="548640" y="4983480"/>
            <a:ext cx="11064240" cy="804672"/>
          </a:xfrm>
          <a:prstGeom prst="roundRect">
            <a:avLst>
              <a:gd name="adj" fmla="val 9091"/>
            </a:avLst>
          </a:prstGeom>
          <a:solidFill>
            <a:srgbClr val="FBEAE8"/>
          </a:solidFill>
          <a:ln w="12700">
            <a:solidFill>
              <a:srgbClr val="FBEAE8"/>
            </a:solidFill>
            <a:prstDash val="solid"/>
          </a:ln>
        </p:spPr>
      </p:sp>
      <p:sp>
        <p:nvSpPr>
          <p:cNvPr id="19" name="Text 17"/>
          <p:cNvSpPr txBox="1"/>
          <p:nvPr/>
        </p:nvSpPr>
        <p:spPr>
          <a:xfrm>
            <a:off x="777240" y="5020056"/>
            <a:ext cx="4023360" cy="731520"/>
          </a:xfrm>
          <a:prstGeom prst="rect">
            <a:avLst/>
          </a:prstGeom>
          <a:noFill/>
        </p:spPr>
        <p:txBody>
          <a:bodyPr wrap="square" lIns="0" tIns="0" rIns="0" bIns="0" rtlCol="0" anchor="ctr"/>
          <a:lstStyle/>
          <a:p>
            <a:pPr marL="0" indent="0">
              <a:buNone/>
            </a:pPr>
            <a:r>
              <a:rPr lang="en-US" sz="1350" b="1" dirty="0">
                <a:solidFill>
                  <a:srgbClr val="003366"/>
                </a:solidFill>
                <a:latin typeface="Arial" panose="020B0604020202020204" pitchFamily="34" charset="0"/>
                <a:ea typeface="Arial" panose="020B0604020202020204" pitchFamily="34" charset="-122"/>
                <a:cs typeface="Arial" panose="020B0604020202020204" pitchFamily="34" charset="-120"/>
              </a:rPr>
              <a:t>Pale grey body text</a:t>
            </a:r>
            <a:endParaRPr lang="en-US" sz="1350" dirty="0"/>
          </a:p>
        </p:txBody>
      </p:sp>
      <p:sp>
        <p:nvSpPr>
          <p:cNvPr id="20" name="Text 18"/>
          <p:cNvSpPr txBox="1"/>
          <p:nvPr/>
        </p:nvSpPr>
        <p:spPr>
          <a:xfrm>
            <a:off x="4983480" y="5020056"/>
            <a:ext cx="6400800" cy="731520"/>
          </a:xfrm>
          <a:prstGeom prst="rect">
            <a:avLst/>
          </a:prstGeom>
          <a:noFill/>
        </p:spPr>
        <p:txBody>
          <a:bodyPr wrap="square" lIns="0" tIns="0" rIns="0" bIns="0" rtlCol="0" anchor="ctr"/>
          <a:lstStyle/>
          <a:p>
            <a:pPr marL="0" indent="0">
              <a:buNone/>
            </a:pPr>
            <a:r>
              <a:rPr lang="en-US" sz="1250" dirty="0">
                <a:solidFill>
                  <a:srgbClr val="3D4A57"/>
                </a:solidFill>
                <a:latin typeface="Arial" panose="020B0604020202020204" pitchFamily="34" charset="0"/>
                <a:ea typeface="Arial" panose="020B0604020202020204" pitchFamily="34" charset="-122"/>
                <a:cs typeface="Arial" panose="020B0604020202020204" pitchFamily="34" charset="-120"/>
              </a:rPr>
              <a:t>Fails the 4.5 to 1 ratio. Darken the text or lighten the background.</a:t>
            </a:r>
            <a:endParaRPr lang="en-US" sz="1250" dirty="0"/>
          </a:p>
        </p:txBody>
      </p:sp>
      <p:sp>
        <p:nvSpPr>
          <p:cNvPr id="21" name="Text 19"/>
          <p:cNvSpPr txBox="1"/>
          <p:nvPr/>
        </p:nvSpPr>
        <p:spPr>
          <a:xfrm>
            <a:off x="548640" y="5943600"/>
            <a:ext cx="11064240" cy="274320"/>
          </a:xfrm>
          <a:prstGeom prst="rect">
            <a:avLst/>
          </a:prstGeom>
          <a:noFill/>
        </p:spPr>
        <p:txBody>
          <a:bodyPr wrap="square" lIns="0" tIns="0" rIns="0" bIns="0" rtlCol="0" anchor="t"/>
          <a:lstStyle/>
          <a:p>
            <a:pPr marL="0" indent="0" algn="l">
              <a:lnSpc>
                <a:spcPts val="1620"/>
              </a:lnSpc>
              <a:buNone/>
            </a:pPr>
            <a:r>
              <a:rPr lang="en-US" sz="1200" i="1" dirty="0">
                <a:solidFill>
                  <a:srgbClr val="6B7A88"/>
                </a:solidFill>
                <a:latin typeface="Arial" panose="020B0604020202020204" pitchFamily="34" charset="0"/>
                <a:ea typeface="Arial" panose="020B0604020202020204" pitchFamily="34" charset="-122"/>
                <a:cs typeface="Arial" panose="020B0604020202020204" pitchFamily="34" charset="-120"/>
              </a:rPr>
              <a:t>Rule of thumb: if you are adding ARIA to make something work, first check whether a plain HTML element already does it.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p:spPr>
        <p:txBody>
          <a:bodyPr wrap="square" lIns="0" tIns="0" rIns="0" bIns="0" rtlCol="0" anchor="ctr"/>
          <a:lstStyle/>
          <a:p>
            <a:pPr marL="0" indent="0">
              <a:buNone/>
            </a:pPr>
            <a:r>
              <a:rPr lang="en-US" sz="1100" b="1" kern="0" spc="120" dirty="0">
                <a:solidFill>
                  <a:srgbClr val="E39A18"/>
                </a:solidFill>
                <a:latin typeface="Arial" panose="020B0604020202020204" pitchFamily="34" charset="0"/>
                <a:ea typeface="Arial" panose="020B0604020202020204" pitchFamily="34" charset="-122"/>
                <a:cs typeface="Arial" panose="020B0604020202020204" pitchFamily="34" charset="-120"/>
              </a:rPr>
              <a:t>PART 1 IN CLASS · PART 2 AT HOME</a:t>
            </a:r>
            <a:endParaRPr lang="en-US" sz="1100" dirty="0"/>
          </a:p>
        </p:txBody>
      </p:sp>
      <p:sp>
        <p:nvSpPr>
          <p:cNvPr id="3" name="Text 1"/>
          <p:cNvSpPr txBox="1"/>
          <p:nvPr/>
        </p:nvSpPr>
        <p:spPr>
          <a:xfrm>
            <a:off x="548640" y="658368"/>
            <a:ext cx="11064240" cy="566928"/>
          </a:xfrm>
          <a:prstGeom prst="rect">
            <a:avLst/>
          </a:prstGeom>
          <a:noFill/>
        </p:spPr>
        <p:txBody>
          <a:bodyPr wrap="square" lIns="0" tIns="0" rIns="0" bIns="0" rtlCol="0" anchor="ctr"/>
          <a:lstStyle/>
          <a:p>
            <a:pPr marL="0" indent="0">
              <a:buNone/>
            </a:pPr>
            <a:r>
              <a:rPr lang="en-US" sz="3200" b="1" dirty="0">
                <a:solidFill>
                  <a:srgbClr val="003366"/>
                </a:solidFill>
                <a:latin typeface="Arial" panose="020B0604020202020204" pitchFamily="34" charset="0"/>
                <a:ea typeface="Arial" panose="020B0604020202020204" pitchFamily="34" charset="-122"/>
                <a:cs typeface="Arial" panose="020B0604020202020204" pitchFamily="34" charset="-120"/>
              </a:rPr>
              <a:t>Assignment - Week 2, Class 2</a:t>
            </a:r>
            <a:endParaRPr lang="en-US" sz="3200" dirty="0"/>
          </a:p>
        </p:txBody>
      </p:sp>
      <p:sp>
        <p:nvSpPr>
          <p:cNvPr id="4" name="Text 2"/>
          <p:cNvSpPr txBox="1"/>
          <p:nvPr/>
        </p:nvSpPr>
        <p:spPr>
          <a:xfrm>
            <a:off x="548640" y="6355080"/>
            <a:ext cx="5486400" cy="256032"/>
          </a:xfrm>
          <a:prstGeom prst="rect">
            <a:avLst/>
          </a:prstGeom>
          <a:noFill/>
        </p:spPr>
        <p:txBody>
          <a:bodyPr wrap="square" lIns="0" tIns="0" rIns="0" bIns="0" rtlCol="0" anchor="ctr"/>
          <a:lstStyle/>
          <a:p>
            <a:pPr marL="0" indent="0">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p:spPr>
        <p:txBody>
          <a:bodyPr wrap="square" lIns="0" tIns="0" rIns="0" bIns="0" rtlCol="0" anchor="ctr"/>
          <a:lstStyle/>
          <a:p>
            <a:pPr marL="0" indent="0" algn="r">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18</a:t>
            </a:r>
            <a:endParaRPr lang="en-US" sz="900" dirty="0"/>
          </a:p>
        </p:txBody>
      </p:sp>
      <p:sp>
        <p:nvSpPr>
          <p:cNvPr id="6" name="Shape 4"/>
          <p:cNvSpPr/>
          <p:nvPr/>
        </p:nvSpPr>
        <p:spPr>
          <a:xfrm>
            <a:off x="548640" y="1371600"/>
            <a:ext cx="5486400" cy="3657600"/>
          </a:xfrm>
          <a:prstGeom prst="roundRect">
            <a:avLst>
              <a:gd name="adj" fmla="val 2000"/>
            </a:avLst>
          </a:prstGeom>
          <a:solidFill>
            <a:srgbClr val="E8EEF4"/>
          </a:solidFill>
          <a:ln w="12700">
            <a:solidFill>
              <a:srgbClr val="E8EEF4"/>
            </a:solidFill>
            <a:prstDash val="solid"/>
          </a:ln>
          <a:effectLst>
            <a:outerShdw blurRad="76200" dist="12700" dir="5400000" algn="bl" rotWithShape="0">
              <a:srgbClr val="9AA9B8">
                <a:alpha val="18000"/>
              </a:srgbClr>
            </a:outerShdw>
          </a:effectLst>
        </p:spPr>
      </p:sp>
      <p:sp>
        <p:nvSpPr>
          <p:cNvPr id="7" name="Shape 5"/>
          <p:cNvSpPr/>
          <p:nvPr/>
        </p:nvSpPr>
        <p:spPr>
          <a:xfrm>
            <a:off x="749808" y="1572768"/>
            <a:ext cx="384048" cy="384048"/>
          </a:xfrm>
          <a:prstGeom prst="ellipse">
            <a:avLst/>
          </a:prstGeom>
          <a:solidFill>
            <a:srgbClr val="003366"/>
          </a:solidFill>
          <a:ln w="12700">
            <a:solidFill>
              <a:srgbClr val="003366"/>
            </a:solidFill>
            <a:prstDash val="solid"/>
          </a:ln>
        </p:spPr>
      </p:sp>
      <p:sp>
        <p:nvSpPr>
          <p:cNvPr id="8" name="Text 6"/>
          <p:cNvSpPr txBox="1"/>
          <p:nvPr/>
        </p:nvSpPr>
        <p:spPr>
          <a:xfrm>
            <a:off x="749808" y="157276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1</a:t>
            </a:r>
            <a:endParaRPr lang="en-US" sz="1500" dirty="0"/>
          </a:p>
        </p:txBody>
      </p:sp>
      <p:sp>
        <p:nvSpPr>
          <p:cNvPr id="9" name="Text 7"/>
          <p:cNvSpPr txBox="1"/>
          <p:nvPr/>
        </p:nvSpPr>
        <p:spPr>
          <a:xfrm>
            <a:off x="1261872" y="1600200"/>
            <a:ext cx="4572000" cy="329184"/>
          </a:xfrm>
          <a:prstGeom prst="rect">
            <a:avLst/>
          </a:prstGeom>
          <a:noFill/>
        </p:spPr>
        <p:txBody>
          <a:bodyPr wrap="square" lIns="0" tIns="0" rIns="0" bIns="0" rtlCol="0" anchor="ctr"/>
          <a:lstStyle/>
          <a:p>
            <a:pPr marL="0" indent="0">
              <a:buNone/>
            </a:pPr>
            <a:r>
              <a:rPr lang="en-US" sz="1700" b="1" dirty="0">
                <a:solidFill>
                  <a:srgbClr val="003366"/>
                </a:solidFill>
                <a:latin typeface="Arial" panose="020B0604020202020204" pitchFamily="34" charset="0"/>
                <a:ea typeface="Arial" panose="020B0604020202020204" pitchFamily="34" charset="-122"/>
                <a:cs typeface="Arial" panose="020B0604020202020204" pitchFamily="34" charset="-120"/>
              </a:rPr>
              <a:t>Part 1 - In-class demonstration</a:t>
            </a:r>
            <a:endParaRPr lang="en-US" sz="1700" dirty="0"/>
          </a:p>
        </p:txBody>
      </p:sp>
      <p:sp>
        <p:nvSpPr>
          <p:cNvPr id="10" name="Text 8"/>
          <p:cNvSpPr txBox="1"/>
          <p:nvPr/>
        </p:nvSpPr>
        <p:spPr>
          <a:xfrm>
            <a:off x="804672" y="1993392"/>
            <a:ext cx="4974336" cy="2871216"/>
          </a:xfrm>
          <a:prstGeom prst="rect">
            <a:avLst/>
          </a:prstGeom>
          <a:noFill/>
        </p:spPr>
        <p:txBody>
          <a:bodyPr wrap="square" lIns="0" tIns="0" rIns="0" bIns="0" rtlCol="0" anchor="t"/>
          <a:lstStyle/>
          <a:p>
            <a:pPr marL="342900" indent="-342900">
              <a:spcAft>
                <a:spcPts val="7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Time: last 5 minutes of this class</a:t>
            </a:r>
            <a:endParaRPr lang="en-US" sz="1350" dirty="0"/>
          </a:p>
          <a:p>
            <a:pPr marL="342900" indent="-342900">
              <a:spcAft>
                <a:spcPts val="7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Task: fix at least four accessibility problems in the supplied broken page</a:t>
            </a:r>
            <a:endParaRPr lang="en-US" sz="1350" dirty="0"/>
          </a:p>
          <a:p>
            <a:pPr marL="342900" indent="-342900">
              <a:spcAft>
                <a:spcPts val="7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Run Lighthouse and show the score before and after</a:t>
            </a:r>
            <a:endParaRPr lang="en-US" sz="1350" dirty="0"/>
          </a:p>
          <a:p>
            <a:pPr marL="342900" indent="-342900">
              <a:spcAft>
                <a:spcPts val="7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Tab through the fixed page with no mouse</a:t>
            </a:r>
            <a:endParaRPr lang="en-US" sz="1350" dirty="0"/>
          </a:p>
          <a:p>
            <a:pPr marL="342900" indent="-342900">
              <a:spcAft>
                <a:spcPts val="7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Submission: show both scores on your screen before leaving</a:t>
            </a:r>
            <a:endParaRPr lang="en-US" sz="1350" dirty="0"/>
          </a:p>
          <a:p>
            <a:pPr marL="342900" indent="-342900">
              <a:spcAft>
                <a:spcPts val="7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Marks: 2 (checked on the spot)</a:t>
            </a:r>
            <a:endParaRPr lang="en-US" sz="1350" dirty="0"/>
          </a:p>
        </p:txBody>
      </p:sp>
      <p:sp>
        <p:nvSpPr>
          <p:cNvPr id="11" name="Shape 9"/>
          <p:cNvSpPr/>
          <p:nvPr/>
        </p:nvSpPr>
        <p:spPr>
          <a:xfrm>
            <a:off x="6309360" y="1371600"/>
            <a:ext cx="5303520" cy="3931920"/>
          </a:xfrm>
          <a:prstGeom prst="roundRect">
            <a:avLst>
              <a:gd name="adj" fmla="val 1860"/>
            </a:avLst>
          </a:prstGeom>
          <a:solidFill>
            <a:srgbClr val="FDF3E1"/>
          </a:solidFill>
          <a:ln w="12700">
            <a:solidFill>
              <a:srgbClr val="FDF3E1"/>
            </a:solidFill>
            <a:prstDash val="solid"/>
          </a:ln>
          <a:effectLst>
            <a:outerShdw blurRad="76200" dist="12700" dir="5400000" algn="bl" rotWithShape="0">
              <a:srgbClr val="9AA9B8">
                <a:alpha val="18000"/>
              </a:srgbClr>
            </a:outerShdw>
          </a:effectLst>
        </p:spPr>
      </p:sp>
      <p:sp>
        <p:nvSpPr>
          <p:cNvPr id="12" name="Shape 10"/>
          <p:cNvSpPr/>
          <p:nvPr/>
        </p:nvSpPr>
        <p:spPr>
          <a:xfrm>
            <a:off x="6510528" y="1572768"/>
            <a:ext cx="384048" cy="384048"/>
          </a:xfrm>
          <a:prstGeom prst="ellipse">
            <a:avLst/>
          </a:prstGeom>
          <a:solidFill>
            <a:srgbClr val="E39A18"/>
          </a:solidFill>
          <a:ln w="12700">
            <a:solidFill>
              <a:srgbClr val="E39A18"/>
            </a:solidFill>
            <a:prstDash val="solid"/>
          </a:ln>
        </p:spPr>
      </p:sp>
      <p:sp>
        <p:nvSpPr>
          <p:cNvPr id="13" name="Text 11"/>
          <p:cNvSpPr txBox="1"/>
          <p:nvPr/>
        </p:nvSpPr>
        <p:spPr>
          <a:xfrm>
            <a:off x="6510528" y="1572768"/>
            <a:ext cx="384048" cy="384048"/>
          </a:xfrm>
          <a:prstGeom prst="rect">
            <a:avLst/>
          </a:prstGeom>
          <a:noFill/>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Arial" panose="020B0604020202020204" pitchFamily="34" charset="-122"/>
                <a:cs typeface="Arial" panose="020B0604020202020204" pitchFamily="34" charset="-120"/>
              </a:rPr>
              <a:t>2</a:t>
            </a:r>
            <a:endParaRPr lang="en-US" sz="1500" dirty="0"/>
          </a:p>
        </p:txBody>
      </p:sp>
      <p:sp>
        <p:nvSpPr>
          <p:cNvPr id="14" name="Text 12"/>
          <p:cNvSpPr txBox="1"/>
          <p:nvPr/>
        </p:nvSpPr>
        <p:spPr>
          <a:xfrm>
            <a:off x="7022592" y="1600200"/>
            <a:ext cx="4389120" cy="329184"/>
          </a:xfrm>
          <a:prstGeom prst="rect">
            <a:avLst/>
          </a:prstGeom>
          <a:noFill/>
        </p:spPr>
        <p:txBody>
          <a:bodyPr wrap="square" lIns="0" tIns="0" rIns="0" bIns="0" rtlCol="0" anchor="ctr"/>
          <a:lstStyle/>
          <a:p>
            <a:pPr marL="0" indent="0">
              <a:buNone/>
            </a:pPr>
            <a:r>
              <a:rPr lang="en-US" sz="1700" b="1" dirty="0">
                <a:solidFill>
                  <a:srgbClr val="003366"/>
                </a:solidFill>
                <a:latin typeface="Arial" panose="020B0604020202020204" pitchFamily="34" charset="0"/>
                <a:ea typeface="Arial" panose="020B0604020202020204" pitchFamily="34" charset="-122"/>
                <a:cs typeface="Arial" panose="020B0604020202020204" pitchFamily="34" charset="-120"/>
              </a:rPr>
              <a:t>Part 2 - Home task</a:t>
            </a:r>
            <a:endParaRPr lang="en-US" sz="1700" dirty="0"/>
          </a:p>
        </p:txBody>
      </p:sp>
      <p:sp>
        <p:nvSpPr>
          <p:cNvPr id="15" name="Text 13"/>
          <p:cNvSpPr txBox="1"/>
          <p:nvPr/>
        </p:nvSpPr>
        <p:spPr>
          <a:xfrm>
            <a:off x="6565392" y="1993392"/>
            <a:ext cx="4791456" cy="3145536"/>
          </a:xfrm>
          <a:prstGeom prst="rect">
            <a:avLst/>
          </a:prstGeom>
          <a:noFill/>
        </p:spPr>
        <p:txBody>
          <a:bodyPr wrap="square" lIns="0" tIns="0" rIns="0" bIns="0" rtlCol="0" anchor="t"/>
          <a:lstStyle/>
          <a:p>
            <a:pPr marL="342900" indent="-342900">
              <a:spcAft>
                <a:spcPts val="7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Audit your own register.html against the ten-point checklist</a:t>
            </a:r>
            <a:endParaRPr lang="en-US" sz="1350" dirty="0"/>
          </a:p>
          <a:p>
            <a:pPr marL="342900" indent="-342900">
              <a:spcAft>
                <a:spcPts val="7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Fix every failure you find</a:t>
            </a:r>
            <a:endParaRPr lang="en-US" sz="1350" dirty="0"/>
          </a:p>
          <a:p>
            <a:pPr marL="342900" indent="-342900">
              <a:spcAft>
                <a:spcPts val="7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Write audit-report.md: list each problem you found, the fix, and your Lighthouse score before and after</a:t>
            </a:r>
            <a:endParaRPr lang="en-US" sz="1350" dirty="0"/>
          </a:p>
          <a:p>
            <a:pPr marL="342900" indent="-342900">
              <a:spcAft>
                <a:spcPts val="7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Commit and push both files to GitHub</a:t>
            </a:r>
            <a:endParaRPr lang="en-US" sz="1350" dirty="0"/>
          </a:p>
          <a:p>
            <a:pPr marL="342900" indent="-342900">
              <a:spcAft>
                <a:spcPts val="700"/>
              </a:spcAft>
              <a:buSzPct val="100000"/>
              <a:buChar char="•"/>
            </a:pPr>
            <a:r>
              <a:rPr lang="en-US" sz="1350" dirty="0">
                <a:solidFill>
                  <a:srgbClr val="3D4A57"/>
                </a:solidFill>
                <a:latin typeface="Arial" panose="020B0604020202020204" pitchFamily="34" charset="0"/>
                <a:ea typeface="Arial" panose="020B0604020202020204" pitchFamily="34" charset="-122"/>
                <a:cs typeface="Arial" panose="020B0604020202020204" pitchFamily="34" charset="-120"/>
              </a:rPr>
              <a:t>Deadline: before Week 2, Class 3 · Marks: 3</a:t>
            </a:r>
            <a:endParaRPr lang="en-US" sz="1350" dirty="0"/>
          </a:p>
        </p:txBody>
      </p:sp>
      <p:sp>
        <p:nvSpPr>
          <p:cNvPr id="16" name="Shape 14"/>
          <p:cNvSpPr/>
          <p:nvPr/>
        </p:nvSpPr>
        <p:spPr>
          <a:xfrm>
            <a:off x="548640" y="5486400"/>
            <a:ext cx="11064240" cy="594360"/>
          </a:xfrm>
          <a:prstGeom prst="roundRect">
            <a:avLst>
              <a:gd name="adj" fmla="val 12308"/>
            </a:avLst>
          </a:prstGeom>
          <a:solidFill>
            <a:srgbClr val="F2F5F8"/>
          </a:solidFill>
          <a:ln w="12700">
            <a:solidFill>
              <a:srgbClr val="F2F5F8"/>
            </a:solidFill>
            <a:prstDash val="solid"/>
          </a:ln>
        </p:spPr>
      </p:sp>
      <p:sp>
        <p:nvSpPr>
          <p:cNvPr id="17" name="Text 15"/>
          <p:cNvSpPr txBox="1"/>
          <p:nvPr/>
        </p:nvSpPr>
        <p:spPr>
          <a:xfrm>
            <a:off x="804672" y="5687568"/>
            <a:ext cx="10552176" cy="329184"/>
          </a:xfrm>
          <a:prstGeom prst="rect">
            <a:avLst/>
          </a:prstGeom>
          <a:noFill/>
        </p:spPr>
        <p:txBody>
          <a:bodyPr wrap="square" lIns="0" tIns="0" rIns="0" bIns="0" rtlCol="0" anchor="ctr"/>
          <a:lstStyle/>
          <a:p>
            <a:pPr marL="0" indent="0">
              <a:buNone/>
            </a:pPr>
            <a:r>
              <a:rPr lang="en-US" sz="1350" b="1" dirty="0">
                <a:solidFill>
                  <a:srgbClr val="003366"/>
                </a:solidFill>
                <a:latin typeface="Arial" panose="020B0604020202020204" pitchFamily="34" charset="0"/>
                <a:ea typeface="Arial" panose="020B0604020202020204" pitchFamily="34" charset="-122"/>
                <a:cs typeface="Arial" panose="020B0604020202020204" pitchFamily="34" charset="-120"/>
              </a:rPr>
              <a:t>The same checklist is used to mark Mini Project 1 next week.</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p:spPr>
        <p:txBody>
          <a:bodyPr wrap="square" lIns="0" tIns="0" rIns="0" bIns="0" rtlCol="0" anchor="ctr"/>
          <a:lstStyle/>
          <a:p>
            <a:pPr marL="0" indent="0">
              <a:buNone/>
            </a:pPr>
            <a:r>
              <a:rPr lang="en-US" sz="1100" b="1" kern="0" spc="120" dirty="0">
                <a:solidFill>
                  <a:srgbClr val="E39A18"/>
                </a:solidFill>
                <a:latin typeface="Arial" panose="020B0604020202020204" pitchFamily="34" charset="0"/>
                <a:ea typeface="Arial" panose="020B0604020202020204" pitchFamily="34" charset="-122"/>
                <a:cs typeface="Arial" panose="020B0604020202020204" pitchFamily="34" charset="-120"/>
              </a:rPr>
              <a:t>48-50 MINUTES</a:t>
            </a:r>
            <a:endParaRPr lang="en-US" sz="1100" dirty="0"/>
          </a:p>
        </p:txBody>
      </p:sp>
      <p:sp>
        <p:nvSpPr>
          <p:cNvPr id="3" name="Text 1"/>
          <p:cNvSpPr txBox="1"/>
          <p:nvPr/>
        </p:nvSpPr>
        <p:spPr>
          <a:xfrm>
            <a:off x="548640" y="658368"/>
            <a:ext cx="11064240" cy="566928"/>
          </a:xfrm>
          <a:prstGeom prst="rect">
            <a:avLst/>
          </a:prstGeom>
          <a:noFill/>
        </p:spPr>
        <p:txBody>
          <a:bodyPr wrap="square" lIns="0" tIns="0" rIns="0" bIns="0" rtlCol="0" anchor="ctr"/>
          <a:lstStyle/>
          <a:p>
            <a:pPr marL="0" indent="0">
              <a:buNone/>
            </a:pPr>
            <a:r>
              <a:rPr lang="en-US" sz="3200" b="1" dirty="0">
                <a:solidFill>
                  <a:srgbClr val="003366"/>
                </a:solidFill>
                <a:latin typeface="Arial" panose="020B0604020202020204" pitchFamily="34" charset="0"/>
                <a:ea typeface="Arial" panose="020B0604020202020204" pitchFamily="34" charset="-122"/>
                <a:cs typeface="Arial" panose="020B0604020202020204" pitchFamily="34" charset="-120"/>
              </a:rPr>
              <a:t>Marking Rubric &amp; Exit Check</a:t>
            </a:r>
            <a:endParaRPr lang="en-US" sz="3200" dirty="0"/>
          </a:p>
        </p:txBody>
      </p:sp>
      <p:sp>
        <p:nvSpPr>
          <p:cNvPr id="4" name="Text 2"/>
          <p:cNvSpPr txBox="1"/>
          <p:nvPr/>
        </p:nvSpPr>
        <p:spPr>
          <a:xfrm>
            <a:off x="548640" y="6355080"/>
            <a:ext cx="5486400" cy="256032"/>
          </a:xfrm>
          <a:prstGeom prst="rect">
            <a:avLst/>
          </a:prstGeom>
          <a:noFill/>
        </p:spPr>
        <p:txBody>
          <a:bodyPr wrap="square" lIns="0" tIns="0" rIns="0" bIns="0" rtlCol="0" anchor="ctr"/>
          <a:lstStyle/>
          <a:p>
            <a:pPr marL="0" indent="0">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p:spPr>
        <p:txBody>
          <a:bodyPr wrap="square" lIns="0" tIns="0" rIns="0" bIns="0" rtlCol="0" anchor="ctr"/>
          <a:lstStyle/>
          <a:p>
            <a:pPr marL="0" indent="0" algn="r">
              <a:buNone/>
            </a:pPr>
            <a:r>
              <a:rPr lang="en-US" sz="900" dirty="0">
                <a:solidFill>
                  <a:srgbClr val="6B7A88"/>
                </a:solidFill>
                <a:latin typeface="Arial" panose="020B0604020202020204" pitchFamily="34" charset="0"/>
                <a:ea typeface="Arial" panose="020B0604020202020204" pitchFamily="34" charset="-122"/>
                <a:cs typeface="Arial" panose="020B0604020202020204" pitchFamily="34" charset="-120"/>
              </a:rPr>
              <a:t>19</a:t>
            </a:r>
            <a:endParaRPr lang="en-US" sz="900" dirty="0"/>
          </a:p>
        </p:txBody>
      </p:sp>
      <p:sp>
        <p:nvSpPr>
          <p:cNvPr id="6" name="Text 4"/>
          <p:cNvSpPr txBox="1"/>
          <p:nvPr/>
        </p:nvSpPr>
        <p:spPr>
          <a:xfrm>
            <a:off x="548640" y="1371600"/>
            <a:ext cx="6766560" cy="256032"/>
          </a:xfrm>
          <a:prstGeom prst="rect">
            <a:avLst/>
          </a:prstGeom>
          <a:noFill/>
        </p:spPr>
        <p:txBody>
          <a:bodyPr wrap="square" lIns="0" tIns="0" rIns="0" bIns="0" rtlCol="0" anchor="ctr"/>
          <a:lstStyle/>
          <a:p>
            <a:pPr marL="0" indent="0">
              <a:buNone/>
            </a:pPr>
            <a:r>
              <a:rPr lang="en-US" sz="1200" b="1" kern="0" spc="60" dirty="0">
                <a:solidFill>
                  <a:srgbClr val="003366"/>
                </a:solidFill>
                <a:latin typeface="Arial" panose="020B0604020202020204" pitchFamily="34" charset="0"/>
                <a:ea typeface="Arial" panose="020B0604020202020204" pitchFamily="34" charset="-122"/>
                <a:cs typeface="Arial" panose="020B0604020202020204" pitchFamily="34" charset="-120"/>
              </a:rPr>
              <a:t>RUBRIC - 5 MARKS TOTAL</a:t>
            </a:r>
            <a:endParaRPr lang="en-US" sz="1200" dirty="0"/>
          </a:p>
        </p:txBody>
      </p:sp>
      <p:sp>
        <p:nvSpPr>
          <p:cNvPr id="7" name="Shape 5"/>
          <p:cNvSpPr/>
          <p:nvPr/>
        </p:nvSpPr>
        <p:spPr>
          <a:xfrm>
            <a:off x="548640" y="1691640"/>
            <a:ext cx="6492240" cy="658368"/>
          </a:xfrm>
          <a:prstGeom prst="roundRect">
            <a:avLst>
              <a:gd name="adj" fmla="val 11111"/>
            </a:avLst>
          </a:prstGeom>
          <a:solidFill>
            <a:srgbClr val="E8EEF4"/>
          </a:solidFill>
          <a:ln w="12700">
            <a:solidFill>
              <a:srgbClr val="E8EEF4"/>
            </a:solidFill>
            <a:prstDash val="solid"/>
          </a:ln>
        </p:spPr>
      </p:sp>
      <p:sp>
        <p:nvSpPr>
          <p:cNvPr id="8" name="Text 6"/>
          <p:cNvSpPr txBox="1"/>
          <p:nvPr/>
        </p:nvSpPr>
        <p:spPr>
          <a:xfrm>
            <a:off x="777240" y="1691640"/>
            <a:ext cx="5394960" cy="658368"/>
          </a:xfrm>
          <a:prstGeom prst="rect">
            <a:avLst/>
          </a:prstGeom>
          <a:noFill/>
        </p:spPr>
        <p:txBody>
          <a:bodyPr wrap="square" lIns="0" tIns="0" rIns="0" bIns="0" rtlCol="0" anchor="ctr"/>
          <a:lstStyle/>
          <a:p>
            <a:pPr marL="0" indent="0">
              <a:buNone/>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Landmarks and heading order correct</a:t>
            </a:r>
            <a:endParaRPr lang="en-US" sz="1300" dirty="0"/>
          </a:p>
        </p:txBody>
      </p:sp>
      <p:sp>
        <p:nvSpPr>
          <p:cNvPr id="9" name="Text 7"/>
          <p:cNvSpPr txBox="1"/>
          <p:nvPr/>
        </p:nvSpPr>
        <p:spPr>
          <a:xfrm>
            <a:off x="6217920" y="1691640"/>
            <a:ext cx="594360" cy="658368"/>
          </a:xfrm>
          <a:prstGeom prst="rect">
            <a:avLst/>
          </a:prstGeom>
          <a:noFill/>
        </p:spPr>
        <p:txBody>
          <a:bodyPr wrap="square" lIns="0" tIns="0" rIns="0" bIns="0" rtlCol="0" anchor="ctr"/>
          <a:lstStyle/>
          <a:p>
            <a:pPr marL="0" indent="0" algn="r">
              <a:buNone/>
            </a:pPr>
            <a:r>
              <a:rPr lang="en-US" sz="1500" b="1" dirty="0">
                <a:solidFill>
                  <a:srgbClr val="003366"/>
                </a:solidFill>
                <a:latin typeface="Arial" panose="020B0604020202020204" pitchFamily="34" charset="0"/>
                <a:ea typeface="Arial" panose="020B0604020202020204" pitchFamily="34" charset="-122"/>
                <a:cs typeface="Arial" panose="020B0604020202020204" pitchFamily="34" charset="-120"/>
              </a:rPr>
              <a:t>1.0</a:t>
            </a:r>
            <a:endParaRPr lang="en-US" sz="1500" dirty="0"/>
          </a:p>
        </p:txBody>
      </p:sp>
      <p:sp>
        <p:nvSpPr>
          <p:cNvPr id="10" name="Shape 8"/>
          <p:cNvSpPr/>
          <p:nvPr/>
        </p:nvSpPr>
        <p:spPr>
          <a:xfrm>
            <a:off x="548640" y="2468880"/>
            <a:ext cx="6492240" cy="658368"/>
          </a:xfrm>
          <a:prstGeom prst="roundRect">
            <a:avLst>
              <a:gd name="adj" fmla="val 11111"/>
            </a:avLst>
          </a:prstGeom>
          <a:solidFill>
            <a:srgbClr val="F2F5F8"/>
          </a:solidFill>
          <a:ln w="12700">
            <a:solidFill>
              <a:srgbClr val="F2F5F8"/>
            </a:solidFill>
            <a:prstDash val="solid"/>
          </a:ln>
        </p:spPr>
      </p:sp>
      <p:sp>
        <p:nvSpPr>
          <p:cNvPr id="11" name="Text 9"/>
          <p:cNvSpPr txBox="1"/>
          <p:nvPr/>
        </p:nvSpPr>
        <p:spPr>
          <a:xfrm>
            <a:off x="777240" y="2468880"/>
            <a:ext cx="5394960" cy="658368"/>
          </a:xfrm>
          <a:prstGeom prst="rect">
            <a:avLst/>
          </a:prstGeom>
          <a:noFill/>
        </p:spPr>
        <p:txBody>
          <a:bodyPr wrap="square" lIns="0" tIns="0" rIns="0" bIns="0" rtlCol="0" anchor="ctr"/>
          <a:lstStyle/>
          <a:p>
            <a:pPr marL="0" indent="0">
              <a:buNone/>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All images and form controls correctly named</a:t>
            </a:r>
            <a:endParaRPr lang="en-US" sz="1300" dirty="0"/>
          </a:p>
        </p:txBody>
      </p:sp>
      <p:sp>
        <p:nvSpPr>
          <p:cNvPr id="12" name="Text 10"/>
          <p:cNvSpPr txBox="1"/>
          <p:nvPr/>
        </p:nvSpPr>
        <p:spPr>
          <a:xfrm>
            <a:off x="6217920" y="2468880"/>
            <a:ext cx="594360" cy="658368"/>
          </a:xfrm>
          <a:prstGeom prst="rect">
            <a:avLst/>
          </a:prstGeom>
          <a:noFill/>
        </p:spPr>
        <p:txBody>
          <a:bodyPr wrap="square" lIns="0" tIns="0" rIns="0" bIns="0" rtlCol="0" anchor="ctr"/>
          <a:lstStyle/>
          <a:p>
            <a:pPr marL="0" indent="0" algn="r">
              <a:buNone/>
            </a:pPr>
            <a:r>
              <a:rPr lang="en-US" sz="1500" b="1" dirty="0">
                <a:solidFill>
                  <a:srgbClr val="003366"/>
                </a:solidFill>
                <a:latin typeface="Arial" panose="020B0604020202020204" pitchFamily="34" charset="0"/>
                <a:ea typeface="Arial" panose="020B0604020202020204" pitchFamily="34" charset="-122"/>
                <a:cs typeface="Arial" panose="020B0604020202020204" pitchFamily="34" charset="-120"/>
              </a:rPr>
              <a:t>1.5</a:t>
            </a:r>
            <a:endParaRPr lang="en-US" sz="1500" dirty="0"/>
          </a:p>
        </p:txBody>
      </p:sp>
      <p:sp>
        <p:nvSpPr>
          <p:cNvPr id="13" name="Shape 11"/>
          <p:cNvSpPr/>
          <p:nvPr/>
        </p:nvSpPr>
        <p:spPr>
          <a:xfrm>
            <a:off x="548640" y="3246120"/>
            <a:ext cx="6492240" cy="658368"/>
          </a:xfrm>
          <a:prstGeom prst="roundRect">
            <a:avLst>
              <a:gd name="adj" fmla="val 11111"/>
            </a:avLst>
          </a:prstGeom>
          <a:solidFill>
            <a:srgbClr val="E8EEF4"/>
          </a:solidFill>
          <a:ln w="12700">
            <a:solidFill>
              <a:srgbClr val="E8EEF4"/>
            </a:solidFill>
            <a:prstDash val="solid"/>
          </a:ln>
        </p:spPr>
      </p:sp>
      <p:sp>
        <p:nvSpPr>
          <p:cNvPr id="14" name="Text 12"/>
          <p:cNvSpPr txBox="1"/>
          <p:nvPr/>
        </p:nvSpPr>
        <p:spPr>
          <a:xfrm>
            <a:off x="777240" y="3246120"/>
            <a:ext cx="5394960" cy="658368"/>
          </a:xfrm>
          <a:prstGeom prst="rect">
            <a:avLst/>
          </a:prstGeom>
          <a:noFill/>
        </p:spPr>
        <p:txBody>
          <a:bodyPr wrap="square" lIns="0" tIns="0" rIns="0" bIns="0" rtlCol="0" anchor="ctr"/>
          <a:lstStyle/>
          <a:p>
            <a:pPr marL="0" indent="0">
              <a:buNone/>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Page fully usable with the keyboard, focus visible</a:t>
            </a:r>
            <a:endParaRPr lang="en-US" sz="1300" dirty="0"/>
          </a:p>
        </p:txBody>
      </p:sp>
      <p:sp>
        <p:nvSpPr>
          <p:cNvPr id="15" name="Text 13"/>
          <p:cNvSpPr txBox="1"/>
          <p:nvPr/>
        </p:nvSpPr>
        <p:spPr>
          <a:xfrm>
            <a:off x="6217920" y="3246120"/>
            <a:ext cx="594360" cy="658368"/>
          </a:xfrm>
          <a:prstGeom prst="rect">
            <a:avLst/>
          </a:prstGeom>
          <a:noFill/>
        </p:spPr>
        <p:txBody>
          <a:bodyPr wrap="square" lIns="0" tIns="0" rIns="0" bIns="0" rtlCol="0" anchor="ctr"/>
          <a:lstStyle/>
          <a:p>
            <a:pPr marL="0" indent="0" algn="r">
              <a:buNone/>
            </a:pPr>
            <a:r>
              <a:rPr lang="en-US" sz="1500" b="1" dirty="0">
                <a:solidFill>
                  <a:srgbClr val="003366"/>
                </a:solidFill>
                <a:latin typeface="Arial" panose="020B0604020202020204" pitchFamily="34" charset="0"/>
                <a:ea typeface="Arial" panose="020B0604020202020204" pitchFamily="34" charset="-122"/>
                <a:cs typeface="Arial" panose="020B0604020202020204" pitchFamily="34" charset="-120"/>
              </a:rPr>
              <a:t>1.5</a:t>
            </a:r>
            <a:endParaRPr lang="en-US" sz="1500" dirty="0"/>
          </a:p>
        </p:txBody>
      </p:sp>
      <p:sp>
        <p:nvSpPr>
          <p:cNvPr id="16" name="Shape 14"/>
          <p:cNvSpPr/>
          <p:nvPr/>
        </p:nvSpPr>
        <p:spPr>
          <a:xfrm>
            <a:off x="548640" y="4023360"/>
            <a:ext cx="6492240" cy="658368"/>
          </a:xfrm>
          <a:prstGeom prst="roundRect">
            <a:avLst>
              <a:gd name="adj" fmla="val 11111"/>
            </a:avLst>
          </a:prstGeom>
          <a:solidFill>
            <a:srgbClr val="F2F5F8"/>
          </a:solidFill>
          <a:ln w="12700">
            <a:solidFill>
              <a:srgbClr val="F2F5F8"/>
            </a:solidFill>
            <a:prstDash val="solid"/>
          </a:ln>
        </p:spPr>
      </p:sp>
      <p:sp>
        <p:nvSpPr>
          <p:cNvPr id="17" name="Text 15"/>
          <p:cNvSpPr txBox="1"/>
          <p:nvPr/>
        </p:nvSpPr>
        <p:spPr>
          <a:xfrm>
            <a:off x="777240" y="4023360"/>
            <a:ext cx="5394960" cy="658368"/>
          </a:xfrm>
          <a:prstGeom prst="rect">
            <a:avLst/>
          </a:prstGeom>
          <a:noFill/>
        </p:spPr>
        <p:txBody>
          <a:bodyPr wrap="square" lIns="0" tIns="0" rIns="0" bIns="0" rtlCol="0" anchor="ctr"/>
          <a:lstStyle/>
          <a:p>
            <a:pPr marL="0" indent="0">
              <a:buNone/>
            </a:pPr>
            <a:r>
              <a:rPr lang="en-US" sz="1300" dirty="0">
                <a:solidFill>
                  <a:srgbClr val="3D4A57"/>
                </a:solidFill>
                <a:latin typeface="Arial" panose="020B0604020202020204" pitchFamily="34" charset="0"/>
                <a:ea typeface="Arial" panose="020B0604020202020204" pitchFamily="34" charset="-122"/>
                <a:cs typeface="Arial" panose="020B0604020202020204" pitchFamily="34" charset="-120"/>
              </a:rPr>
              <a:t>Audit report explains each problem and its fix</a:t>
            </a:r>
            <a:endParaRPr lang="en-US" sz="1300" dirty="0"/>
          </a:p>
        </p:txBody>
      </p:sp>
      <p:sp>
        <p:nvSpPr>
          <p:cNvPr id="18" name="Text 16"/>
          <p:cNvSpPr txBox="1"/>
          <p:nvPr/>
        </p:nvSpPr>
        <p:spPr>
          <a:xfrm>
            <a:off x="6217920" y="4023360"/>
            <a:ext cx="594360" cy="658368"/>
          </a:xfrm>
          <a:prstGeom prst="rect">
            <a:avLst/>
          </a:prstGeom>
          <a:noFill/>
        </p:spPr>
        <p:txBody>
          <a:bodyPr wrap="square" lIns="0" tIns="0" rIns="0" bIns="0" rtlCol="0" anchor="ctr"/>
          <a:lstStyle/>
          <a:p>
            <a:pPr marL="0" indent="0" algn="r">
              <a:buNone/>
            </a:pPr>
            <a:r>
              <a:rPr lang="en-US" sz="1500" b="1" dirty="0">
                <a:solidFill>
                  <a:srgbClr val="003366"/>
                </a:solidFill>
                <a:latin typeface="Arial" panose="020B0604020202020204" pitchFamily="34" charset="0"/>
                <a:ea typeface="Arial" panose="020B0604020202020204" pitchFamily="34" charset="-122"/>
                <a:cs typeface="Arial" panose="020B0604020202020204" pitchFamily="34" charset="-120"/>
              </a:rPr>
              <a:t>1.0</a:t>
            </a:r>
            <a:endParaRPr lang="en-US" sz="1500" dirty="0"/>
          </a:p>
        </p:txBody>
      </p:sp>
      <p:sp>
        <p:nvSpPr>
          <p:cNvPr id="19" name="Shape 17"/>
          <p:cNvSpPr/>
          <p:nvPr/>
        </p:nvSpPr>
        <p:spPr>
          <a:xfrm>
            <a:off x="7406640" y="1371600"/>
            <a:ext cx="4206240" cy="1737360"/>
          </a:xfrm>
          <a:prstGeom prst="roundRect">
            <a:avLst>
              <a:gd name="adj" fmla="val 4211"/>
            </a:avLst>
          </a:prstGeom>
          <a:solidFill>
            <a:srgbClr val="003366"/>
          </a:solidFill>
          <a:ln w="12700">
            <a:solidFill>
              <a:srgbClr val="003366"/>
            </a:solidFill>
            <a:prstDash val="solid"/>
          </a:ln>
          <a:effectLst>
            <a:outerShdw blurRad="76200" dist="12700" dir="5400000" algn="bl" rotWithShape="0">
              <a:srgbClr val="9AA9B8">
                <a:alpha val="18000"/>
              </a:srgbClr>
            </a:outerShdw>
          </a:effectLst>
        </p:spPr>
      </p:sp>
      <p:sp>
        <p:nvSpPr>
          <p:cNvPr id="20" name="Text 18"/>
          <p:cNvSpPr txBox="1"/>
          <p:nvPr/>
        </p:nvSpPr>
        <p:spPr>
          <a:xfrm>
            <a:off x="7662672" y="1572768"/>
            <a:ext cx="3694176" cy="329184"/>
          </a:xfrm>
          <a:prstGeom prst="rect">
            <a:avLst/>
          </a:prstGeom>
          <a:noFill/>
        </p:spPr>
        <p:txBody>
          <a:bodyPr wrap="square" lIns="0" tIns="0" rIns="0" bIns="0" rtlCol="0" anchor="ctr"/>
          <a:lstStyle/>
          <a:p>
            <a:pPr marL="0" indent="0">
              <a:buNone/>
            </a:pPr>
            <a:r>
              <a:rPr lang="en-US" sz="1700" b="1" dirty="0">
                <a:solidFill>
                  <a:srgbClr val="E39A18"/>
                </a:solidFill>
                <a:latin typeface="Arial" panose="020B0604020202020204" pitchFamily="34" charset="0"/>
                <a:ea typeface="Arial" panose="020B0604020202020204" pitchFamily="34" charset="-122"/>
                <a:cs typeface="Arial" panose="020B0604020202020204" pitchFamily="34" charset="-120"/>
              </a:rPr>
              <a:t>Exit question 1 - concept</a:t>
            </a:r>
            <a:endParaRPr lang="en-US" sz="1700" dirty="0"/>
          </a:p>
        </p:txBody>
      </p:sp>
      <p:sp>
        <p:nvSpPr>
          <p:cNvPr id="21" name="Text 19"/>
          <p:cNvSpPr txBox="1"/>
          <p:nvPr/>
        </p:nvSpPr>
        <p:spPr>
          <a:xfrm>
            <a:off x="7662672" y="1993392"/>
            <a:ext cx="3694176" cy="950976"/>
          </a:xfrm>
          <a:prstGeom prst="rect">
            <a:avLst/>
          </a:prstGeom>
          <a:noFill/>
        </p:spPr>
        <p:txBody>
          <a:bodyPr wrap="square" lIns="0" tIns="0" rIns="0" bIns="0" rtlCol="0" anchor="t"/>
          <a:lstStyle/>
          <a:p>
            <a:pPr marL="0" indent="0">
              <a:spcAft>
                <a:spcPts val="600"/>
              </a:spcAft>
              <a:buNone/>
            </a:pPr>
            <a:r>
              <a:rPr lang="en-US" sz="1400" dirty="0">
                <a:solidFill>
                  <a:srgbClr val="FFFFFF"/>
                </a:solidFill>
                <a:latin typeface="Arial" panose="020B0604020202020204" pitchFamily="34" charset="0"/>
                <a:ea typeface="Arial" panose="020B0604020202020204" pitchFamily="34" charset="-122"/>
                <a:cs typeface="Arial" panose="020B0604020202020204" pitchFamily="34" charset="-120"/>
              </a:rPr>
              <a:t>Why is alt="" different from leaving the alt attribute out?</a:t>
            </a:r>
            <a:endParaRPr lang="en-US" sz="1400" dirty="0"/>
          </a:p>
        </p:txBody>
      </p:sp>
      <p:sp>
        <p:nvSpPr>
          <p:cNvPr id="22" name="Shape 20"/>
          <p:cNvSpPr/>
          <p:nvPr/>
        </p:nvSpPr>
        <p:spPr>
          <a:xfrm>
            <a:off x="7406640" y="3337560"/>
            <a:ext cx="4206240" cy="1737360"/>
          </a:xfrm>
          <a:prstGeom prst="roundRect">
            <a:avLst>
              <a:gd name="adj" fmla="val 4211"/>
            </a:avLst>
          </a:prstGeom>
          <a:solidFill>
            <a:srgbClr val="F2F5F8"/>
          </a:solidFill>
          <a:ln w="12700">
            <a:solidFill>
              <a:srgbClr val="F2F5F8"/>
            </a:solidFill>
            <a:prstDash val="solid"/>
          </a:ln>
          <a:effectLst>
            <a:outerShdw blurRad="76200" dist="12700" dir="5400000" algn="bl" rotWithShape="0">
              <a:srgbClr val="9AA9B8">
                <a:alpha val="18000"/>
              </a:srgbClr>
            </a:outerShdw>
          </a:effectLst>
        </p:spPr>
      </p:sp>
      <p:sp>
        <p:nvSpPr>
          <p:cNvPr id="23" name="Text 21"/>
          <p:cNvSpPr txBox="1"/>
          <p:nvPr/>
        </p:nvSpPr>
        <p:spPr>
          <a:xfrm>
            <a:off x="7662672" y="3538728"/>
            <a:ext cx="3694176" cy="329184"/>
          </a:xfrm>
          <a:prstGeom prst="rect">
            <a:avLst/>
          </a:prstGeom>
          <a:noFill/>
        </p:spPr>
        <p:txBody>
          <a:bodyPr wrap="square" lIns="0" tIns="0" rIns="0" bIns="0" rtlCol="0" anchor="ctr"/>
          <a:lstStyle/>
          <a:p>
            <a:pPr marL="0" indent="0">
              <a:buNone/>
            </a:pPr>
            <a:r>
              <a:rPr lang="en-US" sz="1700" b="1" dirty="0">
                <a:solidFill>
                  <a:srgbClr val="003366"/>
                </a:solidFill>
                <a:latin typeface="Arial" panose="020B0604020202020204" pitchFamily="34" charset="0"/>
                <a:ea typeface="Arial" panose="020B0604020202020204" pitchFamily="34" charset="-122"/>
                <a:cs typeface="Arial" panose="020B0604020202020204" pitchFamily="34" charset="-120"/>
              </a:rPr>
              <a:t>Exit question 2 - practical</a:t>
            </a:r>
            <a:endParaRPr lang="en-US" sz="1700" dirty="0"/>
          </a:p>
        </p:txBody>
      </p:sp>
      <p:sp>
        <p:nvSpPr>
          <p:cNvPr id="24" name="Text 22"/>
          <p:cNvSpPr txBox="1"/>
          <p:nvPr/>
        </p:nvSpPr>
        <p:spPr>
          <a:xfrm>
            <a:off x="7662672" y="3959352"/>
            <a:ext cx="3694176" cy="950976"/>
          </a:xfrm>
          <a:prstGeom prst="rect">
            <a:avLst/>
          </a:prstGeom>
          <a:noFill/>
        </p:spPr>
        <p:txBody>
          <a:bodyPr wrap="square" lIns="0" tIns="0" rIns="0" bIns="0" rtlCol="0" anchor="t"/>
          <a:lstStyle/>
          <a:p>
            <a:pPr marL="0" indent="0">
              <a:spcAft>
                <a:spcPts val="600"/>
              </a:spcAft>
              <a:buNone/>
            </a:pPr>
            <a:r>
              <a:rPr lang="en-US" sz="1400" dirty="0">
                <a:solidFill>
                  <a:srgbClr val="3D4A57"/>
                </a:solidFill>
                <a:latin typeface="Arial" panose="020B0604020202020204" pitchFamily="34" charset="0"/>
                <a:ea typeface="Arial" panose="020B0604020202020204" pitchFamily="34" charset="-122"/>
                <a:cs typeface="Arial" panose="020B0604020202020204" pitchFamily="34" charset="-120"/>
              </a:rPr>
              <a:t>Name two things that break when you replace a button element with a div.</a:t>
            </a:r>
            <a:endParaRPr lang="en-US" sz="1400" dirty="0"/>
          </a:p>
        </p:txBody>
      </p:sp>
      <p:sp>
        <p:nvSpPr>
          <p:cNvPr id="25" name="Text 23"/>
          <p:cNvSpPr txBox="1"/>
          <p:nvPr/>
        </p:nvSpPr>
        <p:spPr>
          <a:xfrm>
            <a:off x="548640" y="5120640"/>
            <a:ext cx="6492240" cy="457200"/>
          </a:xfrm>
          <a:prstGeom prst="rect">
            <a:avLst/>
          </a:prstGeom>
          <a:noFill/>
        </p:spPr>
        <p:txBody>
          <a:bodyPr wrap="square" lIns="0" tIns="0" rIns="0" bIns="0" rtlCol="0" anchor="t"/>
          <a:lstStyle/>
          <a:p>
            <a:pPr marL="0" indent="0" algn="l">
              <a:lnSpc>
                <a:spcPts val="1825"/>
              </a:lnSpc>
              <a:buNone/>
            </a:pPr>
            <a:r>
              <a:rPr lang="en-US" sz="1350" i="1" dirty="0">
                <a:solidFill>
                  <a:srgbClr val="003366"/>
                </a:solidFill>
                <a:latin typeface="Arial" panose="020B0604020202020204" pitchFamily="34" charset="0"/>
                <a:ea typeface="Arial" panose="020B0604020202020204" pitchFamily="34" charset="-122"/>
                <a:cs typeface="Arial" panose="020B0604020202020204" pitchFamily="34" charset="-120"/>
              </a:rPr>
              <a:t>Next class: CSS - application methods, selectors, text properties and units.</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11437</Words>
  <Application>WPS Presentation</Application>
  <PresentationFormat>On-screen Show (16:9)</PresentationFormat>
  <Paragraphs>656</Paragraphs>
  <Slides>19</Slides>
  <Notes>19</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19</vt:i4>
      </vt:variant>
    </vt:vector>
  </HeadingPairs>
  <TitlesOfParts>
    <vt:vector size="31" baseType="lpstr">
      <vt:lpstr>Arial</vt:lpstr>
      <vt:lpstr>SimSun</vt:lpstr>
      <vt:lpstr>Wingdings</vt:lpstr>
      <vt:lpstr>Arial</vt:lpstr>
      <vt:lpstr>Arial</vt:lpstr>
      <vt:lpstr>Courier New</vt:lpstr>
      <vt:lpstr>Courier New</vt:lpstr>
      <vt:lpstr>Courier New</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International Islamic University Chittagong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CSE-2340 W2C2 Accessibility Essentials</dc:title>
  <dc:creator>Md Sadman Hafiz</dc:creator>
  <dc:subject>Accessibility essentials</dc:subject>
  <cp:lastModifiedBy>Nitro Gaming</cp:lastModifiedBy>
  <cp:revision>2</cp:revision>
  <dcterms:created xsi:type="dcterms:W3CDTF">2026-08-30T01:28:00Z</dcterms:created>
  <dcterms:modified xsi:type="dcterms:W3CDTF">2026-09-15T10:03:51Z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3024CD40076348179436FD31CA7707B7_12</vt:lpwstr>
  </property>
  <property fmtid="{D5CDD505-2E9C-101B-9397-08002B2CF9AE}" pid="3" name="KSOProductBuildVer">
    <vt:lpwstr>2057-12.2.0.23206</vt:lpwstr>
  </property>
</Properties>
</file>