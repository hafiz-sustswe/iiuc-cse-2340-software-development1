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Class 1. Students should arrive with the profile page pushed to GitHub. Today we go from single elements to the three patterns that appear on almost every real website. Timing: 0-5 recall, 5-15 concept, 15-30 live build, 30-43 student build, 43-48 debug, 48-50 exit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Ask the three recall questions quickly. Anyone who has not pushed yet gets two minutes at the end of class, not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 min. Open any real site on the projector - a news site or the IIUC site - and ask students to point out the nav, a form and a table. Ten seconds each, no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 min. The skip link looks strange to students because it is usually hidden by CSS. Explain that a keyboard user presses Tab once and jumps past thirty links. We revisit it in Class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10-12 min. Explain that a nav is a list even though CSS will later remove the bullets. Structure first, appearance second - this is the whole philosophy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min. action="#" means the form goes nowhere - we have no server. Say that once and move on; students who ask more get the answer 'CSE-3532 Web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15-17 min. Show type="email" rejecting a bad address and type="date" opening the picker on the projector. On a phone, type="tel" changes the on-screen keyboard - mention this, it impresses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17-20 min. The same-name rule for radios is the single most common bug in student registration forms. Demonstrate the broken version first, then fix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 min. Show the browser's own error bubble when submitting an empty required field. Then open DevTools and delete the required attribute live to show how easy it is to bypass.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22-25 min. Type the table live. The order of thead before tbody matters to students who copy from the internet and get it backwards. scope is what makes a table readable to a screen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25-27 min. Tell them honestly: in the 1990s tables WERE used for layout, and old tutorials still show it. If they find such a tutorial, close it. Week 3 gives them Flexbox and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min. New folder: week2-practice, new file register.html. Everyone starts from the Emmet skeleton. Four steps, roughly three minutes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Note that main has the id the skip link points to. Everyone must have a working page before Step 2. Walk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&lt;p&gt; wrappers just put each field on its own line without CSS. Tell students CSS will replace them in Week 2 Class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Point at the shared name="shift" for the two radios. Then break it live by changing one name, show both buttons selectable, and change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Ask students to add two more rows for C3 and C4 themselves - it is the first thing they do in the student build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43-48 min. Fix two or three of these live on a student machine. The radio name bug and the for/id mismatch will be the most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 min. Read both parts aloud. Part 2 is close to what Mini Project 1 asks for, so students who do it properly are already halfway to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48-50 min. Take two answers. Remind students to bring register.html to the next class - it is the page we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0A4A85"/>
          </a:solidFill>
          <a:ln w="12700">
            <a:solidFill>
              <a:srgbClr val="0A4A85"/>
            </a:solidFill>
            <a:prstDash val="solid"/>
          </a:ln>
        </p:spPr>
      </p:sp>
      <p:sp>
        <p:nvSpPr>
          <p:cNvPr id="3" name="Shape 1"/>
          <p:cNvSpPr/>
          <p:nvPr/>
        </p:nvSpPr>
        <p:spPr>
          <a:xfrm>
            <a:off x="10607040" y="4206240"/>
            <a:ext cx="3108960" cy="3108960"/>
          </a:xfrm>
          <a:prstGeom prst="ellipse">
            <a:avLst/>
          </a:prstGeom>
          <a:solidFill>
            <a:srgbClr val="07386A"/>
          </a:solidFill>
          <a:ln w="12700">
            <a:solidFill>
              <a:srgbClr val="07386A"/>
            </a:solidFill>
            <a:prstDash val="solid"/>
          </a:ln>
        </p:spPr>
      </p:sp>
      <p:sp>
        <p:nvSpPr>
          <p:cNvPr id="4" name="Text 2"/>
          <p:cNvSpPr txBox="1"/>
          <p:nvPr/>
        </p:nvSpPr>
        <p:spPr>
          <a:xfrm>
            <a:off x="548640" y="777240"/>
            <a:ext cx="8686800" cy="274320"/>
          </a:xfrm>
          <a:prstGeom prst="rect">
            <a:avLst/>
          </a:prstGeom>
          <a:noFill/>
          <a:ln/>
        </p:spPr>
        <p:txBody>
          <a:bodyPr wrap="square" lIns="0" tIns="0" rIns="0" bIns="0" rtlCol="0" anchor="ctr"/>
          <a:lstStyle/>
          <a:p>
            <a:pPr indent="0" marL="0">
              <a:buNone/>
            </a:pPr>
            <a:r>
              <a:rPr lang="en-US" sz="1200" b="1" spc="150" kern="0" dirty="0">
                <a:solidFill>
                  <a:srgbClr val="E39A18"/>
                </a:solidFill>
                <a:latin typeface="Arial" pitchFamily="34" charset="0"/>
                <a:ea typeface="Arial" pitchFamily="34" charset="-122"/>
                <a:cs typeface="Arial" pitchFamily="34" charset="-120"/>
              </a:rPr>
              <a:t>INTERNATIONAL ISLAMIC UNIVERSITY CHITTAGONG</a:t>
            </a:r>
            <a:endParaRPr lang="en-US" sz="1200" dirty="0"/>
          </a:p>
        </p:txBody>
      </p:sp>
      <p:sp>
        <p:nvSpPr>
          <p:cNvPr id="5" name="Text 3"/>
          <p:cNvSpPr txBox="1"/>
          <p:nvPr/>
        </p:nvSpPr>
        <p:spPr>
          <a:xfrm>
            <a:off x="548640" y="1078992"/>
            <a:ext cx="8686800" cy="274320"/>
          </a:xfrm>
          <a:prstGeom prst="rect">
            <a:avLst/>
          </a:prstGeom>
          <a:noFill/>
          <a:ln/>
        </p:spPr>
        <p:txBody>
          <a:bodyPr wrap="square" lIns="0" tIns="0" rIns="0" bIns="0" rtlCol="0" anchor="ctr"/>
          <a:lstStyle/>
          <a:p>
            <a:pPr indent="0" marL="0">
              <a:buNone/>
            </a:pPr>
            <a:r>
              <a:rPr lang="en-US" sz="1200" dirty="0">
                <a:solidFill>
                  <a:srgbClr val="BFD3E6"/>
                </a:solidFill>
                <a:latin typeface="Arial" pitchFamily="34" charset="0"/>
                <a:ea typeface="Arial" pitchFamily="34" charset="-122"/>
                <a:cs typeface="Arial" pitchFamily="34" charset="-120"/>
              </a:rPr>
              <a:t>Department of Computer Science and Engineering</a:t>
            </a:r>
            <a:endParaRPr lang="en-US" sz="1200" dirty="0"/>
          </a:p>
        </p:txBody>
      </p:sp>
      <p:sp>
        <p:nvSpPr>
          <p:cNvPr id="6" name="Text 4"/>
          <p:cNvSpPr txBox="1"/>
          <p:nvPr/>
        </p:nvSpPr>
        <p:spPr>
          <a:xfrm>
            <a:off x="548640" y="1828800"/>
            <a:ext cx="868680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CSE-2340: Software Development 1</a:t>
            </a:r>
            <a:endParaRPr lang="en-US" sz="1800" dirty="0"/>
          </a:p>
        </p:txBody>
      </p:sp>
      <p:sp>
        <p:nvSpPr>
          <p:cNvPr id="7" name="Text 5"/>
          <p:cNvSpPr txBox="1"/>
          <p:nvPr/>
        </p:nvSpPr>
        <p:spPr>
          <a:xfrm>
            <a:off x="548640" y="2331720"/>
            <a:ext cx="8778240" cy="137160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Navigation, Forms and Tables</a:t>
            </a:r>
            <a:endParaRPr lang="en-US" sz="4200" dirty="0"/>
          </a:p>
        </p:txBody>
      </p:sp>
      <p:sp>
        <p:nvSpPr>
          <p:cNvPr id="8" name="Text 6"/>
          <p:cNvSpPr txBox="1"/>
          <p:nvPr/>
        </p:nvSpPr>
        <p:spPr>
          <a:xfrm>
            <a:off x="548640" y="3794760"/>
            <a:ext cx="8778240" cy="365760"/>
          </a:xfrm>
          <a:prstGeom prst="rect">
            <a:avLst/>
          </a:prstGeom>
          <a:noFill/>
          <a:ln/>
        </p:spPr>
        <p:txBody>
          <a:bodyPr wrap="square" lIns="0" tIns="0" rIns="0" bIns="0" rtlCol="0" anchor="ctr"/>
          <a:lstStyle/>
          <a:p>
            <a:pPr indent="0" marL="0">
              <a:buNone/>
            </a:pPr>
            <a:r>
              <a:rPr lang="en-US" sz="1500" i="1" dirty="0">
                <a:solidFill>
                  <a:srgbClr val="9FC0DE"/>
                </a:solidFill>
                <a:latin typeface="Arial" pitchFamily="34" charset="0"/>
                <a:ea typeface="Arial" pitchFamily="34" charset="-122"/>
                <a:cs typeface="Arial" pitchFamily="34" charset="-120"/>
              </a:rPr>
              <a:t>Week 2 · Class 1 · Practical HTML patterns</a:t>
            </a:r>
            <a:endParaRPr lang="en-US" sz="1500" dirty="0"/>
          </a:p>
        </p:txBody>
      </p:sp>
      <p:sp>
        <p:nvSpPr>
          <p:cNvPr id="9" name="Shape 7"/>
          <p:cNvSpPr/>
          <p:nvPr/>
        </p:nvSpPr>
        <p:spPr>
          <a:xfrm>
            <a:off x="548640" y="4434840"/>
            <a:ext cx="1005840" cy="32004"/>
          </a:xfrm>
          <a:prstGeom prst="rect">
            <a:avLst/>
          </a:prstGeom>
          <a:solidFill>
            <a:srgbClr val="E39A18"/>
          </a:solidFill>
          <a:ln w="12700">
            <a:solidFill>
              <a:srgbClr val="E39A18"/>
            </a:solidFill>
            <a:prstDash val="solid"/>
          </a:ln>
        </p:spPr>
      </p:sp>
      <p:sp>
        <p:nvSpPr>
          <p:cNvPr id="10" name="Text 8"/>
          <p:cNvSpPr txBox="1"/>
          <p:nvPr/>
        </p:nvSpPr>
        <p:spPr>
          <a:xfrm>
            <a:off x="548640" y="4709160"/>
            <a:ext cx="731520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Md Sadman Hafiz</a:t>
            </a:r>
            <a:endParaRPr lang="en-US" sz="1700" dirty="0"/>
          </a:p>
        </p:txBody>
      </p:sp>
      <p:sp>
        <p:nvSpPr>
          <p:cNvPr id="11" name="Text 9"/>
          <p:cNvSpPr txBox="1"/>
          <p:nvPr/>
        </p:nvSpPr>
        <p:spPr>
          <a:xfrm>
            <a:off x="548640" y="5029200"/>
            <a:ext cx="7315200" cy="274320"/>
          </a:xfrm>
          <a:prstGeom prst="rect">
            <a:avLst/>
          </a:prstGeom>
          <a:noFill/>
          <a:ln/>
        </p:spPr>
        <p:txBody>
          <a:bodyPr wrap="square" lIns="0" tIns="0" rIns="0" bIns="0" rtlCol="0" anchor="ctr"/>
          <a:lstStyle/>
          <a:p>
            <a:pPr indent="0" marL="0">
              <a:buNone/>
            </a:pPr>
            <a:r>
              <a:rPr lang="en-US" sz="1300" dirty="0">
                <a:solidFill>
                  <a:srgbClr val="BFD3E6"/>
                </a:solidFill>
                <a:latin typeface="Arial" pitchFamily="34" charset="0"/>
                <a:ea typeface="Arial" pitchFamily="34" charset="-122"/>
                <a:cs typeface="Arial" pitchFamily="34" charset="-120"/>
              </a:rPr>
              <a:t>Lecturer, Dept. of CSE, IIUC</a:t>
            </a:r>
            <a:endParaRPr lang="en-US" sz="1300" dirty="0"/>
          </a:p>
        </p:txBody>
      </p:sp>
      <p:sp>
        <p:nvSpPr>
          <p:cNvPr id="12" name="Text 10"/>
          <p:cNvSpPr txBox="1"/>
          <p:nvPr/>
        </p:nvSpPr>
        <p:spPr>
          <a:xfrm>
            <a:off x="548640" y="5715000"/>
            <a:ext cx="7315200" cy="274320"/>
          </a:xfrm>
          <a:prstGeom prst="rect">
            <a:avLst/>
          </a:prstGeom>
          <a:noFill/>
          <a:ln/>
        </p:spPr>
        <p:txBody>
          <a:bodyPr wrap="square" lIns="0" tIns="0" rIns="0" bIns="0" rtlCol="0" anchor="ctr"/>
          <a:lstStyle/>
          <a:p>
            <a:pPr indent="0" marL="0">
              <a:buNone/>
            </a:pPr>
            <a:r>
              <a:rPr lang="en-US" sz="1200" dirty="0">
                <a:solidFill>
                  <a:srgbClr val="8FB3D4"/>
                </a:solidFill>
                <a:latin typeface="Arial" pitchFamily="34" charset="0"/>
                <a:ea typeface="Arial" pitchFamily="34" charset="-122"/>
                <a:cs typeface="Arial" pitchFamily="34" charset="-120"/>
              </a:rPr>
              <a:t>Autumn 2026  |  50-minute laboratory class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0-5 MINUTES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Recall &amp; Today's Outcome</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a:t>
            </a:r>
            <a:endParaRPr lang="en-US" sz="900" dirty="0"/>
          </a:p>
        </p:txBody>
      </p:sp>
      <p:sp>
        <p:nvSpPr>
          <p:cNvPr id="6" name="Shape 4"/>
          <p:cNvSpPr/>
          <p:nvPr/>
        </p:nvSpPr>
        <p:spPr>
          <a:xfrm>
            <a:off x="548640" y="1417320"/>
            <a:ext cx="5486400" cy="4480560"/>
          </a:xfrm>
          <a:prstGeom prst="roundRect">
            <a:avLst>
              <a:gd name="adj" fmla="val 1633"/>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7" name="Shape 5"/>
          <p:cNvSpPr/>
          <p:nvPr/>
        </p:nvSpPr>
        <p:spPr>
          <a:xfrm>
            <a:off x="749808" y="161848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618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9" name="Text 7"/>
          <p:cNvSpPr txBox="1"/>
          <p:nvPr/>
        </p:nvSpPr>
        <p:spPr>
          <a:xfrm>
            <a:off x="1261872" y="1645920"/>
            <a:ext cx="457200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Recall from Week 1</a:t>
            </a:r>
            <a:endParaRPr lang="en-US" sz="1700" dirty="0"/>
          </a:p>
        </p:txBody>
      </p:sp>
      <p:sp>
        <p:nvSpPr>
          <p:cNvPr id="10" name="Text 8"/>
          <p:cNvSpPr txBox="1"/>
          <p:nvPr/>
        </p:nvSpPr>
        <p:spPr>
          <a:xfrm>
            <a:off x="804672" y="2039112"/>
            <a:ext cx="4974336" cy="3694176"/>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3D4A57"/>
                </a:solidFill>
                <a:latin typeface="Arial" pitchFamily="34" charset="0"/>
                <a:ea typeface="Arial" pitchFamily="34" charset="-122"/>
                <a:cs typeface="Arial" pitchFamily="34" charset="-120"/>
              </a:rPr>
              <a:t>Which tag groups a set of navigation links?</a:t>
            </a:r>
            <a:endParaRPr lang="en-US" sz="1500" dirty="0"/>
          </a:p>
          <a:p>
            <a:pPr marL="342900" indent="-342900">
              <a:spcAft>
                <a:spcPts val="1400"/>
              </a:spcAft>
              <a:buSzPct val="100000"/>
              <a:buChar char="•"/>
            </a:pPr>
            <a:r>
              <a:rPr lang="en-US" sz="1500" dirty="0">
                <a:solidFill>
                  <a:srgbClr val="3D4A57"/>
                </a:solidFill>
                <a:latin typeface="Arial" pitchFamily="34" charset="0"/>
                <a:ea typeface="Arial" pitchFamily="34" charset="-122"/>
                <a:cs typeface="Arial" pitchFamily="34" charset="-120"/>
              </a:rPr>
              <a:t>How do we connect a label to an input?</a:t>
            </a:r>
            <a:endParaRPr lang="en-US" sz="1500" dirty="0"/>
          </a:p>
          <a:p>
            <a:pPr marL="342900" indent="-342900">
              <a:spcAft>
                <a:spcPts val="1400"/>
              </a:spcAft>
              <a:buSzPct val="100000"/>
              <a:buChar char="•"/>
            </a:pPr>
            <a:r>
              <a:rPr lang="en-US" sz="1500" dirty="0">
                <a:solidFill>
                  <a:srgbClr val="3D4A57"/>
                </a:solidFill>
                <a:latin typeface="Arial" pitchFamily="34" charset="0"/>
                <a:ea typeface="Arial" pitchFamily="34" charset="-122"/>
                <a:cs typeface="Arial" pitchFamily="34" charset="-120"/>
              </a:rPr>
              <a:t>Which four commands push code to GitHub?</a:t>
            </a:r>
            <a:endParaRPr lang="en-US" sz="1500" dirty="0"/>
          </a:p>
          <a:p>
            <a:pPr marL="342900" indent="-342900">
              <a:spcAft>
                <a:spcPts val="1400"/>
              </a:spcAft>
              <a:buSzPct val="100000"/>
              <a:buChar char="•"/>
            </a:pPr>
            <a:r>
              <a:rPr lang="en-US" sz="1500" dirty="0">
                <a:solidFill>
                  <a:srgbClr val="3D4A57"/>
                </a:solidFill>
                <a:latin typeface="Arial" pitchFamily="34" charset="0"/>
                <a:ea typeface="Arial" pitchFamily="34" charset="-122"/>
                <a:cs typeface="Arial" pitchFamily="34" charset="-120"/>
              </a:rPr>
              <a:t>Show me your repository URL.</a:t>
            </a:r>
            <a:endParaRPr lang="en-US" sz="1500" dirty="0"/>
          </a:p>
        </p:txBody>
      </p:sp>
      <p:sp>
        <p:nvSpPr>
          <p:cNvPr id="11" name="Shape 9"/>
          <p:cNvSpPr/>
          <p:nvPr/>
        </p:nvSpPr>
        <p:spPr>
          <a:xfrm>
            <a:off x="6309360" y="1417320"/>
            <a:ext cx="5303520" cy="4480560"/>
          </a:xfrm>
          <a:prstGeom prst="roundRect">
            <a:avLst>
              <a:gd name="adj" fmla="val 1633"/>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2" name="Shape 10"/>
          <p:cNvSpPr/>
          <p:nvPr/>
        </p:nvSpPr>
        <p:spPr>
          <a:xfrm>
            <a:off x="6510528" y="161848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6510528" y="1618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4" name="Text 12"/>
          <p:cNvSpPr txBox="1"/>
          <p:nvPr/>
        </p:nvSpPr>
        <p:spPr>
          <a:xfrm>
            <a:off x="7022592" y="1645920"/>
            <a:ext cx="43891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By the end of today you can</a:t>
            </a:r>
            <a:endParaRPr lang="en-US" sz="1700" dirty="0"/>
          </a:p>
        </p:txBody>
      </p:sp>
      <p:sp>
        <p:nvSpPr>
          <p:cNvPr id="15" name="Text 13"/>
          <p:cNvSpPr txBox="1"/>
          <p:nvPr/>
        </p:nvSpPr>
        <p:spPr>
          <a:xfrm>
            <a:off x="6565392" y="2039112"/>
            <a:ext cx="4791456" cy="3694176"/>
          </a:xfrm>
          <a:prstGeom prst="rect">
            <a:avLst/>
          </a:prstGeom>
          <a:noFill/>
          <a:ln/>
        </p:spPr>
        <p:txBody>
          <a:bodyPr wrap="square" lIns="0" tIns="0" rIns="0" bIns="0" rtlCol="0" anchor="t"/>
          <a:lstStyle/>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Build a navigation menu that works on every page</a:t>
            </a:r>
            <a:endParaRPr lang="en-US" sz="1500" dirty="0"/>
          </a:p>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Use the common form controls correctly</a:t>
            </a:r>
            <a:endParaRPr lang="en-US" sz="1500" dirty="0"/>
          </a:p>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Group related fields with fieldset and legend</a:t>
            </a:r>
            <a:endParaRPr lang="en-US" sz="1500" dirty="0"/>
          </a:p>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Add basic validation with HTML attributes</a:t>
            </a:r>
            <a:endParaRPr lang="en-US" sz="1500" dirty="0"/>
          </a:p>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Build a correct data table with headers</a:t>
            </a:r>
            <a:endParaRPr lang="en-US" sz="1500" dirty="0"/>
          </a:p>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Know when a table is the wrong choice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CONCEPT</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Three Patterns on Almost Every Website</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3</a:t>
            </a:r>
            <a:endParaRPr lang="en-US" sz="900" dirty="0"/>
          </a:p>
        </p:txBody>
      </p:sp>
      <p:sp>
        <p:nvSpPr>
          <p:cNvPr id="6" name="Text 4"/>
          <p:cNvSpPr txBox="1"/>
          <p:nvPr/>
        </p:nvSpPr>
        <p:spPr>
          <a:xfrm>
            <a:off x="548640" y="1325880"/>
            <a:ext cx="11064240" cy="320040"/>
          </a:xfrm>
          <a:prstGeom prst="rect">
            <a:avLst/>
          </a:prstGeom>
          <a:noFill/>
          <a:ln/>
        </p:spPr>
        <p:txBody>
          <a:bodyPr wrap="square" lIns="0" tIns="0" rIns="0" bIns="0" rtlCol="0" anchor="t"/>
          <a:lstStyle/>
          <a:p>
            <a:pPr algn="l" indent="0" marL="0">
              <a:lnSpc>
                <a:spcPts val="2025"/>
              </a:lnSpc>
              <a:buNone/>
            </a:pPr>
            <a:r>
              <a:rPr lang="en-US" sz="1500" dirty="0">
                <a:solidFill>
                  <a:srgbClr val="3D4A57"/>
                </a:solidFill>
                <a:latin typeface="Arial" pitchFamily="34" charset="0"/>
                <a:ea typeface="Arial" pitchFamily="34" charset="-122"/>
                <a:cs typeface="Arial" pitchFamily="34" charset="-120"/>
              </a:rPr>
              <a:t>Last class you learned individual tags. Today you learn the three patterns that combine them.</a:t>
            </a:r>
            <a:endParaRPr lang="en-US" sz="1500" dirty="0"/>
          </a:p>
        </p:txBody>
      </p:sp>
      <p:sp>
        <p:nvSpPr>
          <p:cNvPr id="7" name="Shape 5"/>
          <p:cNvSpPr/>
          <p:nvPr/>
        </p:nvSpPr>
        <p:spPr>
          <a:xfrm>
            <a:off x="548640" y="1783080"/>
            <a:ext cx="3520440" cy="2286000"/>
          </a:xfrm>
          <a:prstGeom prst="roundRect">
            <a:avLst>
              <a:gd name="adj" fmla="val 3200"/>
            </a:avLst>
          </a:prstGeom>
          <a:solidFill>
            <a:srgbClr val="003366"/>
          </a:solidFill>
          <a:ln w="12700">
            <a:solidFill>
              <a:srgbClr val="003366"/>
            </a:solidFill>
            <a:prstDash val="solid"/>
          </a:ln>
        </p:spPr>
      </p:sp>
      <p:sp>
        <p:nvSpPr>
          <p:cNvPr id="8" name="Text 6"/>
          <p:cNvSpPr txBox="1"/>
          <p:nvPr/>
        </p:nvSpPr>
        <p:spPr>
          <a:xfrm>
            <a:off x="731520" y="1965960"/>
            <a:ext cx="3154680" cy="41148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Navigation</a:t>
            </a:r>
            <a:endParaRPr lang="en-US" sz="2100" dirty="0"/>
          </a:p>
        </p:txBody>
      </p:sp>
      <p:sp>
        <p:nvSpPr>
          <p:cNvPr id="9" name="Text 7"/>
          <p:cNvSpPr txBox="1"/>
          <p:nvPr/>
        </p:nvSpPr>
        <p:spPr>
          <a:xfrm>
            <a:off x="731520" y="2468880"/>
            <a:ext cx="315468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How the user moves</a:t>
            </a:r>
            <a:endParaRPr lang="en-US" sz="1300" dirty="0"/>
          </a:p>
          <a:p>
            <a:pPr algn="ctr" indent="0" marL="0">
              <a:buNone/>
            </a:pPr>
            <a:r>
              <a:rPr lang="en-US" sz="1300" dirty="0">
                <a:solidFill>
                  <a:srgbClr val="FFFFFF"/>
                </a:solidFill>
                <a:latin typeface="Arial" pitchFamily="34" charset="0"/>
                <a:ea typeface="Arial" pitchFamily="34" charset="-122"/>
                <a:cs typeface="Arial" pitchFamily="34" charset="-120"/>
              </a:rPr>
              <a:t>between pages</a:t>
            </a:r>
            <a:endParaRPr lang="en-US" sz="1300" dirty="0"/>
          </a:p>
        </p:txBody>
      </p:sp>
      <p:sp>
        <p:nvSpPr>
          <p:cNvPr id="10" name="Text 8"/>
          <p:cNvSpPr txBox="1"/>
          <p:nvPr/>
        </p:nvSpPr>
        <p:spPr>
          <a:xfrm>
            <a:off x="731520" y="3200400"/>
            <a:ext cx="3154680" cy="731520"/>
          </a:xfrm>
          <a:prstGeom prst="rect">
            <a:avLst/>
          </a:prstGeom>
          <a:noFill/>
          <a:ln/>
        </p:spPr>
        <p:txBody>
          <a:bodyPr wrap="square" lIns="0" tIns="0" rIns="0" bIns="0" rtlCol="0" anchor="ctr"/>
          <a:lstStyle/>
          <a:p>
            <a:pPr algn="ctr" indent="0" marL="0">
              <a:buNone/>
            </a:pPr>
            <a:r>
              <a:rPr lang="en-US" sz="1200" dirty="0">
                <a:solidFill>
                  <a:srgbClr val="FFFFFF"/>
                </a:solidFill>
                <a:latin typeface="Courier New" pitchFamily="34" charset="0"/>
                <a:ea typeface="Courier New" pitchFamily="34" charset="-122"/>
                <a:cs typeface="Courier New" pitchFamily="34" charset="-120"/>
              </a:rPr>
              <a:t>nav · ul · li · a</a:t>
            </a:r>
            <a:endParaRPr lang="en-US" sz="1200" dirty="0"/>
          </a:p>
        </p:txBody>
      </p:sp>
      <p:sp>
        <p:nvSpPr>
          <p:cNvPr id="11" name="Shape 9"/>
          <p:cNvSpPr/>
          <p:nvPr/>
        </p:nvSpPr>
        <p:spPr>
          <a:xfrm>
            <a:off x="4315968" y="1783080"/>
            <a:ext cx="3520440" cy="2286000"/>
          </a:xfrm>
          <a:prstGeom prst="roundRect">
            <a:avLst>
              <a:gd name="adj" fmla="val 3200"/>
            </a:avLst>
          </a:prstGeom>
          <a:solidFill>
            <a:srgbClr val="E39A18"/>
          </a:solidFill>
          <a:ln w="12700">
            <a:solidFill>
              <a:srgbClr val="E39A18"/>
            </a:solidFill>
            <a:prstDash val="solid"/>
          </a:ln>
        </p:spPr>
      </p:sp>
      <p:sp>
        <p:nvSpPr>
          <p:cNvPr id="12" name="Text 10"/>
          <p:cNvSpPr txBox="1"/>
          <p:nvPr/>
        </p:nvSpPr>
        <p:spPr>
          <a:xfrm>
            <a:off x="4498848" y="1965960"/>
            <a:ext cx="3154680" cy="411480"/>
          </a:xfrm>
          <a:prstGeom prst="rect">
            <a:avLst/>
          </a:prstGeom>
          <a:noFill/>
          <a:ln/>
        </p:spPr>
        <p:txBody>
          <a:bodyPr wrap="square" lIns="0" tIns="0" rIns="0" bIns="0" rtlCol="0" anchor="ctr"/>
          <a:lstStyle/>
          <a:p>
            <a:pPr algn="ctr" indent="0" marL="0">
              <a:buNone/>
            </a:pPr>
            <a:r>
              <a:rPr lang="en-US" sz="2100" b="1" dirty="0">
                <a:solidFill>
                  <a:srgbClr val="4A3000"/>
                </a:solidFill>
                <a:latin typeface="Arial" pitchFamily="34" charset="0"/>
                <a:ea typeface="Arial" pitchFamily="34" charset="-122"/>
                <a:cs typeface="Arial" pitchFamily="34" charset="-120"/>
              </a:rPr>
              <a:t>Forms</a:t>
            </a:r>
            <a:endParaRPr lang="en-US" sz="2100" dirty="0"/>
          </a:p>
        </p:txBody>
      </p:sp>
      <p:sp>
        <p:nvSpPr>
          <p:cNvPr id="13" name="Text 11"/>
          <p:cNvSpPr txBox="1"/>
          <p:nvPr/>
        </p:nvSpPr>
        <p:spPr>
          <a:xfrm>
            <a:off x="4498848" y="2468880"/>
            <a:ext cx="3154680" cy="640080"/>
          </a:xfrm>
          <a:prstGeom prst="rect">
            <a:avLst/>
          </a:prstGeom>
          <a:noFill/>
          <a:ln/>
        </p:spPr>
        <p:txBody>
          <a:bodyPr wrap="square" lIns="0" tIns="0" rIns="0" bIns="0" rtlCol="0" anchor="ctr"/>
          <a:lstStyle/>
          <a:p>
            <a:pPr algn="ctr" indent="0" marL="0">
              <a:buNone/>
            </a:pPr>
            <a:r>
              <a:rPr lang="en-US" sz="1300" dirty="0">
                <a:solidFill>
                  <a:srgbClr val="4A3000"/>
                </a:solidFill>
                <a:latin typeface="Arial" pitchFamily="34" charset="0"/>
                <a:ea typeface="Arial" pitchFamily="34" charset="-122"/>
                <a:cs typeface="Arial" pitchFamily="34" charset="-120"/>
              </a:rPr>
              <a:t>How the user sends</a:t>
            </a:r>
            <a:endParaRPr lang="en-US" sz="1300" dirty="0"/>
          </a:p>
          <a:p>
            <a:pPr algn="ctr" indent="0" marL="0">
              <a:buNone/>
            </a:pPr>
            <a:r>
              <a:rPr lang="en-US" sz="1300" dirty="0">
                <a:solidFill>
                  <a:srgbClr val="4A3000"/>
                </a:solidFill>
                <a:latin typeface="Arial" pitchFamily="34" charset="0"/>
                <a:ea typeface="Arial" pitchFamily="34" charset="-122"/>
                <a:cs typeface="Arial" pitchFamily="34" charset="-120"/>
              </a:rPr>
              <a:t>information to you</a:t>
            </a:r>
            <a:endParaRPr lang="en-US" sz="1300" dirty="0"/>
          </a:p>
        </p:txBody>
      </p:sp>
      <p:sp>
        <p:nvSpPr>
          <p:cNvPr id="14" name="Text 12"/>
          <p:cNvSpPr txBox="1"/>
          <p:nvPr/>
        </p:nvSpPr>
        <p:spPr>
          <a:xfrm>
            <a:off x="4498848" y="3200400"/>
            <a:ext cx="3154680" cy="731520"/>
          </a:xfrm>
          <a:prstGeom prst="rect">
            <a:avLst/>
          </a:prstGeom>
          <a:noFill/>
          <a:ln/>
        </p:spPr>
        <p:txBody>
          <a:bodyPr wrap="square" lIns="0" tIns="0" rIns="0" bIns="0" rtlCol="0" anchor="ctr"/>
          <a:lstStyle/>
          <a:p>
            <a:pPr algn="ctr" indent="0" marL="0">
              <a:buNone/>
            </a:pPr>
            <a:r>
              <a:rPr lang="en-US" sz="1200" dirty="0">
                <a:solidFill>
                  <a:srgbClr val="4A3000"/>
                </a:solidFill>
                <a:latin typeface="Courier New" pitchFamily="34" charset="0"/>
                <a:ea typeface="Courier New" pitchFamily="34" charset="-122"/>
                <a:cs typeface="Courier New" pitchFamily="34" charset="-120"/>
              </a:rPr>
              <a:t>form · fieldset · input</a:t>
            </a:r>
            <a:endParaRPr lang="en-US" sz="1200" dirty="0"/>
          </a:p>
          <a:p>
            <a:pPr algn="ctr" indent="0" marL="0">
              <a:buNone/>
            </a:pPr>
            <a:r>
              <a:rPr lang="en-US" sz="1200" dirty="0">
                <a:solidFill>
                  <a:srgbClr val="4A3000"/>
                </a:solidFill>
                <a:latin typeface="Courier New" pitchFamily="34" charset="0"/>
                <a:ea typeface="Courier New" pitchFamily="34" charset="-122"/>
                <a:cs typeface="Courier New" pitchFamily="34" charset="-120"/>
              </a:rPr>
              <a:t>select · textarea</a:t>
            </a:r>
            <a:endParaRPr lang="en-US" sz="1200" dirty="0"/>
          </a:p>
        </p:txBody>
      </p:sp>
      <p:sp>
        <p:nvSpPr>
          <p:cNvPr id="15" name="Shape 13"/>
          <p:cNvSpPr/>
          <p:nvPr/>
        </p:nvSpPr>
        <p:spPr>
          <a:xfrm>
            <a:off x="8083296" y="1783080"/>
            <a:ext cx="3520440" cy="2286000"/>
          </a:xfrm>
          <a:prstGeom prst="roundRect">
            <a:avLst>
              <a:gd name="adj" fmla="val 3200"/>
            </a:avLst>
          </a:prstGeom>
          <a:solidFill>
            <a:srgbClr val="0A4A85"/>
          </a:solidFill>
          <a:ln w="12700">
            <a:solidFill>
              <a:srgbClr val="0A4A85"/>
            </a:solidFill>
            <a:prstDash val="solid"/>
          </a:ln>
        </p:spPr>
      </p:sp>
      <p:sp>
        <p:nvSpPr>
          <p:cNvPr id="16" name="Text 14"/>
          <p:cNvSpPr txBox="1"/>
          <p:nvPr/>
        </p:nvSpPr>
        <p:spPr>
          <a:xfrm>
            <a:off x="8266176" y="1965960"/>
            <a:ext cx="3154680" cy="41148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Tables</a:t>
            </a:r>
            <a:endParaRPr lang="en-US" sz="2100" dirty="0"/>
          </a:p>
        </p:txBody>
      </p:sp>
      <p:sp>
        <p:nvSpPr>
          <p:cNvPr id="17" name="Text 15"/>
          <p:cNvSpPr txBox="1"/>
          <p:nvPr/>
        </p:nvSpPr>
        <p:spPr>
          <a:xfrm>
            <a:off x="8266176" y="2468880"/>
            <a:ext cx="315468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How you present</a:t>
            </a:r>
            <a:endParaRPr lang="en-US" sz="1300" dirty="0"/>
          </a:p>
          <a:p>
            <a:pPr algn="ctr" indent="0" marL="0">
              <a:buNone/>
            </a:pPr>
            <a:r>
              <a:rPr lang="en-US" sz="1300" dirty="0">
                <a:solidFill>
                  <a:srgbClr val="FFFFFF"/>
                </a:solidFill>
                <a:latin typeface="Arial" pitchFamily="34" charset="0"/>
                <a:ea typeface="Arial" pitchFamily="34" charset="-122"/>
                <a:cs typeface="Arial" pitchFamily="34" charset="-120"/>
              </a:rPr>
              <a:t>structured data</a:t>
            </a:r>
            <a:endParaRPr lang="en-US" sz="1300" dirty="0"/>
          </a:p>
        </p:txBody>
      </p:sp>
      <p:sp>
        <p:nvSpPr>
          <p:cNvPr id="18" name="Text 16"/>
          <p:cNvSpPr txBox="1"/>
          <p:nvPr/>
        </p:nvSpPr>
        <p:spPr>
          <a:xfrm>
            <a:off x="8266176" y="3200400"/>
            <a:ext cx="3154680" cy="731520"/>
          </a:xfrm>
          <a:prstGeom prst="rect">
            <a:avLst/>
          </a:prstGeom>
          <a:noFill/>
          <a:ln/>
        </p:spPr>
        <p:txBody>
          <a:bodyPr wrap="square" lIns="0" tIns="0" rIns="0" bIns="0" rtlCol="0" anchor="ctr"/>
          <a:lstStyle/>
          <a:p>
            <a:pPr algn="ctr" indent="0" marL="0">
              <a:buNone/>
            </a:pPr>
            <a:r>
              <a:rPr lang="en-US" sz="1200" dirty="0">
                <a:solidFill>
                  <a:srgbClr val="FFFFFF"/>
                </a:solidFill>
                <a:latin typeface="Courier New" pitchFamily="34" charset="0"/>
                <a:ea typeface="Courier New" pitchFamily="34" charset="-122"/>
                <a:cs typeface="Courier New" pitchFamily="34" charset="-120"/>
              </a:rPr>
              <a:t>table · thead · tbody</a:t>
            </a:r>
            <a:endParaRPr lang="en-US" sz="1200" dirty="0"/>
          </a:p>
          <a:p>
            <a:pPr algn="ctr" indent="0" marL="0">
              <a:buNone/>
            </a:pPr>
            <a:r>
              <a:rPr lang="en-US" sz="1200" dirty="0">
                <a:solidFill>
                  <a:srgbClr val="FFFFFF"/>
                </a:solidFill>
                <a:latin typeface="Courier New" pitchFamily="34" charset="0"/>
                <a:ea typeface="Courier New" pitchFamily="34" charset="-122"/>
                <a:cs typeface="Courier New" pitchFamily="34" charset="-120"/>
              </a:rPr>
              <a:t>tr · th · td</a:t>
            </a:r>
            <a:endParaRPr lang="en-US" sz="1200" dirty="0"/>
          </a:p>
        </p:txBody>
      </p:sp>
      <p:sp>
        <p:nvSpPr>
          <p:cNvPr id="19" name="Shape 17"/>
          <p:cNvSpPr/>
          <p:nvPr/>
        </p:nvSpPr>
        <p:spPr>
          <a:xfrm>
            <a:off x="548640" y="4343400"/>
            <a:ext cx="11064240" cy="1600200"/>
          </a:xfrm>
          <a:prstGeom prst="roundRect">
            <a:avLst>
              <a:gd name="adj" fmla="val 457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20" name="Text 18"/>
          <p:cNvSpPr txBox="1"/>
          <p:nvPr/>
        </p:nvSpPr>
        <p:spPr>
          <a:xfrm>
            <a:off x="804672" y="4544568"/>
            <a:ext cx="1055217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Every one of them is just semantic HTML you already know, arranged in a standard shape</a:t>
            </a:r>
            <a:endParaRPr lang="en-US" sz="1700" dirty="0"/>
          </a:p>
        </p:txBody>
      </p:sp>
      <p:sp>
        <p:nvSpPr>
          <p:cNvPr id="21" name="Text 19"/>
          <p:cNvSpPr txBox="1"/>
          <p:nvPr/>
        </p:nvSpPr>
        <p:spPr>
          <a:xfrm>
            <a:off x="804672" y="4965192"/>
            <a:ext cx="10552176" cy="813816"/>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D4A57"/>
                </a:solidFill>
                <a:latin typeface="Arial" pitchFamily="34" charset="0"/>
                <a:ea typeface="Arial" pitchFamily="34" charset="-122"/>
                <a:cs typeface="Arial" pitchFamily="34" charset="-120"/>
              </a:rPr>
              <a:t>Real websites are not new tags. They are the same tags used in patterns that users already recognise.</a:t>
            </a:r>
            <a:endParaRPr lang="en-US" sz="1400" dirty="0"/>
          </a:p>
          <a:p>
            <a:pPr marL="342900" indent="-342900">
              <a:spcAft>
                <a:spcPts val="500"/>
              </a:spcAft>
              <a:buSzPct val="100000"/>
              <a:buChar char="•"/>
            </a:pPr>
            <a:r>
              <a:rPr lang="en-US" sz="1400" dirty="0">
                <a:solidFill>
                  <a:srgbClr val="3D4A57"/>
                </a:solidFill>
                <a:latin typeface="Arial" pitchFamily="34" charset="0"/>
                <a:ea typeface="Arial" pitchFamily="34" charset="-122"/>
                <a:cs typeface="Arial" pitchFamily="34" charset="-120"/>
              </a:rPr>
              <a:t>Mini Project 1 (Week 3) needs all three. The mid-term practical in Week 7 needs all three.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PATTERN 1</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Navigation Patterns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4</a:t>
            </a:r>
            <a:endParaRPr lang="en-US" sz="900" dirty="0"/>
          </a:p>
        </p:txBody>
      </p:sp>
      <p:sp>
        <p:nvSpPr>
          <p:cNvPr id="6" name="Shape 4"/>
          <p:cNvSpPr/>
          <p:nvPr/>
        </p:nvSpPr>
        <p:spPr>
          <a:xfrm>
            <a:off x="548640" y="1371600"/>
            <a:ext cx="6675120" cy="2615184"/>
          </a:xfrm>
          <a:prstGeom prst="roundRect">
            <a:avLst>
              <a:gd name="adj" fmla="val 2098"/>
            </a:avLst>
          </a:prstGeom>
          <a:solidFill>
            <a:srgbClr val="0D1B2A"/>
          </a:solidFill>
          <a:ln w="12700">
            <a:solidFill>
              <a:srgbClr val="0D1B2A"/>
            </a:solidFill>
            <a:prstDash val="solid"/>
          </a:ln>
        </p:spPr>
      </p:sp>
      <p:sp>
        <p:nvSpPr>
          <p:cNvPr id="7" name="Text 5"/>
          <p:cNvSpPr txBox="1"/>
          <p:nvPr/>
        </p:nvSpPr>
        <p:spPr>
          <a:xfrm>
            <a:off x="658368" y="1481328"/>
            <a:ext cx="6455664" cy="2395728"/>
          </a:xfrm>
          <a:prstGeom prst="rect">
            <a:avLst/>
          </a:prstGeom>
          <a:noFill/>
          <a:ln/>
        </p:spPr>
        <p:txBody>
          <a:bodyPr wrap="square" lIns="0" tIns="0" rIns="0" bIns="0" rtlCol="0" anchor="t"/>
          <a:lstStyle/>
          <a:p>
            <a:pPr indent="0" marL="0">
              <a:lnSpc>
                <a:spcPts val="1536"/>
              </a:lnSpc>
              <a:buNone/>
            </a:pPr>
            <a:r>
              <a:rPr lang="en-US" sz="1200" dirty="0">
                <a:solidFill>
                  <a:srgbClr val="8296A8"/>
                </a:solidFill>
                <a:latin typeface="Courier New" pitchFamily="34" charset="0"/>
                <a:ea typeface="Courier New" pitchFamily="34" charset="-122"/>
                <a:cs typeface="Courier New" pitchFamily="34" charset="-120"/>
              </a:rPr>
              <a:t>&lt;!-- Skip link: first thing in the body --&gt;</a:t>
            </a:r>
            <a:endParaRPr lang="en-US" sz="1200" dirty="0"/>
          </a:p>
          <a:p>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 href=</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"#main-content"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Skip to main content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endParaRPr lang="en-US" sz="1200" dirty="0"/>
          </a:p>
          <a:p>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&lt;nav aria-label=</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"Main navigation"</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&lt;ul&gt;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 href=</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"index.html"</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Home</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 href=</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"courses.html"</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Courses</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 href=</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"register.html"</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aria-current="page"&gt;Register</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 href=</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"#contact"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Contact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&lt;/ul&gt;</a:t>
            </a:r>
            <a:endParaRPr lang="en-US" sz="1200" dirty="0"/>
          </a:p>
          <a:p>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&lt;/nav&gt;</a:t>
            </a:r>
            <a:endParaRPr lang="en-US" sz="1200" dirty="0"/>
          </a:p>
        </p:txBody>
      </p:sp>
      <p:sp>
        <p:nvSpPr>
          <p:cNvPr id="8" name="Shape 6"/>
          <p:cNvSpPr/>
          <p:nvPr/>
        </p:nvSpPr>
        <p:spPr>
          <a:xfrm>
            <a:off x="7406640" y="1371600"/>
            <a:ext cx="4206240" cy="2103120"/>
          </a:xfrm>
          <a:prstGeom prst="roundRect">
            <a:avLst>
              <a:gd name="adj" fmla="val 3478"/>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9" name="Text 7"/>
          <p:cNvSpPr txBox="1"/>
          <p:nvPr/>
        </p:nvSpPr>
        <p:spPr>
          <a:xfrm>
            <a:off x="7662672" y="1572768"/>
            <a:ext cx="369417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Three link types</a:t>
            </a:r>
            <a:endParaRPr lang="en-US" sz="1700" dirty="0"/>
          </a:p>
        </p:txBody>
      </p:sp>
      <p:sp>
        <p:nvSpPr>
          <p:cNvPr id="10" name="Text 8"/>
          <p:cNvSpPr txBox="1"/>
          <p:nvPr/>
        </p:nvSpPr>
        <p:spPr>
          <a:xfrm>
            <a:off x="7662672" y="1993392"/>
            <a:ext cx="3694176" cy="1316736"/>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Page link: courses.html</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Anchor link: #contact</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External link: https://...</a:t>
            </a:r>
            <a:endParaRPr lang="en-US" sz="1350" dirty="0"/>
          </a:p>
        </p:txBody>
      </p:sp>
      <p:sp>
        <p:nvSpPr>
          <p:cNvPr id="11" name="Shape 9"/>
          <p:cNvSpPr/>
          <p:nvPr/>
        </p:nvSpPr>
        <p:spPr>
          <a:xfrm>
            <a:off x="7406640" y="3657600"/>
            <a:ext cx="4206240" cy="2286000"/>
          </a:xfrm>
          <a:prstGeom prst="roundRect">
            <a:avLst>
              <a:gd name="adj" fmla="val 3200"/>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2" name="Shape 10"/>
          <p:cNvSpPr/>
          <p:nvPr/>
        </p:nvSpPr>
        <p:spPr>
          <a:xfrm>
            <a:off x="7607808" y="385876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7607808" y="3858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4" name="Text 12"/>
          <p:cNvSpPr txBox="1"/>
          <p:nvPr/>
        </p:nvSpPr>
        <p:spPr>
          <a:xfrm>
            <a:off x="8119872" y="3886200"/>
            <a:ext cx="32918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Two attributes worth learning</a:t>
            </a:r>
            <a:endParaRPr lang="en-US" sz="1700" dirty="0"/>
          </a:p>
        </p:txBody>
      </p:sp>
      <p:sp>
        <p:nvSpPr>
          <p:cNvPr id="15" name="Text 13"/>
          <p:cNvSpPr txBox="1"/>
          <p:nvPr/>
        </p:nvSpPr>
        <p:spPr>
          <a:xfrm>
            <a:off x="7662672" y="4279392"/>
            <a:ext cx="3694176" cy="149961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aria-label names the nav when a page has more than one</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aria-current="page" marks the page the user is 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PATTERN 1</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Navigation: What the User Sees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5</a:t>
            </a:r>
            <a:endParaRPr lang="en-US" sz="900" dirty="0"/>
          </a:p>
        </p:txBody>
      </p:sp>
      <p:sp>
        <p:nvSpPr>
          <p:cNvPr id="6" name="Shape 4"/>
          <p:cNvSpPr/>
          <p:nvPr/>
        </p:nvSpPr>
        <p:spPr>
          <a:xfrm>
            <a:off x="548640" y="1371600"/>
            <a:ext cx="5852160" cy="2103120"/>
          </a:xfrm>
          <a:prstGeom prst="roundRect">
            <a:avLst>
              <a:gd name="adj" fmla="val 2609"/>
            </a:avLst>
          </a:prstGeom>
          <a:solidFill>
            <a:srgbClr val="FFFFFF"/>
          </a:solidFill>
          <a:ln w="12700">
            <a:solidFill>
              <a:srgbClr val="D6DEE6"/>
            </a:solidFill>
            <a:prstDash val="solid"/>
          </a:ln>
          <a:effectLst>
            <a:outerShdw sx="100000" sy="100000" kx="0" ky="0" algn="bl" rotWithShape="0" blurRad="76200" dist="12700" dir="5400000">
              <a:srgbClr val="9AA9B8">
                <a:alpha val="20000"/>
              </a:srgbClr>
            </a:outerShdw>
          </a:effectLst>
        </p:spPr>
      </p:sp>
      <p:sp>
        <p:nvSpPr>
          <p:cNvPr id="7" name="Shape 5"/>
          <p:cNvSpPr/>
          <p:nvPr/>
        </p:nvSpPr>
        <p:spPr>
          <a:xfrm>
            <a:off x="548640" y="1371600"/>
            <a:ext cx="5852160" cy="292608"/>
          </a:xfrm>
          <a:prstGeom prst="rect">
            <a:avLst/>
          </a:prstGeom>
          <a:solidFill>
            <a:srgbClr val="E8EEF4"/>
          </a:solidFill>
          <a:ln w="12700">
            <a:solidFill>
              <a:srgbClr val="D6DEE6"/>
            </a:solidFill>
            <a:prstDash val="solid"/>
          </a:ln>
        </p:spPr>
      </p:sp>
      <p:sp>
        <p:nvSpPr>
          <p:cNvPr id="8" name="Shape 6"/>
          <p:cNvSpPr/>
          <p:nvPr/>
        </p:nvSpPr>
        <p:spPr>
          <a:xfrm>
            <a:off x="676656" y="1463040"/>
            <a:ext cx="109728" cy="109728"/>
          </a:xfrm>
          <a:prstGeom prst="ellipse">
            <a:avLst/>
          </a:prstGeom>
          <a:solidFill>
            <a:srgbClr val="E06C5E"/>
          </a:solidFill>
          <a:ln w="12700">
            <a:solidFill>
              <a:srgbClr val="E06C5E"/>
            </a:solidFill>
            <a:prstDash val="solid"/>
          </a:ln>
        </p:spPr>
      </p:sp>
      <p:sp>
        <p:nvSpPr>
          <p:cNvPr id="9" name="Shape 7"/>
          <p:cNvSpPr/>
          <p:nvPr/>
        </p:nvSpPr>
        <p:spPr>
          <a:xfrm>
            <a:off x="859536" y="1463040"/>
            <a:ext cx="109728" cy="109728"/>
          </a:xfrm>
          <a:prstGeom prst="ellipse">
            <a:avLst/>
          </a:prstGeom>
          <a:solidFill>
            <a:srgbClr val="E3B341"/>
          </a:solidFill>
          <a:ln w="12700">
            <a:solidFill>
              <a:srgbClr val="E3B341"/>
            </a:solidFill>
            <a:prstDash val="solid"/>
          </a:ln>
        </p:spPr>
      </p:sp>
      <p:sp>
        <p:nvSpPr>
          <p:cNvPr id="10" name="Shape 8"/>
          <p:cNvSpPr/>
          <p:nvPr/>
        </p:nvSpPr>
        <p:spPr>
          <a:xfrm>
            <a:off x="1042416" y="1463040"/>
            <a:ext cx="109728" cy="109728"/>
          </a:xfrm>
          <a:prstGeom prst="ellipse">
            <a:avLst/>
          </a:prstGeom>
          <a:solidFill>
            <a:srgbClr val="5FB878"/>
          </a:solidFill>
          <a:ln w="12700">
            <a:solidFill>
              <a:srgbClr val="5FB878"/>
            </a:solidFill>
            <a:prstDash val="solid"/>
          </a:ln>
        </p:spPr>
      </p:sp>
      <p:sp>
        <p:nvSpPr>
          <p:cNvPr id="11" name="Text 9"/>
          <p:cNvSpPr txBox="1"/>
          <p:nvPr/>
        </p:nvSpPr>
        <p:spPr>
          <a:xfrm>
            <a:off x="1325880" y="1399032"/>
            <a:ext cx="4937760" cy="237744"/>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register.html</a:t>
            </a:r>
            <a:endParaRPr lang="en-US" sz="900" dirty="0"/>
          </a:p>
        </p:txBody>
      </p:sp>
      <p:sp>
        <p:nvSpPr>
          <p:cNvPr id="12" name="Text 10"/>
          <p:cNvSpPr txBox="1"/>
          <p:nvPr/>
        </p:nvSpPr>
        <p:spPr>
          <a:xfrm>
            <a:off x="777240" y="1783080"/>
            <a:ext cx="2743200" cy="228600"/>
          </a:xfrm>
          <a:prstGeom prst="rect">
            <a:avLst/>
          </a:prstGeom>
          <a:noFill/>
          <a:ln/>
        </p:spPr>
        <p:txBody>
          <a:bodyPr wrap="square" lIns="0" tIns="0" rIns="0" bIns="0" rtlCol="0" anchor="ctr"/>
          <a:lstStyle/>
          <a:p>
            <a:pPr indent="0" marL="0">
              <a:buNone/>
            </a:pPr>
            <a:r>
              <a:rPr lang="en-US" sz="1000" u="sng" dirty="0">
                <a:solidFill>
                  <a:srgbClr val="1155CC"/>
                </a:solidFill>
                <a:latin typeface="Arial" pitchFamily="34" charset="0"/>
                <a:ea typeface="Arial" pitchFamily="34" charset="-122"/>
                <a:cs typeface="Arial" pitchFamily="34" charset="-120"/>
              </a:rPr>
              <a:t>Skip to main content</a:t>
            </a:r>
            <a:endParaRPr lang="en-US" sz="1000" dirty="0"/>
          </a:p>
        </p:txBody>
      </p:sp>
      <p:sp>
        <p:nvSpPr>
          <p:cNvPr id="13" name="Shape 11"/>
          <p:cNvSpPr/>
          <p:nvPr/>
        </p:nvSpPr>
        <p:spPr>
          <a:xfrm>
            <a:off x="685800" y="2103120"/>
            <a:ext cx="5577840" cy="502920"/>
          </a:xfrm>
          <a:prstGeom prst="rect">
            <a:avLst/>
          </a:prstGeom>
          <a:solidFill>
            <a:srgbClr val="003366"/>
          </a:solidFill>
          <a:ln w="12700">
            <a:solidFill>
              <a:srgbClr val="003366"/>
            </a:solidFill>
            <a:prstDash val="solid"/>
          </a:ln>
        </p:spPr>
      </p:sp>
      <p:sp>
        <p:nvSpPr>
          <p:cNvPr id="14" name="Text 12"/>
          <p:cNvSpPr txBox="1"/>
          <p:nvPr/>
        </p:nvSpPr>
        <p:spPr>
          <a:xfrm>
            <a:off x="868680" y="2103120"/>
            <a:ext cx="1188720" cy="502920"/>
          </a:xfrm>
          <a:prstGeom prst="rect">
            <a:avLst/>
          </a:prstGeom>
          <a:noFill/>
          <a:ln/>
        </p:spPr>
        <p:txBody>
          <a:bodyPr wrap="square" lIns="0" tIns="0" rIns="0" bIns="0" rtlCol="0" anchor="ctr"/>
          <a:lstStyle/>
          <a:p>
            <a:pPr indent="0" marL="0">
              <a:buNone/>
            </a:pPr>
            <a:r>
              <a:rPr lang="en-US" sz="1200" dirty="0">
                <a:solidFill>
                  <a:srgbClr val="BFD3E6"/>
                </a:solidFill>
                <a:latin typeface="Arial" pitchFamily="34" charset="0"/>
                <a:ea typeface="Arial" pitchFamily="34" charset="-122"/>
                <a:cs typeface="Arial" pitchFamily="34" charset="-120"/>
              </a:rPr>
              <a:t>Home</a:t>
            </a:r>
            <a:endParaRPr lang="en-US" sz="1200" dirty="0"/>
          </a:p>
        </p:txBody>
      </p:sp>
      <p:sp>
        <p:nvSpPr>
          <p:cNvPr id="15" name="Text 13"/>
          <p:cNvSpPr txBox="1"/>
          <p:nvPr/>
        </p:nvSpPr>
        <p:spPr>
          <a:xfrm>
            <a:off x="2103120" y="2103120"/>
            <a:ext cx="1188720" cy="502920"/>
          </a:xfrm>
          <a:prstGeom prst="rect">
            <a:avLst/>
          </a:prstGeom>
          <a:noFill/>
          <a:ln/>
        </p:spPr>
        <p:txBody>
          <a:bodyPr wrap="square" lIns="0" tIns="0" rIns="0" bIns="0" rtlCol="0" anchor="ctr"/>
          <a:lstStyle/>
          <a:p>
            <a:pPr indent="0" marL="0">
              <a:buNone/>
            </a:pPr>
            <a:r>
              <a:rPr lang="en-US" sz="1200" dirty="0">
                <a:solidFill>
                  <a:srgbClr val="BFD3E6"/>
                </a:solidFill>
                <a:latin typeface="Arial" pitchFamily="34" charset="0"/>
                <a:ea typeface="Arial" pitchFamily="34" charset="-122"/>
                <a:cs typeface="Arial" pitchFamily="34" charset="-120"/>
              </a:rPr>
              <a:t>Courses</a:t>
            </a:r>
            <a:endParaRPr lang="en-US" sz="1200" dirty="0"/>
          </a:p>
        </p:txBody>
      </p:sp>
      <p:sp>
        <p:nvSpPr>
          <p:cNvPr id="16" name="Text 14"/>
          <p:cNvSpPr txBox="1"/>
          <p:nvPr/>
        </p:nvSpPr>
        <p:spPr>
          <a:xfrm>
            <a:off x="3337560" y="2103120"/>
            <a:ext cx="1188720" cy="502920"/>
          </a:xfrm>
          <a:prstGeom prst="rect">
            <a:avLst/>
          </a:prstGeom>
          <a:noFill/>
          <a:ln/>
        </p:spPr>
        <p:txBody>
          <a:bodyPr wrap="square" lIns="0" tIns="0" rIns="0" bIns="0" rtlCol="0" anchor="ctr"/>
          <a:lstStyle/>
          <a:p>
            <a:pPr indent="0" marL="0">
              <a:buNone/>
            </a:pPr>
            <a:r>
              <a:rPr lang="en-US" sz="1200" b="1" dirty="0">
                <a:solidFill>
                  <a:srgbClr val="E39A18"/>
                </a:solidFill>
                <a:latin typeface="Arial" pitchFamily="34" charset="0"/>
                <a:ea typeface="Arial" pitchFamily="34" charset="-122"/>
                <a:cs typeface="Arial" pitchFamily="34" charset="-120"/>
              </a:rPr>
              <a:t>Register</a:t>
            </a:r>
            <a:endParaRPr lang="en-US" sz="1200" dirty="0"/>
          </a:p>
        </p:txBody>
      </p:sp>
      <p:sp>
        <p:nvSpPr>
          <p:cNvPr id="17" name="Text 15"/>
          <p:cNvSpPr txBox="1"/>
          <p:nvPr/>
        </p:nvSpPr>
        <p:spPr>
          <a:xfrm>
            <a:off x="4572000" y="2103120"/>
            <a:ext cx="1188720" cy="502920"/>
          </a:xfrm>
          <a:prstGeom prst="rect">
            <a:avLst/>
          </a:prstGeom>
          <a:noFill/>
          <a:ln/>
        </p:spPr>
        <p:txBody>
          <a:bodyPr wrap="square" lIns="0" tIns="0" rIns="0" bIns="0" rtlCol="0" anchor="ctr"/>
          <a:lstStyle/>
          <a:p>
            <a:pPr indent="0" marL="0">
              <a:buNone/>
            </a:pPr>
            <a:r>
              <a:rPr lang="en-US" sz="1200" dirty="0">
                <a:solidFill>
                  <a:srgbClr val="BFD3E6"/>
                </a:solidFill>
                <a:latin typeface="Arial" pitchFamily="34" charset="0"/>
                <a:ea typeface="Arial" pitchFamily="34" charset="-122"/>
                <a:cs typeface="Arial" pitchFamily="34" charset="-120"/>
              </a:rPr>
              <a:t>Contact</a:t>
            </a:r>
            <a:endParaRPr lang="en-US" sz="1200" dirty="0"/>
          </a:p>
        </p:txBody>
      </p:sp>
      <p:sp>
        <p:nvSpPr>
          <p:cNvPr id="18" name="Text 16"/>
          <p:cNvSpPr txBox="1"/>
          <p:nvPr/>
        </p:nvSpPr>
        <p:spPr>
          <a:xfrm>
            <a:off x="868680" y="2743200"/>
            <a:ext cx="4572000" cy="365760"/>
          </a:xfrm>
          <a:prstGeom prst="rect">
            <a:avLst/>
          </a:prstGeom>
          <a:noFill/>
          <a:ln/>
        </p:spPr>
        <p:txBody>
          <a:bodyPr wrap="square" lIns="0" tIns="0" rIns="0" bIns="0" rtlCol="0" anchor="ctr"/>
          <a:lstStyle/>
          <a:p>
            <a:pPr indent="0" marL="0">
              <a:buNone/>
            </a:pPr>
            <a:r>
              <a:rPr lang="en-US" sz="1600" b="1" dirty="0">
                <a:solidFill>
                  <a:srgbClr val="1A2733"/>
                </a:solidFill>
                <a:latin typeface="Arial" pitchFamily="34" charset="0"/>
                <a:ea typeface="Arial" pitchFamily="34" charset="-122"/>
                <a:cs typeface="Arial" pitchFamily="34" charset="-120"/>
              </a:rPr>
              <a:t>Student Registration</a:t>
            </a:r>
            <a:endParaRPr lang="en-US" sz="1600" dirty="0"/>
          </a:p>
        </p:txBody>
      </p:sp>
      <p:sp>
        <p:nvSpPr>
          <p:cNvPr id="19" name="Shape 17"/>
          <p:cNvSpPr/>
          <p:nvPr/>
        </p:nvSpPr>
        <p:spPr>
          <a:xfrm>
            <a:off x="6583680" y="1371600"/>
            <a:ext cx="5029200" cy="2103120"/>
          </a:xfrm>
          <a:prstGeom prst="roundRect">
            <a:avLst>
              <a:gd name="adj" fmla="val 3478"/>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20" name="Text 18"/>
          <p:cNvSpPr txBox="1"/>
          <p:nvPr/>
        </p:nvSpPr>
        <p:spPr>
          <a:xfrm>
            <a:off x="6839712" y="1572768"/>
            <a:ext cx="451713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Rules for a usable menu</a:t>
            </a:r>
            <a:endParaRPr lang="en-US" sz="1700" dirty="0"/>
          </a:p>
        </p:txBody>
      </p:sp>
      <p:sp>
        <p:nvSpPr>
          <p:cNvPr id="21" name="Text 19"/>
          <p:cNvSpPr txBox="1"/>
          <p:nvPr/>
        </p:nvSpPr>
        <p:spPr>
          <a:xfrm>
            <a:off x="6839712" y="1993392"/>
            <a:ext cx="4517136" cy="1316736"/>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Same menu, same order, on every page</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Mark the current page clearly</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Five to seven items is enough</a:t>
            </a:r>
            <a:endParaRPr lang="en-US" sz="1350" dirty="0"/>
          </a:p>
        </p:txBody>
      </p:sp>
      <p:sp>
        <p:nvSpPr>
          <p:cNvPr id="22" name="Shape 20"/>
          <p:cNvSpPr/>
          <p:nvPr/>
        </p:nvSpPr>
        <p:spPr>
          <a:xfrm>
            <a:off x="548640" y="3749040"/>
            <a:ext cx="5852160" cy="2194560"/>
          </a:xfrm>
          <a:prstGeom prst="roundRect">
            <a:avLst>
              <a:gd name="adj" fmla="val 3333"/>
            </a:avLst>
          </a:prstGeom>
          <a:solidFill>
            <a:srgbClr val="FBEAE8"/>
          </a:solidFill>
          <a:ln w="12700">
            <a:solidFill>
              <a:srgbClr val="FBEAE8"/>
            </a:solidFill>
            <a:prstDash val="solid"/>
          </a:ln>
          <a:effectLst>
            <a:outerShdw sx="100000" sy="100000" kx="0" ky="0" algn="bl" rotWithShape="0" blurRad="76200" dist="12700" dir="5400000">
              <a:srgbClr val="9AA9B8">
                <a:alpha val="18000"/>
              </a:srgbClr>
            </a:outerShdw>
          </a:effectLst>
        </p:spPr>
      </p:sp>
      <p:sp>
        <p:nvSpPr>
          <p:cNvPr id="23" name="Text 21"/>
          <p:cNvSpPr txBox="1"/>
          <p:nvPr/>
        </p:nvSpPr>
        <p:spPr>
          <a:xfrm>
            <a:off x="804672" y="3950208"/>
            <a:ext cx="5340096" cy="329184"/>
          </a:xfrm>
          <a:prstGeom prst="rect">
            <a:avLst/>
          </a:prstGeom>
          <a:noFill/>
          <a:ln/>
        </p:spPr>
        <p:txBody>
          <a:bodyPr wrap="square" lIns="0" tIns="0" rIns="0" bIns="0" rtlCol="0" anchor="ctr"/>
          <a:lstStyle/>
          <a:p>
            <a:pPr indent="0" marL="0">
              <a:buNone/>
            </a:pPr>
            <a:r>
              <a:rPr lang="en-US" sz="1700" b="1" dirty="0">
                <a:solidFill>
                  <a:srgbClr val="B3261E"/>
                </a:solidFill>
                <a:latin typeface="Arial" pitchFamily="34" charset="0"/>
                <a:ea typeface="Arial" pitchFamily="34" charset="-122"/>
                <a:cs typeface="Arial" pitchFamily="34" charset="-120"/>
              </a:rPr>
              <a:t>Common mistakes</a:t>
            </a:r>
            <a:endParaRPr lang="en-US" sz="1700" dirty="0"/>
          </a:p>
        </p:txBody>
      </p:sp>
      <p:sp>
        <p:nvSpPr>
          <p:cNvPr id="24" name="Text 22"/>
          <p:cNvSpPr txBox="1"/>
          <p:nvPr/>
        </p:nvSpPr>
        <p:spPr>
          <a:xfrm>
            <a:off x="804672" y="4370832"/>
            <a:ext cx="5340096" cy="1408176"/>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Putting the links in div tags instead of a ul</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A different menu on each page</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Link text like "click here" or "page 2"</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A menu that only works with a mouse</a:t>
            </a:r>
            <a:endParaRPr lang="en-US" sz="1350" dirty="0"/>
          </a:p>
        </p:txBody>
      </p:sp>
      <p:sp>
        <p:nvSpPr>
          <p:cNvPr id="25" name="Shape 23"/>
          <p:cNvSpPr/>
          <p:nvPr/>
        </p:nvSpPr>
        <p:spPr>
          <a:xfrm>
            <a:off x="6583680" y="3749040"/>
            <a:ext cx="5029200" cy="2194560"/>
          </a:xfrm>
          <a:prstGeom prst="roundRect">
            <a:avLst>
              <a:gd name="adj" fmla="val 3333"/>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26" name="Shape 24"/>
          <p:cNvSpPr/>
          <p:nvPr/>
        </p:nvSpPr>
        <p:spPr>
          <a:xfrm>
            <a:off x="6784848" y="3950208"/>
            <a:ext cx="384048" cy="384048"/>
          </a:xfrm>
          <a:prstGeom prst="ellipse">
            <a:avLst/>
          </a:prstGeom>
          <a:solidFill>
            <a:srgbClr val="1F7A55"/>
          </a:solidFill>
          <a:ln w="12700">
            <a:solidFill>
              <a:srgbClr val="1F7A55"/>
            </a:solidFill>
            <a:prstDash val="solid"/>
          </a:ln>
        </p:spPr>
      </p:sp>
      <p:sp>
        <p:nvSpPr>
          <p:cNvPr id="27" name="Text 25"/>
          <p:cNvSpPr txBox="1"/>
          <p:nvPr/>
        </p:nvSpPr>
        <p:spPr>
          <a:xfrm>
            <a:off x="6784848" y="3950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8" name="Text 26"/>
          <p:cNvSpPr txBox="1"/>
          <p:nvPr/>
        </p:nvSpPr>
        <p:spPr>
          <a:xfrm>
            <a:off x="7296912" y="3977640"/>
            <a:ext cx="411480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Why ul for a menu?</a:t>
            </a:r>
            <a:endParaRPr lang="en-US" sz="1700" dirty="0"/>
          </a:p>
        </p:txBody>
      </p:sp>
      <p:sp>
        <p:nvSpPr>
          <p:cNvPr id="29" name="Text 27"/>
          <p:cNvSpPr txBox="1"/>
          <p:nvPr/>
        </p:nvSpPr>
        <p:spPr>
          <a:xfrm>
            <a:off x="6839712" y="4370832"/>
            <a:ext cx="4517136" cy="140817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A menu IS a list of links</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A screen reader announces "list, 4 items"</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The user knows how many choices exist before reading them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PATTERN 2</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Form Anatomy</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6</a:t>
            </a:r>
            <a:endParaRPr lang="en-US" sz="900" dirty="0"/>
          </a:p>
        </p:txBody>
      </p:sp>
      <p:sp>
        <p:nvSpPr>
          <p:cNvPr id="6" name="Shape 4"/>
          <p:cNvSpPr/>
          <p:nvPr/>
        </p:nvSpPr>
        <p:spPr>
          <a:xfrm>
            <a:off x="548640" y="1371600"/>
            <a:ext cx="6675120" cy="2615184"/>
          </a:xfrm>
          <a:prstGeom prst="roundRect">
            <a:avLst>
              <a:gd name="adj" fmla="val 2098"/>
            </a:avLst>
          </a:prstGeom>
          <a:solidFill>
            <a:srgbClr val="0D1B2A"/>
          </a:solidFill>
          <a:ln w="12700">
            <a:solidFill>
              <a:srgbClr val="0D1B2A"/>
            </a:solidFill>
            <a:prstDash val="solid"/>
          </a:ln>
        </p:spPr>
      </p:sp>
      <p:sp>
        <p:nvSpPr>
          <p:cNvPr id="7" name="Text 5"/>
          <p:cNvSpPr txBox="1"/>
          <p:nvPr/>
        </p:nvSpPr>
        <p:spPr>
          <a:xfrm>
            <a:off x="658368" y="1481328"/>
            <a:ext cx="6455664" cy="2395728"/>
          </a:xfrm>
          <a:prstGeom prst="rect">
            <a:avLst/>
          </a:prstGeom>
          <a:noFill/>
          <a:ln/>
        </p:spPr>
        <p:txBody>
          <a:bodyPr wrap="square" lIns="0" tIns="0" rIns="0" bIns="0" rtlCol="0" anchor="t"/>
          <a:lstStyle/>
          <a:p>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&lt;form action=</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 method=</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"post"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&lt;fieldset&gt;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&lt;legend&gt;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Personal Information</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&lt;/legend&gt;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&lt;label for=</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"fullname"</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Full Name</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&lt;/label&gt;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&lt;input type=</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"text"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 id=</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"fullname"</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 name=</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"fullname"</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required&gt;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&lt;/fieldset&gt;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&lt;button type=</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"submit"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Register</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&lt;/button&gt;</a:t>
            </a:r>
            <a:endParaRPr lang="en-US" sz="1200" dirty="0"/>
          </a:p>
          <a:p>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&lt;/form&gt;</a:t>
            </a:r>
            <a:endParaRPr lang="en-US" sz="1200" dirty="0"/>
          </a:p>
        </p:txBody>
      </p:sp>
      <p:sp>
        <p:nvSpPr>
          <p:cNvPr id="8" name="Text 6"/>
          <p:cNvSpPr txBox="1"/>
          <p:nvPr/>
        </p:nvSpPr>
        <p:spPr>
          <a:xfrm>
            <a:off x="7406640" y="1371600"/>
            <a:ext cx="1188720" cy="32004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form</a:t>
            </a:r>
            <a:endParaRPr lang="en-US" sz="1250" dirty="0"/>
          </a:p>
        </p:txBody>
      </p:sp>
      <p:sp>
        <p:nvSpPr>
          <p:cNvPr id="9" name="Text 7"/>
          <p:cNvSpPr txBox="1"/>
          <p:nvPr/>
        </p:nvSpPr>
        <p:spPr>
          <a:xfrm>
            <a:off x="8595360" y="1344168"/>
            <a:ext cx="3017520" cy="68580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The container. action = where data goes, method = how it is sent</a:t>
            </a:r>
            <a:endParaRPr lang="en-US" sz="1150" dirty="0"/>
          </a:p>
        </p:txBody>
      </p:sp>
      <p:sp>
        <p:nvSpPr>
          <p:cNvPr id="10" name="Text 8"/>
          <p:cNvSpPr txBox="1"/>
          <p:nvPr/>
        </p:nvSpPr>
        <p:spPr>
          <a:xfrm>
            <a:off x="7406640" y="2148840"/>
            <a:ext cx="1188720" cy="32004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fieldset</a:t>
            </a:r>
            <a:endParaRPr lang="en-US" sz="1250" dirty="0"/>
          </a:p>
        </p:txBody>
      </p:sp>
      <p:sp>
        <p:nvSpPr>
          <p:cNvPr id="11" name="Text 9"/>
          <p:cNvSpPr txBox="1"/>
          <p:nvPr/>
        </p:nvSpPr>
        <p:spPr>
          <a:xfrm>
            <a:off x="8595360" y="2121408"/>
            <a:ext cx="3017520" cy="68580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Groups related fields together</a:t>
            </a:r>
            <a:endParaRPr lang="en-US" sz="1150" dirty="0"/>
          </a:p>
        </p:txBody>
      </p:sp>
      <p:sp>
        <p:nvSpPr>
          <p:cNvPr id="12" name="Text 10"/>
          <p:cNvSpPr txBox="1"/>
          <p:nvPr/>
        </p:nvSpPr>
        <p:spPr>
          <a:xfrm>
            <a:off x="7406640" y="2926080"/>
            <a:ext cx="1188720" cy="32004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legend</a:t>
            </a:r>
            <a:endParaRPr lang="en-US" sz="1250" dirty="0"/>
          </a:p>
        </p:txBody>
      </p:sp>
      <p:sp>
        <p:nvSpPr>
          <p:cNvPr id="13" name="Text 11"/>
          <p:cNvSpPr txBox="1"/>
          <p:nvPr/>
        </p:nvSpPr>
        <p:spPr>
          <a:xfrm>
            <a:off x="8595360" y="2898648"/>
            <a:ext cx="3017520" cy="68580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The title of that group</a:t>
            </a:r>
            <a:endParaRPr lang="en-US" sz="1150" dirty="0"/>
          </a:p>
        </p:txBody>
      </p:sp>
      <p:sp>
        <p:nvSpPr>
          <p:cNvPr id="14" name="Text 12"/>
          <p:cNvSpPr txBox="1"/>
          <p:nvPr/>
        </p:nvSpPr>
        <p:spPr>
          <a:xfrm>
            <a:off x="7406640" y="3703320"/>
            <a:ext cx="1188720" cy="32004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label</a:t>
            </a:r>
            <a:endParaRPr lang="en-US" sz="1250" dirty="0"/>
          </a:p>
        </p:txBody>
      </p:sp>
      <p:sp>
        <p:nvSpPr>
          <p:cNvPr id="15" name="Text 13"/>
          <p:cNvSpPr txBox="1"/>
          <p:nvPr/>
        </p:nvSpPr>
        <p:spPr>
          <a:xfrm>
            <a:off x="8595360" y="3675888"/>
            <a:ext cx="3017520" cy="68580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The visible name of one field</a:t>
            </a:r>
            <a:endParaRPr lang="en-US" sz="1150" dirty="0"/>
          </a:p>
        </p:txBody>
      </p:sp>
      <p:sp>
        <p:nvSpPr>
          <p:cNvPr id="16" name="Text 14"/>
          <p:cNvSpPr txBox="1"/>
          <p:nvPr/>
        </p:nvSpPr>
        <p:spPr>
          <a:xfrm>
            <a:off x="7406640" y="4480560"/>
            <a:ext cx="1188720" cy="32004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input</a:t>
            </a:r>
            <a:endParaRPr lang="en-US" sz="1250" dirty="0"/>
          </a:p>
        </p:txBody>
      </p:sp>
      <p:sp>
        <p:nvSpPr>
          <p:cNvPr id="17" name="Text 15"/>
          <p:cNvSpPr txBox="1"/>
          <p:nvPr/>
        </p:nvSpPr>
        <p:spPr>
          <a:xfrm>
            <a:off x="8595360" y="4453128"/>
            <a:ext cx="3017520" cy="68580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The box the user types in</a:t>
            </a:r>
            <a:endParaRPr lang="en-US" sz="1150" dirty="0"/>
          </a:p>
        </p:txBody>
      </p:sp>
      <p:sp>
        <p:nvSpPr>
          <p:cNvPr id="18" name="Text 16"/>
          <p:cNvSpPr txBox="1"/>
          <p:nvPr/>
        </p:nvSpPr>
        <p:spPr>
          <a:xfrm>
            <a:off x="7406640" y="5257800"/>
            <a:ext cx="1188720" cy="32004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button</a:t>
            </a:r>
            <a:endParaRPr lang="en-US" sz="1250" dirty="0"/>
          </a:p>
        </p:txBody>
      </p:sp>
      <p:sp>
        <p:nvSpPr>
          <p:cNvPr id="19" name="Text 17"/>
          <p:cNvSpPr txBox="1"/>
          <p:nvPr/>
        </p:nvSpPr>
        <p:spPr>
          <a:xfrm>
            <a:off x="8595360" y="5230368"/>
            <a:ext cx="3017520" cy="68580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Submits the whole form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PATTERN 2</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Input Types You Will Actually Use</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7</a:t>
            </a:r>
            <a:endParaRPr lang="en-US" sz="900" dirty="0"/>
          </a:p>
        </p:txBody>
      </p:sp>
      <p:sp>
        <p:nvSpPr>
          <p:cNvPr id="6" name="Shape 4"/>
          <p:cNvSpPr/>
          <p:nvPr/>
        </p:nvSpPr>
        <p:spPr>
          <a:xfrm>
            <a:off x="548640" y="1371600"/>
            <a:ext cx="2651760" cy="914400"/>
          </a:xfrm>
          <a:prstGeom prst="roundRect">
            <a:avLst>
              <a:gd name="adj" fmla="val 8000"/>
            </a:avLst>
          </a:prstGeom>
          <a:solidFill>
            <a:srgbClr val="E8EEF4"/>
          </a:solidFill>
          <a:ln w="12700">
            <a:solidFill>
              <a:srgbClr val="E8EEF4"/>
            </a:solidFill>
            <a:prstDash val="solid"/>
          </a:ln>
        </p:spPr>
      </p:sp>
      <p:sp>
        <p:nvSpPr>
          <p:cNvPr id="7" name="Text 5"/>
          <p:cNvSpPr txBox="1"/>
          <p:nvPr/>
        </p:nvSpPr>
        <p:spPr>
          <a:xfrm>
            <a:off x="731520" y="1490472"/>
            <a:ext cx="2286000" cy="274320"/>
          </a:xfrm>
          <a:prstGeom prst="rect">
            <a:avLst/>
          </a:prstGeom>
          <a:noFill/>
          <a:ln/>
        </p:spPr>
        <p:txBody>
          <a:bodyPr wrap="square" lIns="0" tIns="0" rIns="0" bIns="0" rtlCol="0" anchor="ctr"/>
          <a:lstStyle/>
          <a:p>
            <a:pPr indent="0" marL="0">
              <a:buNone/>
            </a:pPr>
            <a:r>
              <a:rPr lang="en-US" sz="1300" b="1" dirty="0">
                <a:solidFill>
                  <a:srgbClr val="003366"/>
                </a:solidFill>
                <a:latin typeface="Courier New" pitchFamily="34" charset="0"/>
                <a:ea typeface="Courier New" pitchFamily="34" charset="-122"/>
                <a:cs typeface="Courier New" pitchFamily="34" charset="-120"/>
              </a:rPr>
              <a:t>text</a:t>
            </a:r>
            <a:endParaRPr lang="en-US" sz="1300" dirty="0"/>
          </a:p>
        </p:txBody>
      </p:sp>
      <p:sp>
        <p:nvSpPr>
          <p:cNvPr id="8" name="Text 6"/>
          <p:cNvSpPr txBox="1"/>
          <p:nvPr/>
        </p:nvSpPr>
        <p:spPr>
          <a:xfrm>
            <a:off x="731520" y="1828800"/>
            <a:ext cx="2286000" cy="365760"/>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Any short text</a:t>
            </a:r>
            <a:endParaRPr lang="en-US" sz="1200" dirty="0"/>
          </a:p>
        </p:txBody>
      </p:sp>
      <p:sp>
        <p:nvSpPr>
          <p:cNvPr id="9" name="Shape 7"/>
          <p:cNvSpPr/>
          <p:nvPr/>
        </p:nvSpPr>
        <p:spPr>
          <a:xfrm>
            <a:off x="3383280" y="1371600"/>
            <a:ext cx="2651760" cy="914400"/>
          </a:xfrm>
          <a:prstGeom prst="roundRect">
            <a:avLst>
              <a:gd name="adj" fmla="val 8000"/>
            </a:avLst>
          </a:prstGeom>
          <a:solidFill>
            <a:srgbClr val="F2F5F8"/>
          </a:solidFill>
          <a:ln w="12700">
            <a:solidFill>
              <a:srgbClr val="F2F5F8"/>
            </a:solidFill>
            <a:prstDash val="solid"/>
          </a:ln>
        </p:spPr>
      </p:sp>
      <p:sp>
        <p:nvSpPr>
          <p:cNvPr id="10" name="Text 8"/>
          <p:cNvSpPr txBox="1"/>
          <p:nvPr/>
        </p:nvSpPr>
        <p:spPr>
          <a:xfrm>
            <a:off x="3566160" y="1490472"/>
            <a:ext cx="2286000" cy="274320"/>
          </a:xfrm>
          <a:prstGeom prst="rect">
            <a:avLst/>
          </a:prstGeom>
          <a:noFill/>
          <a:ln/>
        </p:spPr>
        <p:txBody>
          <a:bodyPr wrap="square" lIns="0" tIns="0" rIns="0" bIns="0" rtlCol="0" anchor="ctr"/>
          <a:lstStyle/>
          <a:p>
            <a:pPr indent="0" marL="0">
              <a:buNone/>
            </a:pPr>
            <a:r>
              <a:rPr lang="en-US" sz="1300" b="1" dirty="0">
                <a:solidFill>
                  <a:srgbClr val="003366"/>
                </a:solidFill>
                <a:latin typeface="Courier New" pitchFamily="34" charset="0"/>
                <a:ea typeface="Courier New" pitchFamily="34" charset="-122"/>
                <a:cs typeface="Courier New" pitchFamily="34" charset="-120"/>
              </a:rPr>
              <a:t>email</a:t>
            </a:r>
            <a:endParaRPr lang="en-US" sz="1300" dirty="0"/>
          </a:p>
        </p:txBody>
      </p:sp>
      <p:sp>
        <p:nvSpPr>
          <p:cNvPr id="11" name="Text 9"/>
          <p:cNvSpPr txBox="1"/>
          <p:nvPr/>
        </p:nvSpPr>
        <p:spPr>
          <a:xfrm>
            <a:off x="3566160" y="1828800"/>
            <a:ext cx="2286000" cy="365760"/>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Checks for an @</a:t>
            </a:r>
            <a:endParaRPr lang="en-US" sz="1200" dirty="0"/>
          </a:p>
        </p:txBody>
      </p:sp>
      <p:sp>
        <p:nvSpPr>
          <p:cNvPr id="12" name="Shape 10"/>
          <p:cNvSpPr/>
          <p:nvPr/>
        </p:nvSpPr>
        <p:spPr>
          <a:xfrm>
            <a:off x="6217920" y="1371600"/>
            <a:ext cx="2651760" cy="914400"/>
          </a:xfrm>
          <a:prstGeom prst="roundRect">
            <a:avLst>
              <a:gd name="adj" fmla="val 8000"/>
            </a:avLst>
          </a:prstGeom>
          <a:solidFill>
            <a:srgbClr val="E8EEF4"/>
          </a:solidFill>
          <a:ln w="12700">
            <a:solidFill>
              <a:srgbClr val="E8EEF4"/>
            </a:solidFill>
            <a:prstDash val="solid"/>
          </a:ln>
        </p:spPr>
      </p:sp>
      <p:sp>
        <p:nvSpPr>
          <p:cNvPr id="13" name="Text 11"/>
          <p:cNvSpPr txBox="1"/>
          <p:nvPr/>
        </p:nvSpPr>
        <p:spPr>
          <a:xfrm>
            <a:off x="6400800" y="1490472"/>
            <a:ext cx="2286000" cy="274320"/>
          </a:xfrm>
          <a:prstGeom prst="rect">
            <a:avLst/>
          </a:prstGeom>
          <a:noFill/>
          <a:ln/>
        </p:spPr>
        <p:txBody>
          <a:bodyPr wrap="square" lIns="0" tIns="0" rIns="0" bIns="0" rtlCol="0" anchor="ctr"/>
          <a:lstStyle/>
          <a:p>
            <a:pPr indent="0" marL="0">
              <a:buNone/>
            </a:pPr>
            <a:r>
              <a:rPr lang="en-US" sz="1300" b="1" dirty="0">
                <a:solidFill>
                  <a:srgbClr val="003366"/>
                </a:solidFill>
                <a:latin typeface="Courier New" pitchFamily="34" charset="0"/>
                <a:ea typeface="Courier New" pitchFamily="34" charset="-122"/>
                <a:cs typeface="Courier New" pitchFamily="34" charset="-120"/>
              </a:rPr>
              <a:t>password</a:t>
            </a:r>
            <a:endParaRPr lang="en-US" sz="1300" dirty="0"/>
          </a:p>
        </p:txBody>
      </p:sp>
      <p:sp>
        <p:nvSpPr>
          <p:cNvPr id="14" name="Text 12"/>
          <p:cNvSpPr txBox="1"/>
          <p:nvPr/>
        </p:nvSpPr>
        <p:spPr>
          <a:xfrm>
            <a:off x="6400800" y="1828800"/>
            <a:ext cx="2286000" cy="365760"/>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Hides the characters</a:t>
            </a:r>
            <a:endParaRPr lang="en-US" sz="1200" dirty="0"/>
          </a:p>
        </p:txBody>
      </p:sp>
      <p:sp>
        <p:nvSpPr>
          <p:cNvPr id="15" name="Shape 13"/>
          <p:cNvSpPr/>
          <p:nvPr/>
        </p:nvSpPr>
        <p:spPr>
          <a:xfrm>
            <a:off x="9052560" y="1371600"/>
            <a:ext cx="2651760" cy="914400"/>
          </a:xfrm>
          <a:prstGeom prst="roundRect">
            <a:avLst>
              <a:gd name="adj" fmla="val 8000"/>
            </a:avLst>
          </a:prstGeom>
          <a:solidFill>
            <a:srgbClr val="F2F5F8"/>
          </a:solidFill>
          <a:ln w="12700">
            <a:solidFill>
              <a:srgbClr val="F2F5F8"/>
            </a:solidFill>
            <a:prstDash val="solid"/>
          </a:ln>
        </p:spPr>
      </p:sp>
      <p:sp>
        <p:nvSpPr>
          <p:cNvPr id="16" name="Text 14"/>
          <p:cNvSpPr txBox="1"/>
          <p:nvPr/>
        </p:nvSpPr>
        <p:spPr>
          <a:xfrm>
            <a:off x="9235440" y="1490472"/>
            <a:ext cx="2286000" cy="274320"/>
          </a:xfrm>
          <a:prstGeom prst="rect">
            <a:avLst/>
          </a:prstGeom>
          <a:noFill/>
          <a:ln/>
        </p:spPr>
        <p:txBody>
          <a:bodyPr wrap="square" lIns="0" tIns="0" rIns="0" bIns="0" rtlCol="0" anchor="ctr"/>
          <a:lstStyle/>
          <a:p>
            <a:pPr indent="0" marL="0">
              <a:buNone/>
            </a:pPr>
            <a:r>
              <a:rPr lang="en-US" sz="1300" b="1" dirty="0">
                <a:solidFill>
                  <a:srgbClr val="003366"/>
                </a:solidFill>
                <a:latin typeface="Courier New" pitchFamily="34" charset="0"/>
                <a:ea typeface="Courier New" pitchFamily="34" charset="-122"/>
                <a:cs typeface="Courier New" pitchFamily="34" charset="-120"/>
              </a:rPr>
              <a:t>number</a:t>
            </a:r>
            <a:endParaRPr lang="en-US" sz="1300" dirty="0"/>
          </a:p>
        </p:txBody>
      </p:sp>
      <p:sp>
        <p:nvSpPr>
          <p:cNvPr id="17" name="Text 15"/>
          <p:cNvSpPr txBox="1"/>
          <p:nvPr/>
        </p:nvSpPr>
        <p:spPr>
          <a:xfrm>
            <a:off x="9235440" y="1828800"/>
            <a:ext cx="2286000" cy="365760"/>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Digits only, with min and max</a:t>
            </a:r>
            <a:endParaRPr lang="en-US" sz="1200" dirty="0"/>
          </a:p>
        </p:txBody>
      </p:sp>
      <p:sp>
        <p:nvSpPr>
          <p:cNvPr id="18" name="Shape 16"/>
          <p:cNvSpPr/>
          <p:nvPr/>
        </p:nvSpPr>
        <p:spPr>
          <a:xfrm>
            <a:off x="548640" y="2423160"/>
            <a:ext cx="2651760" cy="914400"/>
          </a:xfrm>
          <a:prstGeom prst="roundRect">
            <a:avLst>
              <a:gd name="adj" fmla="val 8000"/>
            </a:avLst>
          </a:prstGeom>
          <a:solidFill>
            <a:srgbClr val="E8EEF4"/>
          </a:solidFill>
          <a:ln w="12700">
            <a:solidFill>
              <a:srgbClr val="E8EEF4"/>
            </a:solidFill>
            <a:prstDash val="solid"/>
          </a:ln>
        </p:spPr>
      </p:sp>
      <p:sp>
        <p:nvSpPr>
          <p:cNvPr id="19" name="Text 17"/>
          <p:cNvSpPr txBox="1"/>
          <p:nvPr/>
        </p:nvSpPr>
        <p:spPr>
          <a:xfrm>
            <a:off x="731520" y="2542032"/>
            <a:ext cx="2286000" cy="274320"/>
          </a:xfrm>
          <a:prstGeom prst="rect">
            <a:avLst/>
          </a:prstGeom>
          <a:noFill/>
          <a:ln/>
        </p:spPr>
        <p:txBody>
          <a:bodyPr wrap="square" lIns="0" tIns="0" rIns="0" bIns="0" rtlCol="0" anchor="ctr"/>
          <a:lstStyle/>
          <a:p>
            <a:pPr indent="0" marL="0">
              <a:buNone/>
            </a:pPr>
            <a:r>
              <a:rPr lang="en-US" sz="1300" b="1" dirty="0">
                <a:solidFill>
                  <a:srgbClr val="003366"/>
                </a:solidFill>
                <a:latin typeface="Courier New" pitchFamily="34" charset="0"/>
                <a:ea typeface="Courier New" pitchFamily="34" charset="-122"/>
                <a:cs typeface="Courier New" pitchFamily="34" charset="-120"/>
              </a:rPr>
              <a:t>tel</a:t>
            </a:r>
            <a:endParaRPr lang="en-US" sz="1300" dirty="0"/>
          </a:p>
        </p:txBody>
      </p:sp>
      <p:sp>
        <p:nvSpPr>
          <p:cNvPr id="20" name="Text 18"/>
          <p:cNvSpPr txBox="1"/>
          <p:nvPr/>
        </p:nvSpPr>
        <p:spPr>
          <a:xfrm>
            <a:off x="731520" y="2880360"/>
            <a:ext cx="2286000" cy="365760"/>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Phone number</a:t>
            </a:r>
            <a:endParaRPr lang="en-US" sz="1200" dirty="0"/>
          </a:p>
        </p:txBody>
      </p:sp>
      <p:sp>
        <p:nvSpPr>
          <p:cNvPr id="21" name="Shape 19"/>
          <p:cNvSpPr/>
          <p:nvPr/>
        </p:nvSpPr>
        <p:spPr>
          <a:xfrm>
            <a:off x="3383280" y="2423160"/>
            <a:ext cx="2651760" cy="914400"/>
          </a:xfrm>
          <a:prstGeom prst="roundRect">
            <a:avLst>
              <a:gd name="adj" fmla="val 8000"/>
            </a:avLst>
          </a:prstGeom>
          <a:solidFill>
            <a:srgbClr val="F2F5F8"/>
          </a:solidFill>
          <a:ln w="12700">
            <a:solidFill>
              <a:srgbClr val="F2F5F8"/>
            </a:solidFill>
            <a:prstDash val="solid"/>
          </a:ln>
        </p:spPr>
      </p:sp>
      <p:sp>
        <p:nvSpPr>
          <p:cNvPr id="22" name="Text 20"/>
          <p:cNvSpPr txBox="1"/>
          <p:nvPr/>
        </p:nvSpPr>
        <p:spPr>
          <a:xfrm>
            <a:off x="3566160" y="2542032"/>
            <a:ext cx="2286000" cy="274320"/>
          </a:xfrm>
          <a:prstGeom prst="rect">
            <a:avLst/>
          </a:prstGeom>
          <a:noFill/>
          <a:ln/>
        </p:spPr>
        <p:txBody>
          <a:bodyPr wrap="square" lIns="0" tIns="0" rIns="0" bIns="0" rtlCol="0" anchor="ctr"/>
          <a:lstStyle/>
          <a:p>
            <a:pPr indent="0" marL="0">
              <a:buNone/>
            </a:pPr>
            <a:r>
              <a:rPr lang="en-US" sz="1300" b="1" dirty="0">
                <a:solidFill>
                  <a:srgbClr val="003366"/>
                </a:solidFill>
                <a:latin typeface="Courier New" pitchFamily="34" charset="0"/>
                <a:ea typeface="Courier New" pitchFamily="34" charset="-122"/>
                <a:cs typeface="Courier New" pitchFamily="34" charset="-120"/>
              </a:rPr>
              <a:t>date</a:t>
            </a:r>
            <a:endParaRPr lang="en-US" sz="1300" dirty="0"/>
          </a:p>
        </p:txBody>
      </p:sp>
      <p:sp>
        <p:nvSpPr>
          <p:cNvPr id="23" name="Text 21"/>
          <p:cNvSpPr txBox="1"/>
          <p:nvPr/>
        </p:nvSpPr>
        <p:spPr>
          <a:xfrm>
            <a:off x="3566160" y="2880360"/>
            <a:ext cx="2286000" cy="365760"/>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Shows a date picker</a:t>
            </a:r>
            <a:endParaRPr lang="en-US" sz="1200" dirty="0"/>
          </a:p>
        </p:txBody>
      </p:sp>
      <p:sp>
        <p:nvSpPr>
          <p:cNvPr id="24" name="Shape 22"/>
          <p:cNvSpPr/>
          <p:nvPr/>
        </p:nvSpPr>
        <p:spPr>
          <a:xfrm>
            <a:off x="6217920" y="2423160"/>
            <a:ext cx="2651760" cy="914400"/>
          </a:xfrm>
          <a:prstGeom prst="roundRect">
            <a:avLst>
              <a:gd name="adj" fmla="val 8000"/>
            </a:avLst>
          </a:prstGeom>
          <a:solidFill>
            <a:srgbClr val="E8EEF4"/>
          </a:solidFill>
          <a:ln w="12700">
            <a:solidFill>
              <a:srgbClr val="E8EEF4"/>
            </a:solidFill>
            <a:prstDash val="solid"/>
          </a:ln>
        </p:spPr>
      </p:sp>
      <p:sp>
        <p:nvSpPr>
          <p:cNvPr id="25" name="Text 23"/>
          <p:cNvSpPr txBox="1"/>
          <p:nvPr/>
        </p:nvSpPr>
        <p:spPr>
          <a:xfrm>
            <a:off x="6400800" y="2542032"/>
            <a:ext cx="2286000" cy="274320"/>
          </a:xfrm>
          <a:prstGeom prst="rect">
            <a:avLst/>
          </a:prstGeom>
          <a:noFill/>
          <a:ln/>
        </p:spPr>
        <p:txBody>
          <a:bodyPr wrap="square" lIns="0" tIns="0" rIns="0" bIns="0" rtlCol="0" anchor="ctr"/>
          <a:lstStyle/>
          <a:p>
            <a:pPr indent="0" marL="0">
              <a:buNone/>
            </a:pPr>
            <a:r>
              <a:rPr lang="en-US" sz="1300" b="1" dirty="0">
                <a:solidFill>
                  <a:srgbClr val="003366"/>
                </a:solidFill>
                <a:latin typeface="Courier New" pitchFamily="34" charset="0"/>
                <a:ea typeface="Courier New" pitchFamily="34" charset="-122"/>
                <a:cs typeface="Courier New" pitchFamily="34" charset="-120"/>
              </a:rPr>
              <a:t>url</a:t>
            </a:r>
            <a:endParaRPr lang="en-US" sz="1300" dirty="0"/>
          </a:p>
        </p:txBody>
      </p:sp>
      <p:sp>
        <p:nvSpPr>
          <p:cNvPr id="26" name="Text 24"/>
          <p:cNvSpPr txBox="1"/>
          <p:nvPr/>
        </p:nvSpPr>
        <p:spPr>
          <a:xfrm>
            <a:off x="6400800" y="2880360"/>
            <a:ext cx="2286000" cy="365760"/>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Website address</a:t>
            </a:r>
            <a:endParaRPr lang="en-US" sz="1200" dirty="0"/>
          </a:p>
        </p:txBody>
      </p:sp>
      <p:sp>
        <p:nvSpPr>
          <p:cNvPr id="27" name="Shape 25"/>
          <p:cNvSpPr/>
          <p:nvPr/>
        </p:nvSpPr>
        <p:spPr>
          <a:xfrm>
            <a:off x="9052560" y="2423160"/>
            <a:ext cx="2651760" cy="914400"/>
          </a:xfrm>
          <a:prstGeom prst="roundRect">
            <a:avLst>
              <a:gd name="adj" fmla="val 8000"/>
            </a:avLst>
          </a:prstGeom>
          <a:solidFill>
            <a:srgbClr val="F2F5F8"/>
          </a:solidFill>
          <a:ln w="12700">
            <a:solidFill>
              <a:srgbClr val="F2F5F8"/>
            </a:solidFill>
            <a:prstDash val="solid"/>
          </a:ln>
        </p:spPr>
      </p:sp>
      <p:sp>
        <p:nvSpPr>
          <p:cNvPr id="28" name="Text 26"/>
          <p:cNvSpPr txBox="1"/>
          <p:nvPr/>
        </p:nvSpPr>
        <p:spPr>
          <a:xfrm>
            <a:off x="9235440" y="2542032"/>
            <a:ext cx="2286000" cy="274320"/>
          </a:xfrm>
          <a:prstGeom prst="rect">
            <a:avLst/>
          </a:prstGeom>
          <a:noFill/>
          <a:ln/>
        </p:spPr>
        <p:txBody>
          <a:bodyPr wrap="square" lIns="0" tIns="0" rIns="0" bIns="0" rtlCol="0" anchor="ctr"/>
          <a:lstStyle/>
          <a:p>
            <a:pPr indent="0" marL="0">
              <a:buNone/>
            </a:pPr>
            <a:r>
              <a:rPr lang="en-US" sz="1300" b="1" dirty="0">
                <a:solidFill>
                  <a:srgbClr val="003366"/>
                </a:solidFill>
                <a:latin typeface="Courier New" pitchFamily="34" charset="0"/>
                <a:ea typeface="Courier New" pitchFamily="34" charset="-122"/>
                <a:cs typeface="Courier New" pitchFamily="34" charset="-120"/>
              </a:rPr>
              <a:t>file</a:t>
            </a:r>
            <a:endParaRPr lang="en-US" sz="1300" dirty="0"/>
          </a:p>
        </p:txBody>
      </p:sp>
      <p:sp>
        <p:nvSpPr>
          <p:cNvPr id="29" name="Text 27"/>
          <p:cNvSpPr txBox="1"/>
          <p:nvPr/>
        </p:nvSpPr>
        <p:spPr>
          <a:xfrm>
            <a:off x="9235440" y="2880360"/>
            <a:ext cx="2286000" cy="365760"/>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Upload a file</a:t>
            </a:r>
            <a:endParaRPr lang="en-US" sz="1200" dirty="0"/>
          </a:p>
        </p:txBody>
      </p:sp>
      <p:sp>
        <p:nvSpPr>
          <p:cNvPr id="30" name="Shape 28"/>
          <p:cNvSpPr/>
          <p:nvPr/>
        </p:nvSpPr>
        <p:spPr>
          <a:xfrm>
            <a:off x="548640" y="3657600"/>
            <a:ext cx="11064240" cy="1290320"/>
          </a:xfrm>
          <a:prstGeom prst="roundRect">
            <a:avLst>
              <a:gd name="adj" fmla="val 4252"/>
            </a:avLst>
          </a:prstGeom>
          <a:solidFill>
            <a:srgbClr val="0D1B2A"/>
          </a:solidFill>
          <a:ln w="12700">
            <a:solidFill>
              <a:srgbClr val="0D1B2A"/>
            </a:solidFill>
            <a:prstDash val="solid"/>
          </a:ln>
        </p:spPr>
      </p:sp>
      <p:sp>
        <p:nvSpPr>
          <p:cNvPr id="31" name="Text 29"/>
          <p:cNvSpPr txBox="1"/>
          <p:nvPr/>
        </p:nvSpPr>
        <p:spPr>
          <a:xfrm>
            <a:off x="658368" y="3767328"/>
            <a:ext cx="10844784" cy="1070864"/>
          </a:xfrm>
          <a:prstGeom prst="rect">
            <a:avLst/>
          </a:prstGeom>
          <a:noFill/>
          <a:ln/>
        </p:spPr>
        <p:txBody>
          <a:bodyPr wrap="square" lIns="0" tIns="0" rIns="0" bIns="0" rtlCol="0" anchor="t"/>
          <a:lstStyle/>
          <a:p>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&lt;label for=</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"email"</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&gt;</a:t>
            </a:r>
            <a:pPr indent="0" marL="0">
              <a:lnSpc>
                <a:spcPts val="1600"/>
              </a:lnSpc>
              <a:buNone/>
            </a:pPr>
            <a:r>
              <a:rPr lang="en-US" sz="1250" dirty="0">
                <a:solidFill>
                  <a:srgbClr val="E8EEF7"/>
                </a:solidFill>
                <a:latin typeface="Courier New" pitchFamily="34" charset="0"/>
                <a:ea typeface="Courier New" pitchFamily="34" charset="-122"/>
                <a:cs typeface="Courier New" pitchFamily="34" charset="-120"/>
              </a:rPr>
              <a:t>Email</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&lt;/label&gt;</a:t>
            </a:r>
            <a:endParaRPr lang="en-US" sz="1250" dirty="0"/>
          </a:p>
          <a:p>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&lt;input type=</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"email"</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 id=</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"email"</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 name=</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"email"</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 placeholder=</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"you@example.com"</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 required&gt;</a:t>
            </a:r>
            <a:endParaRPr lang="en-US" sz="1250" dirty="0"/>
          </a:p>
          <a:p>
            <a:pPr indent="0" marL="0">
              <a:lnSpc>
                <a:spcPts val="1600"/>
              </a:lnSpc>
              <a:buNone/>
            </a:pPr>
            <a:r>
              <a:rPr lang="en-US" sz="1250" dirty="0">
                <a:solidFill>
                  <a:srgbClr val="E8EEF7"/>
                </a:solidFill>
                <a:latin typeface="Courier New" pitchFamily="34" charset="0"/>
                <a:ea typeface="Courier New" pitchFamily="34" charset="-122"/>
                <a:cs typeface="Courier New" pitchFamily="34" charset="-120"/>
              </a:rPr>
              <a:t> </a:t>
            </a:r>
            <a:endParaRPr lang="en-US" sz="1250" dirty="0"/>
          </a:p>
          <a:p>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&lt;label for=</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"age"</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&gt;</a:t>
            </a:r>
            <a:pPr indent="0" marL="0">
              <a:lnSpc>
                <a:spcPts val="1600"/>
              </a:lnSpc>
              <a:buNone/>
            </a:pPr>
            <a:r>
              <a:rPr lang="en-US" sz="1250" dirty="0">
                <a:solidFill>
                  <a:srgbClr val="E8EEF7"/>
                </a:solidFill>
                <a:latin typeface="Courier New" pitchFamily="34" charset="0"/>
                <a:ea typeface="Courier New" pitchFamily="34" charset="-122"/>
                <a:cs typeface="Courier New" pitchFamily="34" charset="-120"/>
              </a:rPr>
              <a:t>Age</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&lt;/label&gt;</a:t>
            </a:r>
            <a:endParaRPr lang="en-US" sz="1250" dirty="0"/>
          </a:p>
          <a:p>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&lt;input type=</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"number"</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 id=</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"age"</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 name=</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"age"</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 min=</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"16"</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 max=</a:t>
            </a:r>
            <a:pPr indent="0" marL="0">
              <a:lnSpc>
                <a:spcPts val="1600"/>
              </a:lnSpc>
              <a:buNone/>
            </a:pPr>
            <a:r>
              <a:rPr lang="en-US" sz="1250" dirty="0">
                <a:solidFill>
                  <a:srgbClr val="A8E6A3"/>
                </a:solidFill>
                <a:latin typeface="Courier New" pitchFamily="34" charset="0"/>
                <a:ea typeface="Courier New" pitchFamily="34" charset="-122"/>
                <a:cs typeface="Courier New" pitchFamily="34" charset="-120"/>
              </a:rPr>
              <a:t>"60"</a:t>
            </a:r>
            <a:pPr indent="0" marL="0">
              <a:lnSpc>
                <a:spcPts val="1600"/>
              </a:lnSpc>
              <a:buNone/>
            </a:pPr>
            <a:r>
              <a:rPr lang="en-US" sz="1250" dirty="0">
                <a:solidFill>
                  <a:srgbClr val="8FD3FF"/>
                </a:solidFill>
                <a:latin typeface="Courier New" pitchFamily="34" charset="0"/>
                <a:ea typeface="Courier New" pitchFamily="34" charset="-122"/>
                <a:cs typeface="Courier New" pitchFamily="34" charset="-120"/>
              </a:rPr>
              <a:t>&gt;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PATTERN 2</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Radio, Checkbox and Select</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8</a:t>
            </a:r>
            <a:endParaRPr lang="en-US" sz="900" dirty="0"/>
          </a:p>
        </p:txBody>
      </p:sp>
      <p:sp>
        <p:nvSpPr>
          <p:cNvPr id="6" name="Shape 4"/>
          <p:cNvSpPr/>
          <p:nvPr/>
        </p:nvSpPr>
        <p:spPr>
          <a:xfrm>
            <a:off x="548640" y="1325880"/>
            <a:ext cx="6675120" cy="3639312"/>
          </a:xfrm>
          <a:prstGeom prst="roundRect">
            <a:avLst>
              <a:gd name="adj" fmla="val 1508"/>
            </a:avLst>
          </a:prstGeom>
          <a:solidFill>
            <a:srgbClr val="0D1B2A"/>
          </a:solidFill>
          <a:ln w="12700">
            <a:solidFill>
              <a:srgbClr val="0D1B2A"/>
            </a:solidFill>
            <a:prstDash val="solid"/>
          </a:ln>
        </p:spPr>
      </p:sp>
      <p:sp>
        <p:nvSpPr>
          <p:cNvPr id="7" name="Text 5"/>
          <p:cNvSpPr txBox="1"/>
          <p:nvPr/>
        </p:nvSpPr>
        <p:spPr>
          <a:xfrm>
            <a:off x="658368" y="1435608"/>
            <a:ext cx="6455664" cy="3419856"/>
          </a:xfrm>
          <a:prstGeom prst="rect">
            <a:avLst/>
          </a:prstGeom>
          <a:noFill/>
          <a:ln/>
        </p:spPr>
        <p:txBody>
          <a:bodyPr wrap="square" lIns="0" tIns="0" rIns="0" bIns="0" rtlCol="0" anchor="t"/>
          <a:lstStyle/>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&lt;!-- RADIO: choose ONE. Same name = one group --&gt;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&lt;input type=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"radio"</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 id=</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"day"</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 name=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"shift"</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 value=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"day"</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&lt;label for=</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"day"</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Day shift</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&lt;/label&gt;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&lt;input type=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"radio"</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 id=</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"eve"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 name=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"shift"</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 value=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"evening"</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&lt;label for=</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"eve"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Evening shift</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&lt;/label&gt;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&lt;!-- CHECKBOX: choose MANY. Different names --&gt;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&lt;input type=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"checkbox"</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 id=</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"html"</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 name=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"html"</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&lt;label for=</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"html"</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HTML</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&lt;/label&gt;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&lt;!-- SELECT: a dropdown, good for long lists --&gt;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&lt;label for=</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"dept"</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Department</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&lt;/label&gt;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&lt;select id=</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"dept"</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 name=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"dept"</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&lt;option value=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Choose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&lt;/option&gt;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&lt;option value=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"cse"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CSE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&lt;/option&gt;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&lt;option value=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"eee"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EEE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&lt;/option&gt;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&lt;/select&gt;</a:t>
            </a:r>
            <a:endParaRPr lang="en-US" sz="1150" dirty="0"/>
          </a:p>
        </p:txBody>
      </p:sp>
      <p:sp>
        <p:nvSpPr>
          <p:cNvPr id="8" name="Shape 6"/>
          <p:cNvSpPr/>
          <p:nvPr/>
        </p:nvSpPr>
        <p:spPr>
          <a:xfrm>
            <a:off x="7406640" y="1325880"/>
            <a:ext cx="4206240" cy="2103120"/>
          </a:xfrm>
          <a:prstGeom prst="roundRect">
            <a:avLst>
              <a:gd name="adj" fmla="val 3478"/>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9" name="Shape 7"/>
          <p:cNvSpPr/>
          <p:nvPr/>
        </p:nvSpPr>
        <p:spPr>
          <a:xfrm>
            <a:off x="7607808" y="1527048"/>
            <a:ext cx="384048" cy="384048"/>
          </a:xfrm>
          <a:prstGeom prst="ellipse">
            <a:avLst/>
          </a:prstGeom>
          <a:solidFill>
            <a:srgbClr val="E39A18"/>
          </a:solidFill>
          <a:ln w="12700">
            <a:solidFill>
              <a:srgbClr val="E39A18"/>
            </a:solidFill>
            <a:prstDash val="solid"/>
          </a:ln>
        </p:spPr>
      </p:sp>
      <p:sp>
        <p:nvSpPr>
          <p:cNvPr id="10" name="Text 8"/>
          <p:cNvSpPr txBox="1"/>
          <p:nvPr/>
        </p:nvSpPr>
        <p:spPr>
          <a:xfrm>
            <a:off x="7607808" y="1527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1" name="Text 9"/>
          <p:cNvSpPr txBox="1"/>
          <p:nvPr/>
        </p:nvSpPr>
        <p:spPr>
          <a:xfrm>
            <a:off x="8119872" y="1554480"/>
            <a:ext cx="32918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The radio rule</a:t>
            </a:r>
            <a:endParaRPr lang="en-US" sz="1700" dirty="0"/>
          </a:p>
        </p:txBody>
      </p:sp>
      <p:sp>
        <p:nvSpPr>
          <p:cNvPr id="12" name="Text 10"/>
          <p:cNvSpPr txBox="1"/>
          <p:nvPr/>
        </p:nvSpPr>
        <p:spPr>
          <a:xfrm>
            <a:off x="7662672" y="1947672"/>
            <a:ext cx="3694176" cy="131673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Radio buttons only work as a group if they share the SAME name</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Different name = every button can be selected</a:t>
            </a:r>
            <a:endParaRPr lang="en-US" sz="1300" dirty="0"/>
          </a:p>
        </p:txBody>
      </p:sp>
      <p:sp>
        <p:nvSpPr>
          <p:cNvPr id="13" name="Shape 11"/>
          <p:cNvSpPr/>
          <p:nvPr/>
        </p:nvSpPr>
        <p:spPr>
          <a:xfrm>
            <a:off x="7406640" y="3611880"/>
            <a:ext cx="4206240" cy="1371600"/>
          </a:xfrm>
          <a:prstGeom prst="roundRect">
            <a:avLst>
              <a:gd name="adj" fmla="val 5333"/>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14" name="Text 12"/>
          <p:cNvSpPr txBox="1"/>
          <p:nvPr/>
        </p:nvSpPr>
        <p:spPr>
          <a:xfrm>
            <a:off x="7662672" y="3813048"/>
            <a:ext cx="369417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When to use which</a:t>
            </a:r>
            <a:endParaRPr lang="en-US" sz="1700" dirty="0"/>
          </a:p>
        </p:txBody>
      </p:sp>
      <p:sp>
        <p:nvSpPr>
          <p:cNvPr id="15" name="Text 13"/>
          <p:cNvSpPr txBox="1"/>
          <p:nvPr/>
        </p:nvSpPr>
        <p:spPr>
          <a:xfrm>
            <a:off x="7662672" y="4233672"/>
            <a:ext cx="3694176" cy="58521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2-4 choices, pick one → radio</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Pick many → checkbox</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5 or more choices → select</a:t>
            </a:r>
            <a:endParaRPr lang="en-US" sz="1250" dirty="0"/>
          </a:p>
        </p:txBody>
      </p:sp>
      <p:sp>
        <p:nvSpPr>
          <p:cNvPr id="16" name="Shape 14"/>
          <p:cNvSpPr/>
          <p:nvPr/>
        </p:nvSpPr>
        <p:spPr>
          <a:xfrm>
            <a:off x="7406640" y="5120640"/>
            <a:ext cx="4206240" cy="822960"/>
          </a:xfrm>
          <a:prstGeom prst="roundRect">
            <a:avLst>
              <a:gd name="adj" fmla="val 8889"/>
            </a:avLst>
          </a:prstGeom>
          <a:solidFill>
            <a:srgbClr val="E7F4EE"/>
          </a:solidFill>
          <a:ln w="12700">
            <a:solidFill>
              <a:srgbClr val="E7F4EE"/>
            </a:solidFill>
            <a:prstDash val="solid"/>
          </a:ln>
        </p:spPr>
      </p:sp>
      <p:sp>
        <p:nvSpPr>
          <p:cNvPr id="17" name="Text 15"/>
          <p:cNvSpPr txBox="1"/>
          <p:nvPr/>
        </p:nvSpPr>
        <p:spPr>
          <a:xfrm>
            <a:off x="7662672" y="5321808"/>
            <a:ext cx="3694176"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Label goes AFTER a radio or checkbox, and BEFORE a text input.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PATTERN 2</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Validation Without JavaScript</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9</a:t>
            </a:r>
            <a:endParaRPr lang="en-US" sz="900" dirty="0"/>
          </a:p>
        </p:txBody>
      </p:sp>
      <p:sp>
        <p:nvSpPr>
          <p:cNvPr id="6" name="Text 4"/>
          <p:cNvSpPr txBox="1"/>
          <p:nvPr/>
        </p:nvSpPr>
        <p:spPr>
          <a:xfrm>
            <a:off x="548640" y="1298448"/>
            <a:ext cx="11064240" cy="320040"/>
          </a:xfrm>
          <a:prstGeom prst="rect">
            <a:avLst/>
          </a:prstGeom>
          <a:noFill/>
          <a:ln/>
        </p:spPr>
        <p:txBody>
          <a:bodyPr wrap="square" lIns="0" tIns="0" rIns="0" bIns="0" rtlCol="0" anchor="t"/>
          <a:lstStyle/>
          <a:p>
            <a:pPr algn="l" indent="0" marL="0">
              <a:lnSpc>
                <a:spcPts val="1958"/>
              </a:lnSpc>
              <a:buNone/>
            </a:pPr>
            <a:r>
              <a:rPr lang="en-US" sz="1450" dirty="0">
                <a:solidFill>
                  <a:srgbClr val="3D4A57"/>
                </a:solidFill>
                <a:latin typeface="Arial" pitchFamily="34" charset="0"/>
                <a:ea typeface="Arial" pitchFamily="34" charset="-122"/>
                <a:cs typeface="Arial" pitchFamily="34" charset="-120"/>
              </a:rPr>
              <a:t>The browser can check simple rules for you. Add attributes, write no code.</a:t>
            </a:r>
            <a:endParaRPr lang="en-US" sz="1450" dirty="0"/>
          </a:p>
        </p:txBody>
      </p:sp>
      <p:sp>
        <p:nvSpPr>
          <p:cNvPr id="7" name="Shape 5"/>
          <p:cNvSpPr/>
          <p:nvPr/>
        </p:nvSpPr>
        <p:spPr>
          <a:xfrm>
            <a:off x="548640" y="1691640"/>
            <a:ext cx="5760720" cy="566928"/>
          </a:xfrm>
          <a:prstGeom prst="roundRect">
            <a:avLst>
              <a:gd name="adj" fmla="val 12903"/>
            </a:avLst>
          </a:prstGeom>
          <a:solidFill>
            <a:srgbClr val="E8EEF4"/>
          </a:solidFill>
          <a:ln w="12700">
            <a:solidFill>
              <a:srgbClr val="E8EEF4"/>
            </a:solidFill>
            <a:prstDash val="solid"/>
          </a:ln>
        </p:spPr>
      </p:sp>
      <p:sp>
        <p:nvSpPr>
          <p:cNvPr id="8" name="Text 6"/>
          <p:cNvSpPr txBox="1"/>
          <p:nvPr/>
        </p:nvSpPr>
        <p:spPr>
          <a:xfrm>
            <a:off x="749808" y="1691640"/>
            <a:ext cx="2377440" cy="566928"/>
          </a:xfrm>
          <a:prstGeom prst="rect">
            <a:avLst/>
          </a:prstGeom>
          <a:noFill/>
          <a:ln/>
        </p:spPr>
        <p:txBody>
          <a:bodyPr wrap="square" lIns="0" tIns="0" rIns="0" bIns="0" rtlCol="0" anchor="ctr"/>
          <a:lstStyle/>
          <a:p>
            <a:pPr indent="0" marL="0">
              <a:buNone/>
            </a:pPr>
            <a:r>
              <a:rPr lang="en-US" sz="1150" b="1" dirty="0">
                <a:solidFill>
                  <a:srgbClr val="003366"/>
                </a:solidFill>
                <a:latin typeface="Courier New" pitchFamily="34" charset="0"/>
                <a:ea typeface="Courier New" pitchFamily="34" charset="-122"/>
                <a:cs typeface="Courier New" pitchFamily="34" charset="-120"/>
              </a:rPr>
              <a:t>required</a:t>
            </a:r>
            <a:endParaRPr lang="en-US" sz="1150" dirty="0"/>
          </a:p>
        </p:txBody>
      </p:sp>
      <p:sp>
        <p:nvSpPr>
          <p:cNvPr id="9" name="Text 7"/>
          <p:cNvSpPr txBox="1"/>
          <p:nvPr/>
        </p:nvSpPr>
        <p:spPr>
          <a:xfrm>
            <a:off x="3246120" y="1691640"/>
            <a:ext cx="3291840" cy="566928"/>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The field cannot be empty</a:t>
            </a:r>
            <a:endParaRPr lang="en-US" sz="1200" dirty="0"/>
          </a:p>
        </p:txBody>
      </p:sp>
      <p:sp>
        <p:nvSpPr>
          <p:cNvPr id="10" name="Shape 8"/>
          <p:cNvSpPr/>
          <p:nvPr/>
        </p:nvSpPr>
        <p:spPr>
          <a:xfrm>
            <a:off x="548640" y="2350008"/>
            <a:ext cx="5760720" cy="566928"/>
          </a:xfrm>
          <a:prstGeom prst="roundRect">
            <a:avLst>
              <a:gd name="adj" fmla="val 12903"/>
            </a:avLst>
          </a:prstGeom>
          <a:solidFill>
            <a:srgbClr val="F2F5F8"/>
          </a:solidFill>
          <a:ln w="12700">
            <a:solidFill>
              <a:srgbClr val="F2F5F8"/>
            </a:solidFill>
            <a:prstDash val="solid"/>
          </a:ln>
        </p:spPr>
      </p:sp>
      <p:sp>
        <p:nvSpPr>
          <p:cNvPr id="11" name="Text 9"/>
          <p:cNvSpPr txBox="1"/>
          <p:nvPr/>
        </p:nvSpPr>
        <p:spPr>
          <a:xfrm>
            <a:off x="749808" y="2350008"/>
            <a:ext cx="2377440" cy="566928"/>
          </a:xfrm>
          <a:prstGeom prst="rect">
            <a:avLst/>
          </a:prstGeom>
          <a:noFill/>
          <a:ln/>
        </p:spPr>
        <p:txBody>
          <a:bodyPr wrap="square" lIns="0" tIns="0" rIns="0" bIns="0" rtlCol="0" anchor="ctr"/>
          <a:lstStyle/>
          <a:p>
            <a:pPr indent="0" marL="0">
              <a:buNone/>
            </a:pPr>
            <a:r>
              <a:rPr lang="en-US" sz="1150" b="1" dirty="0">
                <a:solidFill>
                  <a:srgbClr val="003366"/>
                </a:solidFill>
                <a:latin typeface="Courier New" pitchFamily="34" charset="0"/>
                <a:ea typeface="Courier New" pitchFamily="34" charset="-122"/>
                <a:cs typeface="Courier New" pitchFamily="34" charset="-120"/>
              </a:rPr>
              <a:t>minlength / maxlength</a:t>
            </a:r>
            <a:endParaRPr lang="en-US" sz="1150" dirty="0"/>
          </a:p>
        </p:txBody>
      </p:sp>
      <p:sp>
        <p:nvSpPr>
          <p:cNvPr id="12" name="Text 10"/>
          <p:cNvSpPr txBox="1"/>
          <p:nvPr/>
        </p:nvSpPr>
        <p:spPr>
          <a:xfrm>
            <a:off x="3246120" y="2350008"/>
            <a:ext cx="3291840" cy="566928"/>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Limits how many characters</a:t>
            </a:r>
            <a:endParaRPr lang="en-US" sz="1200" dirty="0"/>
          </a:p>
        </p:txBody>
      </p:sp>
      <p:sp>
        <p:nvSpPr>
          <p:cNvPr id="13" name="Shape 11"/>
          <p:cNvSpPr/>
          <p:nvPr/>
        </p:nvSpPr>
        <p:spPr>
          <a:xfrm>
            <a:off x="548640" y="3008376"/>
            <a:ext cx="5760720" cy="566928"/>
          </a:xfrm>
          <a:prstGeom prst="roundRect">
            <a:avLst>
              <a:gd name="adj" fmla="val 12903"/>
            </a:avLst>
          </a:prstGeom>
          <a:solidFill>
            <a:srgbClr val="E8EEF4"/>
          </a:solidFill>
          <a:ln w="12700">
            <a:solidFill>
              <a:srgbClr val="E8EEF4"/>
            </a:solidFill>
            <a:prstDash val="solid"/>
          </a:ln>
        </p:spPr>
      </p:sp>
      <p:sp>
        <p:nvSpPr>
          <p:cNvPr id="14" name="Text 12"/>
          <p:cNvSpPr txBox="1"/>
          <p:nvPr/>
        </p:nvSpPr>
        <p:spPr>
          <a:xfrm>
            <a:off x="749808" y="3008376"/>
            <a:ext cx="2377440" cy="566928"/>
          </a:xfrm>
          <a:prstGeom prst="rect">
            <a:avLst/>
          </a:prstGeom>
          <a:noFill/>
          <a:ln/>
        </p:spPr>
        <p:txBody>
          <a:bodyPr wrap="square" lIns="0" tIns="0" rIns="0" bIns="0" rtlCol="0" anchor="ctr"/>
          <a:lstStyle/>
          <a:p>
            <a:pPr indent="0" marL="0">
              <a:buNone/>
            </a:pPr>
            <a:r>
              <a:rPr lang="en-US" sz="1150" b="1" dirty="0">
                <a:solidFill>
                  <a:srgbClr val="003366"/>
                </a:solidFill>
                <a:latin typeface="Courier New" pitchFamily="34" charset="0"/>
                <a:ea typeface="Courier New" pitchFamily="34" charset="-122"/>
                <a:cs typeface="Courier New" pitchFamily="34" charset="-120"/>
              </a:rPr>
              <a:t>min / max</a:t>
            </a:r>
            <a:endParaRPr lang="en-US" sz="1150" dirty="0"/>
          </a:p>
        </p:txBody>
      </p:sp>
      <p:sp>
        <p:nvSpPr>
          <p:cNvPr id="15" name="Text 13"/>
          <p:cNvSpPr txBox="1"/>
          <p:nvPr/>
        </p:nvSpPr>
        <p:spPr>
          <a:xfrm>
            <a:off x="3246120" y="3008376"/>
            <a:ext cx="3291840" cy="566928"/>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Limits a number or a date</a:t>
            </a:r>
            <a:endParaRPr lang="en-US" sz="1200" dirty="0"/>
          </a:p>
        </p:txBody>
      </p:sp>
      <p:sp>
        <p:nvSpPr>
          <p:cNvPr id="16" name="Shape 14"/>
          <p:cNvSpPr/>
          <p:nvPr/>
        </p:nvSpPr>
        <p:spPr>
          <a:xfrm>
            <a:off x="548640" y="3666744"/>
            <a:ext cx="5760720" cy="566928"/>
          </a:xfrm>
          <a:prstGeom prst="roundRect">
            <a:avLst>
              <a:gd name="adj" fmla="val 12903"/>
            </a:avLst>
          </a:prstGeom>
          <a:solidFill>
            <a:srgbClr val="F2F5F8"/>
          </a:solidFill>
          <a:ln w="12700">
            <a:solidFill>
              <a:srgbClr val="F2F5F8"/>
            </a:solidFill>
            <a:prstDash val="solid"/>
          </a:ln>
        </p:spPr>
      </p:sp>
      <p:sp>
        <p:nvSpPr>
          <p:cNvPr id="17" name="Text 15"/>
          <p:cNvSpPr txBox="1"/>
          <p:nvPr/>
        </p:nvSpPr>
        <p:spPr>
          <a:xfrm>
            <a:off x="749808" y="3666744"/>
            <a:ext cx="2377440" cy="566928"/>
          </a:xfrm>
          <a:prstGeom prst="rect">
            <a:avLst/>
          </a:prstGeom>
          <a:noFill/>
          <a:ln/>
        </p:spPr>
        <p:txBody>
          <a:bodyPr wrap="square" lIns="0" tIns="0" rIns="0" bIns="0" rtlCol="0" anchor="ctr"/>
          <a:lstStyle/>
          <a:p>
            <a:pPr indent="0" marL="0">
              <a:buNone/>
            </a:pPr>
            <a:r>
              <a:rPr lang="en-US" sz="1150" b="1" dirty="0">
                <a:solidFill>
                  <a:srgbClr val="003366"/>
                </a:solidFill>
                <a:latin typeface="Courier New" pitchFamily="34" charset="0"/>
                <a:ea typeface="Courier New" pitchFamily="34" charset="-122"/>
                <a:cs typeface="Courier New" pitchFamily="34" charset="-120"/>
              </a:rPr>
              <a:t>pattern</a:t>
            </a:r>
            <a:endParaRPr lang="en-US" sz="1150" dirty="0"/>
          </a:p>
        </p:txBody>
      </p:sp>
      <p:sp>
        <p:nvSpPr>
          <p:cNvPr id="18" name="Text 16"/>
          <p:cNvSpPr txBox="1"/>
          <p:nvPr/>
        </p:nvSpPr>
        <p:spPr>
          <a:xfrm>
            <a:off x="3246120" y="3666744"/>
            <a:ext cx="3291840" cy="566928"/>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The value must match a pattern</a:t>
            </a:r>
            <a:endParaRPr lang="en-US" sz="1200" dirty="0"/>
          </a:p>
        </p:txBody>
      </p:sp>
      <p:sp>
        <p:nvSpPr>
          <p:cNvPr id="19" name="Shape 17"/>
          <p:cNvSpPr/>
          <p:nvPr/>
        </p:nvSpPr>
        <p:spPr>
          <a:xfrm>
            <a:off x="548640" y="4325112"/>
            <a:ext cx="5760720" cy="566928"/>
          </a:xfrm>
          <a:prstGeom prst="roundRect">
            <a:avLst>
              <a:gd name="adj" fmla="val 12903"/>
            </a:avLst>
          </a:prstGeom>
          <a:solidFill>
            <a:srgbClr val="E8EEF4"/>
          </a:solidFill>
          <a:ln w="12700">
            <a:solidFill>
              <a:srgbClr val="E8EEF4"/>
            </a:solidFill>
            <a:prstDash val="solid"/>
          </a:ln>
        </p:spPr>
      </p:sp>
      <p:sp>
        <p:nvSpPr>
          <p:cNvPr id="20" name="Text 18"/>
          <p:cNvSpPr txBox="1"/>
          <p:nvPr/>
        </p:nvSpPr>
        <p:spPr>
          <a:xfrm>
            <a:off x="749808" y="4325112"/>
            <a:ext cx="2377440" cy="566928"/>
          </a:xfrm>
          <a:prstGeom prst="rect">
            <a:avLst/>
          </a:prstGeom>
          <a:noFill/>
          <a:ln/>
        </p:spPr>
        <p:txBody>
          <a:bodyPr wrap="square" lIns="0" tIns="0" rIns="0" bIns="0" rtlCol="0" anchor="ctr"/>
          <a:lstStyle/>
          <a:p>
            <a:pPr indent="0" marL="0">
              <a:buNone/>
            </a:pPr>
            <a:r>
              <a:rPr lang="en-US" sz="1150" b="1" dirty="0">
                <a:solidFill>
                  <a:srgbClr val="003366"/>
                </a:solidFill>
                <a:latin typeface="Courier New" pitchFamily="34" charset="0"/>
                <a:ea typeface="Courier New" pitchFamily="34" charset="-122"/>
                <a:cs typeface="Courier New" pitchFamily="34" charset="-120"/>
              </a:rPr>
              <a:t>placeholder</a:t>
            </a:r>
            <a:endParaRPr lang="en-US" sz="1150" dirty="0"/>
          </a:p>
        </p:txBody>
      </p:sp>
      <p:sp>
        <p:nvSpPr>
          <p:cNvPr id="21" name="Text 19"/>
          <p:cNvSpPr txBox="1"/>
          <p:nvPr/>
        </p:nvSpPr>
        <p:spPr>
          <a:xfrm>
            <a:off x="3246120" y="4325112"/>
            <a:ext cx="3291840" cy="566928"/>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A hint. NOT a replacement for a label</a:t>
            </a:r>
            <a:endParaRPr lang="en-US" sz="1200" dirty="0"/>
          </a:p>
        </p:txBody>
      </p:sp>
      <p:sp>
        <p:nvSpPr>
          <p:cNvPr id="22" name="Shape 20"/>
          <p:cNvSpPr/>
          <p:nvPr/>
        </p:nvSpPr>
        <p:spPr>
          <a:xfrm>
            <a:off x="6583680" y="1691640"/>
            <a:ext cx="5029200" cy="1347216"/>
          </a:xfrm>
          <a:prstGeom prst="roundRect">
            <a:avLst>
              <a:gd name="adj" fmla="val 4072"/>
            </a:avLst>
          </a:prstGeom>
          <a:solidFill>
            <a:srgbClr val="0D1B2A"/>
          </a:solidFill>
          <a:ln w="12700">
            <a:solidFill>
              <a:srgbClr val="0D1B2A"/>
            </a:solidFill>
            <a:prstDash val="solid"/>
          </a:ln>
        </p:spPr>
      </p:sp>
      <p:sp>
        <p:nvSpPr>
          <p:cNvPr id="23" name="Text 21"/>
          <p:cNvSpPr txBox="1"/>
          <p:nvPr/>
        </p:nvSpPr>
        <p:spPr>
          <a:xfrm>
            <a:off x="6693408" y="1801368"/>
            <a:ext cx="4809744" cy="1127760"/>
          </a:xfrm>
          <a:prstGeom prst="rect">
            <a:avLst/>
          </a:prstGeom>
          <a:noFill/>
          <a:ln/>
        </p:spPr>
        <p:txBody>
          <a:bodyPr wrap="square" lIns="0" tIns="0" rIns="0" bIns="0" rtlCol="0" anchor="t"/>
          <a:lstStyle/>
          <a:p>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&lt;label for=</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"sid"</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Student ID</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&lt;/label&gt;</a:t>
            </a:r>
            <a:endParaRPr lang="en-US" sz="1100" dirty="0"/>
          </a:p>
          <a:p>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&lt;input type=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"text"</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id=</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"sid"</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name=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"sid"</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required</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minlength="8" maxlength="10"</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pattern="[A-Z0-9]+"</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placeholder="C251001"&gt;</a:t>
            </a:r>
            <a:endParaRPr lang="en-US" sz="1100" dirty="0"/>
          </a:p>
        </p:txBody>
      </p:sp>
      <p:sp>
        <p:nvSpPr>
          <p:cNvPr id="24" name="Shape 22"/>
          <p:cNvSpPr/>
          <p:nvPr/>
        </p:nvSpPr>
        <p:spPr>
          <a:xfrm>
            <a:off x="6583680" y="3703320"/>
            <a:ext cx="5029200" cy="2240280"/>
          </a:xfrm>
          <a:prstGeom prst="roundRect">
            <a:avLst>
              <a:gd name="adj" fmla="val 3265"/>
            </a:avLst>
          </a:prstGeom>
          <a:solidFill>
            <a:srgbClr val="FBEAE8"/>
          </a:solidFill>
          <a:ln w="12700">
            <a:solidFill>
              <a:srgbClr val="FBEAE8"/>
            </a:solidFill>
            <a:prstDash val="solid"/>
          </a:ln>
          <a:effectLst>
            <a:outerShdw sx="100000" sy="100000" kx="0" ky="0" algn="bl" rotWithShape="0" blurRad="76200" dist="12700" dir="5400000">
              <a:srgbClr val="9AA9B8">
                <a:alpha val="18000"/>
              </a:srgbClr>
            </a:outerShdw>
          </a:effectLst>
        </p:spPr>
      </p:sp>
      <p:sp>
        <p:nvSpPr>
          <p:cNvPr id="25" name="Text 23"/>
          <p:cNvSpPr txBox="1"/>
          <p:nvPr/>
        </p:nvSpPr>
        <p:spPr>
          <a:xfrm>
            <a:off x="6839712" y="3904488"/>
            <a:ext cx="4517136" cy="329184"/>
          </a:xfrm>
          <a:prstGeom prst="rect">
            <a:avLst/>
          </a:prstGeom>
          <a:noFill/>
          <a:ln/>
        </p:spPr>
        <p:txBody>
          <a:bodyPr wrap="square" lIns="0" tIns="0" rIns="0" bIns="0" rtlCol="0" anchor="ctr"/>
          <a:lstStyle/>
          <a:p>
            <a:pPr indent="0" marL="0">
              <a:buNone/>
            </a:pPr>
            <a:r>
              <a:rPr lang="en-US" sz="1700" b="1" dirty="0">
                <a:solidFill>
                  <a:srgbClr val="B3261E"/>
                </a:solidFill>
                <a:latin typeface="Arial" pitchFamily="34" charset="0"/>
                <a:ea typeface="Arial" pitchFamily="34" charset="-122"/>
                <a:cs typeface="Arial" pitchFamily="34" charset="-120"/>
              </a:rPr>
              <a:t>Important warning</a:t>
            </a:r>
            <a:endParaRPr lang="en-US" sz="1700" dirty="0"/>
          </a:p>
        </p:txBody>
      </p:sp>
      <p:sp>
        <p:nvSpPr>
          <p:cNvPr id="26" name="Text 24"/>
          <p:cNvSpPr txBox="1"/>
          <p:nvPr/>
        </p:nvSpPr>
        <p:spPr>
          <a:xfrm>
            <a:off x="6839712" y="4325112"/>
            <a:ext cx="4517136" cy="145389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Browser validation is for convenience only</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A user can bypass it easily</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Real checking must also happen on the server</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That is a later course - but never say a form is "secure" because of required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PATTERN 3</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Tables: Structure</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10</a:t>
            </a:r>
            <a:endParaRPr lang="en-US" sz="900" dirty="0"/>
          </a:p>
        </p:txBody>
      </p:sp>
      <p:sp>
        <p:nvSpPr>
          <p:cNvPr id="6" name="Shape 4"/>
          <p:cNvSpPr/>
          <p:nvPr/>
        </p:nvSpPr>
        <p:spPr>
          <a:xfrm>
            <a:off x="548640" y="1371600"/>
            <a:ext cx="6400800" cy="4760976"/>
          </a:xfrm>
          <a:prstGeom prst="roundRect">
            <a:avLst>
              <a:gd name="adj" fmla="val 1152"/>
            </a:avLst>
          </a:prstGeom>
          <a:solidFill>
            <a:srgbClr val="0D1B2A"/>
          </a:solidFill>
          <a:ln w="12700">
            <a:solidFill>
              <a:srgbClr val="0D1B2A"/>
            </a:solidFill>
            <a:prstDash val="solid"/>
          </a:ln>
        </p:spPr>
      </p:sp>
      <p:sp>
        <p:nvSpPr>
          <p:cNvPr id="7" name="Text 5"/>
          <p:cNvSpPr txBox="1"/>
          <p:nvPr/>
        </p:nvSpPr>
        <p:spPr>
          <a:xfrm>
            <a:off x="658368" y="1481328"/>
            <a:ext cx="6181344" cy="4541520"/>
          </a:xfrm>
          <a:prstGeom prst="rect">
            <a:avLst/>
          </a:prstGeom>
          <a:noFill/>
          <a:ln/>
        </p:spPr>
        <p:txBody>
          <a:bodyPr wrap="square" lIns="0" tIns="0" rIns="0" bIns="0" rtlCol="0" anchor="t"/>
          <a:lstStyle/>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&lt;table&gt;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&lt;caption&gt;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Week 2 class routine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&lt;/caption&gt;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&lt;thead&gt;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&lt;tr&gt;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 scope=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"col"</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Day</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 scope=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"col"</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Time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 scope=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"col"</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Topic</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&lt;/tr&gt;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&lt;/thead&gt;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&lt;tbody&gt;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&lt;tr&gt;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 scope=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"row"</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Saturday</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&lt;td&gt;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08:00 - 08:50</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&lt;/td&gt;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&lt;td&gt;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Navigation, forms, tables</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&lt;/td&gt;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&lt;/tr&gt;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&lt;tr&gt;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 scope=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"row"</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Sunday</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&lt;/th&gt;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&lt;td&gt;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08:00 - 08:50</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&lt;/td&gt;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&lt;td&gt;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Accessibility essentials</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&lt;/td&gt;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&lt;/tr&gt;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&lt;/tbody&gt;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&lt;/table&gt;</a:t>
            </a:r>
            <a:endParaRPr lang="en-US" sz="1150" dirty="0"/>
          </a:p>
        </p:txBody>
      </p:sp>
      <p:sp>
        <p:nvSpPr>
          <p:cNvPr id="8" name="Text 6"/>
          <p:cNvSpPr txBox="1"/>
          <p:nvPr/>
        </p:nvSpPr>
        <p:spPr>
          <a:xfrm>
            <a:off x="7132320" y="1371600"/>
            <a:ext cx="1737360" cy="292608"/>
          </a:xfrm>
          <a:prstGeom prst="rect">
            <a:avLst/>
          </a:prstGeom>
          <a:noFill/>
          <a:ln/>
        </p:spPr>
        <p:txBody>
          <a:bodyPr wrap="square" lIns="0" tIns="0" rIns="0" bIns="0" rtlCol="0" anchor="ctr"/>
          <a:lstStyle/>
          <a:p>
            <a:pPr indent="0" marL="0">
              <a:buNone/>
            </a:pPr>
            <a:r>
              <a:rPr lang="en-US" sz="1200" b="1" dirty="0">
                <a:solidFill>
                  <a:srgbClr val="003366"/>
                </a:solidFill>
                <a:latin typeface="Courier New" pitchFamily="34" charset="0"/>
                <a:ea typeface="Courier New" pitchFamily="34" charset="-122"/>
                <a:cs typeface="Courier New" pitchFamily="34" charset="-120"/>
              </a:rPr>
              <a:t>table</a:t>
            </a:r>
            <a:endParaRPr lang="en-US" sz="1200" dirty="0"/>
          </a:p>
        </p:txBody>
      </p:sp>
      <p:sp>
        <p:nvSpPr>
          <p:cNvPr id="9" name="Text 7"/>
          <p:cNvSpPr txBox="1"/>
          <p:nvPr/>
        </p:nvSpPr>
        <p:spPr>
          <a:xfrm>
            <a:off x="8915400" y="1335024"/>
            <a:ext cx="2697480" cy="59436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The whole table</a:t>
            </a:r>
            <a:endParaRPr lang="en-US" sz="1150" dirty="0"/>
          </a:p>
        </p:txBody>
      </p:sp>
      <p:sp>
        <p:nvSpPr>
          <p:cNvPr id="10" name="Text 8"/>
          <p:cNvSpPr txBox="1"/>
          <p:nvPr/>
        </p:nvSpPr>
        <p:spPr>
          <a:xfrm>
            <a:off x="7132320" y="2039112"/>
            <a:ext cx="1737360" cy="292608"/>
          </a:xfrm>
          <a:prstGeom prst="rect">
            <a:avLst/>
          </a:prstGeom>
          <a:noFill/>
          <a:ln/>
        </p:spPr>
        <p:txBody>
          <a:bodyPr wrap="square" lIns="0" tIns="0" rIns="0" bIns="0" rtlCol="0" anchor="ctr"/>
          <a:lstStyle/>
          <a:p>
            <a:pPr indent="0" marL="0">
              <a:buNone/>
            </a:pPr>
            <a:r>
              <a:rPr lang="en-US" sz="1200" b="1" dirty="0">
                <a:solidFill>
                  <a:srgbClr val="003366"/>
                </a:solidFill>
                <a:latin typeface="Courier New" pitchFamily="34" charset="0"/>
                <a:ea typeface="Courier New" pitchFamily="34" charset="-122"/>
                <a:cs typeface="Courier New" pitchFamily="34" charset="-120"/>
              </a:rPr>
              <a:t>caption</a:t>
            </a:r>
            <a:endParaRPr lang="en-US" sz="1200" dirty="0"/>
          </a:p>
        </p:txBody>
      </p:sp>
      <p:sp>
        <p:nvSpPr>
          <p:cNvPr id="11" name="Text 9"/>
          <p:cNvSpPr txBox="1"/>
          <p:nvPr/>
        </p:nvSpPr>
        <p:spPr>
          <a:xfrm>
            <a:off x="8915400" y="2002536"/>
            <a:ext cx="2697480" cy="59436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Its title. Put it first</a:t>
            </a:r>
            <a:endParaRPr lang="en-US" sz="1150" dirty="0"/>
          </a:p>
        </p:txBody>
      </p:sp>
      <p:sp>
        <p:nvSpPr>
          <p:cNvPr id="12" name="Text 10"/>
          <p:cNvSpPr txBox="1"/>
          <p:nvPr/>
        </p:nvSpPr>
        <p:spPr>
          <a:xfrm>
            <a:off x="7132320" y="2706624"/>
            <a:ext cx="1737360" cy="292608"/>
          </a:xfrm>
          <a:prstGeom prst="rect">
            <a:avLst/>
          </a:prstGeom>
          <a:noFill/>
          <a:ln/>
        </p:spPr>
        <p:txBody>
          <a:bodyPr wrap="square" lIns="0" tIns="0" rIns="0" bIns="0" rtlCol="0" anchor="ctr"/>
          <a:lstStyle/>
          <a:p>
            <a:pPr indent="0" marL="0">
              <a:buNone/>
            </a:pPr>
            <a:r>
              <a:rPr lang="en-US" sz="1200" b="1" dirty="0">
                <a:solidFill>
                  <a:srgbClr val="003366"/>
                </a:solidFill>
                <a:latin typeface="Courier New" pitchFamily="34" charset="0"/>
                <a:ea typeface="Courier New" pitchFamily="34" charset="-122"/>
                <a:cs typeface="Courier New" pitchFamily="34" charset="-120"/>
              </a:rPr>
              <a:t>thead / tbody</a:t>
            </a:r>
            <a:endParaRPr lang="en-US" sz="1200" dirty="0"/>
          </a:p>
        </p:txBody>
      </p:sp>
      <p:sp>
        <p:nvSpPr>
          <p:cNvPr id="13" name="Text 11"/>
          <p:cNvSpPr txBox="1"/>
          <p:nvPr/>
        </p:nvSpPr>
        <p:spPr>
          <a:xfrm>
            <a:off x="8915400" y="2670048"/>
            <a:ext cx="2697480" cy="59436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Header rows / data rows</a:t>
            </a:r>
            <a:endParaRPr lang="en-US" sz="1150" dirty="0"/>
          </a:p>
        </p:txBody>
      </p:sp>
      <p:sp>
        <p:nvSpPr>
          <p:cNvPr id="14" name="Text 12"/>
          <p:cNvSpPr txBox="1"/>
          <p:nvPr/>
        </p:nvSpPr>
        <p:spPr>
          <a:xfrm>
            <a:off x="7132320" y="3374136"/>
            <a:ext cx="1737360" cy="292608"/>
          </a:xfrm>
          <a:prstGeom prst="rect">
            <a:avLst/>
          </a:prstGeom>
          <a:noFill/>
          <a:ln/>
        </p:spPr>
        <p:txBody>
          <a:bodyPr wrap="square" lIns="0" tIns="0" rIns="0" bIns="0" rtlCol="0" anchor="ctr"/>
          <a:lstStyle/>
          <a:p>
            <a:pPr indent="0" marL="0">
              <a:buNone/>
            </a:pPr>
            <a:r>
              <a:rPr lang="en-US" sz="1200" b="1" dirty="0">
                <a:solidFill>
                  <a:srgbClr val="003366"/>
                </a:solidFill>
                <a:latin typeface="Courier New" pitchFamily="34" charset="0"/>
                <a:ea typeface="Courier New" pitchFamily="34" charset="-122"/>
                <a:cs typeface="Courier New" pitchFamily="34" charset="-120"/>
              </a:rPr>
              <a:t>tr</a:t>
            </a:r>
            <a:endParaRPr lang="en-US" sz="1200" dirty="0"/>
          </a:p>
        </p:txBody>
      </p:sp>
      <p:sp>
        <p:nvSpPr>
          <p:cNvPr id="15" name="Text 13"/>
          <p:cNvSpPr txBox="1"/>
          <p:nvPr/>
        </p:nvSpPr>
        <p:spPr>
          <a:xfrm>
            <a:off x="8915400" y="3337560"/>
            <a:ext cx="2697480" cy="59436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One row</a:t>
            </a:r>
            <a:endParaRPr lang="en-US" sz="1150" dirty="0"/>
          </a:p>
        </p:txBody>
      </p:sp>
      <p:sp>
        <p:nvSpPr>
          <p:cNvPr id="16" name="Text 14"/>
          <p:cNvSpPr txBox="1"/>
          <p:nvPr/>
        </p:nvSpPr>
        <p:spPr>
          <a:xfrm>
            <a:off x="7132320" y="4041648"/>
            <a:ext cx="1737360" cy="292608"/>
          </a:xfrm>
          <a:prstGeom prst="rect">
            <a:avLst/>
          </a:prstGeom>
          <a:noFill/>
          <a:ln/>
        </p:spPr>
        <p:txBody>
          <a:bodyPr wrap="square" lIns="0" tIns="0" rIns="0" bIns="0" rtlCol="0" anchor="ctr"/>
          <a:lstStyle/>
          <a:p>
            <a:pPr indent="0" marL="0">
              <a:buNone/>
            </a:pPr>
            <a:r>
              <a:rPr lang="en-US" sz="1200" b="1" dirty="0">
                <a:solidFill>
                  <a:srgbClr val="003366"/>
                </a:solidFill>
                <a:latin typeface="Courier New" pitchFamily="34" charset="0"/>
                <a:ea typeface="Courier New" pitchFamily="34" charset="-122"/>
                <a:cs typeface="Courier New" pitchFamily="34" charset="-120"/>
              </a:rPr>
              <a:t>th</a:t>
            </a:r>
            <a:endParaRPr lang="en-US" sz="1200" dirty="0"/>
          </a:p>
        </p:txBody>
      </p:sp>
      <p:sp>
        <p:nvSpPr>
          <p:cNvPr id="17" name="Text 15"/>
          <p:cNvSpPr txBox="1"/>
          <p:nvPr/>
        </p:nvSpPr>
        <p:spPr>
          <a:xfrm>
            <a:off x="8915400" y="4005072"/>
            <a:ext cx="2697480" cy="59436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A header cell (bold, centred)</a:t>
            </a:r>
            <a:endParaRPr lang="en-US" sz="1150" dirty="0"/>
          </a:p>
        </p:txBody>
      </p:sp>
      <p:sp>
        <p:nvSpPr>
          <p:cNvPr id="18" name="Text 16"/>
          <p:cNvSpPr txBox="1"/>
          <p:nvPr/>
        </p:nvSpPr>
        <p:spPr>
          <a:xfrm>
            <a:off x="7132320" y="4709160"/>
            <a:ext cx="1737360" cy="292608"/>
          </a:xfrm>
          <a:prstGeom prst="rect">
            <a:avLst/>
          </a:prstGeom>
          <a:noFill/>
          <a:ln/>
        </p:spPr>
        <p:txBody>
          <a:bodyPr wrap="square" lIns="0" tIns="0" rIns="0" bIns="0" rtlCol="0" anchor="ctr"/>
          <a:lstStyle/>
          <a:p>
            <a:pPr indent="0" marL="0">
              <a:buNone/>
            </a:pPr>
            <a:r>
              <a:rPr lang="en-US" sz="1200" b="1" dirty="0">
                <a:solidFill>
                  <a:srgbClr val="003366"/>
                </a:solidFill>
                <a:latin typeface="Courier New" pitchFamily="34" charset="0"/>
                <a:ea typeface="Courier New" pitchFamily="34" charset="-122"/>
                <a:cs typeface="Courier New" pitchFamily="34" charset="-120"/>
              </a:rPr>
              <a:t>td</a:t>
            </a:r>
            <a:endParaRPr lang="en-US" sz="1200" dirty="0"/>
          </a:p>
        </p:txBody>
      </p:sp>
      <p:sp>
        <p:nvSpPr>
          <p:cNvPr id="19" name="Text 17"/>
          <p:cNvSpPr txBox="1"/>
          <p:nvPr/>
        </p:nvSpPr>
        <p:spPr>
          <a:xfrm>
            <a:off x="8915400" y="4672584"/>
            <a:ext cx="2697480" cy="59436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A normal data cell</a:t>
            </a:r>
            <a:endParaRPr lang="en-US" sz="1150" dirty="0"/>
          </a:p>
        </p:txBody>
      </p:sp>
      <p:sp>
        <p:nvSpPr>
          <p:cNvPr id="20" name="Text 18"/>
          <p:cNvSpPr txBox="1"/>
          <p:nvPr/>
        </p:nvSpPr>
        <p:spPr>
          <a:xfrm>
            <a:off x="7132320" y="5376672"/>
            <a:ext cx="1737360" cy="292608"/>
          </a:xfrm>
          <a:prstGeom prst="rect">
            <a:avLst/>
          </a:prstGeom>
          <a:noFill/>
          <a:ln/>
        </p:spPr>
        <p:txBody>
          <a:bodyPr wrap="square" lIns="0" tIns="0" rIns="0" bIns="0" rtlCol="0" anchor="ctr"/>
          <a:lstStyle/>
          <a:p>
            <a:pPr indent="0" marL="0">
              <a:buNone/>
            </a:pPr>
            <a:r>
              <a:rPr lang="en-US" sz="1200" b="1" dirty="0">
                <a:solidFill>
                  <a:srgbClr val="003366"/>
                </a:solidFill>
                <a:latin typeface="Courier New" pitchFamily="34" charset="0"/>
                <a:ea typeface="Courier New" pitchFamily="34" charset="-122"/>
                <a:cs typeface="Courier New" pitchFamily="34" charset="-120"/>
              </a:rPr>
              <a:t>scope</a:t>
            </a:r>
            <a:endParaRPr lang="en-US" sz="1200" dirty="0"/>
          </a:p>
        </p:txBody>
      </p:sp>
      <p:sp>
        <p:nvSpPr>
          <p:cNvPr id="21" name="Text 19"/>
          <p:cNvSpPr txBox="1"/>
          <p:nvPr/>
        </p:nvSpPr>
        <p:spPr>
          <a:xfrm>
            <a:off x="8915400" y="5340096"/>
            <a:ext cx="2697480" cy="594360"/>
          </a:xfrm>
          <a:prstGeom prst="rect">
            <a:avLst/>
          </a:prstGeom>
          <a:noFill/>
          <a:ln/>
        </p:spPr>
        <p:txBody>
          <a:bodyPr wrap="square" lIns="0" tIns="0" rIns="0" bIns="0" rtlCol="0" anchor="ctr"/>
          <a:lstStyle/>
          <a:p>
            <a:pPr indent="0" marL="0">
              <a:buNone/>
            </a:pPr>
            <a:r>
              <a:rPr lang="en-US" sz="1150" dirty="0">
                <a:solidFill>
                  <a:srgbClr val="3D4A57"/>
                </a:solidFill>
                <a:latin typeface="Arial" pitchFamily="34" charset="0"/>
                <a:ea typeface="Arial" pitchFamily="34" charset="-122"/>
                <a:cs typeface="Arial" pitchFamily="34" charset="-120"/>
              </a:rPr>
              <a:t>Says whether a th describes a column or a row</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PATTERN 3</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Tables: Output and Limits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11</a:t>
            </a:r>
            <a:endParaRPr lang="en-US" sz="900" dirty="0"/>
          </a:p>
        </p:txBody>
      </p:sp>
      <p:sp>
        <p:nvSpPr>
          <p:cNvPr id="6" name="Shape 4"/>
          <p:cNvSpPr/>
          <p:nvPr/>
        </p:nvSpPr>
        <p:spPr>
          <a:xfrm>
            <a:off x="548640" y="1371600"/>
            <a:ext cx="6035040" cy="2286000"/>
          </a:xfrm>
          <a:prstGeom prst="roundRect">
            <a:avLst>
              <a:gd name="adj" fmla="val 2400"/>
            </a:avLst>
          </a:prstGeom>
          <a:solidFill>
            <a:srgbClr val="FFFFFF"/>
          </a:solidFill>
          <a:ln w="12700">
            <a:solidFill>
              <a:srgbClr val="D6DEE6"/>
            </a:solidFill>
            <a:prstDash val="solid"/>
          </a:ln>
          <a:effectLst>
            <a:outerShdw sx="100000" sy="100000" kx="0" ky="0" algn="bl" rotWithShape="0" blurRad="76200" dist="12700" dir="5400000">
              <a:srgbClr val="9AA9B8">
                <a:alpha val="20000"/>
              </a:srgbClr>
            </a:outerShdw>
          </a:effectLst>
        </p:spPr>
      </p:sp>
      <p:sp>
        <p:nvSpPr>
          <p:cNvPr id="7" name="Shape 5"/>
          <p:cNvSpPr/>
          <p:nvPr/>
        </p:nvSpPr>
        <p:spPr>
          <a:xfrm>
            <a:off x="548640" y="1371600"/>
            <a:ext cx="6035040" cy="292608"/>
          </a:xfrm>
          <a:prstGeom prst="rect">
            <a:avLst/>
          </a:prstGeom>
          <a:solidFill>
            <a:srgbClr val="E8EEF4"/>
          </a:solidFill>
          <a:ln w="12700">
            <a:solidFill>
              <a:srgbClr val="D6DEE6"/>
            </a:solidFill>
            <a:prstDash val="solid"/>
          </a:ln>
        </p:spPr>
      </p:sp>
      <p:sp>
        <p:nvSpPr>
          <p:cNvPr id="8" name="Shape 6"/>
          <p:cNvSpPr/>
          <p:nvPr/>
        </p:nvSpPr>
        <p:spPr>
          <a:xfrm>
            <a:off x="676656" y="1463040"/>
            <a:ext cx="109728" cy="109728"/>
          </a:xfrm>
          <a:prstGeom prst="ellipse">
            <a:avLst/>
          </a:prstGeom>
          <a:solidFill>
            <a:srgbClr val="E06C5E"/>
          </a:solidFill>
          <a:ln w="12700">
            <a:solidFill>
              <a:srgbClr val="E06C5E"/>
            </a:solidFill>
            <a:prstDash val="solid"/>
          </a:ln>
        </p:spPr>
      </p:sp>
      <p:sp>
        <p:nvSpPr>
          <p:cNvPr id="9" name="Shape 7"/>
          <p:cNvSpPr/>
          <p:nvPr/>
        </p:nvSpPr>
        <p:spPr>
          <a:xfrm>
            <a:off x="859536" y="1463040"/>
            <a:ext cx="109728" cy="109728"/>
          </a:xfrm>
          <a:prstGeom prst="ellipse">
            <a:avLst/>
          </a:prstGeom>
          <a:solidFill>
            <a:srgbClr val="E3B341"/>
          </a:solidFill>
          <a:ln w="12700">
            <a:solidFill>
              <a:srgbClr val="E3B341"/>
            </a:solidFill>
            <a:prstDash val="solid"/>
          </a:ln>
        </p:spPr>
      </p:sp>
      <p:sp>
        <p:nvSpPr>
          <p:cNvPr id="10" name="Shape 8"/>
          <p:cNvSpPr/>
          <p:nvPr/>
        </p:nvSpPr>
        <p:spPr>
          <a:xfrm>
            <a:off x="1042416" y="1463040"/>
            <a:ext cx="109728" cy="109728"/>
          </a:xfrm>
          <a:prstGeom prst="ellipse">
            <a:avLst/>
          </a:prstGeom>
          <a:solidFill>
            <a:srgbClr val="5FB878"/>
          </a:solidFill>
          <a:ln w="12700">
            <a:solidFill>
              <a:srgbClr val="5FB878"/>
            </a:solidFill>
            <a:prstDash val="solid"/>
          </a:ln>
        </p:spPr>
      </p:sp>
      <p:sp>
        <p:nvSpPr>
          <p:cNvPr id="11" name="Text 9"/>
          <p:cNvSpPr txBox="1"/>
          <p:nvPr/>
        </p:nvSpPr>
        <p:spPr>
          <a:xfrm>
            <a:off x="1325880" y="1399032"/>
            <a:ext cx="5120640" cy="237744"/>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routine.html</a:t>
            </a:r>
            <a:endParaRPr lang="en-US" sz="900" dirty="0"/>
          </a:p>
        </p:txBody>
      </p:sp>
      <p:sp>
        <p:nvSpPr>
          <p:cNvPr id="12" name="Text 10"/>
          <p:cNvSpPr txBox="1"/>
          <p:nvPr/>
        </p:nvSpPr>
        <p:spPr>
          <a:xfrm>
            <a:off x="777240" y="1783080"/>
            <a:ext cx="4572000" cy="274320"/>
          </a:xfrm>
          <a:prstGeom prst="rect">
            <a:avLst/>
          </a:prstGeom>
          <a:noFill/>
          <a:ln/>
        </p:spPr>
        <p:txBody>
          <a:bodyPr wrap="square" lIns="0" tIns="0" rIns="0" bIns="0" rtlCol="0" anchor="ctr"/>
          <a:lstStyle/>
          <a:p>
            <a:pPr indent="0" marL="0">
              <a:buNone/>
            </a:pPr>
            <a:r>
              <a:rPr lang="en-US" sz="1200" i="1" dirty="0">
                <a:solidFill>
                  <a:srgbClr val="3D4A57"/>
                </a:solidFill>
                <a:latin typeface="Arial" pitchFamily="34" charset="0"/>
                <a:ea typeface="Arial" pitchFamily="34" charset="-122"/>
                <a:cs typeface="Arial" pitchFamily="34" charset="-120"/>
              </a:rPr>
              <a:t>Week 2 class routine</a:t>
            </a:r>
            <a:endParaRPr lang="en-US" sz="1200" dirty="0"/>
          </a:p>
        </p:txBody>
      </p:sp>
      <p:sp>
        <p:nvSpPr>
          <p:cNvPr id="13" name="Shape 11"/>
          <p:cNvSpPr/>
          <p:nvPr/>
        </p:nvSpPr>
        <p:spPr>
          <a:xfrm>
            <a:off x="777240" y="2103120"/>
            <a:ext cx="5303520" cy="384048"/>
          </a:xfrm>
          <a:prstGeom prst="rect">
            <a:avLst/>
          </a:prstGeom>
          <a:solidFill>
            <a:srgbClr val="E8EEF4"/>
          </a:solidFill>
          <a:ln w="12700">
            <a:solidFill>
              <a:srgbClr val="D6DEE6"/>
            </a:solidFill>
            <a:prstDash val="solid"/>
          </a:ln>
        </p:spPr>
      </p:sp>
      <p:sp>
        <p:nvSpPr>
          <p:cNvPr id="14" name="Text 12"/>
          <p:cNvSpPr txBox="1"/>
          <p:nvPr/>
        </p:nvSpPr>
        <p:spPr>
          <a:xfrm>
            <a:off x="868680" y="2103120"/>
            <a:ext cx="1828800" cy="384048"/>
          </a:xfrm>
          <a:prstGeom prst="rect">
            <a:avLst/>
          </a:prstGeom>
          <a:noFill/>
          <a:ln/>
        </p:spPr>
        <p:txBody>
          <a:bodyPr wrap="square" lIns="0" tIns="0" rIns="0" bIns="0" rtlCol="0" anchor="ctr"/>
          <a:lstStyle/>
          <a:p>
            <a:pPr indent="0" marL="0">
              <a:buNone/>
            </a:pPr>
            <a:r>
              <a:rPr lang="en-US" sz="1050" b="1" dirty="0">
                <a:solidFill>
                  <a:srgbClr val="1A2733"/>
                </a:solidFill>
                <a:latin typeface="Arial" pitchFamily="34" charset="0"/>
                <a:ea typeface="Arial" pitchFamily="34" charset="-122"/>
                <a:cs typeface="Arial" pitchFamily="34" charset="-120"/>
              </a:rPr>
              <a:t>Day</a:t>
            </a:r>
            <a:endParaRPr lang="en-US" sz="1050" dirty="0"/>
          </a:p>
        </p:txBody>
      </p:sp>
      <p:sp>
        <p:nvSpPr>
          <p:cNvPr id="15" name="Text 13"/>
          <p:cNvSpPr txBox="1"/>
          <p:nvPr/>
        </p:nvSpPr>
        <p:spPr>
          <a:xfrm>
            <a:off x="2468880" y="2103120"/>
            <a:ext cx="1828800" cy="384048"/>
          </a:xfrm>
          <a:prstGeom prst="rect">
            <a:avLst/>
          </a:prstGeom>
          <a:noFill/>
          <a:ln/>
        </p:spPr>
        <p:txBody>
          <a:bodyPr wrap="square" lIns="0" tIns="0" rIns="0" bIns="0" rtlCol="0" anchor="ctr"/>
          <a:lstStyle/>
          <a:p>
            <a:pPr indent="0" marL="0">
              <a:buNone/>
            </a:pPr>
            <a:r>
              <a:rPr lang="en-US" sz="1050" b="1" dirty="0">
                <a:solidFill>
                  <a:srgbClr val="1A2733"/>
                </a:solidFill>
                <a:latin typeface="Arial" pitchFamily="34" charset="0"/>
                <a:ea typeface="Arial" pitchFamily="34" charset="-122"/>
                <a:cs typeface="Arial" pitchFamily="34" charset="-120"/>
              </a:rPr>
              <a:t>Time</a:t>
            </a:r>
            <a:endParaRPr lang="en-US" sz="1050" dirty="0"/>
          </a:p>
        </p:txBody>
      </p:sp>
      <p:sp>
        <p:nvSpPr>
          <p:cNvPr id="16" name="Text 14"/>
          <p:cNvSpPr txBox="1"/>
          <p:nvPr/>
        </p:nvSpPr>
        <p:spPr>
          <a:xfrm>
            <a:off x="4069080" y="2103120"/>
            <a:ext cx="1828800" cy="384048"/>
          </a:xfrm>
          <a:prstGeom prst="rect">
            <a:avLst/>
          </a:prstGeom>
          <a:noFill/>
          <a:ln/>
        </p:spPr>
        <p:txBody>
          <a:bodyPr wrap="square" lIns="0" tIns="0" rIns="0" bIns="0" rtlCol="0" anchor="ctr"/>
          <a:lstStyle/>
          <a:p>
            <a:pPr indent="0" marL="0">
              <a:buNone/>
            </a:pPr>
            <a:r>
              <a:rPr lang="en-US" sz="1050" b="1" dirty="0">
                <a:solidFill>
                  <a:srgbClr val="1A2733"/>
                </a:solidFill>
                <a:latin typeface="Arial" pitchFamily="34" charset="0"/>
                <a:ea typeface="Arial" pitchFamily="34" charset="-122"/>
                <a:cs typeface="Arial" pitchFamily="34" charset="-120"/>
              </a:rPr>
              <a:t>Topic</a:t>
            </a:r>
            <a:endParaRPr lang="en-US" sz="1050" dirty="0"/>
          </a:p>
        </p:txBody>
      </p:sp>
      <p:sp>
        <p:nvSpPr>
          <p:cNvPr id="17" name="Shape 15"/>
          <p:cNvSpPr/>
          <p:nvPr/>
        </p:nvSpPr>
        <p:spPr>
          <a:xfrm>
            <a:off x="777240" y="2487168"/>
            <a:ext cx="5303520" cy="384048"/>
          </a:xfrm>
          <a:prstGeom prst="rect">
            <a:avLst/>
          </a:prstGeom>
          <a:solidFill>
            <a:srgbClr val="FFFFFF"/>
          </a:solidFill>
          <a:ln w="12700">
            <a:solidFill>
              <a:srgbClr val="D6DEE6"/>
            </a:solidFill>
            <a:prstDash val="solid"/>
          </a:ln>
        </p:spPr>
      </p:sp>
      <p:sp>
        <p:nvSpPr>
          <p:cNvPr id="18" name="Text 16"/>
          <p:cNvSpPr txBox="1"/>
          <p:nvPr/>
        </p:nvSpPr>
        <p:spPr>
          <a:xfrm>
            <a:off x="868680" y="2487168"/>
            <a:ext cx="1828800" cy="384048"/>
          </a:xfrm>
          <a:prstGeom prst="rect">
            <a:avLst/>
          </a:prstGeom>
          <a:noFill/>
          <a:ln/>
        </p:spPr>
        <p:txBody>
          <a:bodyPr wrap="square" lIns="0" tIns="0" rIns="0" bIns="0" rtlCol="0" anchor="ctr"/>
          <a:lstStyle/>
          <a:p>
            <a:pPr indent="0" marL="0">
              <a:buNone/>
            </a:pPr>
            <a:r>
              <a:rPr lang="en-US" sz="1050" b="1" dirty="0">
                <a:solidFill>
                  <a:srgbClr val="1A2733"/>
                </a:solidFill>
                <a:latin typeface="Arial" pitchFamily="34" charset="0"/>
                <a:ea typeface="Arial" pitchFamily="34" charset="-122"/>
                <a:cs typeface="Arial" pitchFamily="34" charset="-120"/>
              </a:rPr>
              <a:t>Saturday</a:t>
            </a:r>
            <a:endParaRPr lang="en-US" sz="1050" dirty="0"/>
          </a:p>
        </p:txBody>
      </p:sp>
      <p:sp>
        <p:nvSpPr>
          <p:cNvPr id="19" name="Text 17"/>
          <p:cNvSpPr txBox="1"/>
          <p:nvPr/>
        </p:nvSpPr>
        <p:spPr>
          <a:xfrm>
            <a:off x="2468880" y="2487168"/>
            <a:ext cx="1828800" cy="384048"/>
          </a:xfrm>
          <a:prstGeom prst="rect">
            <a:avLst/>
          </a:prstGeom>
          <a:noFill/>
          <a:ln/>
        </p:spPr>
        <p:txBody>
          <a:bodyPr wrap="square" lIns="0" tIns="0" rIns="0" bIns="0" rtlCol="0" anchor="ctr"/>
          <a:lstStyle/>
          <a:p>
            <a:pPr indent="0" marL="0">
              <a:buNone/>
            </a:pPr>
            <a:r>
              <a:rPr lang="en-US" sz="1050" dirty="0">
                <a:solidFill>
                  <a:srgbClr val="1A2733"/>
                </a:solidFill>
                <a:latin typeface="Arial" pitchFamily="34" charset="0"/>
                <a:ea typeface="Arial" pitchFamily="34" charset="-122"/>
                <a:cs typeface="Arial" pitchFamily="34" charset="-120"/>
              </a:rPr>
              <a:t>08:00 - 08:50</a:t>
            </a:r>
            <a:endParaRPr lang="en-US" sz="1050" dirty="0"/>
          </a:p>
        </p:txBody>
      </p:sp>
      <p:sp>
        <p:nvSpPr>
          <p:cNvPr id="20" name="Text 18"/>
          <p:cNvSpPr txBox="1"/>
          <p:nvPr/>
        </p:nvSpPr>
        <p:spPr>
          <a:xfrm>
            <a:off x="4069080" y="2487168"/>
            <a:ext cx="1828800" cy="384048"/>
          </a:xfrm>
          <a:prstGeom prst="rect">
            <a:avLst/>
          </a:prstGeom>
          <a:noFill/>
          <a:ln/>
        </p:spPr>
        <p:txBody>
          <a:bodyPr wrap="square" lIns="0" tIns="0" rIns="0" bIns="0" rtlCol="0" anchor="ctr"/>
          <a:lstStyle/>
          <a:p>
            <a:pPr indent="0" marL="0">
              <a:buNone/>
            </a:pPr>
            <a:r>
              <a:rPr lang="en-US" sz="1050" dirty="0">
                <a:solidFill>
                  <a:srgbClr val="1A2733"/>
                </a:solidFill>
                <a:latin typeface="Arial" pitchFamily="34" charset="0"/>
                <a:ea typeface="Arial" pitchFamily="34" charset="-122"/>
                <a:cs typeface="Arial" pitchFamily="34" charset="-120"/>
              </a:rPr>
              <a:t>Navigation, forms, tables</a:t>
            </a:r>
            <a:endParaRPr lang="en-US" sz="1050" dirty="0"/>
          </a:p>
        </p:txBody>
      </p:sp>
      <p:sp>
        <p:nvSpPr>
          <p:cNvPr id="21" name="Shape 19"/>
          <p:cNvSpPr/>
          <p:nvPr/>
        </p:nvSpPr>
        <p:spPr>
          <a:xfrm>
            <a:off x="777240" y="2871216"/>
            <a:ext cx="5303520" cy="384048"/>
          </a:xfrm>
          <a:prstGeom prst="rect">
            <a:avLst/>
          </a:prstGeom>
          <a:solidFill>
            <a:srgbClr val="FFFFFF"/>
          </a:solidFill>
          <a:ln w="12700">
            <a:solidFill>
              <a:srgbClr val="D6DEE6"/>
            </a:solidFill>
            <a:prstDash val="solid"/>
          </a:ln>
        </p:spPr>
      </p:sp>
      <p:sp>
        <p:nvSpPr>
          <p:cNvPr id="22" name="Text 20"/>
          <p:cNvSpPr txBox="1"/>
          <p:nvPr/>
        </p:nvSpPr>
        <p:spPr>
          <a:xfrm>
            <a:off x="868680" y="2871216"/>
            <a:ext cx="1828800" cy="384048"/>
          </a:xfrm>
          <a:prstGeom prst="rect">
            <a:avLst/>
          </a:prstGeom>
          <a:noFill/>
          <a:ln/>
        </p:spPr>
        <p:txBody>
          <a:bodyPr wrap="square" lIns="0" tIns="0" rIns="0" bIns="0" rtlCol="0" anchor="ctr"/>
          <a:lstStyle/>
          <a:p>
            <a:pPr indent="0" marL="0">
              <a:buNone/>
            </a:pPr>
            <a:r>
              <a:rPr lang="en-US" sz="1050" b="1" dirty="0">
                <a:solidFill>
                  <a:srgbClr val="1A2733"/>
                </a:solidFill>
                <a:latin typeface="Arial" pitchFamily="34" charset="0"/>
                <a:ea typeface="Arial" pitchFamily="34" charset="-122"/>
                <a:cs typeface="Arial" pitchFamily="34" charset="-120"/>
              </a:rPr>
              <a:t>Sunday</a:t>
            </a:r>
            <a:endParaRPr lang="en-US" sz="1050" dirty="0"/>
          </a:p>
        </p:txBody>
      </p:sp>
      <p:sp>
        <p:nvSpPr>
          <p:cNvPr id="23" name="Text 21"/>
          <p:cNvSpPr txBox="1"/>
          <p:nvPr/>
        </p:nvSpPr>
        <p:spPr>
          <a:xfrm>
            <a:off x="2468880" y="2871216"/>
            <a:ext cx="1828800" cy="384048"/>
          </a:xfrm>
          <a:prstGeom prst="rect">
            <a:avLst/>
          </a:prstGeom>
          <a:noFill/>
          <a:ln/>
        </p:spPr>
        <p:txBody>
          <a:bodyPr wrap="square" lIns="0" tIns="0" rIns="0" bIns="0" rtlCol="0" anchor="ctr"/>
          <a:lstStyle/>
          <a:p>
            <a:pPr indent="0" marL="0">
              <a:buNone/>
            </a:pPr>
            <a:r>
              <a:rPr lang="en-US" sz="1050" dirty="0">
                <a:solidFill>
                  <a:srgbClr val="1A2733"/>
                </a:solidFill>
                <a:latin typeface="Arial" pitchFamily="34" charset="0"/>
                <a:ea typeface="Arial" pitchFamily="34" charset="-122"/>
                <a:cs typeface="Arial" pitchFamily="34" charset="-120"/>
              </a:rPr>
              <a:t>08:00 - 08:50</a:t>
            </a:r>
            <a:endParaRPr lang="en-US" sz="1050" dirty="0"/>
          </a:p>
        </p:txBody>
      </p:sp>
      <p:sp>
        <p:nvSpPr>
          <p:cNvPr id="24" name="Text 22"/>
          <p:cNvSpPr txBox="1"/>
          <p:nvPr/>
        </p:nvSpPr>
        <p:spPr>
          <a:xfrm>
            <a:off x="4069080" y="2871216"/>
            <a:ext cx="1828800" cy="384048"/>
          </a:xfrm>
          <a:prstGeom prst="rect">
            <a:avLst/>
          </a:prstGeom>
          <a:noFill/>
          <a:ln/>
        </p:spPr>
        <p:txBody>
          <a:bodyPr wrap="square" lIns="0" tIns="0" rIns="0" bIns="0" rtlCol="0" anchor="ctr"/>
          <a:lstStyle/>
          <a:p>
            <a:pPr indent="0" marL="0">
              <a:buNone/>
            </a:pPr>
            <a:r>
              <a:rPr lang="en-US" sz="1050" dirty="0">
                <a:solidFill>
                  <a:srgbClr val="1A2733"/>
                </a:solidFill>
                <a:latin typeface="Arial" pitchFamily="34" charset="0"/>
                <a:ea typeface="Arial" pitchFamily="34" charset="-122"/>
                <a:cs typeface="Arial" pitchFamily="34" charset="-120"/>
              </a:rPr>
              <a:t>Accessibility essentials</a:t>
            </a:r>
            <a:endParaRPr lang="en-US" sz="1050" dirty="0"/>
          </a:p>
        </p:txBody>
      </p:sp>
      <p:sp>
        <p:nvSpPr>
          <p:cNvPr id="25" name="Shape 23"/>
          <p:cNvSpPr/>
          <p:nvPr/>
        </p:nvSpPr>
        <p:spPr>
          <a:xfrm>
            <a:off x="6766560" y="1371600"/>
            <a:ext cx="4846320" cy="2286000"/>
          </a:xfrm>
          <a:prstGeom prst="roundRect">
            <a:avLst>
              <a:gd name="adj" fmla="val 3200"/>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26" name="Shape 24"/>
          <p:cNvSpPr/>
          <p:nvPr/>
        </p:nvSpPr>
        <p:spPr>
          <a:xfrm>
            <a:off x="6967728" y="1572768"/>
            <a:ext cx="384048" cy="384048"/>
          </a:xfrm>
          <a:prstGeom prst="ellipse">
            <a:avLst/>
          </a:prstGeom>
          <a:solidFill>
            <a:srgbClr val="1F7A55"/>
          </a:solidFill>
          <a:ln w="12700">
            <a:solidFill>
              <a:srgbClr val="1F7A55"/>
            </a:solidFill>
            <a:prstDash val="solid"/>
          </a:ln>
        </p:spPr>
      </p:sp>
      <p:sp>
        <p:nvSpPr>
          <p:cNvPr id="27" name="Text 25"/>
          <p:cNvSpPr txBox="1"/>
          <p:nvPr/>
        </p:nvSpPr>
        <p:spPr>
          <a:xfrm>
            <a:off x="696772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8" name="Text 26"/>
          <p:cNvSpPr txBox="1"/>
          <p:nvPr/>
        </p:nvSpPr>
        <p:spPr>
          <a:xfrm>
            <a:off x="7479792" y="1600200"/>
            <a:ext cx="39319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Use a table for</a:t>
            </a:r>
            <a:endParaRPr lang="en-US" sz="1700" dirty="0"/>
          </a:p>
        </p:txBody>
      </p:sp>
      <p:sp>
        <p:nvSpPr>
          <p:cNvPr id="29" name="Text 27"/>
          <p:cNvSpPr txBox="1"/>
          <p:nvPr/>
        </p:nvSpPr>
        <p:spPr>
          <a:xfrm>
            <a:off x="7022592" y="1993392"/>
            <a:ext cx="4334256" cy="1499616"/>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A class routine</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Marks or results</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A price list</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Anything with rows AND columns</a:t>
            </a:r>
            <a:endParaRPr lang="en-US" sz="1350" dirty="0"/>
          </a:p>
        </p:txBody>
      </p:sp>
      <p:sp>
        <p:nvSpPr>
          <p:cNvPr id="30" name="Shape 28"/>
          <p:cNvSpPr/>
          <p:nvPr/>
        </p:nvSpPr>
        <p:spPr>
          <a:xfrm>
            <a:off x="548640" y="3886200"/>
            <a:ext cx="6035040" cy="2057400"/>
          </a:xfrm>
          <a:prstGeom prst="roundRect">
            <a:avLst>
              <a:gd name="adj" fmla="val 3556"/>
            </a:avLst>
          </a:prstGeom>
          <a:solidFill>
            <a:srgbClr val="FBEAE8"/>
          </a:solidFill>
          <a:ln w="12700">
            <a:solidFill>
              <a:srgbClr val="FBEAE8"/>
            </a:solidFill>
            <a:prstDash val="solid"/>
          </a:ln>
          <a:effectLst>
            <a:outerShdw sx="100000" sy="100000" kx="0" ky="0" algn="bl" rotWithShape="0" blurRad="76200" dist="12700" dir="5400000">
              <a:srgbClr val="9AA9B8">
                <a:alpha val="18000"/>
              </a:srgbClr>
            </a:outerShdw>
          </a:effectLst>
        </p:spPr>
      </p:sp>
      <p:sp>
        <p:nvSpPr>
          <p:cNvPr id="31" name="Text 29"/>
          <p:cNvSpPr txBox="1"/>
          <p:nvPr/>
        </p:nvSpPr>
        <p:spPr>
          <a:xfrm>
            <a:off x="804672" y="4087368"/>
            <a:ext cx="5522976" cy="329184"/>
          </a:xfrm>
          <a:prstGeom prst="rect">
            <a:avLst/>
          </a:prstGeom>
          <a:noFill/>
          <a:ln/>
        </p:spPr>
        <p:txBody>
          <a:bodyPr wrap="square" lIns="0" tIns="0" rIns="0" bIns="0" rtlCol="0" anchor="ctr"/>
          <a:lstStyle/>
          <a:p>
            <a:pPr indent="0" marL="0">
              <a:buNone/>
            </a:pPr>
            <a:r>
              <a:rPr lang="en-US" sz="1700" b="1" dirty="0">
                <a:solidFill>
                  <a:srgbClr val="B3261E"/>
                </a:solidFill>
                <a:latin typeface="Arial" pitchFamily="34" charset="0"/>
                <a:ea typeface="Arial" pitchFamily="34" charset="-122"/>
                <a:cs typeface="Arial" pitchFamily="34" charset="-120"/>
              </a:rPr>
              <a:t>Never use a table for</a:t>
            </a:r>
            <a:endParaRPr lang="en-US" sz="1700" dirty="0"/>
          </a:p>
        </p:txBody>
      </p:sp>
      <p:sp>
        <p:nvSpPr>
          <p:cNvPr id="32" name="Text 30"/>
          <p:cNvSpPr txBox="1"/>
          <p:nvPr/>
        </p:nvSpPr>
        <p:spPr>
          <a:xfrm>
            <a:off x="804672" y="4507992"/>
            <a:ext cx="5522976" cy="1271016"/>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Page layout - that is what CSS Grid is for (Week 3)</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A list of items with no columns - use ul</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Making text line up nicely</a:t>
            </a:r>
            <a:endParaRPr lang="en-US" sz="1350" dirty="0"/>
          </a:p>
        </p:txBody>
      </p:sp>
      <p:sp>
        <p:nvSpPr>
          <p:cNvPr id="33" name="Shape 31"/>
          <p:cNvSpPr/>
          <p:nvPr/>
        </p:nvSpPr>
        <p:spPr>
          <a:xfrm>
            <a:off x="6766560" y="3886200"/>
            <a:ext cx="4846320" cy="2057400"/>
          </a:xfrm>
          <a:prstGeom prst="roundRect">
            <a:avLst>
              <a:gd name="adj" fmla="val 3556"/>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34" name="Text 32"/>
          <p:cNvSpPr txBox="1"/>
          <p:nvPr/>
        </p:nvSpPr>
        <p:spPr>
          <a:xfrm>
            <a:off x="7022592" y="4087368"/>
            <a:ext cx="433425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The test question</a:t>
            </a:r>
            <a:endParaRPr lang="en-US" sz="1700" dirty="0"/>
          </a:p>
        </p:txBody>
      </p:sp>
      <p:sp>
        <p:nvSpPr>
          <p:cNvPr id="35" name="Text 33"/>
          <p:cNvSpPr txBox="1"/>
          <p:nvPr/>
        </p:nvSpPr>
        <p:spPr>
          <a:xfrm>
            <a:off x="7022592" y="4507992"/>
            <a:ext cx="4334256" cy="127101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Ask: does my data have a meaning across a row AND down a column?</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Yes → table</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No → it is not tabular data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10241280" y="4480560"/>
            <a:ext cx="2743200" cy="2743200"/>
          </a:xfrm>
          <a:prstGeom prst="ellipse">
            <a:avLst/>
          </a:prstGeom>
          <a:solidFill>
            <a:srgbClr val="07386A"/>
          </a:solidFill>
          <a:ln w="12700">
            <a:solidFill>
              <a:srgbClr val="07386A"/>
            </a:solidFill>
            <a:prstDash val="solid"/>
          </a:ln>
        </p:spPr>
      </p:sp>
      <p:sp>
        <p:nvSpPr>
          <p:cNvPr id="3" name="Text 1"/>
          <p:cNvSpPr txBox="1"/>
          <p:nvPr/>
        </p:nvSpPr>
        <p:spPr>
          <a:xfrm>
            <a:off x="548640" y="2057400"/>
            <a:ext cx="1828800" cy="822960"/>
          </a:xfrm>
          <a:prstGeom prst="rect">
            <a:avLst/>
          </a:prstGeom>
          <a:noFill/>
          <a:ln/>
        </p:spPr>
        <p:txBody>
          <a:bodyPr wrap="square" lIns="0" tIns="0" rIns="0" bIns="0" rtlCol="0" anchor="ctr"/>
          <a:lstStyle/>
          <a:p>
            <a:pPr indent="0" marL="0">
              <a:buNone/>
            </a:pPr>
            <a:r>
              <a:rPr lang="en-US" sz="6400" b="1" dirty="0">
                <a:solidFill>
                  <a:srgbClr val="E39A18"/>
                </a:solidFill>
                <a:latin typeface="Arial" pitchFamily="34" charset="0"/>
                <a:ea typeface="Arial" pitchFamily="34" charset="-122"/>
                <a:cs typeface="Arial" pitchFamily="34" charset="-120"/>
              </a:rPr>
              <a:t>01</a:t>
            </a:r>
            <a:endParaRPr lang="en-US" sz="6400" dirty="0"/>
          </a:p>
        </p:txBody>
      </p:sp>
      <p:sp>
        <p:nvSpPr>
          <p:cNvPr id="4" name="Text 2"/>
          <p:cNvSpPr txBox="1"/>
          <p:nvPr/>
        </p:nvSpPr>
        <p:spPr>
          <a:xfrm>
            <a:off x="548640" y="2971800"/>
            <a:ext cx="1005840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Live Build: Student Registration Page</a:t>
            </a:r>
            <a:endParaRPr lang="en-US" sz="3800" dirty="0"/>
          </a:p>
        </p:txBody>
      </p:sp>
      <p:sp>
        <p:nvSpPr>
          <p:cNvPr id="5" name="Text 3"/>
          <p:cNvSpPr txBox="1"/>
          <p:nvPr/>
        </p:nvSpPr>
        <p:spPr>
          <a:xfrm>
            <a:off x="548640" y="3749040"/>
            <a:ext cx="9601200" cy="457200"/>
          </a:xfrm>
          <a:prstGeom prst="rect">
            <a:avLst/>
          </a:prstGeom>
          <a:noFill/>
          <a:ln/>
        </p:spPr>
        <p:txBody>
          <a:bodyPr wrap="square" lIns="0" tIns="0" rIns="0" bIns="0" rtlCol="0" anchor="ctr"/>
          <a:lstStyle/>
          <a:p>
            <a:pPr indent="0" marL="0">
              <a:buNone/>
            </a:pPr>
            <a:r>
              <a:rPr lang="en-US" sz="1500" dirty="0">
                <a:solidFill>
                  <a:srgbClr val="9FC0DE"/>
                </a:solidFill>
                <a:latin typeface="Arial" pitchFamily="34" charset="0"/>
                <a:ea typeface="Arial" pitchFamily="34" charset="-122"/>
                <a:cs typeface="Arial" pitchFamily="34" charset="-120"/>
              </a:rPr>
              <a:t>One page with all three patterns: a nav, a registration form, and a routine table.</a:t>
            </a:r>
            <a:endParaRPr lang="en-US" sz="1500" dirty="0"/>
          </a:p>
        </p:txBody>
      </p:sp>
      <p:sp>
        <p:nvSpPr>
          <p:cNvPr id="6" name="Text 4"/>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E93B8"/>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LIVE BUILD</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Step 1: Shell and Navigation</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13</a:t>
            </a:r>
            <a:endParaRPr lang="en-US" sz="900" dirty="0"/>
          </a:p>
        </p:txBody>
      </p:sp>
      <p:sp>
        <p:nvSpPr>
          <p:cNvPr id="6" name="Shape 4"/>
          <p:cNvSpPr/>
          <p:nvPr/>
        </p:nvSpPr>
        <p:spPr>
          <a:xfrm>
            <a:off x="548640" y="1371600"/>
            <a:ext cx="11064240" cy="3980688"/>
          </a:xfrm>
          <a:prstGeom prst="roundRect">
            <a:avLst>
              <a:gd name="adj" fmla="val 1378"/>
            </a:avLst>
          </a:prstGeom>
          <a:solidFill>
            <a:srgbClr val="0D1B2A"/>
          </a:solidFill>
          <a:ln w="12700">
            <a:solidFill>
              <a:srgbClr val="0D1B2A"/>
            </a:solidFill>
            <a:prstDash val="solid"/>
          </a:ln>
        </p:spPr>
      </p:sp>
      <p:sp>
        <p:nvSpPr>
          <p:cNvPr id="7" name="Text 5"/>
          <p:cNvSpPr txBox="1"/>
          <p:nvPr/>
        </p:nvSpPr>
        <p:spPr>
          <a:xfrm>
            <a:off x="658368" y="1481328"/>
            <a:ext cx="10844784" cy="3761232"/>
          </a:xfrm>
          <a:prstGeom prst="rect">
            <a:avLst/>
          </a:prstGeom>
          <a:noFill/>
          <a:ln/>
        </p:spPr>
        <p:txBody>
          <a:bodyPr wrap="square" lIns="0" tIns="0" rIns="0" bIns="0" rtlCol="0" anchor="t"/>
          <a:lstStyle/>
          <a:p>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&lt;body&gt;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 href=</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"#main-content"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Skip to main content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&lt;header&gt;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&lt;h1&gt;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IIUC Student Portal</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&lt;/h1&gt;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&lt;nav aria-label=</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"Main navigation"</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&lt;ul&gt;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 href=</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"index.html"</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Home</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 href=</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"register.html"</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 aria-current=</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"page"</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Register</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 href=</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"#routine"</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Routine</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&lt;/a&gt;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&lt;/li&gt;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&lt;/ul&gt;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&lt;/nav&gt;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&lt;/header&gt;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&lt;main id=</a:t>
            </a:r>
            <a:pPr indent="0" marL="0">
              <a:lnSpc>
                <a:spcPts val="1536"/>
              </a:lnSpc>
              <a:buNone/>
            </a:pPr>
            <a:r>
              <a:rPr lang="en-US" sz="1200" dirty="0">
                <a:solidFill>
                  <a:srgbClr val="A8E6A3"/>
                </a:solidFill>
                <a:latin typeface="Courier New" pitchFamily="34" charset="0"/>
                <a:ea typeface="Courier New" pitchFamily="34" charset="-122"/>
                <a:cs typeface="Courier New" pitchFamily="34" charset="-120"/>
              </a:rPr>
              <a:t>"main-content"</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&lt;h2&gt;</a:t>
            </a:r>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Student Registration</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&lt;/h2&gt;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296A8"/>
                </a:solidFill>
                <a:latin typeface="Courier New" pitchFamily="34" charset="0"/>
                <a:ea typeface="Courier New" pitchFamily="34" charset="-122"/>
                <a:cs typeface="Courier New" pitchFamily="34" charset="-120"/>
              </a:rPr>
              <a:t>&lt;!-- form goes here in Step 2 --&gt;</a:t>
            </a:r>
            <a:endParaRPr lang="en-US" sz="1200" dirty="0"/>
          </a:p>
          <a:p>
            <a:pPr indent="0" marL="0">
              <a:lnSpc>
                <a:spcPts val="1536"/>
              </a:lnSpc>
              <a:buNone/>
            </a:pPr>
            <a:r>
              <a:rPr lang="en-US" sz="1200" dirty="0">
                <a:solidFill>
                  <a:srgbClr val="E8EEF7"/>
                </a:solidFill>
                <a:latin typeface="Courier New" pitchFamily="34" charset="0"/>
                <a:ea typeface="Courier New" pitchFamily="34" charset="-122"/>
                <a:cs typeface="Courier New" pitchFamily="34" charset="-120"/>
              </a:rPr>
              <a:t>  </a:t>
            </a:r>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&lt;/main&gt;</a:t>
            </a:r>
            <a:endParaRPr lang="en-US" sz="1200" dirty="0"/>
          </a:p>
          <a:p>
            <a:pPr indent="0" marL="0">
              <a:lnSpc>
                <a:spcPts val="1536"/>
              </a:lnSpc>
              <a:buNone/>
            </a:pPr>
            <a:r>
              <a:rPr lang="en-US" sz="1200" dirty="0">
                <a:solidFill>
                  <a:srgbClr val="8FD3FF"/>
                </a:solidFill>
                <a:latin typeface="Courier New" pitchFamily="34" charset="0"/>
                <a:ea typeface="Courier New" pitchFamily="34" charset="-122"/>
                <a:cs typeface="Courier New" pitchFamily="34" charset="-120"/>
              </a:rPr>
              <a:t>&lt;/body&gt;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LIVE BUILD</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Step 2: Personal Information Fieldset</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14</a:t>
            </a:r>
            <a:endParaRPr lang="en-US" sz="900" dirty="0"/>
          </a:p>
        </p:txBody>
      </p:sp>
      <p:sp>
        <p:nvSpPr>
          <p:cNvPr id="6" name="Shape 4"/>
          <p:cNvSpPr/>
          <p:nvPr/>
        </p:nvSpPr>
        <p:spPr>
          <a:xfrm>
            <a:off x="548640" y="1298448"/>
            <a:ext cx="11064240" cy="4744720"/>
          </a:xfrm>
          <a:prstGeom prst="roundRect">
            <a:avLst>
              <a:gd name="adj" fmla="val 1156"/>
            </a:avLst>
          </a:prstGeom>
          <a:solidFill>
            <a:srgbClr val="0D1B2A"/>
          </a:solidFill>
          <a:ln w="12700">
            <a:solidFill>
              <a:srgbClr val="0D1B2A"/>
            </a:solidFill>
            <a:prstDash val="solid"/>
          </a:ln>
        </p:spPr>
      </p:sp>
      <p:sp>
        <p:nvSpPr>
          <p:cNvPr id="7" name="Text 5"/>
          <p:cNvSpPr txBox="1"/>
          <p:nvPr/>
        </p:nvSpPr>
        <p:spPr>
          <a:xfrm>
            <a:off x="658368" y="1408176"/>
            <a:ext cx="10844784" cy="4525264"/>
          </a:xfrm>
          <a:prstGeom prst="rect">
            <a:avLst/>
          </a:prstGeom>
          <a:noFill/>
          <a:ln/>
        </p:spPr>
        <p:txBody>
          <a:bodyPr wrap="square" lIns="0" tIns="0" rIns="0" bIns="0" rtlCol="0" anchor="t"/>
          <a:lstStyle/>
          <a:p>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&lt;form action=</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method=</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"post"</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&lt;fieldset&gt;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&lt;legend&gt;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Personal Information</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&lt;/legend&gt;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&lt;p&gt;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&lt;label for=</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"fullname"</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Full Name</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&lt;/label&gt;</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&lt;br&gt;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&lt;input type=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"text"</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id=</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"fullname"</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name=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"fullname"</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required placeholder=</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"Your full name"</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&lt;/p&gt;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&lt;p&gt;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&lt;label for=</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"sid"</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Student ID</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&lt;/label&gt;</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&lt;br&gt;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&lt;input type=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"text"</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id=</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"sid"</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name=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"sid"</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required minlength=</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"7"</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placeholder=</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"C251001"</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&lt;/p&gt;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&lt;p&gt;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&lt;label for=</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"email"</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Email</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&lt;/label&gt;</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&lt;br&gt;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&lt;input type=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"email"</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id=</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"email"</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name=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"email"</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required placeholder=</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"you@example.com"</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&lt;/p&gt;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&lt;p&gt;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&lt;label for=</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"dob"</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Date of Birth</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&lt;/label&gt;</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&lt;br&gt;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&lt;input type=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"date"</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id=</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"dob"</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 name=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"dob"</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&lt;/p&gt;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&lt;/fieldset&gt;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LIVE BUILD</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Step 3: Choices and Submit</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15</a:t>
            </a:r>
            <a:endParaRPr lang="en-US" sz="900" dirty="0"/>
          </a:p>
        </p:txBody>
      </p:sp>
      <p:sp>
        <p:nvSpPr>
          <p:cNvPr id="6" name="Shape 4"/>
          <p:cNvSpPr/>
          <p:nvPr/>
        </p:nvSpPr>
        <p:spPr>
          <a:xfrm>
            <a:off x="548640" y="1298448"/>
            <a:ext cx="11064240" cy="4712208"/>
          </a:xfrm>
          <a:prstGeom prst="roundRect">
            <a:avLst>
              <a:gd name="adj" fmla="val 1164"/>
            </a:avLst>
          </a:prstGeom>
          <a:solidFill>
            <a:srgbClr val="0D1B2A"/>
          </a:solidFill>
          <a:ln w="12700">
            <a:solidFill>
              <a:srgbClr val="0D1B2A"/>
            </a:solidFill>
            <a:prstDash val="solid"/>
          </a:ln>
        </p:spPr>
      </p:sp>
      <p:sp>
        <p:nvSpPr>
          <p:cNvPr id="7" name="Text 5"/>
          <p:cNvSpPr txBox="1"/>
          <p:nvPr/>
        </p:nvSpPr>
        <p:spPr>
          <a:xfrm>
            <a:off x="658368" y="1408176"/>
            <a:ext cx="10844784" cy="4492752"/>
          </a:xfrm>
          <a:prstGeom prst="rect">
            <a:avLst/>
          </a:prstGeom>
          <a:noFill/>
          <a:ln/>
        </p:spPr>
        <p:txBody>
          <a:bodyPr wrap="square" lIns="0" tIns="0" rIns="0" bIns="0" rtlCol="0" anchor="t"/>
          <a:lstStyle/>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&lt;fieldset&gt;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&lt;legend&gt;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Course Preferences</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&lt;/legend&gt;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&lt;p&gt;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Preferred shift: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&lt;/p&gt;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&lt;input type=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"radio"</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id=</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"morning"</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name=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"shift"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value=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"morning"</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checked&gt;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 for=</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"morning"</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Morning</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&lt;input type=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"radio"</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id=</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"evening"</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name=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"shift"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value=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"evening"</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 for=</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"evening"</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Evening</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&lt;p&gt;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Which topics interest you?</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&lt;/p&gt;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&lt;input type=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"checkbox"</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id=</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"html"</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name=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"html"</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 for=</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"html"</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HTML</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&lt;input type=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"checkbox"</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id=</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"css"</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name=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"css"</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 for=</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"css"</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CSS</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&lt;input type=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"checkbox"</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id=</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"js"</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name=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"js"</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 for=</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"js"</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JavaScript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&lt;p&gt;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 for=</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"dept"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Department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&lt;/label&gt;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&lt;br&gt;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&lt;select id=</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"dept"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 name=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"dept"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&lt;option value=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Choose your department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&lt;/option&gt;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&lt;option value=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"cse"</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Computer Science and Engineering</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&lt;/option&gt;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&lt;option value=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"eee"</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Electrical and Electronic Engineering</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&lt;/option&gt;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&lt;/select&gt;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&lt;/p&gt;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&lt;/fieldset&gt;</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a:p>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&lt;button type=</a:t>
            </a:r>
            <a:pPr indent="0" marL="0">
              <a:lnSpc>
                <a:spcPts val="1344"/>
              </a:lnSpc>
              <a:buNone/>
            </a:pPr>
            <a:r>
              <a:rPr lang="en-US" sz="1050" dirty="0">
                <a:solidFill>
                  <a:srgbClr val="A8E6A3"/>
                </a:solidFill>
                <a:latin typeface="Courier New" pitchFamily="34" charset="0"/>
                <a:ea typeface="Courier New" pitchFamily="34" charset="-122"/>
                <a:cs typeface="Courier New" pitchFamily="34" charset="-120"/>
              </a:rPr>
              <a:t>"submit"</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&gt;</a:t>
            </a:r>
            <a:pPr indent="0" marL="0">
              <a:lnSpc>
                <a:spcPts val="1344"/>
              </a:lnSpc>
              <a:buNone/>
            </a:pPr>
            <a:r>
              <a:rPr lang="en-US" sz="1050" dirty="0">
                <a:solidFill>
                  <a:srgbClr val="E8EEF7"/>
                </a:solidFill>
                <a:latin typeface="Courier New" pitchFamily="34" charset="0"/>
                <a:ea typeface="Courier New" pitchFamily="34" charset="-122"/>
                <a:cs typeface="Courier New" pitchFamily="34" charset="-120"/>
              </a:rPr>
              <a:t>Register</a:t>
            </a:r>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&lt;/button&gt;</a:t>
            </a:r>
            <a:endParaRPr lang="en-US" sz="1050" dirty="0"/>
          </a:p>
          <a:p>
            <a:pPr indent="0" marL="0">
              <a:lnSpc>
                <a:spcPts val="1344"/>
              </a:lnSpc>
              <a:buNone/>
            </a:pPr>
            <a:r>
              <a:rPr lang="en-US" sz="1050" dirty="0">
                <a:solidFill>
                  <a:srgbClr val="8FD3FF"/>
                </a:solidFill>
                <a:latin typeface="Courier New" pitchFamily="34" charset="0"/>
                <a:ea typeface="Courier New" pitchFamily="34" charset="-122"/>
                <a:cs typeface="Courier New" pitchFamily="34" charset="-120"/>
              </a:rPr>
              <a:t>&lt;/form&gt;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LIVE BUILD</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Step 4: The Routine Table</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16</a:t>
            </a:r>
            <a:endParaRPr lang="en-US" sz="900" dirty="0"/>
          </a:p>
        </p:txBody>
      </p:sp>
      <p:sp>
        <p:nvSpPr>
          <p:cNvPr id="6" name="Shape 4"/>
          <p:cNvSpPr/>
          <p:nvPr/>
        </p:nvSpPr>
        <p:spPr>
          <a:xfrm>
            <a:off x="548640" y="1298448"/>
            <a:ext cx="11064240" cy="5459984"/>
          </a:xfrm>
          <a:prstGeom prst="roundRect">
            <a:avLst>
              <a:gd name="adj" fmla="val 1005"/>
            </a:avLst>
          </a:prstGeom>
          <a:solidFill>
            <a:srgbClr val="0D1B2A"/>
          </a:solidFill>
          <a:ln w="12700">
            <a:solidFill>
              <a:srgbClr val="0D1B2A"/>
            </a:solidFill>
            <a:prstDash val="solid"/>
          </a:ln>
        </p:spPr>
      </p:sp>
      <p:sp>
        <p:nvSpPr>
          <p:cNvPr id="7" name="Text 5"/>
          <p:cNvSpPr txBox="1"/>
          <p:nvPr/>
        </p:nvSpPr>
        <p:spPr>
          <a:xfrm>
            <a:off x="658368" y="1408176"/>
            <a:ext cx="10844784" cy="5240528"/>
          </a:xfrm>
          <a:prstGeom prst="rect">
            <a:avLst/>
          </a:prstGeom>
          <a:noFill/>
          <a:ln/>
        </p:spPr>
        <p:txBody>
          <a:bodyPr wrap="square" lIns="0" tIns="0" rIns="0" bIns="0" rtlCol="0" anchor="t"/>
          <a:lstStyle/>
          <a:p>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&lt;section id=</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"routine"</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&lt;h2&gt;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Class Routine</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&lt;/h2&gt;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&lt;table&gt;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&lt;caption&gt;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CSE-2340 weekly class routine</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&lt;/caption&gt;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&lt;thead&gt;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&lt;tr&gt;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 scope=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"col"</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Class</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 scope=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"col"</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Day</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 scope=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"col"</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Time</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 scope=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"col"</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Topic</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&lt;/tr&gt;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&lt;/thead&gt;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&lt;tbody&gt;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&lt;tr&gt;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 scope=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"row"</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C1</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Saturday</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08:00 - 08:50</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Navigation, forms and tables</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&lt;/tr&gt;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&lt;tr&gt;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 scope=</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"row"</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C2</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&lt;/th&gt;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Saturday</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09:00 - 09:50</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Accessibility essentials</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&lt;/td&gt;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&lt;/tr&gt;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&lt;/tbody&gt;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&lt;/table&gt;</a:t>
            </a:r>
            <a:endParaRPr lang="en-US" sz="1100" dirty="0"/>
          </a:p>
          <a:p>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&lt;/section&gt;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DEBUG CLINIC</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Common Mistakes and Fixes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17</a:t>
            </a:r>
            <a:endParaRPr lang="en-US" sz="900" dirty="0"/>
          </a:p>
        </p:txBody>
      </p:sp>
      <p:sp>
        <p:nvSpPr>
          <p:cNvPr id="6" name="Shape 4"/>
          <p:cNvSpPr/>
          <p:nvPr/>
        </p:nvSpPr>
        <p:spPr>
          <a:xfrm>
            <a:off x="548640" y="1325880"/>
            <a:ext cx="11064240" cy="804672"/>
          </a:xfrm>
          <a:prstGeom prst="roundRect">
            <a:avLst>
              <a:gd name="adj" fmla="val 9091"/>
            </a:avLst>
          </a:prstGeom>
          <a:solidFill>
            <a:srgbClr val="FBEAE8"/>
          </a:solidFill>
          <a:ln w="12700">
            <a:solidFill>
              <a:srgbClr val="FBEAE8"/>
            </a:solidFill>
            <a:prstDash val="solid"/>
          </a:ln>
        </p:spPr>
      </p:sp>
      <p:sp>
        <p:nvSpPr>
          <p:cNvPr id="7" name="Text 5"/>
          <p:cNvSpPr txBox="1"/>
          <p:nvPr/>
        </p:nvSpPr>
        <p:spPr>
          <a:xfrm>
            <a:off x="777240" y="1362456"/>
            <a:ext cx="4023360" cy="731520"/>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Both radio buttons can be selected</a:t>
            </a:r>
            <a:endParaRPr lang="en-US" sz="1350" dirty="0"/>
          </a:p>
        </p:txBody>
      </p:sp>
      <p:sp>
        <p:nvSpPr>
          <p:cNvPr id="8" name="Text 6"/>
          <p:cNvSpPr txBox="1"/>
          <p:nvPr/>
        </p:nvSpPr>
        <p:spPr>
          <a:xfrm>
            <a:off x="4983480" y="1362456"/>
            <a:ext cx="6400800" cy="731520"/>
          </a:xfrm>
          <a:prstGeom prst="rect">
            <a:avLst/>
          </a:prstGeom>
          <a:noFill/>
          <a:ln/>
        </p:spPr>
        <p:txBody>
          <a:bodyPr wrap="square" lIns="0" tIns="0" rIns="0" bIns="0" rtlCol="0" anchor="ctr"/>
          <a:lstStyle/>
          <a:p>
            <a:pPr indent="0" marL="0">
              <a:buNone/>
            </a:pPr>
            <a:r>
              <a:rPr lang="en-US" sz="1250" dirty="0">
                <a:solidFill>
                  <a:srgbClr val="3D4A57"/>
                </a:solidFill>
                <a:latin typeface="Arial" pitchFamily="34" charset="0"/>
                <a:ea typeface="Arial" pitchFamily="34" charset="-122"/>
                <a:cs typeface="Arial" pitchFamily="34" charset="-120"/>
              </a:rPr>
              <a:t>The two inputs have different name values. Give every option in the group the same name.</a:t>
            </a:r>
            <a:endParaRPr lang="en-US" sz="1250" dirty="0"/>
          </a:p>
        </p:txBody>
      </p:sp>
      <p:sp>
        <p:nvSpPr>
          <p:cNvPr id="9" name="Shape 7"/>
          <p:cNvSpPr/>
          <p:nvPr/>
        </p:nvSpPr>
        <p:spPr>
          <a:xfrm>
            <a:off x="548640" y="2240280"/>
            <a:ext cx="11064240" cy="804672"/>
          </a:xfrm>
          <a:prstGeom prst="roundRect">
            <a:avLst>
              <a:gd name="adj" fmla="val 9091"/>
            </a:avLst>
          </a:prstGeom>
          <a:solidFill>
            <a:srgbClr val="F2F5F8"/>
          </a:solidFill>
          <a:ln w="12700">
            <a:solidFill>
              <a:srgbClr val="F2F5F8"/>
            </a:solidFill>
            <a:prstDash val="solid"/>
          </a:ln>
        </p:spPr>
      </p:sp>
      <p:sp>
        <p:nvSpPr>
          <p:cNvPr id="10" name="Text 8"/>
          <p:cNvSpPr txBox="1"/>
          <p:nvPr/>
        </p:nvSpPr>
        <p:spPr>
          <a:xfrm>
            <a:off x="777240" y="2276856"/>
            <a:ext cx="4023360" cy="731520"/>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Clicking the label does nothing</a:t>
            </a:r>
            <a:endParaRPr lang="en-US" sz="1350" dirty="0"/>
          </a:p>
        </p:txBody>
      </p:sp>
      <p:sp>
        <p:nvSpPr>
          <p:cNvPr id="11" name="Text 9"/>
          <p:cNvSpPr txBox="1"/>
          <p:nvPr/>
        </p:nvSpPr>
        <p:spPr>
          <a:xfrm>
            <a:off x="4983480" y="2276856"/>
            <a:ext cx="6400800" cy="731520"/>
          </a:xfrm>
          <a:prstGeom prst="rect">
            <a:avLst/>
          </a:prstGeom>
          <a:noFill/>
          <a:ln/>
        </p:spPr>
        <p:txBody>
          <a:bodyPr wrap="square" lIns="0" tIns="0" rIns="0" bIns="0" rtlCol="0" anchor="ctr"/>
          <a:lstStyle/>
          <a:p>
            <a:pPr indent="0" marL="0">
              <a:buNone/>
            </a:pPr>
            <a:r>
              <a:rPr lang="en-US" sz="1250" dirty="0">
                <a:solidFill>
                  <a:srgbClr val="3D4A57"/>
                </a:solidFill>
                <a:latin typeface="Arial" pitchFamily="34" charset="0"/>
                <a:ea typeface="Arial" pitchFamily="34" charset="-122"/>
                <a:cs typeface="Arial" pitchFamily="34" charset="-120"/>
              </a:rPr>
              <a:t>The for value does not match the input id exactly. Check spelling and capital letters.</a:t>
            </a:r>
            <a:endParaRPr lang="en-US" sz="1250" dirty="0"/>
          </a:p>
        </p:txBody>
      </p:sp>
      <p:sp>
        <p:nvSpPr>
          <p:cNvPr id="12" name="Shape 10"/>
          <p:cNvSpPr/>
          <p:nvPr/>
        </p:nvSpPr>
        <p:spPr>
          <a:xfrm>
            <a:off x="548640" y="3154680"/>
            <a:ext cx="11064240" cy="804672"/>
          </a:xfrm>
          <a:prstGeom prst="roundRect">
            <a:avLst>
              <a:gd name="adj" fmla="val 9091"/>
            </a:avLst>
          </a:prstGeom>
          <a:solidFill>
            <a:srgbClr val="FBEAE8"/>
          </a:solidFill>
          <a:ln w="12700">
            <a:solidFill>
              <a:srgbClr val="FBEAE8"/>
            </a:solidFill>
            <a:prstDash val="solid"/>
          </a:ln>
        </p:spPr>
      </p:sp>
      <p:sp>
        <p:nvSpPr>
          <p:cNvPr id="13" name="Text 11"/>
          <p:cNvSpPr txBox="1"/>
          <p:nvPr/>
        </p:nvSpPr>
        <p:spPr>
          <a:xfrm>
            <a:off x="777240" y="3191256"/>
            <a:ext cx="4023360" cy="731520"/>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The table looks broken or shifted</a:t>
            </a:r>
            <a:endParaRPr lang="en-US" sz="1350" dirty="0"/>
          </a:p>
        </p:txBody>
      </p:sp>
      <p:sp>
        <p:nvSpPr>
          <p:cNvPr id="14" name="Text 12"/>
          <p:cNvSpPr txBox="1"/>
          <p:nvPr/>
        </p:nvSpPr>
        <p:spPr>
          <a:xfrm>
            <a:off x="4983480" y="3191256"/>
            <a:ext cx="6400800" cy="731520"/>
          </a:xfrm>
          <a:prstGeom prst="rect">
            <a:avLst/>
          </a:prstGeom>
          <a:noFill/>
          <a:ln/>
        </p:spPr>
        <p:txBody>
          <a:bodyPr wrap="square" lIns="0" tIns="0" rIns="0" bIns="0" rtlCol="0" anchor="ctr"/>
          <a:lstStyle/>
          <a:p>
            <a:pPr indent="0" marL="0">
              <a:buNone/>
            </a:pPr>
            <a:r>
              <a:rPr lang="en-US" sz="1250" dirty="0">
                <a:solidFill>
                  <a:srgbClr val="3D4A57"/>
                </a:solidFill>
                <a:latin typeface="Arial" pitchFamily="34" charset="0"/>
                <a:ea typeface="Arial" pitchFamily="34" charset="-122"/>
                <a:cs typeface="Arial" pitchFamily="34" charset="-120"/>
              </a:rPr>
              <a:t>A tr, th or td was not closed, or a row has a different number of cells.</a:t>
            </a:r>
            <a:endParaRPr lang="en-US" sz="1250" dirty="0"/>
          </a:p>
        </p:txBody>
      </p:sp>
      <p:sp>
        <p:nvSpPr>
          <p:cNvPr id="15" name="Shape 13"/>
          <p:cNvSpPr/>
          <p:nvPr/>
        </p:nvSpPr>
        <p:spPr>
          <a:xfrm>
            <a:off x="548640" y="4069080"/>
            <a:ext cx="11064240" cy="804672"/>
          </a:xfrm>
          <a:prstGeom prst="roundRect">
            <a:avLst>
              <a:gd name="adj" fmla="val 9091"/>
            </a:avLst>
          </a:prstGeom>
          <a:solidFill>
            <a:srgbClr val="F2F5F8"/>
          </a:solidFill>
          <a:ln w="12700">
            <a:solidFill>
              <a:srgbClr val="F2F5F8"/>
            </a:solidFill>
            <a:prstDash val="solid"/>
          </a:ln>
        </p:spPr>
      </p:sp>
      <p:sp>
        <p:nvSpPr>
          <p:cNvPr id="16" name="Text 14"/>
          <p:cNvSpPr txBox="1"/>
          <p:nvPr/>
        </p:nvSpPr>
        <p:spPr>
          <a:xfrm>
            <a:off x="777240" y="4105656"/>
            <a:ext cx="4023360" cy="731520"/>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The dropdown submits an empty value</a:t>
            </a:r>
            <a:endParaRPr lang="en-US" sz="1350" dirty="0"/>
          </a:p>
        </p:txBody>
      </p:sp>
      <p:sp>
        <p:nvSpPr>
          <p:cNvPr id="17" name="Text 15"/>
          <p:cNvSpPr txBox="1"/>
          <p:nvPr/>
        </p:nvSpPr>
        <p:spPr>
          <a:xfrm>
            <a:off x="4983480" y="4105656"/>
            <a:ext cx="6400800" cy="731520"/>
          </a:xfrm>
          <a:prstGeom prst="rect">
            <a:avLst/>
          </a:prstGeom>
          <a:noFill/>
          <a:ln/>
        </p:spPr>
        <p:txBody>
          <a:bodyPr wrap="square" lIns="0" tIns="0" rIns="0" bIns="0" rtlCol="0" anchor="ctr"/>
          <a:lstStyle/>
          <a:p>
            <a:pPr indent="0" marL="0">
              <a:buNone/>
            </a:pPr>
            <a:r>
              <a:rPr lang="en-US" sz="1250" dirty="0">
                <a:solidFill>
                  <a:srgbClr val="3D4A57"/>
                </a:solidFill>
                <a:latin typeface="Arial" pitchFamily="34" charset="0"/>
                <a:ea typeface="Arial" pitchFamily="34" charset="-122"/>
                <a:cs typeface="Arial" pitchFamily="34" charset="-120"/>
              </a:rPr>
              <a:t>That is the first option with value="". Keep it as the placeholder, and add required.</a:t>
            </a:r>
            <a:endParaRPr lang="en-US" sz="1250" dirty="0"/>
          </a:p>
        </p:txBody>
      </p:sp>
      <p:sp>
        <p:nvSpPr>
          <p:cNvPr id="18" name="Shape 16"/>
          <p:cNvSpPr/>
          <p:nvPr/>
        </p:nvSpPr>
        <p:spPr>
          <a:xfrm>
            <a:off x="548640" y="4983480"/>
            <a:ext cx="11064240" cy="804672"/>
          </a:xfrm>
          <a:prstGeom prst="roundRect">
            <a:avLst>
              <a:gd name="adj" fmla="val 9091"/>
            </a:avLst>
          </a:prstGeom>
          <a:solidFill>
            <a:srgbClr val="FBEAE8"/>
          </a:solidFill>
          <a:ln w="12700">
            <a:solidFill>
              <a:srgbClr val="FBEAE8"/>
            </a:solidFill>
            <a:prstDash val="solid"/>
          </a:ln>
        </p:spPr>
      </p:sp>
      <p:sp>
        <p:nvSpPr>
          <p:cNvPr id="19" name="Text 17"/>
          <p:cNvSpPr txBox="1"/>
          <p:nvPr/>
        </p:nvSpPr>
        <p:spPr>
          <a:xfrm>
            <a:off x="777240" y="5020056"/>
            <a:ext cx="4023360" cy="731520"/>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The form reloads and clears everything</a:t>
            </a:r>
            <a:endParaRPr lang="en-US" sz="1350" dirty="0"/>
          </a:p>
        </p:txBody>
      </p:sp>
      <p:sp>
        <p:nvSpPr>
          <p:cNvPr id="20" name="Text 18"/>
          <p:cNvSpPr txBox="1"/>
          <p:nvPr/>
        </p:nvSpPr>
        <p:spPr>
          <a:xfrm>
            <a:off x="4983480" y="5020056"/>
            <a:ext cx="6400800" cy="731520"/>
          </a:xfrm>
          <a:prstGeom prst="rect">
            <a:avLst/>
          </a:prstGeom>
          <a:noFill/>
          <a:ln/>
        </p:spPr>
        <p:txBody>
          <a:bodyPr wrap="square" lIns="0" tIns="0" rIns="0" bIns="0" rtlCol="0" anchor="ctr"/>
          <a:lstStyle/>
          <a:p>
            <a:pPr indent="0" marL="0">
              <a:buNone/>
            </a:pPr>
            <a:r>
              <a:rPr lang="en-US" sz="1250" dirty="0">
                <a:solidFill>
                  <a:srgbClr val="3D4A57"/>
                </a:solidFill>
                <a:latin typeface="Arial" pitchFamily="34" charset="0"/>
                <a:ea typeface="Arial" pitchFamily="34" charset="-122"/>
                <a:cs typeface="Arial" pitchFamily="34" charset="-120"/>
              </a:rPr>
              <a:t>That is normal. There is no server to receive the data yet.</a:t>
            </a:r>
            <a:endParaRPr lang="en-US" sz="1250" dirty="0"/>
          </a:p>
        </p:txBody>
      </p:sp>
      <p:sp>
        <p:nvSpPr>
          <p:cNvPr id="21" name="Text 19"/>
          <p:cNvSpPr txBox="1"/>
          <p:nvPr/>
        </p:nvSpPr>
        <p:spPr>
          <a:xfrm>
            <a:off x="548640" y="5943600"/>
            <a:ext cx="11064240" cy="274320"/>
          </a:xfrm>
          <a:prstGeom prst="rect">
            <a:avLst/>
          </a:prstGeom>
          <a:noFill/>
          <a:ln/>
        </p:spPr>
        <p:txBody>
          <a:bodyPr wrap="square" lIns="0" tIns="0" rIns="0" bIns="0" rtlCol="0" anchor="t"/>
          <a:lstStyle/>
          <a:p>
            <a:pPr algn="l" indent="0" marL="0">
              <a:lnSpc>
                <a:spcPts val="1620"/>
              </a:lnSpc>
              <a:buNone/>
            </a:pPr>
            <a:r>
              <a:rPr lang="en-US" sz="1200" i="1" dirty="0">
                <a:solidFill>
                  <a:srgbClr val="6B7A88"/>
                </a:solidFill>
                <a:latin typeface="Arial" pitchFamily="34" charset="0"/>
                <a:ea typeface="Arial" pitchFamily="34" charset="-122"/>
                <a:cs typeface="Arial" pitchFamily="34" charset="-120"/>
              </a:rPr>
              <a:t>Debug method: open DevTools, right click the broken element, choose Inspect, and read the actual HTML the browser built.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PART 1 IN CLASS · PART 2 AT HOME</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Assignment - Week 2, Class 1</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18</a:t>
            </a:r>
            <a:endParaRPr lang="en-US" sz="900" dirty="0"/>
          </a:p>
        </p:txBody>
      </p:sp>
      <p:sp>
        <p:nvSpPr>
          <p:cNvPr id="6" name="Shape 4"/>
          <p:cNvSpPr/>
          <p:nvPr/>
        </p:nvSpPr>
        <p:spPr>
          <a:xfrm>
            <a:off x="548640" y="1371600"/>
            <a:ext cx="5486400" cy="3566160"/>
          </a:xfrm>
          <a:prstGeom prst="roundRect">
            <a:avLst>
              <a:gd name="adj" fmla="val 2051"/>
            </a:avLst>
          </a:prstGeom>
          <a:solidFill>
            <a:srgbClr val="E8EEF4"/>
          </a:solidFill>
          <a:ln w="12700">
            <a:solidFill>
              <a:srgbClr val="E8EEF4"/>
            </a:solidFill>
            <a:prstDash val="solid"/>
          </a:ln>
          <a:effectLst>
            <a:outerShdw sx="100000" sy="100000" kx="0" ky="0" algn="bl" rotWithShape="0" blurRad="76200" dist="12700" dir="5400000">
              <a:srgbClr val="9AA9B8">
                <a:alpha val="18000"/>
              </a:srgbClr>
            </a:outerShdw>
          </a:effectLst>
        </p:spPr>
      </p:sp>
      <p:sp>
        <p:nvSpPr>
          <p:cNvPr id="7" name="Shape 5"/>
          <p:cNvSpPr/>
          <p:nvPr/>
        </p:nvSpPr>
        <p:spPr>
          <a:xfrm>
            <a:off x="749808" y="157276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261872" y="1600200"/>
            <a:ext cx="457200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Part 1 - In-class demonstration</a:t>
            </a:r>
            <a:endParaRPr lang="en-US" sz="1700" dirty="0"/>
          </a:p>
        </p:txBody>
      </p:sp>
      <p:sp>
        <p:nvSpPr>
          <p:cNvPr id="10" name="Text 8"/>
          <p:cNvSpPr txBox="1"/>
          <p:nvPr/>
        </p:nvSpPr>
        <p:spPr>
          <a:xfrm>
            <a:off x="804672" y="1993392"/>
            <a:ext cx="4974336" cy="2779776"/>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3D4A57"/>
                </a:solidFill>
                <a:latin typeface="Arial" pitchFamily="34" charset="0"/>
                <a:ea typeface="Arial" pitchFamily="34" charset="-122"/>
                <a:cs typeface="Arial" pitchFamily="34" charset="-120"/>
              </a:rPr>
              <a:t>Time: last 5 minutes of this class</a:t>
            </a:r>
            <a:endParaRPr lang="en-US" sz="1350" dirty="0"/>
          </a:p>
          <a:p>
            <a:pPr marL="342900" indent="-342900">
              <a:spcAft>
                <a:spcPts val="700"/>
              </a:spcAft>
              <a:buSzPct val="100000"/>
              <a:buChar char="•"/>
            </a:pPr>
            <a:r>
              <a:rPr lang="en-US" sz="1350" dirty="0">
                <a:solidFill>
                  <a:srgbClr val="3D4A57"/>
                </a:solidFill>
                <a:latin typeface="Arial" pitchFamily="34" charset="0"/>
                <a:ea typeface="Arial" pitchFamily="34" charset="-122"/>
                <a:cs typeface="Arial" pitchFamily="34" charset="-120"/>
              </a:rPr>
              <a:t>Task: add two more rows to the routine table for C3 and C4</a:t>
            </a:r>
            <a:endParaRPr lang="en-US" sz="1350" dirty="0"/>
          </a:p>
          <a:p>
            <a:pPr marL="342900" indent="-342900">
              <a:spcAft>
                <a:spcPts val="700"/>
              </a:spcAft>
              <a:buSzPct val="100000"/>
              <a:buChar char="•"/>
            </a:pPr>
            <a:r>
              <a:rPr lang="en-US" sz="1350" dirty="0">
                <a:solidFill>
                  <a:srgbClr val="3D4A57"/>
                </a:solidFill>
                <a:latin typeface="Arial" pitchFamily="34" charset="0"/>
                <a:ea typeface="Arial" pitchFamily="34" charset="-122"/>
                <a:cs typeface="Arial" pitchFamily="34" charset="-120"/>
              </a:rPr>
              <a:t>Add one more field to the form: a tel input for a phone number, with a label</a:t>
            </a:r>
            <a:endParaRPr lang="en-US" sz="1350" dirty="0"/>
          </a:p>
          <a:p>
            <a:pPr marL="342900" indent="-342900">
              <a:spcAft>
                <a:spcPts val="700"/>
              </a:spcAft>
              <a:buSzPct val="100000"/>
              <a:buChar char="•"/>
            </a:pPr>
            <a:r>
              <a:rPr lang="en-US" sz="1350" dirty="0">
                <a:solidFill>
                  <a:srgbClr val="3D4A57"/>
                </a:solidFill>
                <a:latin typeface="Arial" pitchFamily="34" charset="0"/>
                <a:ea typeface="Arial" pitchFamily="34" charset="-122"/>
                <a:cs typeface="Arial" pitchFamily="34" charset="-120"/>
              </a:rPr>
              <a:t>Show that clicking each label focuses its input</a:t>
            </a:r>
            <a:endParaRPr lang="en-US" sz="1350" dirty="0"/>
          </a:p>
          <a:p>
            <a:pPr marL="342900" indent="-342900">
              <a:spcAft>
                <a:spcPts val="700"/>
              </a:spcAft>
              <a:buSzPct val="100000"/>
              <a:buChar char="•"/>
            </a:pPr>
            <a:r>
              <a:rPr lang="en-US" sz="1350" dirty="0">
                <a:solidFill>
                  <a:srgbClr val="3D4A57"/>
                </a:solidFill>
                <a:latin typeface="Arial" pitchFamily="34" charset="0"/>
                <a:ea typeface="Arial" pitchFamily="34" charset="-122"/>
                <a:cs typeface="Arial" pitchFamily="34" charset="-120"/>
              </a:rPr>
              <a:t>Submission: show on your screen before leaving</a:t>
            </a:r>
            <a:endParaRPr lang="en-US" sz="1350" dirty="0"/>
          </a:p>
          <a:p>
            <a:pPr marL="342900" indent="-342900">
              <a:spcAft>
                <a:spcPts val="700"/>
              </a:spcAft>
              <a:buSzPct val="100000"/>
              <a:buChar char="•"/>
            </a:pPr>
            <a:r>
              <a:rPr lang="en-US" sz="1350" dirty="0">
                <a:solidFill>
                  <a:srgbClr val="3D4A57"/>
                </a:solidFill>
                <a:latin typeface="Arial" pitchFamily="34" charset="0"/>
                <a:ea typeface="Arial" pitchFamily="34" charset="-122"/>
                <a:cs typeface="Arial" pitchFamily="34" charset="-120"/>
              </a:rPr>
              <a:t>Marks: 2 (checked on the spot)</a:t>
            </a:r>
            <a:endParaRPr lang="en-US" sz="1350" dirty="0"/>
          </a:p>
        </p:txBody>
      </p:sp>
      <p:sp>
        <p:nvSpPr>
          <p:cNvPr id="11" name="Shape 9"/>
          <p:cNvSpPr/>
          <p:nvPr/>
        </p:nvSpPr>
        <p:spPr>
          <a:xfrm>
            <a:off x="6309360" y="1371600"/>
            <a:ext cx="5303520" cy="3840480"/>
          </a:xfrm>
          <a:prstGeom prst="roundRect">
            <a:avLst>
              <a:gd name="adj" fmla="val 1905"/>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2" name="Shape 10"/>
          <p:cNvSpPr/>
          <p:nvPr/>
        </p:nvSpPr>
        <p:spPr>
          <a:xfrm>
            <a:off x="6510528" y="157276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651052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7022592" y="1600200"/>
            <a:ext cx="43891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Part 2 - Home task</a:t>
            </a:r>
            <a:endParaRPr lang="en-US" sz="1700" dirty="0"/>
          </a:p>
        </p:txBody>
      </p:sp>
      <p:sp>
        <p:nvSpPr>
          <p:cNvPr id="15" name="Text 13"/>
          <p:cNvSpPr txBox="1"/>
          <p:nvPr/>
        </p:nvSpPr>
        <p:spPr>
          <a:xfrm>
            <a:off x="6565392" y="1993392"/>
            <a:ext cx="4791456" cy="305409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Build feedback.html: a feedback form with your own fields</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It must contain: two fieldsets, one radio group, one checkbox group, one select, and one textarea</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Add a results table with a caption and scope on every header cell</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Link the new page from your nav on every page</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Commit and push to your GitHub repository</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Deadline: before Week 2, Class 3 · Marks: 3</a:t>
            </a:r>
            <a:endParaRPr lang="en-US" sz="1300" dirty="0"/>
          </a:p>
        </p:txBody>
      </p:sp>
      <p:sp>
        <p:nvSpPr>
          <p:cNvPr id="16" name="Shape 14"/>
          <p:cNvSpPr/>
          <p:nvPr/>
        </p:nvSpPr>
        <p:spPr>
          <a:xfrm>
            <a:off x="548640" y="5394960"/>
            <a:ext cx="11064240" cy="640080"/>
          </a:xfrm>
          <a:prstGeom prst="roundRect">
            <a:avLst>
              <a:gd name="adj" fmla="val 11429"/>
            </a:avLst>
          </a:prstGeom>
          <a:solidFill>
            <a:srgbClr val="F2F5F8"/>
          </a:solidFill>
          <a:ln w="12700">
            <a:solidFill>
              <a:srgbClr val="F2F5F8"/>
            </a:solidFill>
            <a:prstDash val="solid"/>
          </a:ln>
        </p:spPr>
      </p:sp>
      <p:sp>
        <p:nvSpPr>
          <p:cNvPr id="17" name="Text 15"/>
          <p:cNvSpPr txBox="1"/>
          <p:nvPr/>
        </p:nvSpPr>
        <p:spPr>
          <a:xfrm>
            <a:off x="804672" y="5596128"/>
            <a:ext cx="10552176" cy="329184"/>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Keep register.html. The next class audits and improves it for accessibility.</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48-50 MINUTES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Marking Rubric &amp; Exit Check</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19</a:t>
            </a:r>
            <a:endParaRPr lang="en-US" sz="900" dirty="0"/>
          </a:p>
        </p:txBody>
      </p:sp>
      <p:sp>
        <p:nvSpPr>
          <p:cNvPr id="6" name="Text 4"/>
          <p:cNvSpPr txBox="1"/>
          <p:nvPr/>
        </p:nvSpPr>
        <p:spPr>
          <a:xfrm>
            <a:off x="548640" y="1371600"/>
            <a:ext cx="6766560" cy="256032"/>
          </a:xfrm>
          <a:prstGeom prst="rect">
            <a:avLst/>
          </a:prstGeom>
          <a:noFill/>
          <a:ln/>
        </p:spPr>
        <p:txBody>
          <a:bodyPr wrap="square" lIns="0" tIns="0" rIns="0" bIns="0" rtlCol="0" anchor="ctr"/>
          <a:lstStyle/>
          <a:p>
            <a:pPr indent="0" marL="0">
              <a:buNone/>
            </a:pPr>
            <a:r>
              <a:rPr lang="en-US" sz="1200" b="1" spc="60" kern="0" dirty="0">
                <a:solidFill>
                  <a:srgbClr val="003366"/>
                </a:solidFill>
                <a:latin typeface="Arial" pitchFamily="34" charset="0"/>
                <a:ea typeface="Arial" pitchFamily="34" charset="-122"/>
                <a:cs typeface="Arial" pitchFamily="34" charset="-120"/>
              </a:rPr>
              <a:t>RUBRIC - 5 MARKS TOTAL</a:t>
            </a:r>
            <a:endParaRPr lang="en-US" sz="1200" dirty="0"/>
          </a:p>
        </p:txBody>
      </p:sp>
      <p:sp>
        <p:nvSpPr>
          <p:cNvPr id="7" name="Shape 5"/>
          <p:cNvSpPr/>
          <p:nvPr/>
        </p:nvSpPr>
        <p:spPr>
          <a:xfrm>
            <a:off x="548640" y="1691640"/>
            <a:ext cx="6492240" cy="658368"/>
          </a:xfrm>
          <a:prstGeom prst="roundRect">
            <a:avLst>
              <a:gd name="adj" fmla="val 11111"/>
            </a:avLst>
          </a:prstGeom>
          <a:solidFill>
            <a:srgbClr val="E8EEF4"/>
          </a:solidFill>
          <a:ln w="12700">
            <a:solidFill>
              <a:srgbClr val="E8EEF4"/>
            </a:solidFill>
            <a:prstDash val="solid"/>
          </a:ln>
        </p:spPr>
      </p:sp>
      <p:sp>
        <p:nvSpPr>
          <p:cNvPr id="8" name="Text 6"/>
          <p:cNvSpPr txBox="1"/>
          <p:nvPr/>
        </p:nvSpPr>
        <p:spPr>
          <a:xfrm>
            <a:off x="777240" y="1691640"/>
            <a:ext cx="5394960" cy="658368"/>
          </a:xfrm>
          <a:prstGeom prst="rect">
            <a:avLst/>
          </a:prstGeom>
          <a:noFill/>
          <a:ln/>
        </p:spPr>
        <p:txBody>
          <a:bodyPr wrap="square" lIns="0" tIns="0" rIns="0" bIns="0" rtlCol="0" anchor="ctr"/>
          <a:lstStyle/>
          <a:p>
            <a:pPr indent="0" marL="0">
              <a:buNone/>
            </a:pPr>
            <a:r>
              <a:rPr lang="en-US" sz="1300" dirty="0">
                <a:solidFill>
                  <a:srgbClr val="3D4A57"/>
                </a:solidFill>
                <a:latin typeface="Arial" pitchFamily="34" charset="0"/>
                <a:ea typeface="Arial" pitchFamily="34" charset="-122"/>
                <a:cs typeface="Arial" pitchFamily="34" charset="-120"/>
              </a:rPr>
              <a:t>Navigation present and consistent across pages</a:t>
            </a:r>
            <a:endParaRPr lang="en-US" sz="1300" dirty="0"/>
          </a:p>
        </p:txBody>
      </p:sp>
      <p:sp>
        <p:nvSpPr>
          <p:cNvPr id="9" name="Text 7"/>
          <p:cNvSpPr txBox="1"/>
          <p:nvPr/>
        </p:nvSpPr>
        <p:spPr>
          <a:xfrm>
            <a:off x="6217920" y="1691640"/>
            <a:ext cx="594360" cy="658368"/>
          </a:xfrm>
          <a:prstGeom prst="rect">
            <a:avLst/>
          </a:prstGeom>
          <a:noFill/>
          <a:ln/>
        </p:spPr>
        <p:txBody>
          <a:bodyPr wrap="square" lIns="0" tIns="0" rIns="0" bIns="0" rtlCol="0" anchor="ctr"/>
          <a:lstStyle/>
          <a:p>
            <a:pPr algn="r" indent="0" marL="0">
              <a:buNone/>
            </a:pPr>
            <a:r>
              <a:rPr lang="en-US" sz="1500" b="1" dirty="0">
                <a:solidFill>
                  <a:srgbClr val="003366"/>
                </a:solidFill>
                <a:latin typeface="Arial" pitchFamily="34" charset="0"/>
                <a:ea typeface="Arial" pitchFamily="34" charset="-122"/>
                <a:cs typeface="Arial" pitchFamily="34" charset="-120"/>
              </a:rPr>
              <a:t>1.0</a:t>
            </a:r>
            <a:endParaRPr lang="en-US" sz="1500" dirty="0"/>
          </a:p>
        </p:txBody>
      </p:sp>
      <p:sp>
        <p:nvSpPr>
          <p:cNvPr id="10" name="Shape 8"/>
          <p:cNvSpPr/>
          <p:nvPr/>
        </p:nvSpPr>
        <p:spPr>
          <a:xfrm>
            <a:off x="548640" y="2468880"/>
            <a:ext cx="6492240" cy="658368"/>
          </a:xfrm>
          <a:prstGeom prst="roundRect">
            <a:avLst>
              <a:gd name="adj" fmla="val 11111"/>
            </a:avLst>
          </a:prstGeom>
          <a:solidFill>
            <a:srgbClr val="F2F5F8"/>
          </a:solidFill>
          <a:ln w="12700">
            <a:solidFill>
              <a:srgbClr val="F2F5F8"/>
            </a:solidFill>
            <a:prstDash val="solid"/>
          </a:ln>
        </p:spPr>
      </p:sp>
      <p:sp>
        <p:nvSpPr>
          <p:cNvPr id="11" name="Text 9"/>
          <p:cNvSpPr txBox="1"/>
          <p:nvPr/>
        </p:nvSpPr>
        <p:spPr>
          <a:xfrm>
            <a:off x="777240" y="2468880"/>
            <a:ext cx="5394960" cy="658368"/>
          </a:xfrm>
          <a:prstGeom prst="rect">
            <a:avLst/>
          </a:prstGeom>
          <a:noFill/>
          <a:ln/>
        </p:spPr>
        <p:txBody>
          <a:bodyPr wrap="square" lIns="0" tIns="0" rIns="0" bIns="0" rtlCol="0" anchor="ctr"/>
          <a:lstStyle/>
          <a:p>
            <a:pPr indent="0" marL="0">
              <a:buNone/>
            </a:pPr>
            <a:r>
              <a:rPr lang="en-US" sz="1300" dirty="0">
                <a:solidFill>
                  <a:srgbClr val="3D4A57"/>
                </a:solidFill>
                <a:latin typeface="Arial" pitchFamily="34" charset="0"/>
                <a:ea typeface="Arial" pitchFamily="34" charset="-122"/>
                <a:cs typeface="Arial" pitchFamily="34" charset="-120"/>
              </a:rPr>
              <a:t>Form controls correct: radio group, checkbox, select</a:t>
            </a:r>
            <a:endParaRPr lang="en-US" sz="1300" dirty="0"/>
          </a:p>
        </p:txBody>
      </p:sp>
      <p:sp>
        <p:nvSpPr>
          <p:cNvPr id="12" name="Text 10"/>
          <p:cNvSpPr txBox="1"/>
          <p:nvPr/>
        </p:nvSpPr>
        <p:spPr>
          <a:xfrm>
            <a:off x="6217920" y="2468880"/>
            <a:ext cx="594360" cy="658368"/>
          </a:xfrm>
          <a:prstGeom prst="rect">
            <a:avLst/>
          </a:prstGeom>
          <a:noFill/>
          <a:ln/>
        </p:spPr>
        <p:txBody>
          <a:bodyPr wrap="square" lIns="0" tIns="0" rIns="0" bIns="0" rtlCol="0" anchor="ctr"/>
          <a:lstStyle/>
          <a:p>
            <a:pPr algn="r" indent="0" marL="0">
              <a:buNone/>
            </a:pPr>
            <a:r>
              <a:rPr lang="en-US" sz="1500" b="1" dirty="0">
                <a:solidFill>
                  <a:srgbClr val="003366"/>
                </a:solidFill>
                <a:latin typeface="Arial" pitchFamily="34" charset="0"/>
                <a:ea typeface="Arial" pitchFamily="34" charset="-122"/>
                <a:cs typeface="Arial" pitchFamily="34" charset="-120"/>
              </a:rPr>
              <a:t>1.5</a:t>
            </a:r>
            <a:endParaRPr lang="en-US" sz="1500" dirty="0"/>
          </a:p>
        </p:txBody>
      </p:sp>
      <p:sp>
        <p:nvSpPr>
          <p:cNvPr id="13" name="Shape 11"/>
          <p:cNvSpPr/>
          <p:nvPr/>
        </p:nvSpPr>
        <p:spPr>
          <a:xfrm>
            <a:off x="548640" y="3246120"/>
            <a:ext cx="6492240" cy="658368"/>
          </a:xfrm>
          <a:prstGeom prst="roundRect">
            <a:avLst>
              <a:gd name="adj" fmla="val 11111"/>
            </a:avLst>
          </a:prstGeom>
          <a:solidFill>
            <a:srgbClr val="E8EEF4"/>
          </a:solidFill>
          <a:ln w="12700">
            <a:solidFill>
              <a:srgbClr val="E8EEF4"/>
            </a:solidFill>
            <a:prstDash val="solid"/>
          </a:ln>
        </p:spPr>
      </p:sp>
      <p:sp>
        <p:nvSpPr>
          <p:cNvPr id="14" name="Text 12"/>
          <p:cNvSpPr txBox="1"/>
          <p:nvPr/>
        </p:nvSpPr>
        <p:spPr>
          <a:xfrm>
            <a:off x="777240" y="3246120"/>
            <a:ext cx="5394960" cy="658368"/>
          </a:xfrm>
          <a:prstGeom prst="rect">
            <a:avLst/>
          </a:prstGeom>
          <a:noFill/>
          <a:ln/>
        </p:spPr>
        <p:txBody>
          <a:bodyPr wrap="square" lIns="0" tIns="0" rIns="0" bIns="0" rtlCol="0" anchor="ctr"/>
          <a:lstStyle/>
          <a:p>
            <a:pPr indent="0" marL="0">
              <a:buNone/>
            </a:pPr>
            <a:r>
              <a:rPr lang="en-US" sz="1300" dirty="0">
                <a:solidFill>
                  <a:srgbClr val="3D4A57"/>
                </a:solidFill>
                <a:latin typeface="Arial" pitchFamily="34" charset="0"/>
                <a:ea typeface="Arial" pitchFamily="34" charset="-122"/>
                <a:cs typeface="Arial" pitchFamily="34" charset="-120"/>
              </a:rPr>
              <a:t>Every input has a correctly linked label</a:t>
            </a:r>
            <a:endParaRPr lang="en-US" sz="1300" dirty="0"/>
          </a:p>
        </p:txBody>
      </p:sp>
      <p:sp>
        <p:nvSpPr>
          <p:cNvPr id="15" name="Text 13"/>
          <p:cNvSpPr txBox="1"/>
          <p:nvPr/>
        </p:nvSpPr>
        <p:spPr>
          <a:xfrm>
            <a:off x="6217920" y="3246120"/>
            <a:ext cx="594360" cy="658368"/>
          </a:xfrm>
          <a:prstGeom prst="rect">
            <a:avLst/>
          </a:prstGeom>
          <a:noFill/>
          <a:ln/>
        </p:spPr>
        <p:txBody>
          <a:bodyPr wrap="square" lIns="0" tIns="0" rIns="0" bIns="0" rtlCol="0" anchor="ctr"/>
          <a:lstStyle/>
          <a:p>
            <a:pPr algn="r" indent="0" marL="0">
              <a:buNone/>
            </a:pPr>
            <a:r>
              <a:rPr lang="en-US" sz="1500" b="1" dirty="0">
                <a:solidFill>
                  <a:srgbClr val="003366"/>
                </a:solidFill>
                <a:latin typeface="Arial" pitchFamily="34" charset="0"/>
                <a:ea typeface="Arial" pitchFamily="34" charset="-122"/>
                <a:cs typeface="Arial" pitchFamily="34" charset="-120"/>
              </a:rPr>
              <a:t>1.0</a:t>
            </a:r>
            <a:endParaRPr lang="en-US" sz="1500" dirty="0"/>
          </a:p>
        </p:txBody>
      </p:sp>
      <p:sp>
        <p:nvSpPr>
          <p:cNvPr id="16" name="Shape 14"/>
          <p:cNvSpPr/>
          <p:nvPr/>
        </p:nvSpPr>
        <p:spPr>
          <a:xfrm>
            <a:off x="548640" y="4023360"/>
            <a:ext cx="6492240" cy="658368"/>
          </a:xfrm>
          <a:prstGeom prst="roundRect">
            <a:avLst>
              <a:gd name="adj" fmla="val 11111"/>
            </a:avLst>
          </a:prstGeom>
          <a:solidFill>
            <a:srgbClr val="F2F5F8"/>
          </a:solidFill>
          <a:ln w="12700">
            <a:solidFill>
              <a:srgbClr val="F2F5F8"/>
            </a:solidFill>
            <a:prstDash val="solid"/>
          </a:ln>
        </p:spPr>
      </p:sp>
      <p:sp>
        <p:nvSpPr>
          <p:cNvPr id="17" name="Text 15"/>
          <p:cNvSpPr txBox="1"/>
          <p:nvPr/>
        </p:nvSpPr>
        <p:spPr>
          <a:xfrm>
            <a:off x="777240" y="4023360"/>
            <a:ext cx="5394960" cy="658368"/>
          </a:xfrm>
          <a:prstGeom prst="rect">
            <a:avLst/>
          </a:prstGeom>
          <a:noFill/>
          <a:ln/>
        </p:spPr>
        <p:txBody>
          <a:bodyPr wrap="square" lIns="0" tIns="0" rIns="0" bIns="0" rtlCol="0" anchor="ctr"/>
          <a:lstStyle/>
          <a:p>
            <a:pPr indent="0" marL="0">
              <a:buNone/>
            </a:pPr>
            <a:r>
              <a:rPr lang="en-US" sz="1300" dirty="0">
                <a:solidFill>
                  <a:srgbClr val="3D4A57"/>
                </a:solidFill>
                <a:latin typeface="Arial" pitchFamily="34" charset="0"/>
                <a:ea typeface="Arial" pitchFamily="34" charset="-122"/>
                <a:cs typeface="Arial" pitchFamily="34" charset="-120"/>
              </a:rPr>
              <a:t>Table with caption, thead/tbody and scope</a:t>
            </a:r>
            <a:endParaRPr lang="en-US" sz="1300" dirty="0"/>
          </a:p>
        </p:txBody>
      </p:sp>
      <p:sp>
        <p:nvSpPr>
          <p:cNvPr id="18" name="Text 16"/>
          <p:cNvSpPr txBox="1"/>
          <p:nvPr/>
        </p:nvSpPr>
        <p:spPr>
          <a:xfrm>
            <a:off x="6217920" y="4023360"/>
            <a:ext cx="594360" cy="658368"/>
          </a:xfrm>
          <a:prstGeom prst="rect">
            <a:avLst/>
          </a:prstGeom>
          <a:noFill/>
          <a:ln/>
        </p:spPr>
        <p:txBody>
          <a:bodyPr wrap="square" lIns="0" tIns="0" rIns="0" bIns="0" rtlCol="0" anchor="ctr"/>
          <a:lstStyle/>
          <a:p>
            <a:pPr algn="r" indent="0" marL="0">
              <a:buNone/>
            </a:pPr>
            <a:r>
              <a:rPr lang="en-US" sz="1500" b="1" dirty="0">
                <a:solidFill>
                  <a:srgbClr val="003366"/>
                </a:solidFill>
                <a:latin typeface="Arial" pitchFamily="34" charset="0"/>
                <a:ea typeface="Arial" pitchFamily="34" charset="-122"/>
                <a:cs typeface="Arial" pitchFamily="34" charset="-120"/>
              </a:rPr>
              <a:t>1.5</a:t>
            </a:r>
            <a:endParaRPr lang="en-US" sz="1500" dirty="0"/>
          </a:p>
        </p:txBody>
      </p:sp>
      <p:sp>
        <p:nvSpPr>
          <p:cNvPr id="19" name="Shape 17"/>
          <p:cNvSpPr/>
          <p:nvPr/>
        </p:nvSpPr>
        <p:spPr>
          <a:xfrm>
            <a:off x="7406640" y="1371600"/>
            <a:ext cx="4206240" cy="1600200"/>
          </a:xfrm>
          <a:prstGeom prst="roundRect">
            <a:avLst>
              <a:gd name="adj" fmla="val 4571"/>
            </a:avLst>
          </a:prstGeom>
          <a:solidFill>
            <a:srgbClr val="003366"/>
          </a:solidFill>
          <a:ln w="12700">
            <a:solidFill>
              <a:srgbClr val="003366"/>
            </a:solidFill>
            <a:prstDash val="solid"/>
          </a:ln>
          <a:effectLst>
            <a:outerShdw sx="100000" sy="100000" kx="0" ky="0" algn="bl" rotWithShape="0" blurRad="76200" dist="12700" dir="5400000">
              <a:srgbClr val="9AA9B8">
                <a:alpha val="18000"/>
              </a:srgbClr>
            </a:outerShdw>
          </a:effectLst>
        </p:spPr>
      </p:sp>
      <p:sp>
        <p:nvSpPr>
          <p:cNvPr id="20" name="Text 18"/>
          <p:cNvSpPr txBox="1"/>
          <p:nvPr/>
        </p:nvSpPr>
        <p:spPr>
          <a:xfrm>
            <a:off x="7662672" y="1572768"/>
            <a:ext cx="3694176" cy="329184"/>
          </a:xfrm>
          <a:prstGeom prst="rect">
            <a:avLst/>
          </a:prstGeom>
          <a:noFill/>
          <a:ln/>
        </p:spPr>
        <p:txBody>
          <a:bodyPr wrap="square" lIns="0" tIns="0" rIns="0" bIns="0" rtlCol="0" anchor="ctr"/>
          <a:lstStyle/>
          <a:p>
            <a:pPr indent="0" marL="0">
              <a:buNone/>
            </a:pPr>
            <a:r>
              <a:rPr lang="en-US" sz="1700" b="1" dirty="0">
                <a:solidFill>
                  <a:srgbClr val="E39A18"/>
                </a:solidFill>
                <a:latin typeface="Arial" pitchFamily="34" charset="0"/>
                <a:ea typeface="Arial" pitchFamily="34" charset="-122"/>
                <a:cs typeface="Arial" pitchFamily="34" charset="-120"/>
              </a:rPr>
              <a:t>Exit question 1 - concept</a:t>
            </a:r>
            <a:endParaRPr lang="en-US" sz="1700" dirty="0"/>
          </a:p>
        </p:txBody>
      </p:sp>
      <p:sp>
        <p:nvSpPr>
          <p:cNvPr id="21" name="Text 19"/>
          <p:cNvSpPr txBox="1"/>
          <p:nvPr/>
        </p:nvSpPr>
        <p:spPr>
          <a:xfrm>
            <a:off x="7662672" y="1993392"/>
            <a:ext cx="3694176" cy="813816"/>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Arial" pitchFamily="34" charset="0"/>
                <a:ea typeface="Arial" pitchFamily="34" charset="-122"/>
                <a:cs typeface="Arial" pitchFamily="34" charset="-120"/>
              </a:rPr>
              <a:t>When should you use a table, and when should you use a list?</a:t>
            </a:r>
            <a:endParaRPr lang="en-US" sz="1400" dirty="0"/>
          </a:p>
        </p:txBody>
      </p:sp>
      <p:sp>
        <p:nvSpPr>
          <p:cNvPr id="22" name="Shape 20"/>
          <p:cNvSpPr/>
          <p:nvPr/>
        </p:nvSpPr>
        <p:spPr>
          <a:xfrm>
            <a:off x="7406640" y="3200400"/>
            <a:ext cx="4206240" cy="1737360"/>
          </a:xfrm>
          <a:prstGeom prst="roundRect">
            <a:avLst>
              <a:gd name="adj" fmla="val 421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23" name="Text 21"/>
          <p:cNvSpPr txBox="1"/>
          <p:nvPr/>
        </p:nvSpPr>
        <p:spPr>
          <a:xfrm>
            <a:off x="7662672" y="3401568"/>
            <a:ext cx="369417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Exit question 2 - practical</a:t>
            </a:r>
            <a:endParaRPr lang="en-US" sz="1700" dirty="0"/>
          </a:p>
        </p:txBody>
      </p:sp>
      <p:sp>
        <p:nvSpPr>
          <p:cNvPr id="24" name="Text 22"/>
          <p:cNvSpPr txBox="1"/>
          <p:nvPr/>
        </p:nvSpPr>
        <p:spPr>
          <a:xfrm>
            <a:off x="7662672" y="3822192"/>
            <a:ext cx="3694176" cy="950976"/>
          </a:xfrm>
          <a:prstGeom prst="rect">
            <a:avLst/>
          </a:prstGeom>
          <a:noFill/>
          <a:ln/>
        </p:spPr>
        <p:txBody>
          <a:bodyPr wrap="square" lIns="0" tIns="0" rIns="0" bIns="0" rtlCol="0" anchor="t"/>
          <a:lstStyle/>
          <a:p>
            <a:pPr indent="0" marL="0">
              <a:spcAft>
                <a:spcPts val="600"/>
              </a:spcAft>
              <a:buNone/>
            </a:pPr>
            <a:r>
              <a:rPr lang="en-US" sz="1400" dirty="0">
                <a:solidFill>
                  <a:srgbClr val="3D4A57"/>
                </a:solidFill>
                <a:latin typeface="Arial" pitchFamily="34" charset="0"/>
                <a:ea typeface="Arial" pitchFamily="34" charset="-122"/>
                <a:cs typeface="Arial" pitchFamily="34" charset="-120"/>
              </a:rPr>
              <a:t>Write the two lines of HTML for a radio button labelled "Female" in a group named gender.</a:t>
            </a:r>
            <a:endParaRPr lang="en-US" sz="1400" dirty="0"/>
          </a:p>
        </p:txBody>
      </p:sp>
      <p:sp>
        <p:nvSpPr>
          <p:cNvPr id="25" name="Text 23"/>
          <p:cNvSpPr txBox="1"/>
          <p:nvPr/>
        </p:nvSpPr>
        <p:spPr>
          <a:xfrm>
            <a:off x="548640" y="5120640"/>
            <a:ext cx="6492240" cy="457200"/>
          </a:xfrm>
          <a:prstGeom prst="rect">
            <a:avLst/>
          </a:prstGeom>
          <a:noFill/>
          <a:ln/>
        </p:spPr>
        <p:txBody>
          <a:bodyPr wrap="square" lIns="0" tIns="0" rIns="0" bIns="0" rtlCol="0" anchor="t"/>
          <a:lstStyle/>
          <a:p>
            <a:pPr algn="l" indent="0" marL="0">
              <a:lnSpc>
                <a:spcPts val="1823"/>
              </a:lnSpc>
              <a:buNone/>
            </a:pPr>
            <a:r>
              <a:rPr lang="en-US" sz="1350" i="1" dirty="0">
                <a:solidFill>
                  <a:srgbClr val="003366"/>
                </a:solidFill>
                <a:latin typeface="Arial" pitchFamily="34" charset="0"/>
                <a:ea typeface="Arial" pitchFamily="34" charset="-122"/>
                <a:cs typeface="Arial" pitchFamily="34" charset="-120"/>
              </a:rPr>
              <a:t>Next class: accessibility essentials - we audit and fix the page you just built.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International Islamic University Chittagong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CSE-2340 W2C1 Navigation, Forms and Tables</dc:title>
  <dc:subject>Practical HTML patterns</dc:subject>
  <dc:creator>Md Sadman Hafiz</dc:creator>
  <cp:lastModifiedBy>Md Sadman Hafiz</cp:lastModifiedBy>
  <cp:revision>1</cp:revision>
  <dcterms:created xsi:type="dcterms:W3CDTF">2026-08-30T01:25:41Z</dcterms:created>
  <dcterms:modified xsi:type="dcterms:W3CDTF">2026-08-30T01:25:41Z</dcterms:modified>
</cp:coreProperties>
</file>