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Class 3. This is a CLASS session under the revised syllabus, so it carries two former topics: CSS basics and the box model. It is dense. Concepts 5-20, live build 20-38, student build 38-45, debug 45-48, exit 48-50. C4 is the practice class where students actually drill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Everyone opens register.html from C1. Today it finally stops looking like a 1995 document. Tell them that up front - it is the moment the course becomes visually rewarding.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 min. Create styles.css live and link it. Then prove the link works with one obvious rule such as body { background: #eee; }. If the page does not change, the path is wrong - that is the first debugging lesson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8-10 min. Emphasise the silence. Java throws an error; CSS just ignores you. Show a rule with a typo in DevTools - it appears struck through or greyed out, which is the only feedback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 min. Class is the workhorse. An id can be used once per page and is hard to override later. Students coming from Java find the dot notation familiar but it means something different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13-16 min. Students always style hover and forget focus. Connect it back to the previous class explicitly: a hover-only button is invisible to a keyboard user. Style them together or not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 min. line-height 1.6 is the single change that makes a student page look professional. Show it live: set it to 1 and then 1.6 and let them see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19-21 min. The practical rule for this course: rem for font sizes and vertical spacing, % for widths, px for borders. Do not over-explain em; just warn that nesting multiplies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min. Transition. Ask students to open DevTools and hover over any element on any site - the coloured overlay IS the box model. That visual is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21-25 min. Draw this on the whiteboard too and leave it there. The one-sentence test students should memorise: space inside = padding, space outside = margin. Ask three students to classify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25-27 min. Demonstrate live: set width 300px with padding, measure in DevTools, then add border-box and measure again. This is the highest-value two minutes in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27-29 min. margin: 0 auto only works on a block element that has a width. If a student says centring is not working, check both conditions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29-32 min. Demonstrate the bug: give a span a width and show that nothing happens, then add display: inline-block and watch it work. Students hit this constantly in C4.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32-34 min. background-size: cover is the property they will reach for again and again. Show what happens without it - the image tiles and looks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min. Stress that we change ZERO lines of HTML. Good semantic structure means you can restyle a page completely without touching it. That is the payoff for the last two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Save and reload after the reset - the page visibly tightens up. Explain that browsers apply their own default stylesheet and we are overriding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The nav turning from a bullet list into a horizontal menu is the moment the class reacts. Point out display: inline-block doing the work, and that :hover and :focus are styled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Link width: 100% back to the box-sizing reset explicitly - without it every input would overflow its fieldset. That connection is the point of the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Finish by pressing Tab through the styled page. If a student removed the focus outline while styling, this is where it shows up - and it is a rubric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on the projector for two minutes. In C4 students spend most of the class here, so the tour has to happen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45-48 min. The 404 check is the most useful habit here. Teach them to open the Network tab and look for styles.css before changing a single line of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min. Part 2 is genuinely large - warn them to start it tonight, not the hour before C4. Students who skip it cannot participate in the practice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min. Expected answer 2: .container { width: 90%; max-width: 900px; margin: 0 auto; }. Accept anything with a width plus margin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A4A85"/>
          </a:solidFill>
          <a:ln w="12700">
            <a:solidFill>
              <a:srgbClr val="0A4A85"/>
            </a:solidFill>
            <a:prstDash val="solid"/>
          </a:ln>
        </p:spPr>
      </p:sp>
      <p:sp>
        <p:nvSpPr>
          <p:cNvPr id="3" name="Shape 1"/>
          <p:cNvSpPr/>
          <p:nvPr/>
        </p:nvSpPr>
        <p:spPr>
          <a:xfrm>
            <a:off x="10607040" y="4206240"/>
            <a:ext cx="3108960" cy="3108960"/>
          </a:xfrm>
          <a:prstGeom prst="ellipse">
            <a:avLst/>
          </a:prstGeom>
          <a:solidFill>
            <a:srgbClr val="07386A"/>
          </a:solidFill>
          <a:ln w="12700">
            <a:solidFill>
              <a:srgbClr val="07386A"/>
            </a:solidFill>
            <a:prstDash val="solid"/>
          </a:ln>
        </p:spPr>
      </p:sp>
      <p:sp>
        <p:nvSpPr>
          <p:cNvPr id="4" name="Text 2"/>
          <p:cNvSpPr txBox="1"/>
          <p:nvPr/>
        </p:nvSpPr>
        <p:spPr>
          <a:xfrm>
            <a:off x="548640" y="777240"/>
            <a:ext cx="8686800" cy="274320"/>
          </a:xfrm>
          <a:prstGeom prst="rect">
            <a:avLst/>
          </a:prstGeom>
          <a:noFill/>
        </p:spPr>
        <p:txBody>
          <a:bodyPr wrap="square" lIns="0" tIns="0" rIns="0" bIns="0" rtlCol="0" anchor="ctr"/>
          <a:lstStyle/>
          <a:p>
            <a:pPr marL="0" indent="0">
              <a:buNone/>
            </a:pPr>
            <a:r>
              <a:rPr lang="en-US" sz="1200" b="1" kern="0" spc="150" dirty="0">
                <a:solidFill>
                  <a:srgbClr val="E39A18"/>
                </a:solidFill>
                <a:latin typeface="Arial" panose="020B0604020202020204" pitchFamily="34" charset="0"/>
                <a:ea typeface="Arial" panose="020B0604020202020204" pitchFamily="34" charset="-122"/>
                <a:cs typeface="Arial" panose="020B0604020202020204" pitchFamily="34" charset="-120"/>
              </a:rPr>
              <a:t>INTERNATIONAL ISLAMIC UNIVERSITY CHITTAGONG</a:t>
            </a:r>
            <a:endParaRPr lang="en-US" sz="1200" dirty="0"/>
          </a:p>
        </p:txBody>
      </p:sp>
      <p:sp>
        <p:nvSpPr>
          <p:cNvPr id="5" name="Text 3"/>
          <p:cNvSpPr txBox="1"/>
          <p:nvPr/>
        </p:nvSpPr>
        <p:spPr>
          <a:xfrm>
            <a:off x="548640" y="1078992"/>
            <a:ext cx="8686800" cy="274320"/>
          </a:xfrm>
          <a:prstGeom prst="rect">
            <a:avLst/>
          </a:prstGeom>
          <a:noFill/>
        </p:spPr>
        <p:txBody>
          <a:bodyPr wrap="square" lIns="0" tIns="0" rIns="0" bIns="0" rtlCol="0" anchor="ctr"/>
          <a:lstStyle/>
          <a:p>
            <a:pPr marL="0" indent="0">
              <a:buNone/>
            </a:pPr>
            <a:r>
              <a:rPr lang="en-US" sz="1200" dirty="0">
                <a:solidFill>
                  <a:srgbClr val="BFD3E6"/>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200" dirty="0"/>
          </a:p>
        </p:txBody>
      </p:sp>
      <p:sp>
        <p:nvSpPr>
          <p:cNvPr id="6" name="Text 4"/>
          <p:cNvSpPr txBox="1"/>
          <p:nvPr/>
        </p:nvSpPr>
        <p:spPr>
          <a:xfrm>
            <a:off x="548640" y="1828800"/>
            <a:ext cx="8686800" cy="411480"/>
          </a:xfrm>
          <a:prstGeom prst="rect">
            <a:avLst/>
          </a:prstGeom>
          <a:noFill/>
        </p:spPr>
        <p:txBody>
          <a:bodyPr wrap="square" lIns="0" tIns="0" rIns="0" bIns="0" rtlCol="0" anchor="ctr"/>
          <a:lstStyle/>
          <a:p>
            <a:pPr marL="0" indent="0">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1800" dirty="0"/>
          </a:p>
        </p:txBody>
      </p:sp>
      <p:sp>
        <p:nvSpPr>
          <p:cNvPr id="7" name="Text 5"/>
          <p:cNvSpPr txBox="1"/>
          <p:nvPr/>
        </p:nvSpPr>
        <p:spPr>
          <a:xfrm>
            <a:off x="548640" y="2331720"/>
            <a:ext cx="8778240" cy="1371600"/>
          </a:xfrm>
          <a:prstGeom prst="rect">
            <a:avLst/>
          </a:prstGeom>
          <a:noFill/>
        </p:spPr>
        <p:txBody>
          <a:bodyPr wrap="square" lIns="0" tIns="0" rIns="0" bIns="0" rtlCol="0" anchor="ctr"/>
          <a:lstStyle/>
          <a:p>
            <a:pPr marL="0" indent="0">
              <a:lnSpc>
                <a:spcPts val="4600"/>
              </a:lnSpc>
              <a:buNone/>
            </a:pPr>
            <a:r>
              <a:rPr lang="en-US" sz="4200" b="1" dirty="0">
                <a:solidFill>
                  <a:srgbClr val="FFFFFF"/>
                </a:solidFill>
                <a:latin typeface="Arial" panose="020B0604020202020204" pitchFamily="34" charset="0"/>
                <a:ea typeface="Arial" panose="020B0604020202020204" pitchFamily="34" charset="-122"/>
                <a:cs typeface="Arial" panose="020B0604020202020204" pitchFamily="34" charset="-120"/>
              </a:rPr>
              <a:t>CSS Fundamentals &amp; the Box Model</a:t>
            </a:r>
            <a:endParaRPr lang="en-US" sz="4200" dirty="0"/>
          </a:p>
        </p:txBody>
      </p:sp>
      <p:sp>
        <p:nvSpPr>
          <p:cNvPr id="8" name="Text 6"/>
          <p:cNvSpPr txBox="1"/>
          <p:nvPr/>
        </p:nvSpPr>
        <p:spPr>
          <a:xfrm>
            <a:off x="548640" y="3794760"/>
            <a:ext cx="8778240" cy="365760"/>
          </a:xfrm>
          <a:prstGeom prst="rect">
            <a:avLst/>
          </a:prstGeom>
          <a:noFill/>
        </p:spPr>
        <p:txBody>
          <a:bodyPr wrap="square" lIns="0" tIns="0" rIns="0" bIns="0" rtlCol="0" anchor="ctr"/>
          <a:lstStyle/>
          <a:p>
            <a:pPr marL="0" indent="0">
              <a:buNone/>
            </a:pPr>
            <a:r>
              <a:rPr lang="en-US" sz="1500" i="1" dirty="0">
                <a:solidFill>
                  <a:srgbClr val="9FC0DE"/>
                </a:solidFill>
                <a:latin typeface="Arial" panose="020B0604020202020204" pitchFamily="34" charset="0"/>
                <a:ea typeface="Arial" panose="020B0604020202020204" pitchFamily="34" charset="-122"/>
                <a:cs typeface="Arial" panose="020B0604020202020204" pitchFamily="34" charset="-120"/>
              </a:rPr>
              <a:t>Week 2 · Class 3 · Application methods, selectors, text, units, box model, display, backgrounds</a:t>
            </a:r>
            <a:endParaRPr lang="en-US" sz="1500" dirty="0"/>
          </a:p>
        </p:txBody>
      </p:sp>
      <p:sp>
        <p:nvSpPr>
          <p:cNvPr id="9" name="Shape 7"/>
          <p:cNvSpPr/>
          <p:nvPr/>
        </p:nvSpPr>
        <p:spPr>
          <a:xfrm>
            <a:off x="548640" y="4434840"/>
            <a:ext cx="1005840" cy="32004"/>
          </a:xfrm>
          <a:prstGeom prst="rect">
            <a:avLst/>
          </a:prstGeom>
          <a:solidFill>
            <a:srgbClr val="E39A18"/>
          </a:solidFill>
          <a:ln w="12700">
            <a:solidFill>
              <a:srgbClr val="E39A18"/>
            </a:solidFill>
            <a:prstDash val="solid"/>
          </a:ln>
        </p:spPr>
      </p:sp>
      <p:sp>
        <p:nvSpPr>
          <p:cNvPr id="10" name="Text 8"/>
          <p:cNvSpPr txBox="1"/>
          <p:nvPr/>
        </p:nvSpPr>
        <p:spPr>
          <a:xfrm>
            <a:off x="548640" y="4709160"/>
            <a:ext cx="7315200" cy="320040"/>
          </a:xfrm>
          <a:prstGeom prst="rect">
            <a:avLst/>
          </a:prstGeom>
          <a:noFill/>
        </p:spPr>
        <p:txBody>
          <a:bodyPr wrap="square" lIns="0" tIns="0" rIns="0" bIns="0" rtlCol="0" anchor="ct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Md Sadman Hafiz</a:t>
            </a:r>
            <a:endParaRPr lang="en-US" sz="1700" dirty="0"/>
          </a:p>
        </p:txBody>
      </p:sp>
      <p:sp>
        <p:nvSpPr>
          <p:cNvPr id="11" name="Text 9"/>
          <p:cNvSpPr txBox="1"/>
          <p:nvPr/>
        </p:nvSpPr>
        <p:spPr>
          <a:xfrm>
            <a:off x="548640" y="5029200"/>
            <a:ext cx="7315200" cy="274320"/>
          </a:xfrm>
          <a:prstGeom prst="rect">
            <a:avLst/>
          </a:prstGeom>
          <a:noFill/>
        </p:spPr>
        <p:txBody>
          <a:bodyPr wrap="square" lIns="0" tIns="0" rIns="0" bIns="0" rtlCol="0" anchor="ctr"/>
          <a:lstStyle/>
          <a:p>
            <a:pPr marL="0" indent="0">
              <a:buNone/>
            </a:pPr>
            <a:r>
              <a:rPr lang="en-US" sz="1300" dirty="0">
                <a:solidFill>
                  <a:srgbClr val="BFD3E6"/>
                </a:solidFill>
                <a:latin typeface="Arial" panose="020B0604020202020204" pitchFamily="34" charset="0"/>
                <a:ea typeface="Arial" panose="020B0604020202020204" pitchFamily="34" charset="-122"/>
                <a:cs typeface="Arial" panose="020B0604020202020204" pitchFamily="34" charset="-120"/>
              </a:rPr>
              <a:t>Lecturer, Dept. of CSE, IIUC</a:t>
            </a:r>
            <a:endParaRPr lang="en-US" sz="1300" dirty="0"/>
          </a:p>
        </p:txBody>
      </p:sp>
      <p:sp>
        <p:nvSpPr>
          <p:cNvPr id="12" name="Text 10"/>
          <p:cNvSpPr txBox="1"/>
          <p:nvPr/>
        </p:nvSpPr>
        <p:spPr>
          <a:xfrm>
            <a:off x="548640" y="5715000"/>
            <a:ext cx="7315200" cy="274320"/>
          </a:xfrm>
          <a:prstGeom prst="rect">
            <a:avLst/>
          </a:prstGeom>
          <a:noFill/>
        </p:spPr>
        <p:txBody>
          <a:bodyPr wrap="square" lIns="0" tIns="0" rIns="0" bIns="0" rtlCol="0" anchor="ctr"/>
          <a:lstStyle/>
          <a:p>
            <a:pPr marL="0" indent="0">
              <a:buNone/>
            </a:pPr>
            <a:r>
              <a:rPr lang="en-US" sz="1200" dirty="0">
                <a:solidFill>
                  <a:srgbClr val="8FB3D4"/>
                </a:solidFill>
                <a:latin typeface="Arial" panose="020B0604020202020204" pitchFamily="34" charset="0"/>
                <a:ea typeface="Arial" panose="020B0604020202020204" pitchFamily="34" charset="-122"/>
                <a:cs typeface="Arial" panose="020B0604020202020204" pitchFamily="34" charset="-120"/>
              </a:rPr>
              <a:t>Autumn 2026  |  50-minute class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0-5 MINUTES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Recall &amp; Today's Outcome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a:t>
            </a:r>
            <a:endParaRPr lang="en-US" sz="900" dirty="0"/>
          </a:p>
        </p:txBody>
      </p:sp>
      <p:sp>
        <p:nvSpPr>
          <p:cNvPr id="6" name="Shape 4"/>
          <p:cNvSpPr/>
          <p:nvPr/>
        </p:nvSpPr>
        <p:spPr>
          <a:xfrm>
            <a:off x="548640" y="1417320"/>
            <a:ext cx="5486400" cy="4480560"/>
          </a:xfrm>
          <a:prstGeom prst="roundRect">
            <a:avLst>
              <a:gd name="adj" fmla="val 1633"/>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7" name="Shape 5"/>
          <p:cNvSpPr/>
          <p:nvPr/>
        </p:nvSpPr>
        <p:spPr>
          <a:xfrm>
            <a:off x="749808" y="161848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6184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9" name="Text 7"/>
          <p:cNvSpPr txBox="1"/>
          <p:nvPr/>
        </p:nvSpPr>
        <p:spPr>
          <a:xfrm>
            <a:off x="1261872" y="1645920"/>
            <a:ext cx="45720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Recall from C1 and C2</a:t>
            </a:r>
            <a:endParaRPr lang="en-US" sz="1700" dirty="0"/>
          </a:p>
        </p:txBody>
      </p:sp>
      <p:sp>
        <p:nvSpPr>
          <p:cNvPr id="10" name="Text 8"/>
          <p:cNvSpPr txBox="1"/>
          <p:nvPr/>
        </p:nvSpPr>
        <p:spPr>
          <a:xfrm>
            <a:off x="804672" y="2039112"/>
            <a:ext cx="4974336" cy="3694176"/>
          </a:xfrm>
          <a:prstGeom prst="rect">
            <a:avLst/>
          </a:prstGeom>
          <a:noFill/>
        </p:spPr>
        <p:txBody>
          <a:bodyPr wrap="square" lIns="0" tIns="0" rIns="0" bIns="0" rtlCol="0" anchor="t"/>
          <a:lstStyle/>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Which tag groups navigation links?</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What connects a label to an input?</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Why must focus stay visible?</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Open your register.html now.</a:t>
            </a:r>
            <a:endParaRPr lang="en-US" sz="1500" dirty="0"/>
          </a:p>
        </p:txBody>
      </p:sp>
      <p:sp>
        <p:nvSpPr>
          <p:cNvPr id="11" name="Shape 9"/>
          <p:cNvSpPr/>
          <p:nvPr/>
        </p:nvSpPr>
        <p:spPr>
          <a:xfrm>
            <a:off x="6309360" y="1417320"/>
            <a:ext cx="5303520" cy="4480560"/>
          </a:xfrm>
          <a:prstGeom prst="roundRect">
            <a:avLst>
              <a:gd name="adj" fmla="val 1633"/>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6510528" y="161848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6184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7022592" y="164592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By the end of today you can</a:t>
            </a:r>
            <a:endParaRPr lang="en-US" sz="1700" dirty="0"/>
          </a:p>
        </p:txBody>
      </p:sp>
      <p:sp>
        <p:nvSpPr>
          <p:cNvPr id="15" name="Text 13"/>
          <p:cNvSpPr txBox="1"/>
          <p:nvPr/>
        </p:nvSpPr>
        <p:spPr>
          <a:xfrm>
            <a:off x="6565392" y="2039112"/>
            <a:ext cx="4791456" cy="3694176"/>
          </a:xfrm>
          <a:prstGeom prst="rect">
            <a:avLst/>
          </a:prstGeom>
          <a:noFill/>
        </p:spPr>
        <p:txBody>
          <a:bodyPr wrap="square" lIns="0" tIns="0" rIns="0" bIns="0" rtlCol="0" anchor="t"/>
          <a:lstStyle/>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Link an external stylesheet</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Select elements by tag, class and id</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Control text: family, size, weight, spacing</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Choose between px, %, em, rem and vh</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Explain the box model and box-sizing</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Use display and background properties</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Style the page you built in C1</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Three Ways to Apply CSS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3</a:t>
            </a:r>
            <a:endParaRPr lang="en-US" sz="900" dirty="0"/>
          </a:p>
        </p:txBody>
      </p:sp>
      <p:sp>
        <p:nvSpPr>
          <p:cNvPr id="6" name="Text 4"/>
          <p:cNvSpPr txBox="1"/>
          <p:nvPr/>
        </p:nvSpPr>
        <p:spPr>
          <a:xfrm>
            <a:off x="548640" y="1325880"/>
            <a:ext cx="3566160" cy="256032"/>
          </a:xfrm>
          <a:prstGeom prst="rect">
            <a:avLst/>
          </a:prstGeom>
          <a:noFill/>
        </p:spPr>
        <p:txBody>
          <a:bodyPr wrap="square" lIns="0" tIns="0" rIns="0" bIns="0" rtlCol="0" anchor="ctr"/>
          <a:lstStyle/>
          <a:p>
            <a:pPr marL="0" indent="0">
              <a:buNone/>
            </a:pPr>
            <a:r>
              <a:rPr lang="en-US" sz="1200" b="1" kern="0" spc="60" dirty="0">
                <a:solidFill>
                  <a:srgbClr val="B3261E"/>
                </a:solidFill>
                <a:latin typeface="Arial" panose="020B0604020202020204" pitchFamily="34" charset="0"/>
                <a:ea typeface="Arial" panose="020B0604020202020204" pitchFamily="34" charset="-122"/>
                <a:cs typeface="Arial" panose="020B0604020202020204" pitchFamily="34" charset="-120"/>
              </a:rPr>
              <a:t>1. INLINE — avoid</a:t>
            </a:r>
            <a:endParaRPr lang="en-US" sz="1200" dirty="0"/>
          </a:p>
        </p:txBody>
      </p:sp>
      <p:sp>
        <p:nvSpPr>
          <p:cNvPr id="7" name="Shape 5"/>
          <p:cNvSpPr/>
          <p:nvPr/>
        </p:nvSpPr>
        <p:spPr>
          <a:xfrm>
            <a:off x="548640" y="1600200"/>
            <a:ext cx="3566160" cy="786384"/>
          </a:xfrm>
          <a:prstGeom prst="roundRect">
            <a:avLst>
              <a:gd name="adj" fmla="val 6977"/>
            </a:avLst>
          </a:prstGeom>
          <a:solidFill>
            <a:srgbClr val="0D1B2A"/>
          </a:solidFill>
          <a:ln w="12700">
            <a:solidFill>
              <a:srgbClr val="0D1B2A"/>
            </a:solidFill>
            <a:prstDash val="solid"/>
          </a:ln>
        </p:spPr>
      </p:sp>
      <p:sp>
        <p:nvSpPr>
          <p:cNvPr id="8" name="Text 6"/>
          <p:cNvSpPr txBox="1"/>
          <p:nvPr/>
        </p:nvSpPr>
        <p:spPr>
          <a:xfrm>
            <a:off x="658368" y="1709928"/>
            <a:ext cx="3346704" cy="566928"/>
          </a:xfrm>
          <a:prstGeom prst="rect">
            <a:avLst/>
          </a:prstGeom>
          <a:noFill/>
        </p:spPr>
        <p:txBody>
          <a:bodyPr wrap="square" lIns="0" tIns="0" rIns="0" bIns="0" rtlCol="0" anchor="t"/>
          <a:lstStyle/>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 style=</a:t>
            </a:r>
            <a:r>
              <a:rPr lang="en-US" sz="10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"color: navy;"</a:t>
            </a: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Hello</a:t>
            </a:r>
            <a:endParaRPr lang="en-US" sz="1050" dirty="0"/>
          </a:p>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050" dirty="0"/>
          </a:p>
        </p:txBody>
      </p:sp>
      <p:sp>
        <p:nvSpPr>
          <p:cNvPr id="9" name="Text 7"/>
          <p:cNvSpPr txBox="1"/>
          <p:nvPr/>
        </p:nvSpPr>
        <p:spPr>
          <a:xfrm>
            <a:off x="4297680" y="1325880"/>
            <a:ext cx="3566160" cy="256032"/>
          </a:xfrm>
          <a:prstGeom prst="rect">
            <a:avLst/>
          </a:prstGeom>
          <a:noFill/>
        </p:spPr>
        <p:txBody>
          <a:bodyPr wrap="square" lIns="0" tIns="0" rIns="0" bIns="0" rtlCol="0" anchor="ctr"/>
          <a:lstStyle/>
          <a:p>
            <a:pPr marL="0" indent="0">
              <a:buNone/>
            </a:pPr>
            <a:r>
              <a:rPr lang="en-US" sz="1200" b="1" kern="0" spc="60" dirty="0">
                <a:solidFill>
                  <a:srgbClr val="E39A18"/>
                </a:solidFill>
                <a:latin typeface="Arial" panose="020B0604020202020204" pitchFamily="34" charset="0"/>
                <a:ea typeface="Arial" panose="020B0604020202020204" pitchFamily="34" charset="-122"/>
                <a:cs typeface="Arial" panose="020B0604020202020204" pitchFamily="34" charset="-120"/>
              </a:rPr>
              <a:t>2. INTERNAL — small pages</a:t>
            </a:r>
            <a:endParaRPr lang="en-US" sz="1200" dirty="0"/>
          </a:p>
        </p:txBody>
      </p:sp>
      <p:sp>
        <p:nvSpPr>
          <p:cNvPr id="10" name="Shape 8"/>
          <p:cNvSpPr/>
          <p:nvPr/>
        </p:nvSpPr>
        <p:spPr>
          <a:xfrm>
            <a:off x="4297680" y="1600200"/>
            <a:ext cx="3566160" cy="1127760"/>
          </a:xfrm>
          <a:prstGeom prst="roundRect">
            <a:avLst>
              <a:gd name="adj" fmla="val 4865"/>
            </a:avLst>
          </a:prstGeom>
          <a:solidFill>
            <a:srgbClr val="0D1B2A"/>
          </a:solidFill>
          <a:ln w="12700">
            <a:solidFill>
              <a:srgbClr val="0D1B2A"/>
            </a:solidFill>
            <a:prstDash val="solid"/>
          </a:ln>
        </p:spPr>
      </p:sp>
      <p:sp>
        <p:nvSpPr>
          <p:cNvPr id="11" name="Text 9"/>
          <p:cNvSpPr txBox="1"/>
          <p:nvPr/>
        </p:nvSpPr>
        <p:spPr>
          <a:xfrm>
            <a:off x="4407408" y="1709928"/>
            <a:ext cx="3346704" cy="908304"/>
          </a:xfrm>
          <a:prstGeom prst="rect">
            <a:avLst/>
          </a:prstGeom>
          <a:noFill/>
        </p:spPr>
        <p:txBody>
          <a:bodyPr wrap="square" lIns="0" tIns="0" rIns="0" bIns="0" rtlCol="0" anchor="t"/>
          <a:lstStyle/>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&lt;style&gt;</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p { color: navy; }</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&lt;/style&gt;</a:t>
            </a:r>
            <a:endParaRPr lang="en-US" sz="1050" dirty="0"/>
          </a:p>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050" dirty="0"/>
          </a:p>
        </p:txBody>
      </p:sp>
      <p:sp>
        <p:nvSpPr>
          <p:cNvPr id="12" name="Text 10"/>
          <p:cNvSpPr txBox="1"/>
          <p:nvPr/>
        </p:nvSpPr>
        <p:spPr>
          <a:xfrm>
            <a:off x="8046720" y="1325880"/>
            <a:ext cx="3566160" cy="256032"/>
          </a:xfrm>
          <a:prstGeom prst="rect">
            <a:avLst/>
          </a:prstGeom>
          <a:noFill/>
        </p:spPr>
        <p:txBody>
          <a:bodyPr wrap="square" lIns="0" tIns="0" rIns="0" bIns="0" rtlCol="0" anchor="ctr"/>
          <a:lstStyle/>
          <a:p>
            <a:pPr marL="0" indent="0">
              <a:buNone/>
            </a:pPr>
            <a:r>
              <a:rPr lang="en-US" sz="1200" b="1" kern="0" spc="60" dirty="0">
                <a:solidFill>
                  <a:srgbClr val="1F7A55"/>
                </a:solidFill>
                <a:latin typeface="Arial" panose="020B0604020202020204" pitchFamily="34" charset="0"/>
                <a:ea typeface="Arial" panose="020B0604020202020204" pitchFamily="34" charset="-122"/>
                <a:cs typeface="Arial" panose="020B0604020202020204" pitchFamily="34" charset="-120"/>
              </a:rPr>
              <a:t>3. EXTERNAL — always</a:t>
            </a:r>
            <a:endParaRPr lang="en-US" sz="1200" dirty="0"/>
          </a:p>
        </p:txBody>
      </p:sp>
      <p:sp>
        <p:nvSpPr>
          <p:cNvPr id="13" name="Shape 11"/>
          <p:cNvSpPr/>
          <p:nvPr/>
        </p:nvSpPr>
        <p:spPr>
          <a:xfrm>
            <a:off x="8046720" y="1600200"/>
            <a:ext cx="3566160" cy="957072"/>
          </a:xfrm>
          <a:prstGeom prst="roundRect">
            <a:avLst>
              <a:gd name="adj" fmla="val 5732"/>
            </a:avLst>
          </a:prstGeom>
          <a:solidFill>
            <a:srgbClr val="0D1B2A"/>
          </a:solidFill>
          <a:ln w="12700">
            <a:solidFill>
              <a:srgbClr val="0D1B2A"/>
            </a:solidFill>
            <a:prstDash val="solid"/>
          </a:ln>
        </p:spPr>
      </p:sp>
      <p:sp>
        <p:nvSpPr>
          <p:cNvPr id="14" name="Text 12"/>
          <p:cNvSpPr txBox="1"/>
          <p:nvPr/>
        </p:nvSpPr>
        <p:spPr>
          <a:xfrm>
            <a:off x="8156448" y="1709928"/>
            <a:ext cx="3346704" cy="737616"/>
          </a:xfrm>
          <a:prstGeom prst="rect">
            <a:avLst/>
          </a:prstGeom>
          <a:noFill/>
        </p:spPr>
        <p:txBody>
          <a:bodyPr wrap="square" lIns="0" tIns="0" rIns="0" bIns="0" rtlCol="0" anchor="t"/>
          <a:lstStyle/>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&lt;link rel=</a:t>
            </a:r>
            <a:r>
              <a:rPr lang="en-US" sz="10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"stylesheet"</a:t>
            </a:r>
            <a:endParaRPr lang="en-US" sz="1050" dirty="0"/>
          </a:p>
          <a:p>
            <a:pPr marL="0" indent="0">
              <a:lnSpc>
                <a:spcPts val="1345"/>
              </a:lnSpc>
              <a:buNone/>
            </a:pPr>
            <a:r>
              <a:rPr lang="en-US" sz="10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href="styles.css"&gt;</a:t>
            </a:r>
            <a:endParaRPr lang="en-US" sz="1050" dirty="0"/>
          </a:p>
          <a:p>
            <a:pPr marL="0" indent="0">
              <a:lnSpc>
                <a:spcPts val="1345"/>
              </a:lnSpc>
              <a:buNone/>
            </a:pPr>
            <a:r>
              <a:rPr lang="en-US" sz="10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&lt;/head&gt;</a:t>
            </a:r>
            <a:endParaRPr lang="en-US" sz="1050" dirty="0"/>
          </a:p>
        </p:txBody>
      </p:sp>
      <p:sp>
        <p:nvSpPr>
          <p:cNvPr id="15" name="Shape 13"/>
          <p:cNvSpPr/>
          <p:nvPr/>
        </p:nvSpPr>
        <p:spPr>
          <a:xfrm>
            <a:off x="548640" y="3200400"/>
            <a:ext cx="5486400" cy="2743200"/>
          </a:xfrm>
          <a:prstGeom prst="roundRect">
            <a:avLst>
              <a:gd name="adj" fmla="val 2667"/>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6" name="Shape 14"/>
          <p:cNvSpPr/>
          <p:nvPr/>
        </p:nvSpPr>
        <p:spPr>
          <a:xfrm>
            <a:off x="749808" y="3401568"/>
            <a:ext cx="384048" cy="384048"/>
          </a:xfrm>
          <a:prstGeom prst="ellipse">
            <a:avLst/>
          </a:prstGeom>
          <a:solidFill>
            <a:srgbClr val="1F7A55"/>
          </a:solidFill>
          <a:ln w="12700">
            <a:solidFill>
              <a:srgbClr val="1F7A55"/>
            </a:solidFill>
            <a:prstDash val="solid"/>
          </a:ln>
        </p:spPr>
      </p:sp>
      <p:sp>
        <p:nvSpPr>
          <p:cNvPr id="17" name="Text 15"/>
          <p:cNvSpPr txBox="1"/>
          <p:nvPr/>
        </p:nvSpPr>
        <p:spPr>
          <a:xfrm>
            <a:off x="749808" y="34015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8" name="Text 16"/>
          <p:cNvSpPr txBox="1"/>
          <p:nvPr/>
        </p:nvSpPr>
        <p:spPr>
          <a:xfrm>
            <a:off x="1261872" y="3429000"/>
            <a:ext cx="45720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external always wins</a:t>
            </a:r>
            <a:endParaRPr lang="en-US" sz="1700" dirty="0"/>
          </a:p>
        </p:txBody>
      </p:sp>
      <p:sp>
        <p:nvSpPr>
          <p:cNvPr id="19" name="Text 17"/>
          <p:cNvSpPr txBox="1"/>
          <p:nvPr/>
        </p:nvSpPr>
        <p:spPr>
          <a:xfrm>
            <a:off x="804672" y="3822192"/>
            <a:ext cx="4974336" cy="195681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One file styles every page of the site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Change a colour once, not fifty times</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The browser caches it, so pages load faster</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HTML stays about structure, CSS about appearance</a:t>
            </a:r>
            <a:endParaRPr lang="en-US" sz="1350" dirty="0"/>
          </a:p>
        </p:txBody>
      </p:sp>
      <p:sp>
        <p:nvSpPr>
          <p:cNvPr id="20" name="Shape 18"/>
          <p:cNvSpPr/>
          <p:nvPr/>
        </p:nvSpPr>
        <p:spPr>
          <a:xfrm>
            <a:off x="6309360" y="3200400"/>
            <a:ext cx="5303520" cy="2743200"/>
          </a:xfrm>
          <a:prstGeom prst="roundRect">
            <a:avLst>
              <a:gd name="adj" fmla="val 2667"/>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21" name="Text 19"/>
          <p:cNvSpPr txBox="1"/>
          <p:nvPr/>
        </p:nvSpPr>
        <p:spPr>
          <a:xfrm>
            <a:off x="6565392" y="3401568"/>
            <a:ext cx="479145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Why inline is a trap</a:t>
            </a:r>
            <a:endParaRPr lang="en-US" sz="1700" dirty="0"/>
          </a:p>
        </p:txBody>
      </p:sp>
      <p:sp>
        <p:nvSpPr>
          <p:cNvPr id="22" name="Text 20"/>
          <p:cNvSpPr txBox="1"/>
          <p:nvPr/>
        </p:nvSpPr>
        <p:spPr>
          <a:xfrm>
            <a:off x="6565392" y="3822192"/>
            <a:ext cx="4791456" cy="195681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It cannot be reused</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It beats almost every other rule, so it is hard to override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It mixes structure and appearance in one line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Use it only for a quick DevTools test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Anatomy of a CSS Rule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4</a:t>
            </a:r>
            <a:endParaRPr lang="en-US" sz="900" dirty="0"/>
          </a:p>
        </p:txBody>
      </p:sp>
      <p:sp>
        <p:nvSpPr>
          <p:cNvPr id="6" name="Shape 4"/>
          <p:cNvSpPr/>
          <p:nvPr/>
        </p:nvSpPr>
        <p:spPr>
          <a:xfrm>
            <a:off x="548640" y="1371600"/>
            <a:ext cx="6400800" cy="1184656"/>
          </a:xfrm>
          <a:prstGeom prst="roundRect">
            <a:avLst>
              <a:gd name="adj" fmla="val 4631"/>
            </a:avLst>
          </a:prstGeom>
          <a:solidFill>
            <a:srgbClr val="0D1B2A"/>
          </a:solidFill>
          <a:ln w="12700">
            <a:solidFill>
              <a:srgbClr val="0D1B2A"/>
            </a:solidFill>
            <a:prstDash val="solid"/>
          </a:ln>
        </p:spPr>
      </p:sp>
      <p:sp>
        <p:nvSpPr>
          <p:cNvPr id="7" name="Text 5"/>
          <p:cNvSpPr txBox="1"/>
          <p:nvPr/>
        </p:nvSpPr>
        <p:spPr>
          <a:xfrm>
            <a:off x="658368" y="1481328"/>
            <a:ext cx="6181344" cy="965200"/>
          </a:xfrm>
          <a:prstGeom prst="rect">
            <a:avLst/>
          </a:prstGeom>
          <a:noFill/>
        </p:spPr>
        <p:txBody>
          <a:bodyPr wrap="square" lIns="0" tIns="0" rIns="0" bIns="0" rtlCol="0" anchor="t"/>
          <a:lstStyle/>
          <a:p>
            <a:pPr marL="0" indent="0">
              <a:lnSpc>
                <a:spcPts val="1790"/>
              </a:lnSpc>
              <a:buNone/>
            </a:pPr>
            <a:r>
              <a:rPr lang="en-US" sz="14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h1 </a:t>
            </a: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a:p>
            <a:pPr marL="0" indent="0">
              <a:lnSpc>
                <a:spcPts val="1790"/>
              </a:lnSpc>
              <a:buNone/>
            </a:pP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#003366;</a:t>
            </a:r>
            <a:endParaRPr lang="en-US" sz="1400" dirty="0"/>
          </a:p>
          <a:p>
            <a:pPr marL="0" indent="0">
              <a:lnSpc>
                <a:spcPts val="1790"/>
              </a:lnSpc>
              <a:buNone/>
            </a:pP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font-size</a:t>
            </a: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4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32px;</a:t>
            </a:r>
            <a:endParaRPr lang="en-US" sz="1400" dirty="0"/>
          </a:p>
          <a:p>
            <a:pPr marL="0" indent="0">
              <a:lnSpc>
                <a:spcPts val="1790"/>
              </a:lnSpc>
              <a:buNone/>
            </a:pPr>
            <a:r>
              <a:rPr lang="en-US" sz="14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8" name="Shape 6"/>
          <p:cNvSpPr/>
          <p:nvPr/>
        </p:nvSpPr>
        <p:spPr>
          <a:xfrm>
            <a:off x="7132320" y="1371600"/>
            <a:ext cx="4480560" cy="804672"/>
          </a:xfrm>
          <a:prstGeom prst="roundRect">
            <a:avLst>
              <a:gd name="adj" fmla="val 9091"/>
            </a:avLst>
          </a:prstGeom>
          <a:solidFill>
            <a:srgbClr val="E8EEF4"/>
          </a:solidFill>
          <a:ln w="12700">
            <a:solidFill>
              <a:srgbClr val="E8EEF4"/>
            </a:solidFill>
            <a:prstDash val="solid"/>
          </a:ln>
        </p:spPr>
      </p:sp>
      <p:sp>
        <p:nvSpPr>
          <p:cNvPr id="9" name="Text 7"/>
          <p:cNvSpPr txBox="1"/>
          <p:nvPr/>
        </p:nvSpPr>
        <p:spPr>
          <a:xfrm>
            <a:off x="7315200" y="1426464"/>
            <a:ext cx="1280160" cy="694944"/>
          </a:xfrm>
          <a:prstGeom prst="rect">
            <a:avLst/>
          </a:prstGeom>
          <a:noFill/>
        </p:spPr>
        <p:txBody>
          <a:bodyPr wrap="square" lIns="0" tIns="0" rIns="0" bIns="0" rtlCol="0" anchor="ctr"/>
          <a:lstStyle/>
          <a:p>
            <a:pPr marL="0" indent="0">
              <a:buNone/>
            </a:pPr>
            <a:r>
              <a:rPr lang="en-US" sz="12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h1</a:t>
            </a:r>
            <a:endParaRPr lang="en-US" sz="1200" dirty="0"/>
          </a:p>
        </p:txBody>
      </p:sp>
      <p:sp>
        <p:nvSpPr>
          <p:cNvPr id="10" name="Text 8"/>
          <p:cNvSpPr txBox="1"/>
          <p:nvPr/>
        </p:nvSpPr>
        <p:spPr>
          <a:xfrm>
            <a:off x="8641080" y="1426464"/>
            <a:ext cx="2834640" cy="694944"/>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SELECTOR — which elements to style</a:t>
            </a:r>
            <a:endParaRPr lang="en-US" sz="1150" dirty="0"/>
          </a:p>
        </p:txBody>
      </p:sp>
      <p:sp>
        <p:nvSpPr>
          <p:cNvPr id="11" name="Shape 9"/>
          <p:cNvSpPr/>
          <p:nvPr/>
        </p:nvSpPr>
        <p:spPr>
          <a:xfrm>
            <a:off x="7132320" y="2286000"/>
            <a:ext cx="4480560" cy="804672"/>
          </a:xfrm>
          <a:prstGeom prst="roundRect">
            <a:avLst>
              <a:gd name="adj" fmla="val 9091"/>
            </a:avLst>
          </a:prstGeom>
          <a:solidFill>
            <a:srgbClr val="F2F5F8"/>
          </a:solidFill>
          <a:ln w="12700">
            <a:solidFill>
              <a:srgbClr val="F2F5F8"/>
            </a:solidFill>
            <a:prstDash val="solid"/>
          </a:ln>
        </p:spPr>
      </p:sp>
      <p:sp>
        <p:nvSpPr>
          <p:cNvPr id="12" name="Text 10"/>
          <p:cNvSpPr txBox="1"/>
          <p:nvPr/>
        </p:nvSpPr>
        <p:spPr>
          <a:xfrm>
            <a:off x="7315200" y="2340864"/>
            <a:ext cx="1280160" cy="694944"/>
          </a:xfrm>
          <a:prstGeom prst="rect">
            <a:avLst/>
          </a:prstGeom>
          <a:noFill/>
        </p:spPr>
        <p:txBody>
          <a:bodyPr wrap="square" lIns="0" tIns="0" rIns="0" bIns="0" rtlCol="0" anchor="ctr"/>
          <a:lstStyle/>
          <a:p>
            <a:pPr marL="0" indent="0">
              <a:buNone/>
            </a:pPr>
            <a:r>
              <a:rPr lang="en-US" sz="12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 ... }</a:t>
            </a:r>
            <a:endParaRPr lang="en-US" sz="1200" dirty="0"/>
          </a:p>
        </p:txBody>
      </p:sp>
      <p:sp>
        <p:nvSpPr>
          <p:cNvPr id="13" name="Text 11"/>
          <p:cNvSpPr txBox="1"/>
          <p:nvPr/>
        </p:nvSpPr>
        <p:spPr>
          <a:xfrm>
            <a:off x="8641080" y="2340864"/>
            <a:ext cx="2834640" cy="694944"/>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DECLARATION BLOCK — the rules to apply</a:t>
            </a:r>
            <a:endParaRPr lang="en-US" sz="1150" dirty="0"/>
          </a:p>
        </p:txBody>
      </p:sp>
      <p:sp>
        <p:nvSpPr>
          <p:cNvPr id="14" name="Shape 12"/>
          <p:cNvSpPr/>
          <p:nvPr/>
        </p:nvSpPr>
        <p:spPr>
          <a:xfrm>
            <a:off x="7132320" y="3200400"/>
            <a:ext cx="4480560" cy="804672"/>
          </a:xfrm>
          <a:prstGeom prst="roundRect">
            <a:avLst>
              <a:gd name="adj" fmla="val 9091"/>
            </a:avLst>
          </a:prstGeom>
          <a:solidFill>
            <a:srgbClr val="E8EEF4"/>
          </a:solidFill>
          <a:ln w="12700">
            <a:solidFill>
              <a:srgbClr val="E8EEF4"/>
            </a:solidFill>
            <a:prstDash val="solid"/>
          </a:ln>
        </p:spPr>
      </p:sp>
      <p:sp>
        <p:nvSpPr>
          <p:cNvPr id="15" name="Text 13"/>
          <p:cNvSpPr txBox="1"/>
          <p:nvPr/>
        </p:nvSpPr>
        <p:spPr>
          <a:xfrm>
            <a:off x="7315200" y="3255264"/>
            <a:ext cx="1280160" cy="694944"/>
          </a:xfrm>
          <a:prstGeom prst="rect">
            <a:avLst/>
          </a:prstGeom>
          <a:noFill/>
        </p:spPr>
        <p:txBody>
          <a:bodyPr wrap="square" lIns="0" tIns="0" rIns="0" bIns="0" rtlCol="0" anchor="ctr"/>
          <a:lstStyle/>
          <a:p>
            <a:pPr marL="0" indent="0">
              <a:buNone/>
            </a:pPr>
            <a:r>
              <a:rPr lang="en-US" sz="12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color</a:t>
            </a:r>
            <a:endParaRPr lang="en-US" sz="1200" dirty="0"/>
          </a:p>
        </p:txBody>
      </p:sp>
      <p:sp>
        <p:nvSpPr>
          <p:cNvPr id="16" name="Text 14"/>
          <p:cNvSpPr txBox="1"/>
          <p:nvPr/>
        </p:nvSpPr>
        <p:spPr>
          <a:xfrm>
            <a:off x="8641080" y="3255264"/>
            <a:ext cx="2834640" cy="694944"/>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PROPERTY — what you are changing</a:t>
            </a:r>
            <a:endParaRPr lang="en-US" sz="1150" dirty="0"/>
          </a:p>
        </p:txBody>
      </p:sp>
      <p:sp>
        <p:nvSpPr>
          <p:cNvPr id="17" name="Shape 15"/>
          <p:cNvSpPr/>
          <p:nvPr/>
        </p:nvSpPr>
        <p:spPr>
          <a:xfrm>
            <a:off x="7132320" y="4114800"/>
            <a:ext cx="4480560" cy="804672"/>
          </a:xfrm>
          <a:prstGeom prst="roundRect">
            <a:avLst>
              <a:gd name="adj" fmla="val 9091"/>
            </a:avLst>
          </a:prstGeom>
          <a:solidFill>
            <a:srgbClr val="F2F5F8"/>
          </a:solidFill>
          <a:ln w="12700">
            <a:solidFill>
              <a:srgbClr val="F2F5F8"/>
            </a:solidFill>
            <a:prstDash val="solid"/>
          </a:ln>
        </p:spPr>
      </p:sp>
      <p:sp>
        <p:nvSpPr>
          <p:cNvPr id="18" name="Text 16"/>
          <p:cNvSpPr txBox="1"/>
          <p:nvPr/>
        </p:nvSpPr>
        <p:spPr>
          <a:xfrm>
            <a:off x="7315200" y="4169664"/>
            <a:ext cx="1280160" cy="694944"/>
          </a:xfrm>
          <a:prstGeom prst="rect">
            <a:avLst/>
          </a:prstGeom>
          <a:noFill/>
        </p:spPr>
        <p:txBody>
          <a:bodyPr wrap="square" lIns="0" tIns="0" rIns="0" bIns="0" rtlCol="0" anchor="ctr"/>
          <a:lstStyle/>
          <a:p>
            <a:pPr marL="0" indent="0">
              <a:buNone/>
            </a:pPr>
            <a:r>
              <a:rPr lang="en-US" sz="12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#003366</a:t>
            </a:r>
            <a:endParaRPr lang="en-US" sz="1200" dirty="0"/>
          </a:p>
        </p:txBody>
      </p:sp>
      <p:sp>
        <p:nvSpPr>
          <p:cNvPr id="19" name="Text 17"/>
          <p:cNvSpPr txBox="1"/>
          <p:nvPr/>
        </p:nvSpPr>
        <p:spPr>
          <a:xfrm>
            <a:off x="8641080" y="4169664"/>
            <a:ext cx="2834640" cy="694944"/>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VALUE — what you are changing it to</a:t>
            </a:r>
            <a:endParaRPr lang="en-US" sz="1150" dirty="0"/>
          </a:p>
        </p:txBody>
      </p:sp>
      <p:sp>
        <p:nvSpPr>
          <p:cNvPr id="20" name="Shape 18"/>
          <p:cNvSpPr/>
          <p:nvPr/>
        </p:nvSpPr>
        <p:spPr>
          <a:xfrm>
            <a:off x="7132320" y="5029200"/>
            <a:ext cx="4480560" cy="804672"/>
          </a:xfrm>
          <a:prstGeom prst="roundRect">
            <a:avLst>
              <a:gd name="adj" fmla="val 9091"/>
            </a:avLst>
          </a:prstGeom>
          <a:solidFill>
            <a:srgbClr val="E8EEF4"/>
          </a:solidFill>
          <a:ln w="12700">
            <a:solidFill>
              <a:srgbClr val="E8EEF4"/>
            </a:solidFill>
            <a:prstDash val="solid"/>
          </a:ln>
        </p:spPr>
      </p:sp>
      <p:sp>
        <p:nvSpPr>
          <p:cNvPr id="21" name="Text 19"/>
          <p:cNvSpPr txBox="1"/>
          <p:nvPr/>
        </p:nvSpPr>
        <p:spPr>
          <a:xfrm>
            <a:off x="7315200" y="5084064"/>
            <a:ext cx="1280160" cy="694944"/>
          </a:xfrm>
          <a:prstGeom prst="rect">
            <a:avLst/>
          </a:prstGeom>
          <a:noFill/>
        </p:spPr>
        <p:txBody>
          <a:bodyPr wrap="square" lIns="0" tIns="0" rIns="0" bIns="0" rtlCol="0" anchor="ctr"/>
          <a:lstStyle/>
          <a:p>
            <a:pPr marL="0" indent="0">
              <a:buNone/>
            </a:pPr>
            <a:r>
              <a:rPr lang="en-US" sz="12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22" name="Text 20"/>
          <p:cNvSpPr txBox="1"/>
          <p:nvPr/>
        </p:nvSpPr>
        <p:spPr>
          <a:xfrm>
            <a:off x="8641080" y="5084064"/>
            <a:ext cx="2834640" cy="694944"/>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Ends each declaration. Missing it breaks the NEXT line</a:t>
            </a:r>
            <a:endParaRPr lang="en-US" sz="1150" dirty="0"/>
          </a:p>
        </p:txBody>
      </p:sp>
      <p:sp>
        <p:nvSpPr>
          <p:cNvPr id="23" name="Shape 21"/>
          <p:cNvSpPr/>
          <p:nvPr/>
        </p:nvSpPr>
        <p:spPr>
          <a:xfrm>
            <a:off x="548640" y="3108960"/>
            <a:ext cx="6400800" cy="2834640"/>
          </a:xfrm>
          <a:prstGeom prst="roundRect">
            <a:avLst>
              <a:gd name="adj" fmla="val 2581"/>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24" name="Shape 22"/>
          <p:cNvSpPr/>
          <p:nvPr/>
        </p:nvSpPr>
        <p:spPr>
          <a:xfrm>
            <a:off x="749808" y="3310128"/>
            <a:ext cx="384048" cy="384048"/>
          </a:xfrm>
          <a:prstGeom prst="ellipse">
            <a:avLst/>
          </a:prstGeom>
          <a:solidFill>
            <a:srgbClr val="E39A18"/>
          </a:solidFill>
          <a:ln w="12700">
            <a:solidFill>
              <a:srgbClr val="E39A18"/>
            </a:solidFill>
            <a:prstDash val="solid"/>
          </a:ln>
        </p:spPr>
      </p:sp>
      <p:sp>
        <p:nvSpPr>
          <p:cNvPr id="25" name="Text 23"/>
          <p:cNvSpPr txBox="1"/>
          <p:nvPr/>
        </p:nvSpPr>
        <p:spPr>
          <a:xfrm>
            <a:off x="749808" y="331012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26" name="Text 24"/>
          <p:cNvSpPr txBox="1"/>
          <p:nvPr/>
        </p:nvSpPr>
        <p:spPr>
          <a:xfrm>
            <a:off x="1261872" y="3337560"/>
            <a:ext cx="54864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two errors you will make today</a:t>
            </a:r>
            <a:endParaRPr lang="en-US" sz="1700" dirty="0"/>
          </a:p>
        </p:txBody>
      </p:sp>
      <p:sp>
        <p:nvSpPr>
          <p:cNvPr id="27" name="Text 25"/>
          <p:cNvSpPr txBox="1"/>
          <p:nvPr/>
        </p:nvSpPr>
        <p:spPr>
          <a:xfrm>
            <a:off x="804672" y="3730752"/>
            <a:ext cx="5888736" cy="204825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 missing semicolon: the browser silently ignores the next declaration</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 missing closing brace: everything after it stops working</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CSS never shows an error message. It just does nothing.</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That is why DevTools matters - a struck-through rule tells you it failed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Selectors: Element, Class, ID</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5</a:t>
            </a:r>
            <a:endParaRPr lang="en-US" sz="900" dirty="0"/>
          </a:p>
        </p:txBody>
      </p:sp>
      <p:sp>
        <p:nvSpPr>
          <p:cNvPr id="6" name="Shape 4"/>
          <p:cNvSpPr/>
          <p:nvPr/>
        </p:nvSpPr>
        <p:spPr>
          <a:xfrm>
            <a:off x="548640" y="1371600"/>
            <a:ext cx="5852160" cy="3005328"/>
          </a:xfrm>
          <a:prstGeom prst="roundRect">
            <a:avLst>
              <a:gd name="adj" fmla="val 1826"/>
            </a:avLst>
          </a:prstGeom>
          <a:solidFill>
            <a:srgbClr val="0D1B2A"/>
          </a:solidFill>
          <a:ln w="12700">
            <a:solidFill>
              <a:srgbClr val="0D1B2A"/>
            </a:solidFill>
            <a:prstDash val="solid"/>
          </a:ln>
        </p:spPr>
      </p:sp>
      <p:sp>
        <p:nvSpPr>
          <p:cNvPr id="7" name="Text 5"/>
          <p:cNvSpPr txBox="1"/>
          <p:nvPr/>
        </p:nvSpPr>
        <p:spPr>
          <a:xfrm>
            <a:off x="658368" y="1481328"/>
            <a:ext cx="5632704" cy="2785872"/>
          </a:xfrm>
          <a:prstGeom prst="rect">
            <a:avLst/>
          </a:prstGeom>
          <a:noFill/>
        </p:spPr>
        <p:txBody>
          <a:bodyPr wrap="square" lIns="0" tIns="0" rIns="0" bIns="0" rtlCol="0" anchor="t"/>
          <a:lstStyle/>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ELEMENT - every p on the page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p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#3D4A57;</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CLASS - reusable, use this most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.card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#F2F5F8;</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ID - one element only, use rarely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#main-content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max-width</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900px;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8" name="Shape 6"/>
          <p:cNvSpPr/>
          <p:nvPr/>
        </p:nvSpPr>
        <p:spPr>
          <a:xfrm>
            <a:off x="6583680" y="1371600"/>
            <a:ext cx="5029200" cy="1769872"/>
          </a:xfrm>
          <a:prstGeom prst="roundRect">
            <a:avLst>
              <a:gd name="adj" fmla="val 3100"/>
            </a:avLst>
          </a:prstGeom>
          <a:solidFill>
            <a:srgbClr val="0D1B2A"/>
          </a:solidFill>
          <a:ln w="12700">
            <a:solidFill>
              <a:srgbClr val="0D1B2A"/>
            </a:solidFill>
            <a:prstDash val="solid"/>
          </a:ln>
        </p:spPr>
      </p:sp>
      <p:sp>
        <p:nvSpPr>
          <p:cNvPr id="9" name="Text 7"/>
          <p:cNvSpPr txBox="1"/>
          <p:nvPr/>
        </p:nvSpPr>
        <p:spPr>
          <a:xfrm>
            <a:off x="6693408" y="1481328"/>
            <a:ext cx="4809744" cy="1550416"/>
          </a:xfrm>
          <a:prstGeom prst="rect">
            <a:avLst/>
          </a:prstGeom>
          <a:noFill/>
        </p:spPr>
        <p:txBody>
          <a:bodyPr wrap="square" lIns="0" tIns="0" rIns="0" bIns="0" rtlCol="0" anchor="t"/>
          <a:lstStyle/>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Styled by the element rule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class=</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"card"</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Styled by .card</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class=</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"card"</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Also styled by .card</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 id=</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"main-content"</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Styled by #main-content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150" dirty="0"/>
          </a:p>
        </p:txBody>
      </p:sp>
      <p:sp>
        <p:nvSpPr>
          <p:cNvPr id="10" name="Shape 8"/>
          <p:cNvSpPr/>
          <p:nvPr/>
        </p:nvSpPr>
        <p:spPr>
          <a:xfrm>
            <a:off x="548640" y="3977640"/>
            <a:ext cx="5852160" cy="1965960"/>
          </a:xfrm>
          <a:prstGeom prst="roundRect">
            <a:avLst>
              <a:gd name="adj" fmla="val 3721"/>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11" name="Text 9"/>
          <p:cNvSpPr txBox="1"/>
          <p:nvPr/>
        </p:nvSpPr>
        <p:spPr>
          <a:xfrm>
            <a:off x="804672" y="4178808"/>
            <a:ext cx="534009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syntax</a:t>
            </a:r>
            <a:endParaRPr lang="en-US" sz="1700" dirty="0"/>
          </a:p>
        </p:txBody>
      </p:sp>
      <p:sp>
        <p:nvSpPr>
          <p:cNvPr id="12" name="Text 10"/>
          <p:cNvSpPr txBox="1"/>
          <p:nvPr/>
        </p:nvSpPr>
        <p:spPr>
          <a:xfrm>
            <a:off x="804672" y="4599432"/>
            <a:ext cx="5340096" cy="117957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No symbol = element name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 (dot) = class</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 (hash) = id</a:t>
            </a:r>
            <a:endParaRPr lang="en-US" sz="1350" dirty="0"/>
          </a:p>
        </p:txBody>
      </p:sp>
      <p:sp>
        <p:nvSpPr>
          <p:cNvPr id="13" name="Shape 11"/>
          <p:cNvSpPr/>
          <p:nvPr/>
        </p:nvSpPr>
        <p:spPr>
          <a:xfrm>
            <a:off x="6583680" y="3977640"/>
            <a:ext cx="5029200" cy="1965960"/>
          </a:xfrm>
          <a:prstGeom prst="roundRect">
            <a:avLst>
              <a:gd name="adj" fmla="val 3721"/>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4" name="Shape 12"/>
          <p:cNvSpPr/>
          <p:nvPr/>
        </p:nvSpPr>
        <p:spPr>
          <a:xfrm>
            <a:off x="6784848" y="4178808"/>
            <a:ext cx="384048" cy="384048"/>
          </a:xfrm>
          <a:prstGeom prst="ellipse">
            <a:avLst/>
          </a:prstGeom>
          <a:solidFill>
            <a:srgbClr val="1F7A55"/>
          </a:solidFill>
          <a:ln w="12700">
            <a:solidFill>
              <a:srgbClr val="1F7A55"/>
            </a:solidFill>
            <a:prstDash val="solid"/>
          </a:ln>
        </p:spPr>
      </p:sp>
      <p:sp>
        <p:nvSpPr>
          <p:cNvPr id="15" name="Text 13"/>
          <p:cNvSpPr txBox="1"/>
          <p:nvPr/>
        </p:nvSpPr>
        <p:spPr>
          <a:xfrm>
            <a:off x="6784848" y="41788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6" name="Text 14"/>
          <p:cNvSpPr txBox="1"/>
          <p:nvPr/>
        </p:nvSpPr>
        <p:spPr>
          <a:xfrm>
            <a:off x="7296912" y="4206240"/>
            <a:ext cx="41148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Which to use</a:t>
            </a:r>
            <a:endParaRPr lang="en-US" sz="1700" dirty="0"/>
          </a:p>
        </p:txBody>
      </p:sp>
      <p:sp>
        <p:nvSpPr>
          <p:cNvPr id="17" name="Text 15"/>
          <p:cNvSpPr txBox="1"/>
          <p:nvPr/>
        </p:nvSpPr>
        <p:spPr>
          <a:xfrm>
            <a:off x="6839712" y="4599432"/>
            <a:ext cx="4517136" cy="117957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Class for almost everything</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Element for site-wide defaults</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ID only for a unique anchor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Selectors: Combining and States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6</a:t>
            </a:r>
            <a:endParaRPr lang="en-US" sz="900" dirty="0"/>
          </a:p>
        </p:txBody>
      </p:sp>
      <p:sp>
        <p:nvSpPr>
          <p:cNvPr id="6" name="Shape 4"/>
          <p:cNvSpPr/>
          <p:nvPr/>
        </p:nvSpPr>
        <p:spPr>
          <a:xfrm>
            <a:off x="548640" y="1371600"/>
            <a:ext cx="6766560" cy="3785616"/>
          </a:xfrm>
          <a:prstGeom prst="roundRect">
            <a:avLst>
              <a:gd name="adj" fmla="val 1449"/>
            </a:avLst>
          </a:prstGeom>
          <a:solidFill>
            <a:srgbClr val="0D1B2A"/>
          </a:solidFill>
          <a:ln w="12700">
            <a:solidFill>
              <a:srgbClr val="0D1B2A"/>
            </a:solidFill>
            <a:prstDash val="solid"/>
          </a:ln>
        </p:spPr>
      </p:sp>
      <p:sp>
        <p:nvSpPr>
          <p:cNvPr id="7" name="Text 5"/>
          <p:cNvSpPr txBox="1"/>
          <p:nvPr/>
        </p:nvSpPr>
        <p:spPr>
          <a:xfrm>
            <a:off x="658368" y="1481328"/>
            <a:ext cx="6547104" cy="3566160"/>
          </a:xfrm>
          <a:prstGeom prst="rect">
            <a:avLst/>
          </a:prstGeom>
          <a:noFill/>
        </p:spPr>
        <p:txBody>
          <a:bodyPr wrap="square" lIns="0" tIns="0" rIns="0" bIns="0" rtlCol="0" anchor="t"/>
          <a:lstStyle/>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GROUP - one rule for several selectors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h1, h2, h3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font-family</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Arial, sans-serif;</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DESCENDANT - a inside nav only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nav a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#FFFFFF;</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STATE - pseudo-classes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a:hover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text-decoration</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underline;</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a:focus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outline</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3px solid #E39A18;</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8" name="Shape 6"/>
          <p:cNvSpPr/>
          <p:nvPr/>
        </p:nvSpPr>
        <p:spPr>
          <a:xfrm>
            <a:off x="7498080" y="1371600"/>
            <a:ext cx="4114800" cy="2103120"/>
          </a:xfrm>
          <a:prstGeom prst="roundRect">
            <a:avLst>
              <a:gd name="adj" fmla="val 3478"/>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9" name="Text 7"/>
          <p:cNvSpPr txBox="1"/>
          <p:nvPr/>
        </p:nvSpPr>
        <p:spPr>
          <a:xfrm>
            <a:off x="7754112" y="1572768"/>
            <a:ext cx="360273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Read them right to left</a:t>
            </a:r>
            <a:endParaRPr lang="en-US" sz="1700" dirty="0"/>
          </a:p>
        </p:txBody>
      </p:sp>
      <p:sp>
        <p:nvSpPr>
          <p:cNvPr id="10" name="Text 8"/>
          <p:cNvSpPr txBox="1"/>
          <p:nvPr/>
        </p:nvSpPr>
        <p:spPr>
          <a:xfrm>
            <a:off x="7754112" y="1993392"/>
            <a:ext cx="3602736" cy="131673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nav a means: every a that is inside a nav</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The space means "inside"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comma means "and also"</a:t>
            </a:r>
            <a:endParaRPr lang="en-US" sz="1300" dirty="0"/>
          </a:p>
        </p:txBody>
      </p:sp>
      <p:sp>
        <p:nvSpPr>
          <p:cNvPr id="11" name="Shape 9"/>
          <p:cNvSpPr/>
          <p:nvPr/>
        </p:nvSpPr>
        <p:spPr>
          <a:xfrm>
            <a:off x="7498080" y="3657600"/>
            <a:ext cx="4114800" cy="2286000"/>
          </a:xfrm>
          <a:prstGeom prst="roundRect">
            <a:avLst>
              <a:gd name="adj" fmla="val 3200"/>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7699248" y="3858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7699248" y="3858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8211312" y="3886200"/>
            <a:ext cx="32004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Do not forget :focus</a:t>
            </a:r>
            <a:endParaRPr lang="en-US" sz="1700" dirty="0"/>
          </a:p>
        </p:txBody>
      </p:sp>
      <p:sp>
        <p:nvSpPr>
          <p:cNvPr id="15" name="Text 13"/>
          <p:cNvSpPr txBox="1"/>
          <p:nvPr/>
        </p:nvSpPr>
        <p:spPr>
          <a:xfrm>
            <a:off x="7754112" y="4279392"/>
            <a:ext cx="3602736" cy="149961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Styling :hover only helps mouse users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Keyboard users need :focus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Style both, every time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This is the accessibility rule from C2</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Text Properties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7</a:t>
            </a:r>
            <a:endParaRPr lang="en-US" sz="900" dirty="0"/>
          </a:p>
        </p:txBody>
      </p:sp>
      <p:sp>
        <p:nvSpPr>
          <p:cNvPr id="6" name="Shape 4"/>
          <p:cNvSpPr/>
          <p:nvPr/>
        </p:nvSpPr>
        <p:spPr>
          <a:xfrm>
            <a:off x="548640" y="1371600"/>
            <a:ext cx="5852160" cy="3452368"/>
          </a:xfrm>
          <a:prstGeom prst="roundRect">
            <a:avLst>
              <a:gd name="adj" fmla="val 1589"/>
            </a:avLst>
          </a:prstGeom>
          <a:solidFill>
            <a:srgbClr val="0D1B2A"/>
          </a:solidFill>
          <a:ln w="12700">
            <a:solidFill>
              <a:srgbClr val="0D1B2A"/>
            </a:solidFill>
            <a:prstDash val="solid"/>
          </a:ln>
        </p:spPr>
      </p:sp>
      <p:sp>
        <p:nvSpPr>
          <p:cNvPr id="7" name="Text 5"/>
          <p:cNvSpPr txBox="1"/>
          <p:nvPr/>
        </p:nvSpPr>
        <p:spPr>
          <a:xfrm>
            <a:off x="658368" y="1481328"/>
            <a:ext cx="5632704" cy="3232912"/>
          </a:xfrm>
          <a:prstGeom prst="rect">
            <a:avLst/>
          </a:prstGeom>
          <a:noFill/>
        </p:spPr>
        <p:txBody>
          <a:bodyPr wrap="square" lIns="0" tIns="0" rIns="0" bIns="0" rtlCol="0" anchor="t"/>
          <a:lstStyle/>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body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font-family</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Arial, Helvetica, sans-serif;</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font-size</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line-height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#3D4A57;</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h1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font-size</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2rem;</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font-weight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bold;</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text-align</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center;</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a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text-decoration</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none;</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text-transform</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uppercase;</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8" name="Text 6"/>
          <p:cNvSpPr txBox="1"/>
          <p:nvPr/>
        </p:nvSpPr>
        <p:spPr>
          <a:xfrm>
            <a:off x="6583680" y="1371600"/>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font-family</a:t>
            </a:r>
            <a:endParaRPr lang="en-US" sz="1150" dirty="0"/>
          </a:p>
        </p:txBody>
      </p:sp>
      <p:sp>
        <p:nvSpPr>
          <p:cNvPr id="9" name="Text 7"/>
          <p:cNvSpPr txBox="1"/>
          <p:nvPr/>
        </p:nvSpPr>
        <p:spPr>
          <a:xfrm>
            <a:off x="8549640" y="1371600"/>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The typeface, with fallbacks</a:t>
            </a:r>
            <a:endParaRPr lang="en-US" sz="1150" dirty="0"/>
          </a:p>
        </p:txBody>
      </p:sp>
      <p:sp>
        <p:nvSpPr>
          <p:cNvPr id="10" name="Text 8"/>
          <p:cNvSpPr txBox="1"/>
          <p:nvPr/>
        </p:nvSpPr>
        <p:spPr>
          <a:xfrm>
            <a:off x="6583680" y="2029968"/>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font-size</a:t>
            </a:r>
            <a:endParaRPr lang="en-US" sz="1150" dirty="0"/>
          </a:p>
        </p:txBody>
      </p:sp>
      <p:sp>
        <p:nvSpPr>
          <p:cNvPr id="11" name="Text 9"/>
          <p:cNvSpPr txBox="1"/>
          <p:nvPr/>
        </p:nvSpPr>
        <p:spPr>
          <a:xfrm>
            <a:off x="8549640" y="2029968"/>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How big the text is</a:t>
            </a:r>
            <a:endParaRPr lang="en-US" sz="1150" dirty="0"/>
          </a:p>
        </p:txBody>
      </p:sp>
      <p:sp>
        <p:nvSpPr>
          <p:cNvPr id="12" name="Text 10"/>
          <p:cNvSpPr txBox="1"/>
          <p:nvPr/>
        </p:nvSpPr>
        <p:spPr>
          <a:xfrm>
            <a:off x="6583680" y="2688336"/>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font-weight</a:t>
            </a:r>
            <a:endParaRPr lang="en-US" sz="1150" dirty="0"/>
          </a:p>
        </p:txBody>
      </p:sp>
      <p:sp>
        <p:nvSpPr>
          <p:cNvPr id="13" name="Text 11"/>
          <p:cNvSpPr txBox="1"/>
          <p:nvPr/>
        </p:nvSpPr>
        <p:spPr>
          <a:xfrm>
            <a:off x="8549640" y="2688336"/>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normal, bold, or 100-900</a:t>
            </a:r>
            <a:endParaRPr lang="en-US" sz="1150" dirty="0"/>
          </a:p>
        </p:txBody>
      </p:sp>
      <p:sp>
        <p:nvSpPr>
          <p:cNvPr id="14" name="Text 12"/>
          <p:cNvSpPr txBox="1"/>
          <p:nvPr/>
        </p:nvSpPr>
        <p:spPr>
          <a:xfrm>
            <a:off x="6583680" y="3346704"/>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line-height</a:t>
            </a:r>
            <a:endParaRPr lang="en-US" sz="1150" dirty="0"/>
          </a:p>
        </p:txBody>
      </p:sp>
      <p:sp>
        <p:nvSpPr>
          <p:cNvPr id="15" name="Text 13"/>
          <p:cNvSpPr txBox="1"/>
          <p:nvPr/>
        </p:nvSpPr>
        <p:spPr>
          <a:xfrm>
            <a:off x="8549640" y="3346704"/>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Space between lines. Use 1.5-1.6</a:t>
            </a:r>
            <a:endParaRPr lang="en-US" sz="1150" dirty="0"/>
          </a:p>
        </p:txBody>
      </p:sp>
      <p:sp>
        <p:nvSpPr>
          <p:cNvPr id="16" name="Text 14"/>
          <p:cNvSpPr txBox="1"/>
          <p:nvPr/>
        </p:nvSpPr>
        <p:spPr>
          <a:xfrm>
            <a:off x="6583680" y="4005072"/>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color</a:t>
            </a:r>
            <a:endParaRPr lang="en-US" sz="1150" dirty="0"/>
          </a:p>
        </p:txBody>
      </p:sp>
      <p:sp>
        <p:nvSpPr>
          <p:cNvPr id="17" name="Text 15"/>
          <p:cNvSpPr txBox="1"/>
          <p:nvPr/>
        </p:nvSpPr>
        <p:spPr>
          <a:xfrm>
            <a:off x="8549640" y="4005072"/>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The text colour</a:t>
            </a:r>
            <a:endParaRPr lang="en-US" sz="1150" dirty="0"/>
          </a:p>
        </p:txBody>
      </p:sp>
      <p:sp>
        <p:nvSpPr>
          <p:cNvPr id="18" name="Text 16"/>
          <p:cNvSpPr txBox="1"/>
          <p:nvPr/>
        </p:nvSpPr>
        <p:spPr>
          <a:xfrm>
            <a:off x="6583680" y="4663440"/>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text-align</a:t>
            </a:r>
            <a:endParaRPr lang="en-US" sz="1150" dirty="0"/>
          </a:p>
        </p:txBody>
      </p:sp>
      <p:sp>
        <p:nvSpPr>
          <p:cNvPr id="19" name="Text 17"/>
          <p:cNvSpPr txBox="1"/>
          <p:nvPr/>
        </p:nvSpPr>
        <p:spPr>
          <a:xfrm>
            <a:off x="8549640" y="4663440"/>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left, center, right</a:t>
            </a:r>
            <a:endParaRPr lang="en-US" sz="1150" dirty="0"/>
          </a:p>
        </p:txBody>
      </p:sp>
      <p:sp>
        <p:nvSpPr>
          <p:cNvPr id="20" name="Text 18"/>
          <p:cNvSpPr txBox="1"/>
          <p:nvPr/>
        </p:nvSpPr>
        <p:spPr>
          <a:xfrm>
            <a:off x="6583680" y="5321808"/>
            <a:ext cx="1920240" cy="292608"/>
          </a:xfrm>
          <a:prstGeom prst="rect">
            <a:avLst/>
          </a:prstGeom>
          <a:noFill/>
        </p:spPr>
        <p:txBody>
          <a:bodyPr wrap="square" lIns="0" tIns="0" rIns="0" bIns="0" rtlCol="0" anchor="ctr"/>
          <a:lstStyle/>
          <a:p>
            <a:pPr marL="0" indent="0">
              <a:buNone/>
            </a:pPr>
            <a:r>
              <a:rPr lang="en-US" sz="11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text-decoration</a:t>
            </a:r>
            <a:endParaRPr lang="en-US" sz="1150" dirty="0"/>
          </a:p>
        </p:txBody>
      </p:sp>
      <p:sp>
        <p:nvSpPr>
          <p:cNvPr id="21" name="Text 19"/>
          <p:cNvSpPr txBox="1"/>
          <p:nvPr/>
        </p:nvSpPr>
        <p:spPr>
          <a:xfrm>
            <a:off x="8549640" y="5321808"/>
            <a:ext cx="3108960" cy="292608"/>
          </a:xfrm>
          <a:prstGeom prst="rect">
            <a:avLst/>
          </a:prstGeom>
          <a:noFill/>
        </p:spPr>
        <p:txBody>
          <a:bodyPr wrap="square" lIns="0" tIns="0" rIns="0" bIns="0" rtlCol="0" anchor="ctr"/>
          <a:lstStyle/>
          <a:p>
            <a:pPr marL="0" indent="0">
              <a:buNone/>
            </a:pPr>
            <a:r>
              <a:rPr lang="en-US" sz="1150" dirty="0">
                <a:solidFill>
                  <a:srgbClr val="3D4A57"/>
                </a:solidFill>
                <a:latin typeface="Arial" panose="020B0604020202020204" pitchFamily="34" charset="0"/>
                <a:ea typeface="Arial" panose="020B0604020202020204" pitchFamily="34" charset="-122"/>
                <a:cs typeface="Arial" panose="020B0604020202020204" pitchFamily="34" charset="-120"/>
              </a:rPr>
              <a:t>underline, none</a:t>
            </a:r>
            <a:endParaRPr lang="en-US" sz="1150" dirty="0"/>
          </a:p>
        </p:txBody>
      </p:sp>
      <p:sp>
        <p:nvSpPr>
          <p:cNvPr id="22" name="Shape 20"/>
          <p:cNvSpPr/>
          <p:nvPr/>
        </p:nvSpPr>
        <p:spPr>
          <a:xfrm>
            <a:off x="6583680" y="5760085"/>
            <a:ext cx="5029200" cy="502920"/>
          </a:xfrm>
          <a:prstGeom prst="roundRect">
            <a:avLst>
              <a:gd name="adj" fmla="val 14545"/>
            </a:avLst>
          </a:prstGeom>
          <a:solidFill>
            <a:srgbClr val="F2F5F8"/>
          </a:solidFill>
          <a:ln w="12700">
            <a:solidFill>
              <a:srgbClr val="F2F5F8"/>
            </a:solidFill>
            <a:prstDash val="solid"/>
          </a:ln>
        </p:spPr>
      </p:sp>
      <p:sp>
        <p:nvSpPr>
          <p:cNvPr id="23" name="Text 21"/>
          <p:cNvSpPr txBox="1"/>
          <p:nvPr/>
        </p:nvSpPr>
        <p:spPr>
          <a:xfrm>
            <a:off x="6763512" y="5820283"/>
            <a:ext cx="4517136" cy="329184"/>
          </a:xfrm>
          <a:prstGeom prst="rect">
            <a:avLst/>
          </a:prstGeom>
          <a:noFill/>
        </p:spPr>
        <p:txBody>
          <a:bodyPr wrap="square" lIns="0" tIns="0" rIns="0" bIns="0" rtlCol="0" anchor="ctr"/>
          <a:lstStyle/>
          <a:p>
            <a:pPr marL="0" indent="0">
              <a:buNone/>
            </a:pPr>
            <a:r>
              <a:rPr lang="en-US" sz="1150" b="1" dirty="0">
                <a:solidFill>
                  <a:srgbClr val="003366"/>
                </a:solidFill>
                <a:latin typeface="Arial" panose="020B0604020202020204" pitchFamily="34" charset="0"/>
                <a:ea typeface="Arial" panose="020B0604020202020204" pitchFamily="34" charset="-122"/>
                <a:cs typeface="Arial" panose="020B0604020202020204" pitchFamily="34" charset="-120"/>
              </a:rPr>
              <a:t>font-family needs fallbacks: if the first font is missing, the browser tries the next.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Units: When to Use Which</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8</a:t>
            </a:r>
            <a:endParaRPr lang="en-US" sz="900" dirty="0"/>
          </a:p>
        </p:txBody>
      </p:sp>
      <p:sp>
        <p:nvSpPr>
          <p:cNvPr id="6" name="Shape 4"/>
          <p:cNvSpPr/>
          <p:nvPr/>
        </p:nvSpPr>
        <p:spPr>
          <a:xfrm>
            <a:off x="548640" y="1325880"/>
            <a:ext cx="11064240" cy="768096"/>
          </a:xfrm>
          <a:prstGeom prst="roundRect">
            <a:avLst>
              <a:gd name="adj" fmla="val 9524"/>
            </a:avLst>
          </a:prstGeom>
          <a:solidFill>
            <a:srgbClr val="F2F5F8"/>
          </a:solidFill>
          <a:ln w="12700">
            <a:solidFill>
              <a:srgbClr val="F2F5F8"/>
            </a:solidFill>
            <a:prstDash val="solid"/>
          </a:ln>
        </p:spPr>
      </p:sp>
      <p:sp>
        <p:nvSpPr>
          <p:cNvPr id="7" name="Text 5"/>
          <p:cNvSpPr txBox="1"/>
          <p:nvPr/>
        </p:nvSpPr>
        <p:spPr>
          <a:xfrm>
            <a:off x="777240" y="1380744"/>
            <a:ext cx="1188720" cy="694944"/>
          </a:xfrm>
          <a:prstGeom prst="rect">
            <a:avLst/>
          </a:prstGeom>
          <a:noFill/>
        </p:spPr>
        <p:txBody>
          <a:bodyPr wrap="square" lIns="0" tIns="0" rIns="0" bIns="0" rtlCol="0" anchor="ctr"/>
          <a:lstStyle/>
          <a:p>
            <a:pPr marL="0" indent="0">
              <a:buNone/>
            </a:pPr>
            <a:r>
              <a:rPr lang="en-US" sz="14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px</a:t>
            </a:r>
            <a:endParaRPr lang="en-US" sz="1400" dirty="0"/>
          </a:p>
        </p:txBody>
      </p:sp>
      <p:sp>
        <p:nvSpPr>
          <p:cNvPr id="8" name="Text 6"/>
          <p:cNvSpPr txBox="1"/>
          <p:nvPr/>
        </p:nvSpPr>
        <p:spPr>
          <a:xfrm>
            <a:off x="2103120" y="1380744"/>
            <a:ext cx="365760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fixed pixel</a:t>
            </a:r>
            <a:endParaRPr lang="en-US" sz="1300" dirty="0"/>
          </a:p>
        </p:txBody>
      </p:sp>
      <p:sp>
        <p:nvSpPr>
          <p:cNvPr id="9" name="Text 7"/>
          <p:cNvSpPr txBox="1"/>
          <p:nvPr/>
        </p:nvSpPr>
        <p:spPr>
          <a:xfrm>
            <a:off x="5943600" y="1380744"/>
            <a:ext cx="539496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Borders, small fixed spacing</a:t>
            </a:r>
            <a:endParaRPr lang="en-US" sz="1300" dirty="0"/>
          </a:p>
        </p:txBody>
      </p:sp>
      <p:sp>
        <p:nvSpPr>
          <p:cNvPr id="10" name="Shape 8"/>
          <p:cNvSpPr/>
          <p:nvPr/>
        </p:nvSpPr>
        <p:spPr>
          <a:xfrm>
            <a:off x="548640" y="2194560"/>
            <a:ext cx="11064240" cy="768096"/>
          </a:xfrm>
          <a:prstGeom prst="roundRect">
            <a:avLst>
              <a:gd name="adj" fmla="val 9524"/>
            </a:avLst>
          </a:prstGeom>
          <a:solidFill>
            <a:srgbClr val="E8EEF4"/>
          </a:solidFill>
          <a:ln w="12700">
            <a:solidFill>
              <a:srgbClr val="E8EEF4"/>
            </a:solidFill>
            <a:prstDash val="solid"/>
          </a:ln>
        </p:spPr>
      </p:sp>
      <p:sp>
        <p:nvSpPr>
          <p:cNvPr id="11" name="Text 9"/>
          <p:cNvSpPr txBox="1"/>
          <p:nvPr/>
        </p:nvSpPr>
        <p:spPr>
          <a:xfrm>
            <a:off x="777240" y="2249424"/>
            <a:ext cx="1188720" cy="694944"/>
          </a:xfrm>
          <a:prstGeom prst="rect">
            <a:avLst/>
          </a:prstGeom>
          <a:noFill/>
        </p:spPr>
        <p:txBody>
          <a:bodyPr wrap="square" lIns="0" tIns="0" rIns="0" bIns="0" rtlCol="0" anchor="ctr"/>
          <a:lstStyle/>
          <a:p>
            <a:pPr marL="0" indent="0">
              <a:buNone/>
            </a:pPr>
            <a:r>
              <a:rPr lang="en-US" sz="14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a:t>
            </a:r>
            <a:endParaRPr lang="en-US" sz="1400" dirty="0"/>
          </a:p>
        </p:txBody>
      </p:sp>
      <p:sp>
        <p:nvSpPr>
          <p:cNvPr id="12" name="Text 10"/>
          <p:cNvSpPr txBox="1"/>
          <p:nvPr/>
        </p:nvSpPr>
        <p:spPr>
          <a:xfrm>
            <a:off x="2103120" y="2249424"/>
            <a:ext cx="365760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Percent of the parent</a:t>
            </a:r>
            <a:endParaRPr lang="en-US" sz="1300" dirty="0"/>
          </a:p>
        </p:txBody>
      </p:sp>
      <p:sp>
        <p:nvSpPr>
          <p:cNvPr id="13" name="Text 11"/>
          <p:cNvSpPr txBox="1"/>
          <p:nvPr/>
        </p:nvSpPr>
        <p:spPr>
          <a:xfrm>
            <a:off x="5943600" y="2249424"/>
            <a:ext cx="539496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Widths inside a container</a:t>
            </a:r>
            <a:endParaRPr lang="en-US" sz="1300" dirty="0"/>
          </a:p>
        </p:txBody>
      </p:sp>
      <p:sp>
        <p:nvSpPr>
          <p:cNvPr id="14" name="Shape 12"/>
          <p:cNvSpPr/>
          <p:nvPr/>
        </p:nvSpPr>
        <p:spPr>
          <a:xfrm>
            <a:off x="548640" y="3063240"/>
            <a:ext cx="11064240" cy="768096"/>
          </a:xfrm>
          <a:prstGeom prst="roundRect">
            <a:avLst>
              <a:gd name="adj" fmla="val 9524"/>
            </a:avLst>
          </a:prstGeom>
          <a:solidFill>
            <a:srgbClr val="E7F4EE"/>
          </a:solidFill>
          <a:ln w="12700">
            <a:solidFill>
              <a:srgbClr val="E7F4EE"/>
            </a:solidFill>
            <a:prstDash val="solid"/>
          </a:ln>
        </p:spPr>
      </p:sp>
      <p:sp>
        <p:nvSpPr>
          <p:cNvPr id="15" name="Text 13"/>
          <p:cNvSpPr txBox="1"/>
          <p:nvPr/>
        </p:nvSpPr>
        <p:spPr>
          <a:xfrm>
            <a:off x="777240" y="3118104"/>
            <a:ext cx="1188720" cy="694944"/>
          </a:xfrm>
          <a:prstGeom prst="rect">
            <a:avLst/>
          </a:prstGeom>
          <a:noFill/>
        </p:spPr>
        <p:txBody>
          <a:bodyPr wrap="square" lIns="0" tIns="0" rIns="0" bIns="0" rtlCol="0" anchor="ctr"/>
          <a:lstStyle/>
          <a:p>
            <a:pPr marL="0" indent="0">
              <a:buNone/>
            </a:pPr>
            <a:r>
              <a:rPr lang="en-US" sz="14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rem</a:t>
            </a:r>
            <a:endParaRPr lang="en-US" sz="1400" dirty="0"/>
          </a:p>
        </p:txBody>
      </p:sp>
      <p:sp>
        <p:nvSpPr>
          <p:cNvPr id="16" name="Text 14"/>
          <p:cNvSpPr txBox="1"/>
          <p:nvPr/>
        </p:nvSpPr>
        <p:spPr>
          <a:xfrm>
            <a:off x="2103120" y="3118104"/>
            <a:ext cx="365760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Relative to the ROOT font size</a:t>
            </a:r>
            <a:endParaRPr lang="en-US" sz="1300" dirty="0"/>
          </a:p>
        </p:txBody>
      </p:sp>
      <p:sp>
        <p:nvSpPr>
          <p:cNvPr id="17" name="Text 15"/>
          <p:cNvSpPr txBox="1"/>
          <p:nvPr/>
        </p:nvSpPr>
        <p:spPr>
          <a:xfrm>
            <a:off x="5943600" y="3118104"/>
            <a:ext cx="539496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Font sizes and spacing — prefer this</a:t>
            </a:r>
            <a:endParaRPr lang="en-US" sz="1300" dirty="0"/>
          </a:p>
        </p:txBody>
      </p:sp>
      <p:sp>
        <p:nvSpPr>
          <p:cNvPr id="18" name="Shape 16"/>
          <p:cNvSpPr/>
          <p:nvPr/>
        </p:nvSpPr>
        <p:spPr>
          <a:xfrm>
            <a:off x="548640" y="3931920"/>
            <a:ext cx="11064240" cy="768096"/>
          </a:xfrm>
          <a:prstGeom prst="roundRect">
            <a:avLst>
              <a:gd name="adj" fmla="val 9524"/>
            </a:avLst>
          </a:prstGeom>
          <a:solidFill>
            <a:srgbClr val="FDF3E1"/>
          </a:solidFill>
          <a:ln w="12700">
            <a:solidFill>
              <a:srgbClr val="FDF3E1"/>
            </a:solidFill>
            <a:prstDash val="solid"/>
          </a:ln>
        </p:spPr>
      </p:sp>
      <p:sp>
        <p:nvSpPr>
          <p:cNvPr id="19" name="Text 17"/>
          <p:cNvSpPr txBox="1"/>
          <p:nvPr/>
        </p:nvSpPr>
        <p:spPr>
          <a:xfrm>
            <a:off x="777240" y="3986784"/>
            <a:ext cx="1188720" cy="694944"/>
          </a:xfrm>
          <a:prstGeom prst="rect">
            <a:avLst/>
          </a:prstGeom>
          <a:noFill/>
        </p:spPr>
        <p:txBody>
          <a:bodyPr wrap="square" lIns="0" tIns="0" rIns="0" bIns="0" rtlCol="0" anchor="ctr"/>
          <a:lstStyle/>
          <a:p>
            <a:pPr marL="0" indent="0">
              <a:buNone/>
            </a:pPr>
            <a:r>
              <a:rPr lang="en-US" sz="14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em</a:t>
            </a:r>
            <a:endParaRPr lang="en-US" sz="1400" dirty="0"/>
          </a:p>
        </p:txBody>
      </p:sp>
      <p:sp>
        <p:nvSpPr>
          <p:cNvPr id="20" name="Text 18"/>
          <p:cNvSpPr txBox="1"/>
          <p:nvPr/>
        </p:nvSpPr>
        <p:spPr>
          <a:xfrm>
            <a:off x="2103120" y="3986784"/>
            <a:ext cx="365760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Relative to the PARENT font size</a:t>
            </a:r>
            <a:endParaRPr lang="en-US" sz="1300" dirty="0"/>
          </a:p>
        </p:txBody>
      </p:sp>
      <p:sp>
        <p:nvSpPr>
          <p:cNvPr id="21" name="Text 19"/>
          <p:cNvSpPr txBox="1"/>
          <p:nvPr/>
        </p:nvSpPr>
        <p:spPr>
          <a:xfrm>
            <a:off x="5943600" y="3986784"/>
            <a:ext cx="539496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Careful: it multiplies when nested</a:t>
            </a:r>
            <a:endParaRPr lang="en-US" sz="1300" dirty="0"/>
          </a:p>
        </p:txBody>
      </p:sp>
      <p:sp>
        <p:nvSpPr>
          <p:cNvPr id="22" name="Shape 20"/>
          <p:cNvSpPr/>
          <p:nvPr/>
        </p:nvSpPr>
        <p:spPr>
          <a:xfrm>
            <a:off x="548640" y="4800600"/>
            <a:ext cx="11064240" cy="768096"/>
          </a:xfrm>
          <a:prstGeom prst="roundRect">
            <a:avLst>
              <a:gd name="adj" fmla="val 9524"/>
            </a:avLst>
          </a:prstGeom>
          <a:solidFill>
            <a:srgbClr val="F2F5F8"/>
          </a:solidFill>
          <a:ln w="12700">
            <a:solidFill>
              <a:srgbClr val="F2F5F8"/>
            </a:solidFill>
            <a:prstDash val="solid"/>
          </a:ln>
        </p:spPr>
      </p:sp>
      <p:sp>
        <p:nvSpPr>
          <p:cNvPr id="23" name="Text 21"/>
          <p:cNvSpPr txBox="1"/>
          <p:nvPr/>
        </p:nvSpPr>
        <p:spPr>
          <a:xfrm>
            <a:off x="777240" y="4855464"/>
            <a:ext cx="1188720" cy="694944"/>
          </a:xfrm>
          <a:prstGeom prst="rect">
            <a:avLst/>
          </a:prstGeom>
          <a:noFill/>
        </p:spPr>
        <p:txBody>
          <a:bodyPr wrap="square" lIns="0" tIns="0" rIns="0" bIns="0" rtlCol="0" anchor="ctr"/>
          <a:lstStyle/>
          <a:p>
            <a:pPr marL="0" indent="0">
              <a:buNone/>
            </a:pPr>
            <a:r>
              <a:rPr lang="en-US" sz="14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vh / vw</a:t>
            </a:r>
            <a:endParaRPr lang="en-US" sz="1400" dirty="0"/>
          </a:p>
        </p:txBody>
      </p:sp>
      <p:sp>
        <p:nvSpPr>
          <p:cNvPr id="24" name="Text 22"/>
          <p:cNvSpPr txBox="1"/>
          <p:nvPr/>
        </p:nvSpPr>
        <p:spPr>
          <a:xfrm>
            <a:off x="2103120" y="4855464"/>
            <a:ext cx="365760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Percent of the viewport</a:t>
            </a:r>
            <a:endParaRPr lang="en-US" sz="1300" dirty="0"/>
          </a:p>
        </p:txBody>
      </p:sp>
      <p:sp>
        <p:nvSpPr>
          <p:cNvPr id="25" name="Text 23"/>
          <p:cNvSpPr txBox="1"/>
          <p:nvPr/>
        </p:nvSpPr>
        <p:spPr>
          <a:xfrm>
            <a:off x="5943600" y="4855464"/>
            <a:ext cx="5394960" cy="694944"/>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Full-screen sections, hero areas</a:t>
            </a:r>
            <a:endParaRPr lang="en-US" sz="1300" dirty="0"/>
          </a:p>
        </p:txBody>
      </p:sp>
      <p:sp>
        <p:nvSpPr>
          <p:cNvPr id="26" name="Shape 24"/>
          <p:cNvSpPr/>
          <p:nvPr/>
        </p:nvSpPr>
        <p:spPr>
          <a:xfrm>
            <a:off x="548640" y="5760720"/>
            <a:ext cx="11064240" cy="548640"/>
          </a:xfrm>
          <a:prstGeom prst="roundRect">
            <a:avLst>
              <a:gd name="adj" fmla="val 13333"/>
            </a:avLst>
          </a:prstGeom>
          <a:solidFill>
            <a:srgbClr val="E8EEF4"/>
          </a:solidFill>
          <a:ln w="12700">
            <a:solidFill>
              <a:srgbClr val="E8EEF4"/>
            </a:solidFill>
            <a:prstDash val="solid"/>
          </a:ln>
        </p:spPr>
      </p:sp>
      <p:sp>
        <p:nvSpPr>
          <p:cNvPr id="27" name="Text 25"/>
          <p:cNvSpPr txBox="1"/>
          <p:nvPr/>
        </p:nvSpPr>
        <p:spPr>
          <a:xfrm>
            <a:off x="804672" y="5961888"/>
            <a:ext cx="10552176" cy="329184"/>
          </a:xfrm>
          <a:prstGeom prst="rect">
            <a:avLst/>
          </a:prstGeom>
          <a:noFill/>
        </p:spPr>
        <p:txBody>
          <a:bodyPr wrap="square" lIns="0" tIns="0" rIns="0" bIns="0" rtlCol="0" anchor="ctr"/>
          <a:lstStyle/>
          <a:p>
            <a:pPr marL="0" indent="0">
              <a:buNone/>
            </a:pPr>
            <a:r>
              <a:rPr lang="en-US" sz="1250" b="1" dirty="0">
                <a:solidFill>
                  <a:srgbClr val="003366"/>
                </a:solidFill>
                <a:latin typeface="Arial" panose="020B0604020202020204" pitchFamily="34" charset="0"/>
                <a:ea typeface="Arial" panose="020B0604020202020204" pitchFamily="34" charset="-122"/>
                <a:cs typeface="Arial" panose="020B0604020202020204" pitchFamily="34" charset="-120"/>
              </a:rPr>
              <a:t>1rem = 16px by default. If a user increases their browser font size, rem scales and px does not.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p:spPr>
        <p:txBody>
          <a:bodyPr wrap="square" lIns="0" tIns="0" rIns="0" bIns="0" rtlCol="0" anchor="ctr"/>
          <a:lstStyle/>
          <a:p>
            <a:pPr marL="0" indent="0">
              <a:buNone/>
            </a:pPr>
            <a:r>
              <a:rPr lang="en-US" sz="6400" b="1" dirty="0">
                <a:solidFill>
                  <a:srgbClr val="E39A18"/>
                </a:solidFill>
                <a:latin typeface="Arial" panose="020B0604020202020204" pitchFamily="34" charset="0"/>
                <a:ea typeface="Arial" panose="020B0604020202020204" pitchFamily="34" charset="-122"/>
                <a:cs typeface="Arial" panose="020B0604020202020204" pitchFamily="34" charset="-120"/>
              </a:rPr>
              <a:t>01</a:t>
            </a:r>
            <a:endParaRPr lang="en-US" sz="6400" dirty="0"/>
          </a:p>
        </p:txBody>
      </p:sp>
      <p:sp>
        <p:nvSpPr>
          <p:cNvPr id="4" name="Text 2"/>
          <p:cNvSpPr txBox="1"/>
          <p:nvPr/>
        </p:nvSpPr>
        <p:spPr>
          <a:xfrm>
            <a:off x="548640" y="2971800"/>
            <a:ext cx="10058400" cy="731520"/>
          </a:xfrm>
          <a:prstGeom prst="rect">
            <a:avLst/>
          </a:prstGeom>
          <a:noFill/>
        </p:spPr>
        <p:txBody>
          <a:bodyPr wrap="square" lIns="0" tIns="0" rIns="0" bIns="0" rtlCol="0" anchor="ctr"/>
          <a:lstStyle/>
          <a:p>
            <a:pPr marL="0" indent="0">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The Box Model</a:t>
            </a:r>
            <a:endParaRPr lang="en-US" sz="3800" dirty="0"/>
          </a:p>
        </p:txBody>
      </p:sp>
      <p:sp>
        <p:nvSpPr>
          <p:cNvPr id="5" name="Text 3"/>
          <p:cNvSpPr txBox="1"/>
          <p:nvPr/>
        </p:nvSpPr>
        <p:spPr>
          <a:xfrm>
            <a:off x="548640" y="3749040"/>
            <a:ext cx="9601200" cy="457200"/>
          </a:xfrm>
          <a:prstGeom prst="rect">
            <a:avLst/>
          </a:prstGeom>
          <a:noFill/>
        </p:spPr>
        <p:txBody>
          <a:bodyPr wrap="square" lIns="0" tIns="0" rIns="0" bIns="0" rtlCol="0" anchor="ctr"/>
          <a:lstStyle/>
          <a:p>
            <a:pPr marL="0" indent="0">
              <a:buNone/>
            </a:pPr>
            <a:r>
              <a:rPr lang="en-US" sz="1500" dirty="0">
                <a:solidFill>
                  <a:srgbClr val="9FC0DE"/>
                </a:solidFill>
                <a:latin typeface="Arial" panose="020B0604020202020204" pitchFamily="34" charset="0"/>
                <a:ea typeface="Arial" panose="020B0604020202020204" pitchFamily="34" charset="-122"/>
                <a:cs typeface="Arial" panose="020B0604020202020204" pitchFamily="34" charset="-120"/>
              </a:rPr>
              <a:t>Every element on a page is a rectangle. Once you see the rectangles, CSS stops being magic.</a:t>
            </a:r>
            <a:endParaRPr lang="en-US" sz="1500" dirty="0"/>
          </a:p>
        </p:txBody>
      </p:sp>
      <p:sp>
        <p:nvSpPr>
          <p:cNvPr id="6" name="Text 4"/>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E93B8"/>
                </a:solidFill>
                <a:latin typeface="Arial" panose="020B0604020202020204" pitchFamily="34" charset="0"/>
                <a:ea typeface="Arial" panose="020B0604020202020204" pitchFamily="34" charset="-122"/>
                <a:cs typeface="Arial" panose="020B0604020202020204"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BOX</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The Box Model</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10</a:t>
            </a:r>
            <a:endParaRPr lang="en-US" sz="900" dirty="0"/>
          </a:p>
        </p:txBody>
      </p:sp>
      <p:sp>
        <p:nvSpPr>
          <p:cNvPr id="6" name="Shape 4"/>
          <p:cNvSpPr/>
          <p:nvPr/>
        </p:nvSpPr>
        <p:spPr>
          <a:xfrm>
            <a:off x="822960" y="1463040"/>
            <a:ext cx="5486400" cy="4023360"/>
          </a:xfrm>
          <a:prstGeom prst="rect">
            <a:avLst/>
          </a:prstGeom>
          <a:solidFill>
            <a:srgbClr val="FBE8CF"/>
          </a:solidFill>
          <a:ln w="12700">
            <a:solidFill>
              <a:srgbClr val="E39A18"/>
            </a:solidFill>
            <a:prstDash val="dash"/>
          </a:ln>
        </p:spPr>
      </p:sp>
      <p:sp>
        <p:nvSpPr>
          <p:cNvPr id="7" name="Text 5"/>
          <p:cNvSpPr txBox="1"/>
          <p:nvPr/>
        </p:nvSpPr>
        <p:spPr>
          <a:xfrm>
            <a:off x="914400" y="1536192"/>
            <a:ext cx="1371600" cy="274320"/>
          </a:xfrm>
          <a:prstGeom prst="rect">
            <a:avLst/>
          </a:prstGeom>
          <a:noFill/>
        </p:spPr>
        <p:txBody>
          <a:bodyPr wrap="square" lIns="0" tIns="0" rIns="0" bIns="0" rtlCol="0" anchor="ctr"/>
          <a:lstStyle/>
          <a:p>
            <a:pPr marL="0" indent="0">
              <a:buNone/>
            </a:pPr>
            <a:r>
              <a:rPr lang="en-US" sz="1200" b="1" dirty="0">
                <a:solidFill>
                  <a:srgbClr val="8A5A05"/>
                </a:solidFill>
                <a:latin typeface="Courier New" panose="02070309020205020404" pitchFamily="34" charset="0"/>
                <a:ea typeface="Courier New" panose="02070309020205020404" pitchFamily="34" charset="-122"/>
                <a:cs typeface="Courier New" panose="02070309020205020404" pitchFamily="34" charset="-120"/>
              </a:rPr>
              <a:t>margin</a:t>
            </a:r>
            <a:endParaRPr lang="en-US" sz="1200" dirty="0"/>
          </a:p>
        </p:txBody>
      </p:sp>
      <p:sp>
        <p:nvSpPr>
          <p:cNvPr id="8" name="Shape 6"/>
          <p:cNvSpPr/>
          <p:nvPr/>
        </p:nvSpPr>
        <p:spPr>
          <a:xfrm>
            <a:off x="1508760" y="1965960"/>
            <a:ext cx="4114800" cy="3017520"/>
          </a:xfrm>
          <a:prstGeom prst="rect">
            <a:avLst/>
          </a:prstGeom>
          <a:solidFill>
            <a:srgbClr val="003366"/>
          </a:solidFill>
          <a:ln w="12700">
            <a:solidFill>
              <a:srgbClr val="003366"/>
            </a:solidFill>
            <a:prstDash val="solid"/>
          </a:ln>
        </p:spPr>
      </p:sp>
      <p:sp>
        <p:nvSpPr>
          <p:cNvPr id="9" name="Text 7"/>
          <p:cNvSpPr txBox="1"/>
          <p:nvPr/>
        </p:nvSpPr>
        <p:spPr>
          <a:xfrm>
            <a:off x="1600200" y="2011680"/>
            <a:ext cx="1371600" cy="256032"/>
          </a:xfrm>
          <a:prstGeom prst="rect">
            <a:avLst/>
          </a:prstGeom>
          <a:noFill/>
        </p:spPr>
        <p:txBody>
          <a:bodyPr wrap="square" lIns="0" tIns="0" rIns="0" bIns="0" rtlCol="0" anchor="ctr"/>
          <a:lstStyle/>
          <a:p>
            <a:pPr marL="0" indent="0">
              <a:buNone/>
            </a:pPr>
            <a:r>
              <a:rPr lang="en-US" sz="1200" b="1" dirty="0">
                <a:solidFill>
                  <a:srgbClr val="FFFFFF"/>
                </a:solidFill>
                <a:latin typeface="Courier New" panose="02070309020205020404" pitchFamily="34" charset="0"/>
                <a:ea typeface="Courier New" panose="02070309020205020404" pitchFamily="34" charset="-122"/>
                <a:cs typeface="Courier New" panose="02070309020205020404" pitchFamily="34" charset="-120"/>
              </a:rPr>
              <a:t>border</a:t>
            </a:r>
            <a:endParaRPr lang="en-US" sz="1200" dirty="0"/>
          </a:p>
        </p:txBody>
      </p:sp>
      <p:sp>
        <p:nvSpPr>
          <p:cNvPr id="10" name="Shape 8"/>
          <p:cNvSpPr/>
          <p:nvPr/>
        </p:nvSpPr>
        <p:spPr>
          <a:xfrm>
            <a:off x="1783080" y="2331720"/>
            <a:ext cx="3566160" cy="2286000"/>
          </a:xfrm>
          <a:prstGeom prst="rect">
            <a:avLst/>
          </a:prstGeom>
          <a:solidFill>
            <a:srgbClr val="D6EAF8"/>
          </a:solidFill>
          <a:ln w="12700">
            <a:solidFill>
              <a:srgbClr val="D6EAF8"/>
            </a:solidFill>
            <a:prstDash val="solid"/>
          </a:ln>
        </p:spPr>
      </p:sp>
      <p:sp>
        <p:nvSpPr>
          <p:cNvPr id="11" name="Text 9"/>
          <p:cNvSpPr txBox="1"/>
          <p:nvPr/>
        </p:nvSpPr>
        <p:spPr>
          <a:xfrm>
            <a:off x="1874520" y="2377440"/>
            <a:ext cx="1371600" cy="256032"/>
          </a:xfrm>
          <a:prstGeom prst="rect">
            <a:avLst/>
          </a:prstGeom>
          <a:noFill/>
        </p:spPr>
        <p:txBody>
          <a:bodyPr wrap="square" lIns="0" tIns="0" rIns="0" bIns="0" rtlCol="0" anchor="ctr"/>
          <a:lstStyle/>
          <a:p>
            <a:pPr marL="0" indent="0">
              <a:buNone/>
            </a:pPr>
            <a:r>
              <a:rPr lang="en-US" sz="1200" b="1" dirty="0">
                <a:solidFill>
                  <a:srgbClr val="1A5276"/>
                </a:solidFill>
                <a:latin typeface="Courier New" panose="02070309020205020404" pitchFamily="34" charset="0"/>
                <a:ea typeface="Courier New" panose="02070309020205020404" pitchFamily="34" charset="-122"/>
                <a:cs typeface="Courier New" panose="02070309020205020404" pitchFamily="34" charset="-120"/>
              </a:rPr>
              <a:t>padding</a:t>
            </a:r>
            <a:endParaRPr lang="en-US" sz="1200" dirty="0"/>
          </a:p>
        </p:txBody>
      </p:sp>
      <p:sp>
        <p:nvSpPr>
          <p:cNvPr id="12" name="Shape 10"/>
          <p:cNvSpPr/>
          <p:nvPr/>
        </p:nvSpPr>
        <p:spPr>
          <a:xfrm>
            <a:off x="2240280" y="2743200"/>
            <a:ext cx="2651760" cy="1463040"/>
          </a:xfrm>
          <a:prstGeom prst="rect">
            <a:avLst/>
          </a:prstGeom>
          <a:solidFill>
            <a:srgbClr val="FFFFFF"/>
          </a:solidFill>
          <a:ln w="12700">
            <a:solidFill>
              <a:srgbClr val="D6DEE6"/>
            </a:solidFill>
            <a:prstDash val="solid"/>
          </a:ln>
        </p:spPr>
      </p:sp>
      <p:sp>
        <p:nvSpPr>
          <p:cNvPr id="13" name="Text 11"/>
          <p:cNvSpPr txBox="1"/>
          <p:nvPr/>
        </p:nvSpPr>
        <p:spPr>
          <a:xfrm>
            <a:off x="2240280" y="2743200"/>
            <a:ext cx="2651760" cy="1463040"/>
          </a:xfrm>
          <a:prstGeom prst="rect">
            <a:avLst/>
          </a:prstGeom>
          <a:noFill/>
        </p:spPr>
        <p:txBody>
          <a:bodyPr wrap="square" lIns="0" tIns="0" rIns="0" bIns="0" rtlCol="0" anchor="ctr"/>
          <a:lstStyle/>
          <a:p>
            <a:pPr marL="0" indent="0" algn="ctr">
              <a:buNone/>
            </a:pPr>
            <a:r>
              <a:rPr lang="en-US" sz="1300" b="1" dirty="0">
                <a:solidFill>
                  <a:srgbClr val="1A2733"/>
                </a:solidFill>
                <a:latin typeface="Courier New" panose="02070309020205020404" pitchFamily="34" charset="0"/>
                <a:ea typeface="Courier New" panose="02070309020205020404" pitchFamily="34" charset="-122"/>
                <a:cs typeface="Courier New" panose="02070309020205020404" pitchFamily="34" charset="-120"/>
              </a:rPr>
              <a:t>content</a:t>
            </a:r>
            <a:endParaRPr lang="en-US" sz="1300" dirty="0"/>
          </a:p>
        </p:txBody>
      </p:sp>
      <p:sp>
        <p:nvSpPr>
          <p:cNvPr id="14" name="Shape 12"/>
          <p:cNvSpPr/>
          <p:nvPr/>
        </p:nvSpPr>
        <p:spPr>
          <a:xfrm>
            <a:off x="6766560" y="1554480"/>
            <a:ext cx="4846320" cy="914400"/>
          </a:xfrm>
          <a:prstGeom prst="roundRect">
            <a:avLst>
              <a:gd name="adj" fmla="val 8000"/>
            </a:avLst>
          </a:prstGeom>
          <a:solidFill>
            <a:srgbClr val="E8EEF4"/>
          </a:solidFill>
          <a:ln w="12700">
            <a:solidFill>
              <a:srgbClr val="E8EEF4"/>
            </a:solidFill>
            <a:prstDash val="solid"/>
          </a:ln>
        </p:spPr>
      </p:sp>
      <p:sp>
        <p:nvSpPr>
          <p:cNvPr id="15" name="Text 13"/>
          <p:cNvSpPr txBox="1"/>
          <p:nvPr/>
        </p:nvSpPr>
        <p:spPr>
          <a:xfrm>
            <a:off x="7022592" y="1755648"/>
            <a:ext cx="4334256"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content</a:t>
            </a:r>
            <a:endParaRPr lang="en-US" sz="1400" dirty="0"/>
          </a:p>
        </p:txBody>
      </p:sp>
      <p:sp>
        <p:nvSpPr>
          <p:cNvPr id="16" name="Text 14"/>
          <p:cNvSpPr txBox="1"/>
          <p:nvPr/>
        </p:nvSpPr>
        <p:spPr>
          <a:xfrm>
            <a:off x="7022592" y="2176272"/>
            <a:ext cx="4334256" cy="128016"/>
          </a:xfrm>
          <a:prstGeom prst="rect">
            <a:avLst/>
          </a:prstGeom>
          <a:noFill/>
        </p:spPr>
        <p:txBody>
          <a:bodyPr wrap="square" lIns="0" tIns="0" rIns="0" bIns="0" rtlCol="0" anchor="t"/>
          <a:lstStyle/>
          <a:p>
            <a:pPr marL="0" indent="0">
              <a:spcAft>
                <a:spcPts val="600"/>
              </a:spcAft>
              <a:buNone/>
            </a:pPr>
            <a:r>
              <a:rPr lang="en-US" sz="1200" dirty="0">
                <a:solidFill>
                  <a:srgbClr val="3D4A57"/>
                </a:solidFill>
                <a:latin typeface="Arial" panose="020B0604020202020204" pitchFamily="34" charset="0"/>
                <a:ea typeface="Arial" panose="020B0604020202020204" pitchFamily="34" charset="-122"/>
                <a:cs typeface="Arial" panose="020B0604020202020204" pitchFamily="34" charset="-120"/>
              </a:rPr>
              <a:t>Your text or image</a:t>
            </a:r>
            <a:endParaRPr lang="en-US" sz="1200" dirty="0"/>
          </a:p>
        </p:txBody>
      </p:sp>
      <p:sp>
        <p:nvSpPr>
          <p:cNvPr id="17" name="Shape 15"/>
          <p:cNvSpPr/>
          <p:nvPr/>
        </p:nvSpPr>
        <p:spPr>
          <a:xfrm>
            <a:off x="6766560" y="2606040"/>
            <a:ext cx="4846320" cy="914400"/>
          </a:xfrm>
          <a:prstGeom prst="roundRect">
            <a:avLst>
              <a:gd name="adj" fmla="val 8000"/>
            </a:avLst>
          </a:prstGeom>
          <a:solidFill>
            <a:srgbClr val="F2F5F8"/>
          </a:solidFill>
          <a:ln w="12700">
            <a:solidFill>
              <a:srgbClr val="F2F5F8"/>
            </a:solidFill>
            <a:prstDash val="solid"/>
          </a:ln>
        </p:spPr>
      </p:sp>
      <p:sp>
        <p:nvSpPr>
          <p:cNvPr id="18" name="Text 16"/>
          <p:cNvSpPr txBox="1"/>
          <p:nvPr/>
        </p:nvSpPr>
        <p:spPr>
          <a:xfrm>
            <a:off x="7022592" y="2807208"/>
            <a:ext cx="4334256"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padding</a:t>
            </a:r>
            <a:endParaRPr lang="en-US" sz="1400" dirty="0"/>
          </a:p>
        </p:txBody>
      </p:sp>
      <p:sp>
        <p:nvSpPr>
          <p:cNvPr id="19" name="Text 17"/>
          <p:cNvSpPr txBox="1"/>
          <p:nvPr/>
        </p:nvSpPr>
        <p:spPr>
          <a:xfrm>
            <a:off x="7022592" y="3227832"/>
            <a:ext cx="4334256" cy="128016"/>
          </a:xfrm>
          <a:prstGeom prst="rect">
            <a:avLst/>
          </a:prstGeom>
          <a:noFill/>
        </p:spPr>
        <p:txBody>
          <a:bodyPr wrap="square" lIns="0" tIns="0" rIns="0" bIns="0" rtlCol="0" anchor="t"/>
          <a:lstStyle/>
          <a:p>
            <a:pPr marL="0" indent="0">
              <a:spcAft>
                <a:spcPts val="600"/>
              </a:spcAft>
              <a:buNone/>
            </a:pPr>
            <a:r>
              <a:rPr lang="en-US" sz="1200" dirty="0">
                <a:solidFill>
                  <a:srgbClr val="3D4A57"/>
                </a:solidFill>
                <a:latin typeface="Arial" panose="020B0604020202020204" pitchFamily="34" charset="0"/>
                <a:ea typeface="Arial" panose="020B0604020202020204" pitchFamily="34" charset="-122"/>
                <a:cs typeface="Arial" panose="020B0604020202020204" pitchFamily="34" charset="-120"/>
              </a:rPr>
              <a:t>Space INSIDE the border. Takes the background colour</a:t>
            </a:r>
            <a:endParaRPr lang="en-US" sz="1200" dirty="0"/>
          </a:p>
        </p:txBody>
      </p:sp>
      <p:sp>
        <p:nvSpPr>
          <p:cNvPr id="20" name="Shape 18"/>
          <p:cNvSpPr/>
          <p:nvPr/>
        </p:nvSpPr>
        <p:spPr>
          <a:xfrm>
            <a:off x="6766560" y="3657600"/>
            <a:ext cx="4846320" cy="914400"/>
          </a:xfrm>
          <a:prstGeom prst="roundRect">
            <a:avLst>
              <a:gd name="adj" fmla="val 8000"/>
            </a:avLst>
          </a:prstGeom>
          <a:solidFill>
            <a:srgbClr val="E8EEF4"/>
          </a:solidFill>
          <a:ln w="12700">
            <a:solidFill>
              <a:srgbClr val="E8EEF4"/>
            </a:solidFill>
            <a:prstDash val="solid"/>
          </a:ln>
        </p:spPr>
      </p:sp>
      <p:sp>
        <p:nvSpPr>
          <p:cNvPr id="21" name="Text 19"/>
          <p:cNvSpPr txBox="1"/>
          <p:nvPr/>
        </p:nvSpPr>
        <p:spPr>
          <a:xfrm>
            <a:off x="7022592" y="3858768"/>
            <a:ext cx="4334256"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border</a:t>
            </a:r>
            <a:endParaRPr lang="en-US" sz="1400" dirty="0"/>
          </a:p>
        </p:txBody>
      </p:sp>
      <p:sp>
        <p:nvSpPr>
          <p:cNvPr id="22" name="Text 20"/>
          <p:cNvSpPr txBox="1"/>
          <p:nvPr/>
        </p:nvSpPr>
        <p:spPr>
          <a:xfrm>
            <a:off x="7022592" y="4279392"/>
            <a:ext cx="4334256" cy="128016"/>
          </a:xfrm>
          <a:prstGeom prst="rect">
            <a:avLst/>
          </a:prstGeom>
          <a:noFill/>
        </p:spPr>
        <p:txBody>
          <a:bodyPr wrap="square" lIns="0" tIns="0" rIns="0" bIns="0" rtlCol="0" anchor="t"/>
          <a:lstStyle/>
          <a:p>
            <a:pPr marL="0" indent="0">
              <a:spcAft>
                <a:spcPts val="600"/>
              </a:spcAft>
              <a:buNone/>
            </a:pPr>
            <a:r>
              <a:rPr lang="en-US" sz="1200" dirty="0">
                <a:solidFill>
                  <a:srgbClr val="3D4A57"/>
                </a:solidFill>
                <a:latin typeface="Arial" panose="020B0604020202020204" pitchFamily="34" charset="0"/>
                <a:ea typeface="Arial" panose="020B0604020202020204" pitchFamily="34" charset="-122"/>
                <a:cs typeface="Arial" panose="020B0604020202020204" pitchFamily="34" charset="-120"/>
              </a:rPr>
              <a:t>The line around the padding</a:t>
            </a:r>
            <a:endParaRPr lang="en-US" sz="1200" dirty="0"/>
          </a:p>
        </p:txBody>
      </p:sp>
      <p:sp>
        <p:nvSpPr>
          <p:cNvPr id="23" name="Shape 21"/>
          <p:cNvSpPr/>
          <p:nvPr/>
        </p:nvSpPr>
        <p:spPr>
          <a:xfrm>
            <a:off x="6766560" y="4709160"/>
            <a:ext cx="4846320" cy="914400"/>
          </a:xfrm>
          <a:prstGeom prst="roundRect">
            <a:avLst>
              <a:gd name="adj" fmla="val 8000"/>
            </a:avLst>
          </a:prstGeom>
          <a:solidFill>
            <a:srgbClr val="F2F5F8"/>
          </a:solidFill>
          <a:ln w="12700">
            <a:solidFill>
              <a:srgbClr val="F2F5F8"/>
            </a:solidFill>
            <a:prstDash val="solid"/>
          </a:ln>
        </p:spPr>
      </p:sp>
      <p:sp>
        <p:nvSpPr>
          <p:cNvPr id="24" name="Text 22"/>
          <p:cNvSpPr txBox="1"/>
          <p:nvPr/>
        </p:nvSpPr>
        <p:spPr>
          <a:xfrm>
            <a:off x="7022592" y="4910328"/>
            <a:ext cx="4334256"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margin</a:t>
            </a:r>
            <a:endParaRPr lang="en-US" sz="1400" dirty="0"/>
          </a:p>
        </p:txBody>
      </p:sp>
      <p:sp>
        <p:nvSpPr>
          <p:cNvPr id="25" name="Text 23"/>
          <p:cNvSpPr txBox="1"/>
          <p:nvPr/>
        </p:nvSpPr>
        <p:spPr>
          <a:xfrm>
            <a:off x="7022592" y="5330952"/>
            <a:ext cx="4334256" cy="128016"/>
          </a:xfrm>
          <a:prstGeom prst="rect">
            <a:avLst/>
          </a:prstGeom>
          <a:noFill/>
        </p:spPr>
        <p:txBody>
          <a:bodyPr wrap="square" lIns="0" tIns="0" rIns="0" bIns="0" rtlCol="0" anchor="t"/>
          <a:lstStyle/>
          <a:p>
            <a:pPr marL="0" indent="0">
              <a:spcAft>
                <a:spcPts val="600"/>
              </a:spcAft>
              <a:buNone/>
            </a:pPr>
            <a:r>
              <a:rPr lang="en-US" sz="1200" dirty="0">
                <a:solidFill>
                  <a:srgbClr val="3D4A57"/>
                </a:solidFill>
                <a:latin typeface="Arial" panose="020B0604020202020204" pitchFamily="34" charset="0"/>
                <a:ea typeface="Arial" panose="020B0604020202020204" pitchFamily="34" charset="-122"/>
                <a:cs typeface="Arial" panose="020B0604020202020204" pitchFamily="34" charset="-120"/>
              </a:rPr>
              <a:t>Space OUTSIDE the border. Always transparent</a:t>
            </a:r>
            <a:endParaRPr lang="en-US" sz="1200" dirty="0"/>
          </a:p>
        </p:txBody>
      </p:sp>
      <p:sp>
        <p:nvSpPr>
          <p:cNvPr id="26" name="Shape 24"/>
          <p:cNvSpPr/>
          <p:nvPr/>
        </p:nvSpPr>
        <p:spPr>
          <a:xfrm>
            <a:off x="548640" y="5715000"/>
            <a:ext cx="11064240" cy="548640"/>
          </a:xfrm>
          <a:prstGeom prst="roundRect">
            <a:avLst>
              <a:gd name="adj" fmla="val 13333"/>
            </a:avLst>
          </a:prstGeom>
          <a:solidFill>
            <a:srgbClr val="E7F4EE"/>
          </a:solidFill>
          <a:ln w="12700">
            <a:solidFill>
              <a:srgbClr val="E7F4EE"/>
            </a:solidFill>
            <a:prstDash val="solid"/>
          </a:ln>
        </p:spPr>
      </p:sp>
      <p:sp>
        <p:nvSpPr>
          <p:cNvPr id="27" name="Text 25"/>
          <p:cNvSpPr txBox="1"/>
          <p:nvPr/>
        </p:nvSpPr>
        <p:spPr>
          <a:xfrm>
            <a:off x="804672" y="5916168"/>
            <a:ext cx="10552176" cy="329184"/>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The rule: padding pushes the border away from the content. Margin pushes other elements away from this 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BOX</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box-sizing: The One Line Everyone Should Write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11</a:t>
            </a:r>
            <a:endParaRPr lang="en-US" sz="900" dirty="0"/>
          </a:p>
        </p:txBody>
      </p:sp>
      <p:sp>
        <p:nvSpPr>
          <p:cNvPr id="6" name="Text 4"/>
          <p:cNvSpPr txBox="1"/>
          <p:nvPr/>
        </p:nvSpPr>
        <p:spPr>
          <a:xfrm>
            <a:off x="548640" y="1325880"/>
            <a:ext cx="5486400" cy="256032"/>
          </a:xfrm>
          <a:prstGeom prst="rect">
            <a:avLst/>
          </a:prstGeom>
          <a:noFill/>
        </p:spPr>
        <p:txBody>
          <a:bodyPr wrap="square" lIns="0" tIns="0" rIns="0" bIns="0" rtlCol="0" anchor="ctr"/>
          <a:lstStyle/>
          <a:p>
            <a:pPr marL="0" indent="0">
              <a:buNone/>
            </a:pPr>
            <a:r>
              <a:rPr lang="en-US" sz="1200" b="1" kern="0" spc="60" dirty="0">
                <a:solidFill>
                  <a:srgbClr val="B3261E"/>
                </a:solidFill>
                <a:latin typeface="Arial" panose="020B0604020202020204" pitchFamily="34" charset="0"/>
                <a:ea typeface="Arial" panose="020B0604020202020204" pitchFamily="34" charset="-122"/>
                <a:cs typeface="Arial" panose="020B0604020202020204" pitchFamily="34" charset="-120"/>
              </a:rPr>
              <a:t>DEFAULT: content-box — the surprise</a:t>
            </a:r>
            <a:endParaRPr lang="en-US" sz="1200" dirty="0"/>
          </a:p>
        </p:txBody>
      </p:sp>
      <p:sp>
        <p:nvSpPr>
          <p:cNvPr id="7" name="Shape 5"/>
          <p:cNvSpPr/>
          <p:nvPr/>
        </p:nvSpPr>
        <p:spPr>
          <a:xfrm>
            <a:off x="548640" y="1600200"/>
            <a:ext cx="5486400" cy="1769872"/>
          </a:xfrm>
          <a:prstGeom prst="roundRect">
            <a:avLst>
              <a:gd name="adj" fmla="val 3100"/>
            </a:avLst>
          </a:prstGeom>
          <a:solidFill>
            <a:srgbClr val="0D1B2A"/>
          </a:solidFill>
          <a:ln w="12700">
            <a:solidFill>
              <a:srgbClr val="0D1B2A"/>
            </a:solidFill>
            <a:prstDash val="solid"/>
          </a:ln>
        </p:spPr>
      </p:sp>
      <p:sp>
        <p:nvSpPr>
          <p:cNvPr id="8" name="Text 6"/>
          <p:cNvSpPr txBox="1"/>
          <p:nvPr/>
        </p:nvSpPr>
        <p:spPr>
          <a:xfrm>
            <a:off x="658368" y="1709928"/>
            <a:ext cx="5266944" cy="1550416"/>
          </a:xfrm>
          <a:prstGeom prst="rect">
            <a:avLst/>
          </a:prstGeom>
          <a:noFill/>
        </p:spPr>
        <p:txBody>
          <a:bodyPr wrap="square" lIns="0" tIns="0" rIns="0" bIns="0" rtlCol="0" anchor="t"/>
          <a:lstStyle/>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.card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width</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300px;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5px solid navy;</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Actual width on screen:</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300 + 20 + 20 + 5 + 5 = 350px */</a:t>
            </a:r>
            <a:endParaRPr lang="en-US" sz="1150" dirty="0"/>
          </a:p>
        </p:txBody>
      </p:sp>
      <p:sp>
        <p:nvSpPr>
          <p:cNvPr id="9" name="Text 7"/>
          <p:cNvSpPr txBox="1"/>
          <p:nvPr/>
        </p:nvSpPr>
        <p:spPr>
          <a:xfrm>
            <a:off x="6309360" y="1325880"/>
            <a:ext cx="5303520" cy="256032"/>
          </a:xfrm>
          <a:prstGeom prst="rect">
            <a:avLst/>
          </a:prstGeom>
          <a:noFill/>
        </p:spPr>
        <p:txBody>
          <a:bodyPr wrap="square" lIns="0" tIns="0" rIns="0" bIns="0" rtlCol="0" anchor="ctr"/>
          <a:lstStyle/>
          <a:p>
            <a:pPr marL="0" indent="0">
              <a:buNone/>
            </a:pPr>
            <a:r>
              <a:rPr lang="en-US" sz="1200" b="1" kern="0" spc="60" dirty="0">
                <a:solidFill>
                  <a:srgbClr val="1F7A55"/>
                </a:solidFill>
                <a:latin typeface="Arial" panose="020B0604020202020204" pitchFamily="34" charset="0"/>
                <a:ea typeface="Arial" panose="020B0604020202020204" pitchFamily="34" charset="-122"/>
                <a:cs typeface="Arial" panose="020B0604020202020204" pitchFamily="34" charset="-120"/>
              </a:rPr>
              <a:t>WITH border-box — what you expect</a:t>
            </a:r>
            <a:endParaRPr lang="en-US" sz="1200" dirty="0"/>
          </a:p>
        </p:txBody>
      </p:sp>
      <p:sp>
        <p:nvSpPr>
          <p:cNvPr id="10" name="Shape 8"/>
          <p:cNvSpPr/>
          <p:nvPr/>
        </p:nvSpPr>
        <p:spPr>
          <a:xfrm>
            <a:off x="6309360" y="1600200"/>
            <a:ext cx="5303520" cy="1956816"/>
          </a:xfrm>
          <a:prstGeom prst="roundRect">
            <a:avLst>
              <a:gd name="adj" fmla="val 2804"/>
            </a:avLst>
          </a:prstGeom>
          <a:solidFill>
            <a:srgbClr val="0D1B2A"/>
          </a:solidFill>
          <a:ln w="12700">
            <a:solidFill>
              <a:srgbClr val="0D1B2A"/>
            </a:solidFill>
            <a:prstDash val="solid"/>
          </a:ln>
        </p:spPr>
      </p:sp>
      <p:sp>
        <p:nvSpPr>
          <p:cNvPr id="11" name="Text 9"/>
          <p:cNvSpPr txBox="1"/>
          <p:nvPr/>
        </p:nvSpPr>
        <p:spPr>
          <a:xfrm>
            <a:off x="6419088" y="1709928"/>
            <a:ext cx="5084064" cy="1737360"/>
          </a:xfrm>
          <a:prstGeom prst="rect">
            <a:avLst/>
          </a:prstGeom>
          <a:noFill/>
        </p:spPr>
        <p:txBody>
          <a:bodyPr wrap="square" lIns="0" tIns="0" rIns="0" bIns="0" rtlCol="0" anchor="t"/>
          <a:lstStyle/>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box-sizing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border-box;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.card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width: 300px;   /* stays 300px */</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5px solid navy;</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12" name="Shape 10"/>
          <p:cNvSpPr/>
          <p:nvPr/>
        </p:nvSpPr>
        <p:spPr>
          <a:xfrm>
            <a:off x="548640" y="3977640"/>
            <a:ext cx="11064240" cy="1965960"/>
          </a:xfrm>
          <a:prstGeom prst="roundRect">
            <a:avLst>
              <a:gd name="adj" fmla="val 3721"/>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3" name="Shape 11"/>
          <p:cNvSpPr/>
          <p:nvPr/>
        </p:nvSpPr>
        <p:spPr>
          <a:xfrm>
            <a:off x="749808" y="4178808"/>
            <a:ext cx="384048" cy="384048"/>
          </a:xfrm>
          <a:prstGeom prst="ellipse">
            <a:avLst/>
          </a:prstGeom>
          <a:solidFill>
            <a:srgbClr val="E39A18"/>
          </a:solidFill>
          <a:ln w="12700">
            <a:solidFill>
              <a:srgbClr val="E39A18"/>
            </a:solidFill>
            <a:prstDash val="solid"/>
          </a:ln>
        </p:spPr>
      </p:sp>
      <p:sp>
        <p:nvSpPr>
          <p:cNvPr id="14" name="Text 12"/>
          <p:cNvSpPr txBox="1"/>
          <p:nvPr/>
        </p:nvSpPr>
        <p:spPr>
          <a:xfrm>
            <a:off x="749808" y="41788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5" name="Text 13"/>
          <p:cNvSpPr txBox="1"/>
          <p:nvPr/>
        </p:nvSpPr>
        <p:spPr>
          <a:xfrm>
            <a:off x="1261872" y="4206240"/>
            <a:ext cx="101498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Put this at the top of every stylesheet you write, for the rest of your life</a:t>
            </a:r>
            <a:endParaRPr lang="en-US" sz="1700" dirty="0"/>
          </a:p>
        </p:txBody>
      </p:sp>
      <p:sp>
        <p:nvSpPr>
          <p:cNvPr id="16" name="Text 14"/>
          <p:cNvSpPr txBox="1"/>
          <p:nvPr/>
        </p:nvSpPr>
        <p:spPr>
          <a:xfrm>
            <a:off x="804672" y="4599432"/>
            <a:ext cx="10552176" cy="1179576"/>
          </a:xfrm>
          <a:prstGeom prst="rect">
            <a:avLst/>
          </a:prstGeom>
          <a:noFill/>
        </p:spPr>
        <p:txBody>
          <a:bodyPr wrap="square" lIns="0" tIns="0" rIns="0" bIns="0" rtlCol="0" anchor="t"/>
          <a:lstStyle/>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With border-box, width means the total visible width, including padding and border.</a:t>
            </a:r>
            <a:endParaRPr lang="en-US" sz="1350" dirty="0"/>
          </a:p>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Without it, padding and border are added on top, and your layout breaks the moment you add padding.</a:t>
            </a:r>
            <a:endParaRPr lang="en-US" sz="1350" dirty="0"/>
          </a:p>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This single line prevents more layout bugs than any other rule in CSS.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BOX</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Width, Height and Centring</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12</a:t>
            </a:r>
            <a:endParaRPr lang="en-US" sz="900" dirty="0"/>
          </a:p>
        </p:txBody>
      </p:sp>
      <p:sp>
        <p:nvSpPr>
          <p:cNvPr id="6" name="Shape 4"/>
          <p:cNvSpPr/>
          <p:nvPr/>
        </p:nvSpPr>
        <p:spPr>
          <a:xfrm>
            <a:off x="548640" y="1371600"/>
            <a:ext cx="6035040" cy="2330704"/>
          </a:xfrm>
          <a:prstGeom prst="roundRect">
            <a:avLst>
              <a:gd name="adj" fmla="val 2354"/>
            </a:avLst>
          </a:prstGeom>
          <a:solidFill>
            <a:srgbClr val="0D1B2A"/>
          </a:solidFill>
          <a:ln w="12700">
            <a:solidFill>
              <a:srgbClr val="0D1B2A"/>
            </a:solidFill>
            <a:prstDash val="solid"/>
          </a:ln>
        </p:spPr>
      </p:sp>
      <p:sp>
        <p:nvSpPr>
          <p:cNvPr id="7" name="Text 5"/>
          <p:cNvSpPr txBox="1"/>
          <p:nvPr/>
        </p:nvSpPr>
        <p:spPr>
          <a:xfrm>
            <a:off x="658368" y="1481328"/>
            <a:ext cx="5815584" cy="2111248"/>
          </a:xfrm>
          <a:prstGeom prst="rect">
            <a:avLst/>
          </a:prstGeom>
          <a:noFill/>
        </p:spPr>
        <p:txBody>
          <a:bodyPr wrap="square" lIns="0" tIns="0" rIns="0" bIns="0" rtlCol="0" anchor="t"/>
          <a:lstStyle/>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.container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width</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90%;</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max-width</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900px;</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margin: 0 auto;      /* centres the box */</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24px;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margin shorthand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margin: 16px;                /* all four sides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margin: 16px 24px;           /* top-bottom, left-right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margin: 8px 16px 24px 32px;  /* top right bottom left */</a:t>
            </a:r>
            <a:endParaRPr lang="en-US" sz="1150" dirty="0"/>
          </a:p>
        </p:txBody>
      </p:sp>
      <p:sp>
        <p:nvSpPr>
          <p:cNvPr id="8" name="Shape 6"/>
          <p:cNvSpPr/>
          <p:nvPr/>
        </p:nvSpPr>
        <p:spPr>
          <a:xfrm>
            <a:off x="6766560" y="1371600"/>
            <a:ext cx="4846320" cy="2103120"/>
          </a:xfrm>
          <a:prstGeom prst="roundRect">
            <a:avLst>
              <a:gd name="adj" fmla="val 3478"/>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9" name="Shape 7"/>
          <p:cNvSpPr/>
          <p:nvPr/>
        </p:nvSpPr>
        <p:spPr>
          <a:xfrm>
            <a:off x="6967728" y="1572768"/>
            <a:ext cx="384048" cy="384048"/>
          </a:xfrm>
          <a:prstGeom prst="ellipse">
            <a:avLst/>
          </a:prstGeom>
          <a:solidFill>
            <a:srgbClr val="1F7A55"/>
          </a:solidFill>
          <a:ln w="12700">
            <a:solidFill>
              <a:srgbClr val="1F7A55"/>
            </a:solidFill>
            <a:prstDash val="solid"/>
          </a:ln>
        </p:spPr>
      </p:sp>
      <p:sp>
        <p:nvSpPr>
          <p:cNvPr id="10" name="Text 8"/>
          <p:cNvSpPr txBox="1"/>
          <p:nvPr/>
        </p:nvSpPr>
        <p:spPr>
          <a:xfrm>
            <a:off x="696772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1" name="Text 9"/>
          <p:cNvSpPr txBox="1"/>
          <p:nvPr/>
        </p:nvSpPr>
        <p:spPr>
          <a:xfrm>
            <a:off x="7479792" y="1600200"/>
            <a:ext cx="39319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centring recipe</a:t>
            </a:r>
            <a:endParaRPr lang="en-US" sz="1700" dirty="0"/>
          </a:p>
        </p:txBody>
      </p:sp>
      <p:sp>
        <p:nvSpPr>
          <p:cNvPr id="12" name="Text 10"/>
          <p:cNvSpPr txBox="1"/>
          <p:nvPr/>
        </p:nvSpPr>
        <p:spPr>
          <a:xfrm>
            <a:off x="7022592" y="1993392"/>
            <a:ext cx="4334256" cy="131673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Give the box a width</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Then margin: 0 auto</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auto splits the leftover space equally on both sides</a:t>
            </a:r>
            <a:endParaRPr lang="en-US" sz="1300" dirty="0"/>
          </a:p>
        </p:txBody>
      </p:sp>
      <p:sp>
        <p:nvSpPr>
          <p:cNvPr id="13" name="Shape 11"/>
          <p:cNvSpPr/>
          <p:nvPr/>
        </p:nvSpPr>
        <p:spPr>
          <a:xfrm>
            <a:off x="6766560" y="3657600"/>
            <a:ext cx="4846320" cy="2286000"/>
          </a:xfrm>
          <a:prstGeom prst="roundRect">
            <a:avLst>
              <a:gd name="adj" fmla="val 3200"/>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14" name="Text 12"/>
          <p:cNvSpPr txBox="1"/>
          <p:nvPr/>
        </p:nvSpPr>
        <p:spPr>
          <a:xfrm>
            <a:off x="7022592" y="3858768"/>
            <a:ext cx="433425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max-width matters</a:t>
            </a:r>
            <a:endParaRPr lang="en-US" sz="1700" dirty="0"/>
          </a:p>
        </p:txBody>
      </p:sp>
      <p:sp>
        <p:nvSpPr>
          <p:cNvPr id="15" name="Text 13"/>
          <p:cNvSpPr txBox="1"/>
          <p:nvPr/>
        </p:nvSpPr>
        <p:spPr>
          <a:xfrm>
            <a:off x="7022592" y="4279392"/>
            <a:ext cx="4334256" cy="149961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width: 90% keeps it flexible on a phone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max-width: 900px stops it stretching on a wide monitor</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You will use this pair constantly from Week 3</a:t>
            </a:r>
            <a:endParaRPr lang="en-US" sz="1300" dirty="0"/>
          </a:p>
        </p:txBody>
      </p:sp>
      <p:sp>
        <p:nvSpPr>
          <p:cNvPr id="16" name="Shape 14"/>
          <p:cNvSpPr/>
          <p:nvPr/>
        </p:nvSpPr>
        <p:spPr>
          <a:xfrm>
            <a:off x="548640" y="4206240"/>
            <a:ext cx="6035040" cy="1737360"/>
          </a:xfrm>
          <a:prstGeom prst="roundRect">
            <a:avLst>
              <a:gd name="adj" fmla="val 4211"/>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17" name="Text 15"/>
          <p:cNvSpPr txBox="1"/>
          <p:nvPr/>
        </p:nvSpPr>
        <p:spPr>
          <a:xfrm>
            <a:off x="804672" y="4407408"/>
            <a:ext cx="552297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Avoid fixed height</a:t>
            </a:r>
            <a:endParaRPr lang="en-US" sz="1700" dirty="0"/>
          </a:p>
        </p:txBody>
      </p:sp>
      <p:sp>
        <p:nvSpPr>
          <p:cNvPr id="18" name="Text 16"/>
          <p:cNvSpPr txBox="1"/>
          <p:nvPr/>
        </p:nvSpPr>
        <p:spPr>
          <a:xfrm>
            <a:off x="804672" y="4828032"/>
            <a:ext cx="5522976" cy="9509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height: 200px cuts off text when the content grows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Let the content decide the height; control it with padding instead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BOX</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The display Property</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13</a:t>
            </a:r>
            <a:endParaRPr lang="en-US" sz="900" dirty="0"/>
          </a:p>
        </p:txBody>
      </p:sp>
      <p:sp>
        <p:nvSpPr>
          <p:cNvPr id="6" name="Shape 4"/>
          <p:cNvSpPr/>
          <p:nvPr/>
        </p:nvSpPr>
        <p:spPr>
          <a:xfrm>
            <a:off x="548640" y="1371600"/>
            <a:ext cx="11064240" cy="914400"/>
          </a:xfrm>
          <a:prstGeom prst="roundRect">
            <a:avLst>
              <a:gd name="adj" fmla="val 8000"/>
            </a:avLst>
          </a:prstGeom>
          <a:solidFill>
            <a:srgbClr val="E8EEF4"/>
          </a:solidFill>
          <a:ln w="12700">
            <a:solidFill>
              <a:srgbClr val="E8EEF4"/>
            </a:solidFill>
            <a:prstDash val="solid"/>
          </a:ln>
        </p:spPr>
      </p:sp>
      <p:sp>
        <p:nvSpPr>
          <p:cNvPr id="7" name="Text 5"/>
          <p:cNvSpPr txBox="1"/>
          <p:nvPr/>
        </p:nvSpPr>
        <p:spPr>
          <a:xfrm>
            <a:off x="777240" y="1426464"/>
            <a:ext cx="1737360" cy="804672"/>
          </a:xfrm>
          <a:prstGeom prst="rect">
            <a:avLst/>
          </a:prstGeom>
          <a:noFill/>
        </p:spPr>
        <p:txBody>
          <a:bodyPr wrap="square" lIns="0" tIns="0" rIns="0" bIns="0" rtlCol="0" anchor="ctr"/>
          <a:lstStyle/>
          <a:p>
            <a:pPr marL="0" indent="0">
              <a:buNone/>
            </a:pPr>
            <a:r>
              <a:rPr lang="en-US" sz="13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block</a:t>
            </a:r>
            <a:endParaRPr lang="en-US" sz="1300" dirty="0"/>
          </a:p>
        </p:txBody>
      </p:sp>
      <p:sp>
        <p:nvSpPr>
          <p:cNvPr id="8" name="Text 6"/>
          <p:cNvSpPr txBox="1"/>
          <p:nvPr/>
        </p:nvSpPr>
        <p:spPr>
          <a:xfrm>
            <a:off x="2651760" y="1426464"/>
            <a:ext cx="5120640" cy="80467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Full width, starts a new line</a:t>
            </a:r>
            <a:endParaRPr lang="en-US" sz="1250" dirty="0"/>
          </a:p>
        </p:txBody>
      </p:sp>
      <p:sp>
        <p:nvSpPr>
          <p:cNvPr id="9" name="Text 7"/>
          <p:cNvSpPr txBox="1"/>
          <p:nvPr/>
        </p:nvSpPr>
        <p:spPr>
          <a:xfrm>
            <a:off x="7955280" y="1426464"/>
            <a:ext cx="3383280" cy="804672"/>
          </a:xfrm>
          <a:prstGeom prst="rect">
            <a:avLst/>
          </a:prstGeom>
          <a:noFill/>
        </p:spPr>
        <p:txBody>
          <a:bodyPr wrap="square" lIns="0" tIns="0" rIns="0" bIns="0" rtlCol="0" anchor="ctr"/>
          <a:lstStyle/>
          <a:p>
            <a:pPr marL="0" indent="0">
              <a:buNone/>
            </a:pPr>
            <a:r>
              <a:rPr lang="en-US" sz="1100" dirty="0">
                <a:solidFill>
                  <a:srgbClr val="6B7A88"/>
                </a:solidFill>
                <a:latin typeface="Courier New" panose="02070309020205020404" pitchFamily="34" charset="0"/>
                <a:ea typeface="Courier New" panose="02070309020205020404" pitchFamily="34" charset="-122"/>
                <a:cs typeface="Courier New" panose="02070309020205020404" pitchFamily="34" charset="-120"/>
              </a:rPr>
              <a:t>div, p, h1, section, main</a:t>
            </a:r>
            <a:endParaRPr lang="en-US" sz="1100" dirty="0"/>
          </a:p>
        </p:txBody>
      </p:sp>
      <p:sp>
        <p:nvSpPr>
          <p:cNvPr id="10" name="Shape 8"/>
          <p:cNvSpPr/>
          <p:nvPr/>
        </p:nvSpPr>
        <p:spPr>
          <a:xfrm>
            <a:off x="548640" y="2423160"/>
            <a:ext cx="11064240" cy="914400"/>
          </a:xfrm>
          <a:prstGeom prst="roundRect">
            <a:avLst>
              <a:gd name="adj" fmla="val 8000"/>
            </a:avLst>
          </a:prstGeom>
          <a:solidFill>
            <a:srgbClr val="F2F5F8"/>
          </a:solidFill>
          <a:ln w="12700">
            <a:solidFill>
              <a:srgbClr val="F2F5F8"/>
            </a:solidFill>
            <a:prstDash val="solid"/>
          </a:ln>
        </p:spPr>
      </p:sp>
      <p:sp>
        <p:nvSpPr>
          <p:cNvPr id="11" name="Text 9"/>
          <p:cNvSpPr txBox="1"/>
          <p:nvPr/>
        </p:nvSpPr>
        <p:spPr>
          <a:xfrm>
            <a:off x="777240" y="2478024"/>
            <a:ext cx="1737360" cy="804672"/>
          </a:xfrm>
          <a:prstGeom prst="rect">
            <a:avLst/>
          </a:prstGeom>
          <a:noFill/>
        </p:spPr>
        <p:txBody>
          <a:bodyPr wrap="square" lIns="0" tIns="0" rIns="0" bIns="0" rtlCol="0" anchor="ctr"/>
          <a:lstStyle/>
          <a:p>
            <a:pPr marL="0" indent="0">
              <a:buNone/>
            </a:pPr>
            <a:r>
              <a:rPr lang="en-US" sz="13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inline</a:t>
            </a:r>
            <a:endParaRPr lang="en-US" sz="1300" dirty="0"/>
          </a:p>
        </p:txBody>
      </p:sp>
      <p:sp>
        <p:nvSpPr>
          <p:cNvPr id="12" name="Text 10"/>
          <p:cNvSpPr txBox="1"/>
          <p:nvPr/>
        </p:nvSpPr>
        <p:spPr>
          <a:xfrm>
            <a:off x="2651760" y="2478024"/>
            <a:ext cx="5120640" cy="80467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Only as wide as its content, no new line</a:t>
            </a:r>
            <a:endParaRPr lang="en-US" sz="1250" dirty="0"/>
          </a:p>
        </p:txBody>
      </p:sp>
      <p:sp>
        <p:nvSpPr>
          <p:cNvPr id="13" name="Text 11"/>
          <p:cNvSpPr txBox="1"/>
          <p:nvPr/>
        </p:nvSpPr>
        <p:spPr>
          <a:xfrm>
            <a:off x="7955280" y="2478024"/>
            <a:ext cx="3383280" cy="804672"/>
          </a:xfrm>
          <a:prstGeom prst="rect">
            <a:avLst/>
          </a:prstGeom>
          <a:noFill/>
        </p:spPr>
        <p:txBody>
          <a:bodyPr wrap="square" lIns="0" tIns="0" rIns="0" bIns="0" rtlCol="0" anchor="ctr"/>
          <a:lstStyle/>
          <a:p>
            <a:pPr marL="0" indent="0">
              <a:buNone/>
            </a:pPr>
            <a:r>
              <a:rPr lang="en-US" sz="1100" dirty="0">
                <a:solidFill>
                  <a:srgbClr val="6B7A88"/>
                </a:solidFill>
                <a:latin typeface="Courier New" panose="02070309020205020404" pitchFamily="34" charset="0"/>
                <a:ea typeface="Courier New" panose="02070309020205020404" pitchFamily="34" charset="-122"/>
                <a:cs typeface="Courier New" panose="02070309020205020404" pitchFamily="34" charset="-120"/>
              </a:rPr>
              <a:t>a, span, strong, em</a:t>
            </a:r>
            <a:endParaRPr lang="en-US" sz="1100" dirty="0"/>
          </a:p>
        </p:txBody>
      </p:sp>
      <p:sp>
        <p:nvSpPr>
          <p:cNvPr id="14" name="Shape 12"/>
          <p:cNvSpPr/>
          <p:nvPr/>
        </p:nvSpPr>
        <p:spPr>
          <a:xfrm>
            <a:off x="548640" y="3474720"/>
            <a:ext cx="11064240" cy="914400"/>
          </a:xfrm>
          <a:prstGeom prst="roundRect">
            <a:avLst>
              <a:gd name="adj" fmla="val 8000"/>
            </a:avLst>
          </a:prstGeom>
          <a:solidFill>
            <a:srgbClr val="E8EEF4"/>
          </a:solidFill>
          <a:ln w="12700">
            <a:solidFill>
              <a:srgbClr val="E8EEF4"/>
            </a:solidFill>
            <a:prstDash val="solid"/>
          </a:ln>
        </p:spPr>
      </p:sp>
      <p:sp>
        <p:nvSpPr>
          <p:cNvPr id="15" name="Text 13"/>
          <p:cNvSpPr txBox="1"/>
          <p:nvPr/>
        </p:nvSpPr>
        <p:spPr>
          <a:xfrm>
            <a:off x="777240" y="3529584"/>
            <a:ext cx="1737360" cy="804672"/>
          </a:xfrm>
          <a:prstGeom prst="rect">
            <a:avLst/>
          </a:prstGeom>
          <a:noFill/>
        </p:spPr>
        <p:txBody>
          <a:bodyPr wrap="square" lIns="0" tIns="0" rIns="0" bIns="0" rtlCol="0" anchor="ctr"/>
          <a:lstStyle/>
          <a:p>
            <a:pPr marL="0" indent="0">
              <a:buNone/>
            </a:pPr>
            <a:r>
              <a:rPr lang="en-US" sz="13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inline-block</a:t>
            </a:r>
            <a:endParaRPr lang="en-US" sz="1300" dirty="0"/>
          </a:p>
        </p:txBody>
      </p:sp>
      <p:sp>
        <p:nvSpPr>
          <p:cNvPr id="16" name="Text 14"/>
          <p:cNvSpPr txBox="1"/>
          <p:nvPr/>
        </p:nvSpPr>
        <p:spPr>
          <a:xfrm>
            <a:off x="2651760" y="3529584"/>
            <a:ext cx="5120640" cy="80467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Sits inline BUT accepts width, height and vertical padding</a:t>
            </a:r>
            <a:endParaRPr lang="en-US" sz="1250" dirty="0"/>
          </a:p>
        </p:txBody>
      </p:sp>
      <p:sp>
        <p:nvSpPr>
          <p:cNvPr id="17" name="Text 15"/>
          <p:cNvSpPr txBox="1"/>
          <p:nvPr/>
        </p:nvSpPr>
        <p:spPr>
          <a:xfrm>
            <a:off x="7955280" y="3529584"/>
            <a:ext cx="3383280" cy="804672"/>
          </a:xfrm>
          <a:prstGeom prst="rect">
            <a:avLst/>
          </a:prstGeom>
          <a:noFill/>
        </p:spPr>
        <p:txBody>
          <a:bodyPr wrap="square" lIns="0" tIns="0" rIns="0" bIns="0" rtlCol="0" anchor="ctr"/>
          <a:lstStyle/>
          <a:p>
            <a:pPr marL="0" indent="0">
              <a:buNone/>
            </a:pPr>
            <a:r>
              <a:rPr lang="en-US" sz="1100" dirty="0">
                <a:solidFill>
                  <a:srgbClr val="6B7A88"/>
                </a:solidFill>
                <a:latin typeface="Courier New" panose="02070309020205020404" pitchFamily="34" charset="0"/>
                <a:ea typeface="Courier New" panose="02070309020205020404" pitchFamily="34" charset="-122"/>
                <a:cs typeface="Courier New" panose="02070309020205020404" pitchFamily="34" charset="-120"/>
              </a:rPr>
              <a:t>buttons, nav items</a:t>
            </a:r>
            <a:endParaRPr lang="en-US" sz="1100" dirty="0"/>
          </a:p>
        </p:txBody>
      </p:sp>
      <p:sp>
        <p:nvSpPr>
          <p:cNvPr id="18" name="Shape 16"/>
          <p:cNvSpPr/>
          <p:nvPr/>
        </p:nvSpPr>
        <p:spPr>
          <a:xfrm>
            <a:off x="548640" y="4526280"/>
            <a:ext cx="11064240" cy="914400"/>
          </a:xfrm>
          <a:prstGeom prst="roundRect">
            <a:avLst>
              <a:gd name="adj" fmla="val 8000"/>
            </a:avLst>
          </a:prstGeom>
          <a:solidFill>
            <a:srgbClr val="F2F5F8"/>
          </a:solidFill>
          <a:ln w="12700">
            <a:solidFill>
              <a:srgbClr val="F2F5F8"/>
            </a:solidFill>
            <a:prstDash val="solid"/>
          </a:ln>
        </p:spPr>
      </p:sp>
      <p:sp>
        <p:nvSpPr>
          <p:cNvPr id="19" name="Text 17"/>
          <p:cNvSpPr txBox="1"/>
          <p:nvPr/>
        </p:nvSpPr>
        <p:spPr>
          <a:xfrm>
            <a:off x="777240" y="4581144"/>
            <a:ext cx="1737360" cy="804672"/>
          </a:xfrm>
          <a:prstGeom prst="rect">
            <a:avLst/>
          </a:prstGeom>
          <a:noFill/>
        </p:spPr>
        <p:txBody>
          <a:bodyPr wrap="square" lIns="0" tIns="0" rIns="0" bIns="0" rtlCol="0" anchor="ctr"/>
          <a:lstStyle/>
          <a:p>
            <a:pPr marL="0" indent="0">
              <a:buNone/>
            </a:pPr>
            <a:r>
              <a:rPr lang="en-US" sz="130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none</a:t>
            </a:r>
            <a:endParaRPr lang="en-US" sz="1300" dirty="0"/>
          </a:p>
        </p:txBody>
      </p:sp>
      <p:sp>
        <p:nvSpPr>
          <p:cNvPr id="20" name="Text 18"/>
          <p:cNvSpPr txBox="1"/>
          <p:nvPr/>
        </p:nvSpPr>
        <p:spPr>
          <a:xfrm>
            <a:off x="2651760" y="4581144"/>
            <a:ext cx="5120640" cy="80467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Removed from the page completely</a:t>
            </a:r>
            <a:endParaRPr lang="en-US" sz="1250" dirty="0"/>
          </a:p>
        </p:txBody>
      </p:sp>
      <p:sp>
        <p:nvSpPr>
          <p:cNvPr id="21" name="Text 19"/>
          <p:cNvSpPr txBox="1"/>
          <p:nvPr/>
        </p:nvSpPr>
        <p:spPr>
          <a:xfrm>
            <a:off x="7955280" y="4581144"/>
            <a:ext cx="3383280" cy="804672"/>
          </a:xfrm>
          <a:prstGeom prst="rect">
            <a:avLst/>
          </a:prstGeom>
          <a:noFill/>
        </p:spPr>
        <p:txBody>
          <a:bodyPr wrap="square" lIns="0" tIns="0" rIns="0" bIns="0" rtlCol="0" anchor="ctr"/>
          <a:lstStyle/>
          <a:p>
            <a:pPr marL="0" indent="0">
              <a:buNone/>
            </a:pPr>
            <a:r>
              <a:rPr lang="en-US" sz="1100" dirty="0">
                <a:solidFill>
                  <a:srgbClr val="6B7A88"/>
                </a:solidFill>
                <a:latin typeface="Courier New" panose="02070309020205020404" pitchFamily="34" charset="0"/>
                <a:ea typeface="Courier New" panose="02070309020205020404" pitchFamily="34" charset="-122"/>
                <a:cs typeface="Courier New" panose="02070309020205020404" pitchFamily="34" charset="-120"/>
              </a:rPr>
              <a:t>hidden menus</a:t>
            </a:r>
            <a:endParaRPr lang="en-US" sz="1100" dirty="0"/>
          </a:p>
        </p:txBody>
      </p:sp>
      <p:sp>
        <p:nvSpPr>
          <p:cNvPr id="22" name="Shape 20"/>
          <p:cNvSpPr/>
          <p:nvPr/>
        </p:nvSpPr>
        <p:spPr>
          <a:xfrm>
            <a:off x="548640" y="5623560"/>
            <a:ext cx="11064240" cy="731520"/>
          </a:xfrm>
          <a:prstGeom prst="roundRect">
            <a:avLst>
              <a:gd name="adj" fmla="val 10000"/>
            </a:avLst>
          </a:prstGeom>
          <a:solidFill>
            <a:srgbClr val="FBEAE8"/>
          </a:solidFill>
          <a:ln w="12700">
            <a:solidFill>
              <a:srgbClr val="FBEAE8"/>
            </a:solidFill>
            <a:prstDash val="solid"/>
          </a:ln>
        </p:spPr>
      </p:sp>
      <p:sp>
        <p:nvSpPr>
          <p:cNvPr id="23" name="Text 21"/>
          <p:cNvSpPr txBox="1"/>
          <p:nvPr/>
        </p:nvSpPr>
        <p:spPr>
          <a:xfrm>
            <a:off x="804672" y="5824728"/>
            <a:ext cx="10552176" cy="329184"/>
          </a:xfrm>
          <a:prstGeom prst="rect">
            <a:avLst/>
          </a:prstGeom>
          <a:noFill/>
        </p:spPr>
        <p:txBody>
          <a:bodyPr wrap="square" lIns="0" tIns="0" rIns="0" bIns="0" rtlCol="0" anchor="ctr"/>
          <a:lstStyle/>
          <a:p>
            <a:pPr marL="0" indent="0">
              <a:buNone/>
            </a:pPr>
            <a:r>
              <a:rPr lang="en-US" sz="1300" b="1" dirty="0">
                <a:solidFill>
                  <a:srgbClr val="B3261E"/>
                </a:solidFill>
                <a:latin typeface="Arial" panose="020B0604020202020204" pitchFamily="34" charset="0"/>
                <a:ea typeface="Arial" panose="020B0604020202020204" pitchFamily="34" charset="-122"/>
                <a:cs typeface="Arial" panose="020B0604020202020204" pitchFamily="34" charset="-120"/>
              </a:rPr>
              <a:t>The classic bug: setting width or height on an inline element does nothing. Change it to inline-block first.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BOX</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Backgrounds, Borders and Shadows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14</a:t>
            </a:r>
            <a:endParaRPr lang="en-US" sz="900" dirty="0"/>
          </a:p>
        </p:txBody>
      </p:sp>
      <p:sp>
        <p:nvSpPr>
          <p:cNvPr id="6" name="Shape 4"/>
          <p:cNvSpPr/>
          <p:nvPr/>
        </p:nvSpPr>
        <p:spPr>
          <a:xfrm>
            <a:off x="548640" y="1371600"/>
            <a:ext cx="6217920" cy="2777744"/>
          </a:xfrm>
          <a:prstGeom prst="roundRect">
            <a:avLst>
              <a:gd name="adj" fmla="val 1975"/>
            </a:avLst>
          </a:prstGeom>
          <a:solidFill>
            <a:srgbClr val="0D1B2A"/>
          </a:solidFill>
          <a:ln w="12700">
            <a:solidFill>
              <a:srgbClr val="0D1B2A"/>
            </a:solidFill>
            <a:prstDash val="solid"/>
          </a:ln>
        </p:spPr>
      </p:sp>
      <p:sp>
        <p:nvSpPr>
          <p:cNvPr id="7" name="Text 5"/>
          <p:cNvSpPr txBox="1"/>
          <p:nvPr/>
        </p:nvSpPr>
        <p:spPr>
          <a:xfrm>
            <a:off x="658368" y="1481328"/>
            <a:ext cx="5998464" cy="2558288"/>
          </a:xfrm>
          <a:prstGeom prst="rect">
            <a:avLst/>
          </a:prstGeom>
          <a:noFill/>
        </p:spPr>
        <p:txBody>
          <a:bodyPr wrap="square" lIns="0" tIns="0" rIns="0" bIns="0" rtlCol="0" anchor="t"/>
          <a:lstStyle/>
          <a:p>
            <a:pPr marL="0" indent="0">
              <a:lnSpc>
                <a:spcPts val="1410"/>
              </a:lnSpc>
              <a:buNone/>
            </a:pPr>
            <a:r>
              <a:rPr lang="en-US" sz="11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.card </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#F2F5F8;</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1px solid #D6DEE6;</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border-radius</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8px;</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20px;</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box-shadow</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 2px 6px rgba(0, 0, 0, 0.08);</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.hero </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background-image</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url("images/campus.jpg");</a:t>
            </a:r>
            <a:endParaRPr lang="en-US" sz="1100" dirty="0"/>
          </a:p>
          <a:p>
            <a:pPr marL="0" indent="0">
              <a:lnSpc>
                <a:spcPts val="1410"/>
              </a:lnSpc>
              <a:buNone/>
            </a:pP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background-size: cover;      /* fill the box   */</a:t>
            </a:r>
            <a:endParaRPr lang="en-US" sz="1100" dirty="0"/>
          </a:p>
          <a:p>
            <a:pPr marL="0" indent="0">
              <a:lnSpc>
                <a:spcPts val="1410"/>
              </a:lnSpc>
              <a:buNone/>
            </a:pP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background-position: center; /* keep it centred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background-repeat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no-repeat;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00" dirty="0"/>
          </a:p>
        </p:txBody>
      </p:sp>
      <p:sp>
        <p:nvSpPr>
          <p:cNvPr id="8" name="Shape 6"/>
          <p:cNvSpPr/>
          <p:nvPr/>
        </p:nvSpPr>
        <p:spPr>
          <a:xfrm>
            <a:off x="6949440" y="1371600"/>
            <a:ext cx="4663440" cy="2011680"/>
          </a:xfrm>
          <a:prstGeom prst="roundRect">
            <a:avLst>
              <a:gd name="adj" fmla="val 3636"/>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9" name="Text 7"/>
          <p:cNvSpPr txBox="1"/>
          <p:nvPr/>
        </p:nvSpPr>
        <p:spPr>
          <a:xfrm>
            <a:off x="7205472" y="1572768"/>
            <a:ext cx="415137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Colour formats</a:t>
            </a:r>
            <a:endParaRPr lang="en-US" sz="1700" dirty="0"/>
          </a:p>
        </p:txBody>
      </p:sp>
      <p:sp>
        <p:nvSpPr>
          <p:cNvPr id="10" name="Text 8"/>
          <p:cNvSpPr txBox="1"/>
          <p:nvPr/>
        </p:nvSpPr>
        <p:spPr>
          <a:xfrm>
            <a:off x="7205472" y="1993392"/>
            <a:ext cx="4151376" cy="1225296"/>
          </a:xfrm>
          <a:prstGeom prst="rect">
            <a:avLst/>
          </a:prstGeom>
          <a:noFill/>
        </p:spPr>
        <p:txBody>
          <a:bodyPr wrap="square" lIns="0" tIns="0" rIns="0" bIns="0" rtlCol="0" anchor="t"/>
          <a:lstStyle/>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#003366 — hex, most common</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rgb(0, 51, 102)</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rgba(0, 0, 0, 0.08) — last value is opacity</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navy — named, only for quick tests</a:t>
            </a:r>
            <a:endParaRPr lang="en-US" sz="1250" dirty="0"/>
          </a:p>
        </p:txBody>
      </p:sp>
      <p:sp>
        <p:nvSpPr>
          <p:cNvPr id="11" name="Shape 9"/>
          <p:cNvSpPr/>
          <p:nvPr/>
        </p:nvSpPr>
        <p:spPr>
          <a:xfrm>
            <a:off x="6949440" y="3520440"/>
            <a:ext cx="4663440" cy="1371600"/>
          </a:xfrm>
          <a:prstGeom prst="roundRect">
            <a:avLst>
              <a:gd name="adj" fmla="val 5333"/>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7150608" y="372160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7150608" y="37216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7662672" y="3749040"/>
            <a:ext cx="37490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Accessibility</a:t>
            </a:r>
            <a:endParaRPr lang="en-US" sz="1700" dirty="0"/>
          </a:p>
        </p:txBody>
      </p:sp>
      <p:sp>
        <p:nvSpPr>
          <p:cNvPr id="15" name="Text 13"/>
          <p:cNvSpPr txBox="1"/>
          <p:nvPr/>
        </p:nvSpPr>
        <p:spPr>
          <a:xfrm>
            <a:off x="7205472" y="4142232"/>
            <a:ext cx="4151376" cy="5852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Check contrast whenever you set a background and a text colour together</a:t>
            </a:r>
            <a:endParaRPr lang="en-US" sz="1250" dirty="0"/>
          </a:p>
        </p:txBody>
      </p:sp>
      <p:sp>
        <p:nvSpPr>
          <p:cNvPr id="16" name="Shape 14"/>
          <p:cNvSpPr/>
          <p:nvPr/>
        </p:nvSpPr>
        <p:spPr>
          <a:xfrm>
            <a:off x="6949440" y="5029200"/>
            <a:ext cx="4663440" cy="914400"/>
          </a:xfrm>
          <a:prstGeom prst="roundRect">
            <a:avLst>
              <a:gd name="adj" fmla="val 8000"/>
            </a:avLst>
          </a:prstGeom>
          <a:solidFill>
            <a:srgbClr val="E7F4EE"/>
          </a:solidFill>
          <a:ln w="12700">
            <a:solidFill>
              <a:srgbClr val="E7F4EE"/>
            </a:solidFill>
            <a:prstDash val="solid"/>
          </a:ln>
        </p:spPr>
      </p:sp>
      <p:sp>
        <p:nvSpPr>
          <p:cNvPr id="17" name="Text 15"/>
          <p:cNvSpPr txBox="1"/>
          <p:nvPr/>
        </p:nvSpPr>
        <p:spPr>
          <a:xfrm>
            <a:off x="7205472" y="5230368"/>
            <a:ext cx="4151376" cy="329184"/>
          </a:xfrm>
          <a:prstGeom prst="rect">
            <a:avLst/>
          </a:prstGeom>
          <a:noFill/>
        </p:spPr>
        <p:txBody>
          <a:bodyPr wrap="square" lIns="0" tIns="0" rIns="0" bIns="0" rtlCol="0" anchor="ctr"/>
          <a:lstStyle/>
          <a:p>
            <a:pPr marL="0" indent="0">
              <a:buNone/>
            </a:pPr>
            <a:r>
              <a:rPr lang="en-US" sz="1250" b="1" dirty="0">
                <a:solidFill>
                  <a:srgbClr val="003366"/>
                </a:solidFill>
                <a:latin typeface="Arial" panose="020B0604020202020204" pitchFamily="34" charset="0"/>
                <a:ea typeface="Arial" panose="020B0604020202020204" pitchFamily="34" charset="-122"/>
                <a:cs typeface="Arial" panose="020B0604020202020204" pitchFamily="34" charset="-120"/>
              </a:rPr>
              <a:t>border-radius: 50% turns a square into a circle.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p:spPr>
        <p:txBody>
          <a:bodyPr wrap="square" lIns="0" tIns="0" rIns="0" bIns="0" rtlCol="0" anchor="ctr"/>
          <a:lstStyle/>
          <a:p>
            <a:pPr marL="0" indent="0">
              <a:buNone/>
            </a:pPr>
            <a:r>
              <a:rPr lang="en-US" sz="6400" b="1" dirty="0">
                <a:solidFill>
                  <a:srgbClr val="E39A18"/>
                </a:solidFill>
                <a:latin typeface="Arial" panose="020B0604020202020204" pitchFamily="34" charset="0"/>
                <a:ea typeface="Arial" panose="020B0604020202020204" pitchFamily="34" charset="-122"/>
                <a:cs typeface="Arial" panose="020B0604020202020204" pitchFamily="34" charset="-120"/>
              </a:rPr>
              <a:t>02</a:t>
            </a:r>
            <a:endParaRPr lang="en-US" sz="6400" dirty="0"/>
          </a:p>
        </p:txBody>
      </p:sp>
      <p:sp>
        <p:nvSpPr>
          <p:cNvPr id="4" name="Text 2"/>
          <p:cNvSpPr txBox="1"/>
          <p:nvPr/>
        </p:nvSpPr>
        <p:spPr>
          <a:xfrm>
            <a:off x="548640" y="2971800"/>
            <a:ext cx="10058400" cy="731520"/>
          </a:xfrm>
          <a:prstGeom prst="rect">
            <a:avLst/>
          </a:prstGeom>
          <a:noFill/>
        </p:spPr>
        <p:txBody>
          <a:bodyPr wrap="square" lIns="0" tIns="0" rIns="0" bIns="0" rtlCol="0" anchor="ctr"/>
          <a:lstStyle/>
          <a:p>
            <a:pPr marL="0" indent="0">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Live Build: Style the Registration Page</a:t>
            </a:r>
            <a:endParaRPr lang="en-US" sz="3800" dirty="0"/>
          </a:p>
        </p:txBody>
      </p:sp>
      <p:sp>
        <p:nvSpPr>
          <p:cNvPr id="5" name="Text 3"/>
          <p:cNvSpPr txBox="1"/>
          <p:nvPr/>
        </p:nvSpPr>
        <p:spPr>
          <a:xfrm>
            <a:off x="548640" y="3749040"/>
            <a:ext cx="9601200" cy="457200"/>
          </a:xfrm>
          <a:prstGeom prst="rect">
            <a:avLst/>
          </a:prstGeom>
          <a:noFill/>
        </p:spPr>
        <p:txBody>
          <a:bodyPr wrap="square" lIns="0" tIns="0" rIns="0" bIns="0" rtlCol="0" anchor="ctr"/>
          <a:lstStyle/>
          <a:p>
            <a:pPr marL="0" indent="0">
              <a:buNone/>
            </a:pPr>
            <a:r>
              <a:rPr lang="en-US" sz="1500" dirty="0">
                <a:solidFill>
                  <a:srgbClr val="9FC0DE"/>
                </a:solidFill>
                <a:latin typeface="Arial" panose="020B0604020202020204" pitchFamily="34" charset="0"/>
                <a:ea typeface="Arial" panose="020B0604020202020204" pitchFamily="34" charset="-122"/>
                <a:cs typeface="Arial" panose="020B0604020202020204" pitchFamily="34" charset="-120"/>
              </a:rPr>
              <a:t>Same HTML from C1. New file: styles.css. No structure changes at all.</a:t>
            </a:r>
            <a:endParaRPr lang="en-US" sz="1500" dirty="0"/>
          </a:p>
        </p:txBody>
      </p:sp>
      <p:sp>
        <p:nvSpPr>
          <p:cNvPr id="6" name="Text 4"/>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E93B8"/>
                </a:solidFill>
                <a:latin typeface="Arial" panose="020B0604020202020204" pitchFamily="34" charset="0"/>
                <a:ea typeface="Arial" panose="020B0604020202020204" pitchFamily="34" charset="-122"/>
                <a:cs typeface="Arial" panose="020B0604020202020204"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BUILD</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Step 1: Reset and Base Typography</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16</a:t>
            </a:r>
            <a:endParaRPr lang="en-US" sz="900" dirty="0"/>
          </a:p>
        </p:txBody>
      </p:sp>
      <p:sp>
        <p:nvSpPr>
          <p:cNvPr id="6" name="Shape 4"/>
          <p:cNvSpPr/>
          <p:nvPr/>
        </p:nvSpPr>
        <p:spPr>
          <a:xfrm>
            <a:off x="548640" y="1371600"/>
            <a:ext cx="11064240" cy="4175760"/>
          </a:xfrm>
          <a:prstGeom prst="roundRect">
            <a:avLst>
              <a:gd name="adj" fmla="val 1314"/>
            </a:avLst>
          </a:prstGeom>
          <a:solidFill>
            <a:srgbClr val="0D1B2A"/>
          </a:solidFill>
          <a:ln w="12700">
            <a:solidFill>
              <a:srgbClr val="0D1B2A"/>
            </a:solidFill>
            <a:prstDash val="solid"/>
          </a:ln>
        </p:spPr>
      </p:sp>
      <p:sp>
        <p:nvSpPr>
          <p:cNvPr id="7" name="Text 5"/>
          <p:cNvSpPr txBox="1"/>
          <p:nvPr/>
        </p:nvSpPr>
        <p:spPr>
          <a:xfrm>
            <a:off x="658368" y="1481328"/>
            <a:ext cx="10844784" cy="3956304"/>
          </a:xfrm>
          <a:prstGeom prst="rect">
            <a:avLst/>
          </a:prstGeom>
          <a:noFill/>
        </p:spPr>
        <p:txBody>
          <a:bodyPr wrap="square" lIns="0" tIns="0" rIns="0" bIns="0" rtlCol="0" anchor="t"/>
          <a:lstStyle/>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---------- 1. RESET ----------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box-sizing: border-box;   /* width means total width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margin: 0;                /* clear the browser's default spacing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---------- 2. BASE TYPOGRAPHY ----------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body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font-family</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Arial, Helvetica, sans-serif;</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font-size</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line-height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#3D4A57;</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#F7F9FB;</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h1, h2, h3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#003366;</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margin-bottom</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12px;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BUILD</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Step 2: Layout Container and Landmarks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17</a:t>
            </a:r>
            <a:endParaRPr lang="en-US" sz="900" dirty="0"/>
          </a:p>
        </p:txBody>
      </p:sp>
      <p:sp>
        <p:nvSpPr>
          <p:cNvPr id="6" name="Shape 4"/>
          <p:cNvSpPr/>
          <p:nvPr/>
        </p:nvSpPr>
        <p:spPr>
          <a:xfrm>
            <a:off x="548640" y="1371600"/>
            <a:ext cx="11064240" cy="6906768"/>
          </a:xfrm>
          <a:prstGeom prst="roundRect">
            <a:avLst>
              <a:gd name="adj" fmla="val 794"/>
            </a:avLst>
          </a:prstGeom>
          <a:solidFill>
            <a:srgbClr val="0D1B2A"/>
          </a:solidFill>
          <a:ln w="12700">
            <a:solidFill>
              <a:srgbClr val="0D1B2A"/>
            </a:solidFill>
            <a:prstDash val="solid"/>
          </a:ln>
        </p:spPr>
      </p:sp>
      <p:sp>
        <p:nvSpPr>
          <p:cNvPr id="7" name="Text 5"/>
          <p:cNvSpPr txBox="1"/>
          <p:nvPr/>
        </p:nvSpPr>
        <p:spPr>
          <a:xfrm>
            <a:off x="658368" y="1481328"/>
            <a:ext cx="10844784" cy="6687312"/>
          </a:xfrm>
          <a:prstGeom prst="rect">
            <a:avLst/>
          </a:prstGeom>
          <a:noFill/>
        </p:spPr>
        <p:txBody>
          <a:bodyPr wrap="square" lIns="0" tIns="0" rIns="0" bIns="0" rtlCol="0" anchor="t"/>
          <a:lstStyle/>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---------- 3. PAGE CONTAINER ----------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header, main, footer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width</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90%;</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max-width</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900px;</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margin: 0 auto;          /* centre the box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24px;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header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#003366;</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#FFFFFF;</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border-radius</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8px;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margin-top</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24px;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---------- 4. NAVIGATION ----------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nav ul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list-style: none;        /* remove the bullets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nav li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display: inline-block;   /* put the links in a row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margin-right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16px;</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nav a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#BFD3E6;</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text-decoration</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none;</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nav a:hover,</a:t>
            </a:r>
            <a:endParaRPr lang="en-US" sz="1200" dirty="0"/>
          </a:p>
          <a:p>
            <a:pPr marL="0" indent="0">
              <a:lnSpc>
                <a:spcPts val="1535"/>
              </a:lnSpc>
              <a:buNone/>
            </a:pPr>
            <a:r>
              <a:rPr lang="en-US" sz="120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nav a:focus </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a:p>
            <a:pPr marL="0" indent="0">
              <a:lnSpc>
                <a:spcPts val="1535"/>
              </a:lnSpc>
              <a:buNone/>
            </a:pPr>
            <a:r>
              <a:rPr lang="en-US" sz="12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color: #E39A18;          /* style BOTH states */</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BUILD</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Step 3: Form Controls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18</a:t>
            </a:r>
            <a:endParaRPr lang="en-US" sz="900" dirty="0"/>
          </a:p>
        </p:txBody>
      </p:sp>
      <p:sp>
        <p:nvSpPr>
          <p:cNvPr id="6" name="Shape 4"/>
          <p:cNvSpPr/>
          <p:nvPr/>
        </p:nvSpPr>
        <p:spPr>
          <a:xfrm>
            <a:off x="548640" y="1371600"/>
            <a:ext cx="6035040" cy="2891536"/>
          </a:xfrm>
          <a:prstGeom prst="roundRect">
            <a:avLst>
              <a:gd name="adj" fmla="val 1897"/>
            </a:avLst>
          </a:prstGeom>
          <a:solidFill>
            <a:srgbClr val="0D1B2A"/>
          </a:solidFill>
          <a:ln w="12700">
            <a:solidFill>
              <a:srgbClr val="0D1B2A"/>
            </a:solidFill>
            <a:prstDash val="solid"/>
          </a:ln>
        </p:spPr>
      </p:sp>
      <p:sp>
        <p:nvSpPr>
          <p:cNvPr id="7" name="Text 5"/>
          <p:cNvSpPr txBox="1"/>
          <p:nvPr/>
        </p:nvSpPr>
        <p:spPr>
          <a:xfrm>
            <a:off x="658368" y="1481328"/>
            <a:ext cx="5815584" cy="2672080"/>
          </a:xfrm>
          <a:prstGeom prst="rect">
            <a:avLst/>
          </a:prstGeom>
          <a:noFill/>
        </p:spPr>
        <p:txBody>
          <a:bodyPr wrap="square" lIns="0" tIns="0" rIns="0" bIns="0" rtlCol="0" anchor="t"/>
          <a:lstStyle/>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---------- 5. FORM ----------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fieldset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1px solid #D6DEE6;</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border-radius</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8px;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margin-bottom</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20px;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#FFFFFF;</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label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display</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block;</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font-weight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bold;</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margin-bottom</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4px;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8" name="Shape 6"/>
          <p:cNvSpPr/>
          <p:nvPr/>
        </p:nvSpPr>
        <p:spPr>
          <a:xfrm>
            <a:off x="6766560" y="1371600"/>
            <a:ext cx="4846320" cy="3078480"/>
          </a:xfrm>
          <a:prstGeom prst="roundRect">
            <a:avLst>
              <a:gd name="adj" fmla="val 1782"/>
            </a:avLst>
          </a:prstGeom>
          <a:solidFill>
            <a:srgbClr val="0D1B2A"/>
          </a:solidFill>
          <a:ln w="12700">
            <a:solidFill>
              <a:srgbClr val="0D1B2A"/>
            </a:solidFill>
            <a:prstDash val="solid"/>
          </a:ln>
        </p:spPr>
      </p:sp>
      <p:sp>
        <p:nvSpPr>
          <p:cNvPr id="9" name="Text 7"/>
          <p:cNvSpPr txBox="1"/>
          <p:nvPr/>
        </p:nvSpPr>
        <p:spPr>
          <a:xfrm>
            <a:off x="6876288" y="1481328"/>
            <a:ext cx="4626864" cy="2859024"/>
          </a:xfrm>
          <a:prstGeom prst="rect">
            <a:avLst/>
          </a:prstGeom>
          <a:noFill/>
        </p:spPr>
        <p:txBody>
          <a:bodyPr wrap="square" lIns="0" tIns="0" rIns="0" bIns="0" rtlCol="0" anchor="t"/>
          <a:lstStyle/>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input, select, textarea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width</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100%;</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1px solid #D6DEE6;</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border-radius</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4px;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font-size</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16px;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button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#003366;</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#FFFFFF;</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none;</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border-radius</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4px;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12px 24px;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10" name="Shape 8"/>
          <p:cNvSpPr/>
          <p:nvPr/>
        </p:nvSpPr>
        <p:spPr>
          <a:xfrm>
            <a:off x="548640" y="4526280"/>
            <a:ext cx="6035040" cy="1417320"/>
          </a:xfrm>
          <a:prstGeom prst="roundRect">
            <a:avLst>
              <a:gd name="adj" fmla="val 5161"/>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1" name="Shape 9"/>
          <p:cNvSpPr/>
          <p:nvPr/>
        </p:nvSpPr>
        <p:spPr>
          <a:xfrm>
            <a:off x="749808" y="4727448"/>
            <a:ext cx="384048" cy="384048"/>
          </a:xfrm>
          <a:prstGeom prst="ellipse">
            <a:avLst/>
          </a:prstGeom>
          <a:solidFill>
            <a:srgbClr val="1F7A55"/>
          </a:solidFill>
          <a:ln w="12700">
            <a:solidFill>
              <a:srgbClr val="1F7A55"/>
            </a:solidFill>
            <a:prstDash val="solid"/>
          </a:ln>
        </p:spPr>
      </p:sp>
      <p:sp>
        <p:nvSpPr>
          <p:cNvPr id="12" name="Text 10"/>
          <p:cNvSpPr txBox="1"/>
          <p:nvPr/>
        </p:nvSpPr>
        <p:spPr>
          <a:xfrm>
            <a:off x="749808" y="472744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3" name="Text 11"/>
          <p:cNvSpPr txBox="1"/>
          <p:nvPr/>
        </p:nvSpPr>
        <p:spPr>
          <a:xfrm>
            <a:off x="1261872" y="4754880"/>
            <a:ext cx="51206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display: block on the label</a:t>
            </a:r>
            <a:endParaRPr lang="en-US" sz="1700" dirty="0"/>
          </a:p>
        </p:txBody>
      </p:sp>
      <p:sp>
        <p:nvSpPr>
          <p:cNvPr id="14" name="Text 12"/>
          <p:cNvSpPr txBox="1"/>
          <p:nvPr/>
        </p:nvSpPr>
        <p:spPr>
          <a:xfrm>
            <a:off x="804672" y="5148072"/>
            <a:ext cx="5522976" cy="630936"/>
          </a:xfrm>
          <a:prstGeom prst="rect">
            <a:avLst/>
          </a:prstGeom>
          <a:noFill/>
        </p:spPr>
        <p:txBody>
          <a:bodyPr wrap="square" lIns="0" tIns="0" rIns="0" bIns="0" rtlCol="0" anchor="t"/>
          <a:lstStyle/>
          <a:p>
            <a:pPr marL="0" indent="0">
              <a:spcAft>
                <a:spcPts val="600"/>
              </a:spcAft>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label is inline by default, so it sits next to the input. block puts it on its own line.</a:t>
            </a:r>
            <a:endParaRPr lang="en-US" sz="1300" dirty="0"/>
          </a:p>
        </p:txBody>
      </p:sp>
      <p:sp>
        <p:nvSpPr>
          <p:cNvPr id="15" name="Shape 13"/>
          <p:cNvSpPr/>
          <p:nvPr/>
        </p:nvSpPr>
        <p:spPr>
          <a:xfrm>
            <a:off x="6766560" y="4526280"/>
            <a:ext cx="4846320" cy="1417320"/>
          </a:xfrm>
          <a:prstGeom prst="roundRect">
            <a:avLst>
              <a:gd name="adj" fmla="val 5161"/>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6" name="Shape 14"/>
          <p:cNvSpPr/>
          <p:nvPr/>
        </p:nvSpPr>
        <p:spPr>
          <a:xfrm>
            <a:off x="6967728" y="4727448"/>
            <a:ext cx="384048" cy="384048"/>
          </a:xfrm>
          <a:prstGeom prst="ellipse">
            <a:avLst/>
          </a:prstGeom>
          <a:solidFill>
            <a:srgbClr val="E39A18"/>
          </a:solidFill>
          <a:ln w="12700">
            <a:solidFill>
              <a:srgbClr val="E39A18"/>
            </a:solidFill>
            <a:prstDash val="solid"/>
          </a:ln>
        </p:spPr>
      </p:sp>
      <p:sp>
        <p:nvSpPr>
          <p:cNvPr id="17" name="Text 15"/>
          <p:cNvSpPr txBox="1"/>
          <p:nvPr/>
        </p:nvSpPr>
        <p:spPr>
          <a:xfrm>
            <a:off x="6967728" y="472744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8" name="Text 16"/>
          <p:cNvSpPr txBox="1"/>
          <p:nvPr/>
        </p:nvSpPr>
        <p:spPr>
          <a:xfrm>
            <a:off x="7479792" y="4754880"/>
            <a:ext cx="39319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Two details that matter</a:t>
            </a:r>
            <a:endParaRPr lang="en-US" sz="1700" dirty="0"/>
          </a:p>
        </p:txBody>
      </p:sp>
      <p:sp>
        <p:nvSpPr>
          <p:cNvPr id="19" name="Text 17"/>
          <p:cNvSpPr txBox="1"/>
          <p:nvPr/>
        </p:nvSpPr>
        <p:spPr>
          <a:xfrm>
            <a:off x="7022592" y="5148072"/>
            <a:ext cx="4334256" cy="630936"/>
          </a:xfrm>
          <a:prstGeom prst="rect">
            <a:avLst/>
          </a:prstGeom>
          <a:noFill/>
        </p:spPr>
        <p:txBody>
          <a:bodyPr wrap="square" lIns="0" tIns="0" rIns="0" bIns="0" rtlCol="0" anchor="t"/>
          <a:lstStyle/>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width: 100% only behaves because of box-sizing from Step 1</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font-size: 16px stops iPhones zooming in when a field is focused</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BUILD</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Step 4: Table and Finishing Touches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19</a:t>
            </a:r>
            <a:endParaRPr lang="en-US" sz="900" dirty="0"/>
          </a:p>
        </p:txBody>
      </p:sp>
      <p:sp>
        <p:nvSpPr>
          <p:cNvPr id="6" name="Shape 4"/>
          <p:cNvSpPr/>
          <p:nvPr/>
        </p:nvSpPr>
        <p:spPr>
          <a:xfrm>
            <a:off x="548640" y="1371600"/>
            <a:ext cx="6035040" cy="4013200"/>
          </a:xfrm>
          <a:prstGeom prst="roundRect">
            <a:avLst>
              <a:gd name="adj" fmla="val 1367"/>
            </a:avLst>
          </a:prstGeom>
          <a:solidFill>
            <a:srgbClr val="0D1B2A"/>
          </a:solidFill>
          <a:ln w="12700">
            <a:solidFill>
              <a:srgbClr val="0D1B2A"/>
            </a:solidFill>
            <a:prstDash val="solid"/>
          </a:ln>
        </p:spPr>
      </p:sp>
      <p:sp>
        <p:nvSpPr>
          <p:cNvPr id="7" name="Text 5"/>
          <p:cNvSpPr txBox="1"/>
          <p:nvPr/>
        </p:nvSpPr>
        <p:spPr>
          <a:xfrm>
            <a:off x="658368" y="1481328"/>
            <a:ext cx="5815584" cy="3793744"/>
          </a:xfrm>
          <a:prstGeom prst="rect">
            <a:avLst/>
          </a:prstGeom>
          <a:noFill/>
        </p:spPr>
        <p:txBody>
          <a:bodyPr wrap="square" lIns="0" tIns="0" rIns="0" bIns="0" rtlCol="0" anchor="t"/>
          <a:lstStyle/>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 ---------- 6. TABLE ----------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table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width</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100%;</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border-collapse</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collapse;</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th, td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padding</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10px;</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border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1px solid #D6DEE6;</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text-align</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left;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thead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background-color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#E8EEF4;</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FFC46B"/>
                </a:solidFill>
                <a:latin typeface="Courier New" panose="02070309020205020404" pitchFamily="34" charset="0"/>
                <a:ea typeface="Courier New" panose="02070309020205020404" pitchFamily="34" charset="-122"/>
                <a:cs typeface="Courier New" panose="02070309020205020404" pitchFamily="34" charset="-120"/>
              </a:rPr>
              <a:t>footer </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text-align</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center;</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color</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#6B7A88;</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endParaRPr lang="en-US" sz="1150" dirty="0"/>
          </a:p>
        </p:txBody>
      </p:sp>
      <p:sp>
        <p:nvSpPr>
          <p:cNvPr id="8" name="Shape 6"/>
          <p:cNvSpPr/>
          <p:nvPr/>
        </p:nvSpPr>
        <p:spPr>
          <a:xfrm>
            <a:off x="6766560" y="1371600"/>
            <a:ext cx="4846320" cy="2103120"/>
          </a:xfrm>
          <a:prstGeom prst="roundRect">
            <a:avLst>
              <a:gd name="adj" fmla="val 3478"/>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9" name="Text 7"/>
          <p:cNvSpPr txBox="1"/>
          <p:nvPr/>
        </p:nvSpPr>
        <p:spPr>
          <a:xfrm>
            <a:off x="7022592" y="1572768"/>
            <a:ext cx="433425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border-collapse</a:t>
            </a:r>
            <a:endParaRPr lang="en-US" sz="1700" dirty="0"/>
          </a:p>
        </p:txBody>
      </p:sp>
      <p:sp>
        <p:nvSpPr>
          <p:cNvPr id="10" name="Text 8"/>
          <p:cNvSpPr txBox="1"/>
          <p:nvPr/>
        </p:nvSpPr>
        <p:spPr>
          <a:xfrm>
            <a:off x="7022592" y="1993392"/>
            <a:ext cx="4334256" cy="1316736"/>
          </a:xfrm>
          <a:prstGeom prst="rect">
            <a:avLst/>
          </a:prstGeom>
          <a:noFill/>
        </p:spPr>
        <p:txBody>
          <a:bodyPr wrap="square" lIns="0" tIns="0" rIns="0" bIns="0" rtlCol="0" anchor="t"/>
          <a:lstStyle/>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By default every cell draws its own border, so you see a double line</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collapse merges them into one</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This answers the question every student asks</a:t>
            </a:r>
            <a:endParaRPr lang="en-US" sz="1250" dirty="0"/>
          </a:p>
        </p:txBody>
      </p:sp>
      <p:sp>
        <p:nvSpPr>
          <p:cNvPr id="11" name="Shape 9"/>
          <p:cNvSpPr/>
          <p:nvPr/>
        </p:nvSpPr>
        <p:spPr>
          <a:xfrm>
            <a:off x="6766560" y="3657600"/>
            <a:ext cx="4846320" cy="2286000"/>
          </a:xfrm>
          <a:prstGeom prst="roundRect">
            <a:avLst>
              <a:gd name="adj" fmla="val 3200"/>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2" name="Shape 10"/>
          <p:cNvSpPr/>
          <p:nvPr/>
        </p:nvSpPr>
        <p:spPr>
          <a:xfrm>
            <a:off x="6967728" y="3858768"/>
            <a:ext cx="384048" cy="384048"/>
          </a:xfrm>
          <a:prstGeom prst="ellipse">
            <a:avLst/>
          </a:prstGeom>
          <a:solidFill>
            <a:srgbClr val="1F7A55"/>
          </a:solidFill>
          <a:ln w="12700">
            <a:solidFill>
              <a:srgbClr val="1F7A55"/>
            </a:solidFill>
            <a:prstDash val="solid"/>
          </a:ln>
        </p:spPr>
      </p:sp>
      <p:sp>
        <p:nvSpPr>
          <p:cNvPr id="13" name="Text 11"/>
          <p:cNvSpPr txBox="1"/>
          <p:nvPr/>
        </p:nvSpPr>
        <p:spPr>
          <a:xfrm>
            <a:off x="6967728" y="3858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7479792" y="3886200"/>
            <a:ext cx="39319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Check before you stop</a:t>
            </a:r>
            <a:endParaRPr lang="en-US" sz="1700" dirty="0"/>
          </a:p>
        </p:txBody>
      </p:sp>
      <p:sp>
        <p:nvSpPr>
          <p:cNvPr id="15" name="Text 13"/>
          <p:cNvSpPr txBox="1"/>
          <p:nvPr/>
        </p:nvSpPr>
        <p:spPr>
          <a:xfrm>
            <a:off x="7022592" y="4279392"/>
            <a:ext cx="4334256" cy="1499616"/>
          </a:xfrm>
          <a:prstGeom prst="rect">
            <a:avLst/>
          </a:prstGeom>
          <a:noFill/>
        </p:spPr>
        <p:txBody>
          <a:bodyPr wrap="square" lIns="0" tIns="0" rIns="0" bIns="0" rtlCol="0" anchor="t"/>
          <a:lstStyle/>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Tab through the page - is focus still visible?</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Does the text still pass contrast?</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Did you change any HTML? You should not have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DEBUGGING</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Reading the Box in DevTools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20</a:t>
            </a:r>
            <a:endParaRPr lang="en-US" sz="900" dirty="0"/>
          </a:p>
        </p:txBody>
      </p:sp>
      <p:sp>
        <p:nvSpPr>
          <p:cNvPr id="6" name="Shape 4"/>
          <p:cNvSpPr/>
          <p:nvPr/>
        </p:nvSpPr>
        <p:spPr>
          <a:xfrm>
            <a:off x="548640" y="1371600"/>
            <a:ext cx="5349240" cy="822960"/>
          </a:xfrm>
          <a:prstGeom prst="roundRect">
            <a:avLst>
              <a:gd name="adj" fmla="val 8889"/>
            </a:avLst>
          </a:prstGeom>
          <a:solidFill>
            <a:srgbClr val="E8EEF4"/>
          </a:solidFill>
          <a:ln w="12700">
            <a:solidFill>
              <a:srgbClr val="E8EEF4"/>
            </a:solidFill>
            <a:prstDash val="solid"/>
          </a:ln>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9" name="Text 7"/>
          <p:cNvSpPr txBox="1"/>
          <p:nvPr/>
        </p:nvSpPr>
        <p:spPr>
          <a:xfrm>
            <a:off x="1261872" y="160020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Right click any element → Inspect</a:t>
            </a:r>
            <a:endParaRPr lang="en-US" sz="1350" dirty="0"/>
          </a:p>
        </p:txBody>
      </p:sp>
      <p:sp>
        <p:nvSpPr>
          <p:cNvPr id="10" name="Shape 8"/>
          <p:cNvSpPr/>
          <p:nvPr/>
        </p:nvSpPr>
        <p:spPr>
          <a:xfrm>
            <a:off x="6263640" y="1371600"/>
            <a:ext cx="5349240" cy="822960"/>
          </a:xfrm>
          <a:prstGeom prst="roundRect">
            <a:avLst>
              <a:gd name="adj" fmla="val 8889"/>
            </a:avLst>
          </a:prstGeom>
          <a:solidFill>
            <a:srgbClr val="F2F5F8"/>
          </a:solidFill>
          <a:ln w="12700">
            <a:solidFill>
              <a:srgbClr val="F2F5F8"/>
            </a:solidFill>
            <a:prstDash val="solid"/>
          </a:ln>
        </p:spPr>
      </p:sp>
      <p:sp>
        <p:nvSpPr>
          <p:cNvPr id="11" name="Shape 9"/>
          <p:cNvSpPr/>
          <p:nvPr/>
        </p:nvSpPr>
        <p:spPr>
          <a:xfrm>
            <a:off x="6464808" y="1572768"/>
            <a:ext cx="384048" cy="384048"/>
          </a:xfrm>
          <a:prstGeom prst="ellipse">
            <a:avLst/>
          </a:prstGeom>
          <a:solidFill>
            <a:srgbClr val="003366"/>
          </a:solidFill>
          <a:ln w="12700">
            <a:solidFill>
              <a:srgbClr val="003366"/>
            </a:solidFill>
            <a:prstDash val="solid"/>
          </a:ln>
        </p:spPr>
      </p:sp>
      <p:sp>
        <p:nvSpPr>
          <p:cNvPr id="12" name="Text 10"/>
          <p:cNvSpPr txBox="1"/>
          <p:nvPr/>
        </p:nvSpPr>
        <p:spPr>
          <a:xfrm>
            <a:off x="6464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3" name="Text 11"/>
          <p:cNvSpPr txBox="1"/>
          <p:nvPr/>
        </p:nvSpPr>
        <p:spPr>
          <a:xfrm>
            <a:off x="6976872" y="160020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Look at the Styles panel on the right</a:t>
            </a:r>
            <a:endParaRPr lang="en-US" sz="1350" dirty="0"/>
          </a:p>
        </p:txBody>
      </p:sp>
      <p:sp>
        <p:nvSpPr>
          <p:cNvPr id="14" name="Shape 12"/>
          <p:cNvSpPr/>
          <p:nvPr/>
        </p:nvSpPr>
        <p:spPr>
          <a:xfrm>
            <a:off x="548640" y="2331720"/>
            <a:ext cx="5349240" cy="822960"/>
          </a:xfrm>
          <a:prstGeom prst="roundRect">
            <a:avLst>
              <a:gd name="adj" fmla="val 8889"/>
            </a:avLst>
          </a:prstGeom>
          <a:solidFill>
            <a:srgbClr val="E8EEF4"/>
          </a:solidFill>
          <a:ln w="12700">
            <a:solidFill>
              <a:srgbClr val="E8EEF4"/>
            </a:solidFill>
            <a:prstDash val="solid"/>
          </a:ln>
        </p:spPr>
      </p:sp>
      <p:sp>
        <p:nvSpPr>
          <p:cNvPr id="15" name="Shape 13"/>
          <p:cNvSpPr/>
          <p:nvPr/>
        </p:nvSpPr>
        <p:spPr>
          <a:xfrm>
            <a:off x="749808" y="2532888"/>
            <a:ext cx="384048" cy="384048"/>
          </a:xfrm>
          <a:prstGeom prst="ellipse">
            <a:avLst/>
          </a:prstGeom>
          <a:solidFill>
            <a:srgbClr val="003366"/>
          </a:solidFill>
          <a:ln w="12700">
            <a:solidFill>
              <a:srgbClr val="003366"/>
            </a:solidFill>
            <a:prstDash val="solid"/>
          </a:ln>
        </p:spPr>
      </p:sp>
      <p:sp>
        <p:nvSpPr>
          <p:cNvPr id="16" name="Text 14"/>
          <p:cNvSpPr txBox="1"/>
          <p:nvPr/>
        </p:nvSpPr>
        <p:spPr>
          <a:xfrm>
            <a:off x="749808" y="25328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500" dirty="0"/>
          </a:p>
        </p:txBody>
      </p:sp>
      <p:sp>
        <p:nvSpPr>
          <p:cNvPr id="17" name="Text 15"/>
          <p:cNvSpPr txBox="1"/>
          <p:nvPr/>
        </p:nvSpPr>
        <p:spPr>
          <a:xfrm>
            <a:off x="1261872" y="256032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Scroll to the box model diagram at the bottom</a:t>
            </a:r>
            <a:endParaRPr lang="en-US" sz="1350" dirty="0"/>
          </a:p>
        </p:txBody>
      </p:sp>
      <p:sp>
        <p:nvSpPr>
          <p:cNvPr id="18" name="Shape 16"/>
          <p:cNvSpPr/>
          <p:nvPr/>
        </p:nvSpPr>
        <p:spPr>
          <a:xfrm>
            <a:off x="6263640" y="2331720"/>
            <a:ext cx="5349240" cy="822960"/>
          </a:xfrm>
          <a:prstGeom prst="roundRect">
            <a:avLst>
              <a:gd name="adj" fmla="val 8889"/>
            </a:avLst>
          </a:prstGeom>
          <a:solidFill>
            <a:srgbClr val="F2F5F8"/>
          </a:solidFill>
          <a:ln w="12700">
            <a:solidFill>
              <a:srgbClr val="F2F5F8"/>
            </a:solidFill>
            <a:prstDash val="solid"/>
          </a:ln>
        </p:spPr>
      </p:sp>
      <p:sp>
        <p:nvSpPr>
          <p:cNvPr id="19" name="Shape 17"/>
          <p:cNvSpPr/>
          <p:nvPr/>
        </p:nvSpPr>
        <p:spPr>
          <a:xfrm>
            <a:off x="6464808" y="2532888"/>
            <a:ext cx="384048" cy="384048"/>
          </a:xfrm>
          <a:prstGeom prst="ellipse">
            <a:avLst/>
          </a:prstGeom>
          <a:solidFill>
            <a:srgbClr val="003366"/>
          </a:solidFill>
          <a:ln w="12700">
            <a:solidFill>
              <a:srgbClr val="003366"/>
            </a:solidFill>
            <a:prstDash val="solid"/>
          </a:ln>
        </p:spPr>
      </p:sp>
      <p:sp>
        <p:nvSpPr>
          <p:cNvPr id="20" name="Text 18"/>
          <p:cNvSpPr txBox="1"/>
          <p:nvPr/>
        </p:nvSpPr>
        <p:spPr>
          <a:xfrm>
            <a:off x="6464808" y="25328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500" dirty="0"/>
          </a:p>
        </p:txBody>
      </p:sp>
      <p:sp>
        <p:nvSpPr>
          <p:cNvPr id="21" name="Text 19"/>
          <p:cNvSpPr txBox="1"/>
          <p:nvPr/>
        </p:nvSpPr>
        <p:spPr>
          <a:xfrm>
            <a:off x="6976872" y="256032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Read the four numbers: margin, border, padding, content</a:t>
            </a:r>
            <a:endParaRPr lang="en-US" sz="1350" dirty="0"/>
          </a:p>
        </p:txBody>
      </p:sp>
      <p:sp>
        <p:nvSpPr>
          <p:cNvPr id="22" name="Shape 20"/>
          <p:cNvSpPr/>
          <p:nvPr/>
        </p:nvSpPr>
        <p:spPr>
          <a:xfrm>
            <a:off x="548640" y="3291840"/>
            <a:ext cx="5349240" cy="822960"/>
          </a:xfrm>
          <a:prstGeom prst="roundRect">
            <a:avLst>
              <a:gd name="adj" fmla="val 8889"/>
            </a:avLst>
          </a:prstGeom>
          <a:solidFill>
            <a:srgbClr val="E8EEF4"/>
          </a:solidFill>
          <a:ln w="12700">
            <a:solidFill>
              <a:srgbClr val="E8EEF4"/>
            </a:solidFill>
            <a:prstDash val="solid"/>
          </a:ln>
        </p:spPr>
      </p:sp>
      <p:sp>
        <p:nvSpPr>
          <p:cNvPr id="23" name="Shape 21"/>
          <p:cNvSpPr/>
          <p:nvPr/>
        </p:nvSpPr>
        <p:spPr>
          <a:xfrm>
            <a:off x="749808" y="3493008"/>
            <a:ext cx="384048" cy="384048"/>
          </a:xfrm>
          <a:prstGeom prst="ellipse">
            <a:avLst/>
          </a:prstGeom>
          <a:solidFill>
            <a:srgbClr val="003366"/>
          </a:solidFill>
          <a:ln w="12700">
            <a:solidFill>
              <a:srgbClr val="003366"/>
            </a:solidFill>
            <a:prstDash val="solid"/>
          </a:ln>
        </p:spPr>
      </p:sp>
      <p:sp>
        <p:nvSpPr>
          <p:cNvPr id="24" name="Text 22"/>
          <p:cNvSpPr txBox="1"/>
          <p:nvPr/>
        </p:nvSpPr>
        <p:spPr>
          <a:xfrm>
            <a:off x="749808" y="34930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500" dirty="0"/>
          </a:p>
        </p:txBody>
      </p:sp>
      <p:sp>
        <p:nvSpPr>
          <p:cNvPr id="25" name="Text 23"/>
          <p:cNvSpPr txBox="1"/>
          <p:nvPr/>
        </p:nvSpPr>
        <p:spPr>
          <a:xfrm>
            <a:off x="1261872" y="352044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Untick a checkbox to disable one declaration</a:t>
            </a:r>
            <a:endParaRPr lang="en-US" sz="1350" dirty="0"/>
          </a:p>
        </p:txBody>
      </p:sp>
      <p:sp>
        <p:nvSpPr>
          <p:cNvPr id="26" name="Shape 24"/>
          <p:cNvSpPr/>
          <p:nvPr/>
        </p:nvSpPr>
        <p:spPr>
          <a:xfrm>
            <a:off x="6263640" y="3291840"/>
            <a:ext cx="5349240" cy="822960"/>
          </a:xfrm>
          <a:prstGeom prst="roundRect">
            <a:avLst>
              <a:gd name="adj" fmla="val 8889"/>
            </a:avLst>
          </a:prstGeom>
          <a:solidFill>
            <a:srgbClr val="F2F5F8"/>
          </a:solidFill>
          <a:ln w="12700">
            <a:solidFill>
              <a:srgbClr val="F2F5F8"/>
            </a:solidFill>
            <a:prstDash val="solid"/>
          </a:ln>
        </p:spPr>
      </p:sp>
      <p:sp>
        <p:nvSpPr>
          <p:cNvPr id="27" name="Shape 25"/>
          <p:cNvSpPr/>
          <p:nvPr/>
        </p:nvSpPr>
        <p:spPr>
          <a:xfrm>
            <a:off x="6464808" y="3493008"/>
            <a:ext cx="384048" cy="384048"/>
          </a:xfrm>
          <a:prstGeom prst="ellipse">
            <a:avLst/>
          </a:prstGeom>
          <a:solidFill>
            <a:srgbClr val="003366"/>
          </a:solidFill>
          <a:ln w="12700">
            <a:solidFill>
              <a:srgbClr val="003366"/>
            </a:solidFill>
            <a:prstDash val="solid"/>
          </a:ln>
        </p:spPr>
      </p:sp>
      <p:sp>
        <p:nvSpPr>
          <p:cNvPr id="28" name="Text 26"/>
          <p:cNvSpPr txBox="1"/>
          <p:nvPr/>
        </p:nvSpPr>
        <p:spPr>
          <a:xfrm>
            <a:off x="6464808" y="34930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500" dirty="0"/>
          </a:p>
        </p:txBody>
      </p:sp>
      <p:sp>
        <p:nvSpPr>
          <p:cNvPr id="29" name="Text 27"/>
          <p:cNvSpPr txBox="1"/>
          <p:nvPr/>
        </p:nvSpPr>
        <p:spPr>
          <a:xfrm>
            <a:off x="6976872" y="3520440"/>
            <a:ext cx="4434840"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Struck-through text = that rule lost or is invalid</a:t>
            </a:r>
            <a:endParaRPr lang="en-US" sz="1350" dirty="0"/>
          </a:p>
        </p:txBody>
      </p:sp>
      <p:sp>
        <p:nvSpPr>
          <p:cNvPr id="30" name="Shape 28"/>
          <p:cNvSpPr/>
          <p:nvPr/>
        </p:nvSpPr>
        <p:spPr>
          <a:xfrm>
            <a:off x="548640" y="4389120"/>
            <a:ext cx="11064240" cy="1554480"/>
          </a:xfrm>
          <a:prstGeom prst="roundRect">
            <a:avLst>
              <a:gd name="adj" fmla="val 4706"/>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31" name="Shape 29"/>
          <p:cNvSpPr/>
          <p:nvPr/>
        </p:nvSpPr>
        <p:spPr>
          <a:xfrm>
            <a:off x="749808" y="4590288"/>
            <a:ext cx="384048" cy="384048"/>
          </a:xfrm>
          <a:prstGeom prst="ellipse">
            <a:avLst/>
          </a:prstGeom>
          <a:solidFill>
            <a:srgbClr val="1F7A55"/>
          </a:solidFill>
          <a:ln w="12700">
            <a:solidFill>
              <a:srgbClr val="1F7A55"/>
            </a:solidFill>
            <a:prstDash val="solid"/>
          </a:ln>
        </p:spPr>
      </p:sp>
      <p:sp>
        <p:nvSpPr>
          <p:cNvPr id="32" name="Text 30"/>
          <p:cNvSpPr txBox="1"/>
          <p:nvPr/>
        </p:nvSpPr>
        <p:spPr>
          <a:xfrm>
            <a:off x="749808" y="45902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33" name="Text 31"/>
          <p:cNvSpPr txBox="1"/>
          <p:nvPr/>
        </p:nvSpPr>
        <p:spPr>
          <a:xfrm>
            <a:off x="1261872" y="4617720"/>
            <a:ext cx="101498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Change values in DevTools first, then copy the one that works into your file</a:t>
            </a:r>
            <a:endParaRPr lang="en-US" sz="1700" dirty="0"/>
          </a:p>
        </p:txBody>
      </p:sp>
      <p:sp>
        <p:nvSpPr>
          <p:cNvPr id="34" name="Text 32"/>
          <p:cNvSpPr txBox="1"/>
          <p:nvPr/>
        </p:nvSpPr>
        <p:spPr>
          <a:xfrm>
            <a:off x="804672" y="5010912"/>
            <a:ext cx="10552176" cy="768096"/>
          </a:xfrm>
          <a:prstGeom prst="rect">
            <a:avLst/>
          </a:prstGeom>
          <a:noFill/>
        </p:spPr>
        <p:txBody>
          <a:bodyPr wrap="square" lIns="0" tIns="0" rIns="0" bIns="0" rtlCol="0" anchor="t"/>
          <a:lstStyle/>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You can type directly into the Styles panel and see the result instantly.</a:t>
            </a:r>
            <a:endParaRPr lang="en-US" sz="1350" dirty="0"/>
          </a:p>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Nothing there is saved — refreshing the page undoes it. That is exactly why it is safe to experiment.</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DEBUG CLINIC</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Common Mistakes and Fixes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21</a:t>
            </a:r>
            <a:endParaRPr lang="en-US" sz="900" dirty="0"/>
          </a:p>
        </p:txBody>
      </p:sp>
      <p:sp>
        <p:nvSpPr>
          <p:cNvPr id="6" name="Shape 4"/>
          <p:cNvSpPr/>
          <p:nvPr/>
        </p:nvSpPr>
        <p:spPr>
          <a:xfrm>
            <a:off x="548640" y="1325880"/>
            <a:ext cx="11064240" cy="804672"/>
          </a:xfrm>
          <a:prstGeom prst="roundRect">
            <a:avLst>
              <a:gd name="adj" fmla="val 9091"/>
            </a:avLst>
          </a:prstGeom>
          <a:solidFill>
            <a:srgbClr val="FBEAE8"/>
          </a:solidFill>
          <a:ln w="12700">
            <a:solidFill>
              <a:srgbClr val="FBEAE8"/>
            </a:solidFill>
            <a:prstDash val="solid"/>
          </a:ln>
        </p:spPr>
      </p:sp>
      <p:sp>
        <p:nvSpPr>
          <p:cNvPr id="7" name="Text 5"/>
          <p:cNvSpPr txBox="1"/>
          <p:nvPr/>
        </p:nvSpPr>
        <p:spPr>
          <a:xfrm>
            <a:off x="777240" y="1362456"/>
            <a:ext cx="4023360" cy="731520"/>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Nothing changed at all</a:t>
            </a:r>
            <a:endParaRPr lang="en-US" sz="1300" dirty="0"/>
          </a:p>
        </p:txBody>
      </p:sp>
      <p:sp>
        <p:nvSpPr>
          <p:cNvPr id="8" name="Text 6"/>
          <p:cNvSpPr txBox="1"/>
          <p:nvPr/>
        </p:nvSpPr>
        <p:spPr>
          <a:xfrm>
            <a:off x="4983480" y="13624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The stylesheet is not linked, or the href path is wrong. Check the Network tab for a 404 on styles.css.</a:t>
            </a:r>
            <a:endParaRPr lang="en-US" sz="1250" dirty="0"/>
          </a:p>
        </p:txBody>
      </p:sp>
      <p:sp>
        <p:nvSpPr>
          <p:cNvPr id="9" name="Shape 7"/>
          <p:cNvSpPr/>
          <p:nvPr/>
        </p:nvSpPr>
        <p:spPr>
          <a:xfrm>
            <a:off x="548640" y="2240280"/>
            <a:ext cx="11064240" cy="804672"/>
          </a:xfrm>
          <a:prstGeom prst="roundRect">
            <a:avLst>
              <a:gd name="adj" fmla="val 9091"/>
            </a:avLst>
          </a:prstGeom>
          <a:solidFill>
            <a:srgbClr val="F2F5F8"/>
          </a:solidFill>
          <a:ln w="12700">
            <a:solidFill>
              <a:srgbClr val="F2F5F8"/>
            </a:solidFill>
            <a:prstDash val="solid"/>
          </a:ln>
        </p:spPr>
      </p:sp>
      <p:sp>
        <p:nvSpPr>
          <p:cNvPr id="10" name="Text 8"/>
          <p:cNvSpPr txBox="1"/>
          <p:nvPr/>
        </p:nvSpPr>
        <p:spPr>
          <a:xfrm>
            <a:off x="777240" y="2276856"/>
            <a:ext cx="4023360" cy="731520"/>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One rule is ignored</a:t>
            </a:r>
            <a:endParaRPr lang="en-US" sz="1300" dirty="0"/>
          </a:p>
        </p:txBody>
      </p:sp>
      <p:sp>
        <p:nvSpPr>
          <p:cNvPr id="11" name="Text 9"/>
          <p:cNvSpPr txBox="1"/>
          <p:nvPr/>
        </p:nvSpPr>
        <p:spPr>
          <a:xfrm>
            <a:off x="4983480" y="22768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 missing semicolon on the line above, or a typo in the property name. CSS reports nothing.</a:t>
            </a:r>
            <a:endParaRPr lang="en-US" sz="1250" dirty="0"/>
          </a:p>
        </p:txBody>
      </p:sp>
      <p:sp>
        <p:nvSpPr>
          <p:cNvPr id="12" name="Shape 10"/>
          <p:cNvSpPr/>
          <p:nvPr/>
        </p:nvSpPr>
        <p:spPr>
          <a:xfrm>
            <a:off x="548640" y="3154680"/>
            <a:ext cx="11064240" cy="804672"/>
          </a:xfrm>
          <a:prstGeom prst="roundRect">
            <a:avLst>
              <a:gd name="adj" fmla="val 9091"/>
            </a:avLst>
          </a:prstGeom>
          <a:solidFill>
            <a:srgbClr val="FBEAE8"/>
          </a:solidFill>
          <a:ln w="12700">
            <a:solidFill>
              <a:srgbClr val="FBEAE8"/>
            </a:solidFill>
            <a:prstDash val="solid"/>
          </a:ln>
        </p:spPr>
      </p:sp>
      <p:sp>
        <p:nvSpPr>
          <p:cNvPr id="13" name="Text 11"/>
          <p:cNvSpPr txBox="1"/>
          <p:nvPr/>
        </p:nvSpPr>
        <p:spPr>
          <a:xfrm>
            <a:off x="777240" y="3191256"/>
            <a:ext cx="4023360" cy="731520"/>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My box is wider than the width I set</a:t>
            </a:r>
            <a:endParaRPr lang="en-US" sz="1300" dirty="0"/>
          </a:p>
        </p:txBody>
      </p:sp>
      <p:sp>
        <p:nvSpPr>
          <p:cNvPr id="14" name="Text 12"/>
          <p:cNvSpPr txBox="1"/>
          <p:nvPr/>
        </p:nvSpPr>
        <p:spPr>
          <a:xfrm>
            <a:off x="4983480" y="31912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You have no box-sizing: border-box, so padding and border are added on top.</a:t>
            </a:r>
            <a:endParaRPr lang="en-US" sz="1250" dirty="0"/>
          </a:p>
        </p:txBody>
      </p:sp>
      <p:sp>
        <p:nvSpPr>
          <p:cNvPr id="15" name="Shape 13"/>
          <p:cNvSpPr/>
          <p:nvPr/>
        </p:nvSpPr>
        <p:spPr>
          <a:xfrm>
            <a:off x="548640" y="4069080"/>
            <a:ext cx="11064240" cy="804672"/>
          </a:xfrm>
          <a:prstGeom prst="roundRect">
            <a:avLst>
              <a:gd name="adj" fmla="val 9091"/>
            </a:avLst>
          </a:prstGeom>
          <a:solidFill>
            <a:srgbClr val="F2F5F8"/>
          </a:solidFill>
          <a:ln w="12700">
            <a:solidFill>
              <a:srgbClr val="F2F5F8"/>
            </a:solidFill>
            <a:prstDash val="solid"/>
          </a:ln>
        </p:spPr>
      </p:sp>
      <p:sp>
        <p:nvSpPr>
          <p:cNvPr id="16" name="Text 14"/>
          <p:cNvSpPr txBox="1"/>
          <p:nvPr/>
        </p:nvSpPr>
        <p:spPr>
          <a:xfrm>
            <a:off x="777240" y="4105656"/>
            <a:ext cx="4023360" cy="731520"/>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width and height do nothing</a:t>
            </a:r>
            <a:endParaRPr lang="en-US" sz="1300" dirty="0"/>
          </a:p>
        </p:txBody>
      </p:sp>
      <p:sp>
        <p:nvSpPr>
          <p:cNvPr id="17" name="Text 15"/>
          <p:cNvSpPr txBox="1"/>
          <p:nvPr/>
        </p:nvSpPr>
        <p:spPr>
          <a:xfrm>
            <a:off x="4983480" y="41056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The element is inline. Change it to inline-block or block.</a:t>
            </a:r>
            <a:endParaRPr lang="en-US" sz="1250" dirty="0"/>
          </a:p>
        </p:txBody>
      </p:sp>
      <p:sp>
        <p:nvSpPr>
          <p:cNvPr id="18" name="Shape 16"/>
          <p:cNvSpPr/>
          <p:nvPr/>
        </p:nvSpPr>
        <p:spPr>
          <a:xfrm>
            <a:off x="548640" y="4983480"/>
            <a:ext cx="11064240" cy="804672"/>
          </a:xfrm>
          <a:prstGeom prst="roundRect">
            <a:avLst>
              <a:gd name="adj" fmla="val 9091"/>
            </a:avLst>
          </a:prstGeom>
          <a:solidFill>
            <a:srgbClr val="FBEAE8"/>
          </a:solidFill>
          <a:ln w="12700">
            <a:solidFill>
              <a:srgbClr val="FBEAE8"/>
            </a:solidFill>
            <a:prstDash val="solid"/>
          </a:ln>
        </p:spPr>
      </p:sp>
      <p:sp>
        <p:nvSpPr>
          <p:cNvPr id="19" name="Text 17"/>
          <p:cNvSpPr txBox="1"/>
          <p:nvPr/>
        </p:nvSpPr>
        <p:spPr>
          <a:xfrm>
            <a:off x="777240" y="5020056"/>
            <a:ext cx="4023360" cy="731520"/>
          </a:xfrm>
          <a:prstGeom prst="rect">
            <a:avLst/>
          </a:prstGeom>
          <a:noFill/>
        </p:spPr>
        <p:txBody>
          <a:bodyPr wrap="square" lIns="0" tIns="0" rIns="0" bIns="0" rtlCol="0" anchor="ctr"/>
          <a:lstStyle/>
          <a:p>
            <a:pPr marL="0" indent="0">
              <a:buNone/>
            </a:pPr>
            <a:r>
              <a:rPr lang="en-US" sz="1300" b="1" dirty="0">
                <a:solidFill>
                  <a:srgbClr val="003366"/>
                </a:solidFill>
                <a:latin typeface="Arial" panose="020B0604020202020204" pitchFamily="34" charset="0"/>
                <a:ea typeface="Arial" panose="020B0604020202020204" pitchFamily="34" charset="-122"/>
                <a:cs typeface="Arial" panose="020B0604020202020204" pitchFamily="34" charset="-120"/>
              </a:rPr>
              <a:t>The background image does not appear</a:t>
            </a:r>
            <a:endParaRPr lang="en-US" sz="1300" dirty="0"/>
          </a:p>
        </p:txBody>
      </p:sp>
      <p:sp>
        <p:nvSpPr>
          <p:cNvPr id="20" name="Text 18"/>
          <p:cNvSpPr txBox="1"/>
          <p:nvPr/>
        </p:nvSpPr>
        <p:spPr>
          <a:xfrm>
            <a:off x="4983480" y="50200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Wrong path, or the box has no height. url() is relative to the CSS file, not the HTML file.</a:t>
            </a:r>
            <a:endParaRPr lang="en-US" sz="1250" dirty="0"/>
          </a:p>
        </p:txBody>
      </p:sp>
      <p:sp>
        <p:nvSpPr>
          <p:cNvPr id="21" name="Text 19"/>
          <p:cNvSpPr txBox="1"/>
          <p:nvPr/>
        </p:nvSpPr>
        <p:spPr>
          <a:xfrm>
            <a:off x="548640" y="5943600"/>
            <a:ext cx="11064240" cy="274320"/>
          </a:xfrm>
          <a:prstGeom prst="rect">
            <a:avLst/>
          </a:prstGeom>
          <a:noFill/>
        </p:spPr>
        <p:txBody>
          <a:bodyPr wrap="square" lIns="0" tIns="0" rIns="0" bIns="0" rtlCol="0" anchor="t"/>
          <a:lstStyle/>
          <a:p>
            <a:pPr marL="0" indent="0" algn="l">
              <a:lnSpc>
                <a:spcPts val="1620"/>
              </a:lnSpc>
              <a:buNone/>
            </a:pPr>
            <a:r>
              <a:rPr lang="en-US" sz="1200" i="1" dirty="0">
                <a:solidFill>
                  <a:srgbClr val="6B7A88"/>
                </a:solidFill>
                <a:latin typeface="Arial" panose="020B0604020202020204" pitchFamily="34" charset="0"/>
                <a:ea typeface="Arial" panose="020B0604020202020204" pitchFamily="34" charset="-122"/>
                <a:cs typeface="Arial" panose="020B0604020202020204" pitchFamily="34" charset="-120"/>
              </a:rPr>
              <a:t>The path rule that catches everyone: url() inside a CSS file is relative to the CSS file's own location.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PART 1 IN CLASS · PART 2 AT HOME</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Assignment - Week 2, Class 3</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22</a:t>
            </a:r>
            <a:endParaRPr lang="en-US" sz="900" dirty="0"/>
          </a:p>
        </p:txBody>
      </p:sp>
      <p:sp>
        <p:nvSpPr>
          <p:cNvPr id="6" name="Shape 4"/>
          <p:cNvSpPr/>
          <p:nvPr/>
        </p:nvSpPr>
        <p:spPr>
          <a:xfrm>
            <a:off x="548640" y="1371600"/>
            <a:ext cx="5486400" cy="3566160"/>
          </a:xfrm>
          <a:prstGeom prst="roundRect">
            <a:avLst>
              <a:gd name="adj" fmla="val 2051"/>
            </a:avLst>
          </a:prstGeom>
          <a:solidFill>
            <a:srgbClr val="E8EEF4"/>
          </a:solidFill>
          <a:ln w="12700">
            <a:solidFill>
              <a:srgbClr val="E8EEF4"/>
            </a:solidFill>
            <a:prstDash val="solid"/>
          </a:ln>
          <a:effectLst>
            <a:outerShdw blurRad="76200" dist="12700" dir="5400000" algn="bl" rotWithShape="0">
              <a:srgbClr val="9AA9B8">
                <a:alpha val="18000"/>
              </a:srgbClr>
            </a:outerShdw>
          </a:effectLst>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9" name="Text 7"/>
          <p:cNvSpPr txBox="1"/>
          <p:nvPr/>
        </p:nvSpPr>
        <p:spPr>
          <a:xfrm>
            <a:off x="1261872" y="1600200"/>
            <a:ext cx="45720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Part 1 - In-class demonstration</a:t>
            </a:r>
            <a:endParaRPr lang="en-US" sz="1700" dirty="0"/>
          </a:p>
        </p:txBody>
      </p:sp>
      <p:sp>
        <p:nvSpPr>
          <p:cNvPr id="10" name="Text 8"/>
          <p:cNvSpPr txBox="1"/>
          <p:nvPr/>
        </p:nvSpPr>
        <p:spPr>
          <a:xfrm>
            <a:off x="804672" y="1993392"/>
            <a:ext cx="4974336" cy="2779776"/>
          </a:xfrm>
          <a:prstGeom prst="rect">
            <a:avLst/>
          </a:prstGeom>
          <a:noFill/>
        </p:spPr>
        <p:txBody>
          <a:bodyPr wrap="square" lIns="0" tIns="0" rIns="0" bIns="0" rtlCol="0" anchor="t"/>
          <a:lstStyle/>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Time: last 5 minutes of this class</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Task: change the header background to a colour of your choice and keep the text contrast passing</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Add a hover AND focus style to the Register button</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Show the focus style using only the Tab key</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Submission: show on your screen before leaving</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Marks: 2 (checked on the spot)</a:t>
            </a:r>
            <a:endParaRPr lang="en-US" sz="1350" dirty="0"/>
          </a:p>
        </p:txBody>
      </p:sp>
      <p:sp>
        <p:nvSpPr>
          <p:cNvPr id="11" name="Shape 9"/>
          <p:cNvSpPr/>
          <p:nvPr/>
        </p:nvSpPr>
        <p:spPr>
          <a:xfrm>
            <a:off x="6309360" y="1371600"/>
            <a:ext cx="5303520" cy="3840480"/>
          </a:xfrm>
          <a:prstGeom prst="roundRect">
            <a:avLst>
              <a:gd name="adj" fmla="val 1905"/>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6510528" y="1572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4" name="Text 12"/>
          <p:cNvSpPr txBox="1"/>
          <p:nvPr/>
        </p:nvSpPr>
        <p:spPr>
          <a:xfrm>
            <a:off x="7022592" y="160020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Part 2 - Home task</a:t>
            </a:r>
            <a:endParaRPr lang="en-US" sz="1700" dirty="0"/>
          </a:p>
        </p:txBody>
      </p:sp>
      <p:sp>
        <p:nvSpPr>
          <p:cNvPr id="15" name="Text 13"/>
          <p:cNvSpPr txBox="1"/>
          <p:nvPr/>
        </p:nvSpPr>
        <p:spPr>
          <a:xfrm>
            <a:off x="6565392" y="1993392"/>
            <a:ext cx="4791456" cy="305409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Apply styles.css to every page you have built so far</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Required: box-sizing reset, a centred container with max-width, a styled nav, styled form controls, a styled table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All text contrast must still pass 4.5 : 1</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Both :hover and :focus styled on every link and button</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Commit and push · Deadline: before Week 2, Class 4</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Marks: 3</a:t>
            </a:r>
            <a:endParaRPr lang="en-US" sz="1300" dirty="0"/>
          </a:p>
        </p:txBody>
      </p:sp>
      <p:sp>
        <p:nvSpPr>
          <p:cNvPr id="16" name="Shape 14"/>
          <p:cNvSpPr/>
          <p:nvPr/>
        </p:nvSpPr>
        <p:spPr>
          <a:xfrm>
            <a:off x="548640" y="5394960"/>
            <a:ext cx="11064240" cy="640080"/>
          </a:xfrm>
          <a:prstGeom prst="roundRect">
            <a:avLst>
              <a:gd name="adj" fmla="val 11429"/>
            </a:avLst>
          </a:prstGeom>
          <a:solidFill>
            <a:srgbClr val="F2F5F8"/>
          </a:solidFill>
          <a:ln w="12700">
            <a:solidFill>
              <a:srgbClr val="F2F5F8"/>
            </a:solidFill>
            <a:prstDash val="solid"/>
          </a:ln>
        </p:spPr>
      </p:sp>
      <p:sp>
        <p:nvSpPr>
          <p:cNvPr id="17" name="Text 15"/>
          <p:cNvSpPr txBox="1"/>
          <p:nvPr/>
        </p:nvSpPr>
        <p:spPr>
          <a:xfrm>
            <a:off x="804672" y="5596128"/>
            <a:ext cx="10552176"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Bring this file to C4. The practice class debugs and extends exactly this stylesheet.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48-50 MINUTES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Marking Rubric &amp; Exit Check</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23</a:t>
            </a:r>
            <a:endParaRPr lang="en-US" sz="900" dirty="0"/>
          </a:p>
        </p:txBody>
      </p:sp>
      <p:sp>
        <p:nvSpPr>
          <p:cNvPr id="6" name="Text 4"/>
          <p:cNvSpPr txBox="1"/>
          <p:nvPr/>
        </p:nvSpPr>
        <p:spPr>
          <a:xfrm>
            <a:off x="548640" y="1371600"/>
            <a:ext cx="6766560" cy="256032"/>
          </a:xfrm>
          <a:prstGeom prst="rect">
            <a:avLst/>
          </a:prstGeom>
          <a:noFill/>
        </p:spPr>
        <p:txBody>
          <a:bodyPr wrap="square" lIns="0" tIns="0" rIns="0" bIns="0" rtlCol="0" anchor="ctr"/>
          <a:lstStyle/>
          <a:p>
            <a:pPr marL="0" indent="0">
              <a:buNone/>
            </a:pPr>
            <a:r>
              <a:rPr lang="en-US" sz="1200" b="1" kern="0" spc="60" dirty="0">
                <a:solidFill>
                  <a:srgbClr val="003366"/>
                </a:solidFill>
                <a:latin typeface="Arial" panose="020B0604020202020204" pitchFamily="34" charset="0"/>
                <a:ea typeface="Arial" panose="020B0604020202020204" pitchFamily="34" charset="-122"/>
                <a:cs typeface="Arial" panose="020B0604020202020204" pitchFamily="34" charset="-120"/>
              </a:rPr>
              <a:t>RUBRIC - 5 MARKS TOTAL</a:t>
            </a:r>
            <a:endParaRPr lang="en-US" sz="1200" dirty="0"/>
          </a:p>
        </p:txBody>
      </p:sp>
      <p:sp>
        <p:nvSpPr>
          <p:cNvPr id="7" name="Shape 5"/>
          <p:cNvSpPr/>
          <p:nvPr/>
        </p:nvSpPr>
        <p:spPr>
          <a:xfrm>
            <a:off x="548640" y="1691640"/>
            <a:ext cx="6492240" cy="658368"/>
          </a:xfrm>
          <a:prstGeom prst="roundRect">
            <a:avLst>
              <a:gd name="adj" fmla="val 11111"/>
            </a:avLst>
          </a:prstGeom>
          <a:solidFill>
            <a:srgbClr val="E8EEF4"/>
          </a:solidFill>
          <a:ln w="12700">
            <a:solidFill>
              <a:srgbClr val="E8EEF4"/>
            </a:solidFill>
            <a:prstDash val="solid"/>
          </a:ln>
        </p:spPr>
      </p:sp>
      <p:sp>
        <p:nvSpPr>
          <p:cNvPr id="8" name="Text 6"/>
          <p:cNvSpPr txBox="1"/>
          <p:nvPr/>
        </p:nvSpPr>
        <p:spPr>
          <a:xfrm>
            <a:off x="777240" y="169164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External stylesheet linked and applied to all pages</a:t>
            </a:r>
            <a:endParaRPr lang="en-US" sz="1300" dirty="0"/>
          </a:p>
        </p:txBody>
      </p:sp>
      <p:sp>
        <p:nvSpPr>
          <p:cNvPr id="9" name="Text 7"/>
          <p:cNvSpPr txBox="1"/>
          <p:nvPr/>
        </p:nvSpPr>
        <p:spPr>
          <a:xfrm>
            <a:off x="6217920" y="169164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1.0</a:t>
            </a:r>
            <a:endParaRPr lang="en-US" sz="1500" dirty="0"/>
          </a:p>
        </p:txBody>
      </p:sp>
      <p:sp>
        <p:nvSpPr>
          <p:cNvPr id="10" name="Shape 8"/>
          <p:cNvSpPr/>
          <p:nvPr/>
        </p:nvSpPr>
        <p:spPr>
          <a:xfrm>
            <a:off x="548640" y="2468880"/>
            <a:ext cx="6492240" cy="658368"/>
          </a:xfrm>
          <a:prstGeom prst="roundRect">
            <a:avLst>
              <a:gd name="adj" fmla="val 11111"/>
            </a:avLst>
          </a:prstGeom>
          <a:solidFill>
            <a:srgbClr val="F2F5F8"/>
          </a:solidFill>
          <a:ln w="12700">
            <a:solidFill>
              <a:srgbClr val="F2F5F8"/>
            </a:solidFill>
            <a:prstDash val="solid"/>
          </a:ln>
        </p:spPr>
      </p:sp>
      <p:sp>
        <p:nvSpPr>
          <p:cNvPr id="11" name="Text 9"/>
          <p:cNvSpPr txBox="1"/>
          <p:nvPr/>
        </p:nvSpPr>
        <p:spPr>
          <a:xfrm>
            <a:off x="777240" y="246888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box-sizing reset and a centred max-width container</a:t>
            </a:r>
            <a:endParaRPr lang="en-US" sz="1300" dirty="0"/>
          </a:p>
        </p:txBody>
      </p:sp>
      <p:sp>
        <p:nvSpPr>
          <p:cNvPr id="12" name="Text 10"/>
          <p:cNvSpPr txBox="1"/>
          <p:nvPr/>
        </p:nvSpPr>
        <p:spPr>
          <a:xfrm>
            <a:off x="6217920" y="246888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1.5</a:t>
            </a:r>
            <a:endParaRPr lang="en-US" sz="1500" dirty="0"/>
          </a:p>
        </p:txBody>
      </p:sp>
      <p:sp>
        <p:nvSpPr>
          <p:cNvPr id="13" name="Shape 11"/>
          <p:cNvSpPr/>
          <p:nvPr/>
        </p:nvSpPr>
        <p:spPr>
          <a:xfrm>
            <a:off x="548640" y="3246120"/>
            <a:ext cx="6492240" cy="658368"/>
          </a:xfrm>
          <a:prstGeom prst="roundRect">
            <a:avLst>
              <a:gd name="adj" fmla="val 11111"/>
            </a:avLst>
          </a:prstGeom>
          <a:solidFill>
            <a:srgbClr val="E8EEF4"/>
          </a:solidFill>
          <a:ln w="12700">
            <a:solidFill>
              <a:srgbClr val="E8EEF4"/>
            </a:solidFill>
            <a:prstDash val="solid"/>
          </a:ln>
        </p:spPr>
      </p:sp>
      <p:sp>
        <p:nvSpPr>
          <p:cNvPr id="14" name="Text 12"/>
          <p:cNvSpPr txBox="1"/>
          <p:nvPr/>
        </p:nvSpPr>
        <p:spPr>
          <a:xfrm>
            <a:off x="777240" y="324612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Nav, form and table styled and readable</a:t>
            </a:r>
            <a:endParaRPr lang="en-US" sz="1300" dirty="0"/>
          </a:p>
        </p:txBody>
      </p:sp>
      <p:sp>
        <p:nvSpPr>
          <p:cNvPr id="15" name="Text 13"/>
          <p:cNvSpPr txBox="1"/>
          <p:nvPr/>
        </p:nvSpPr>
        <p:spPr>
          <a:xfrm>
            <a:off x="6217920" y="324612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1.5</a:t>
            </a:r>
            <a:endParaRPr lang="en-US" sz="1500" dirty="0"/>
          </a:p>
        </p:txBody>
      </p:sp>
      <p:sp>
        <p:nvSpPr>
          <p:cNvPr id="16" name="Shape 14"/>
          <p:cNvSpPr/>
          <p:nvPr/>
        </p:nvSpPr>
        <p:spPr>
          <a:xfrm>
            <a:off x="548640" y="4023360"/>
            <a:ext cx="6492240" cy="658368"/>
          </a:xfrm>
          <a:prstGeom prst="roundRect">
            <a:avLst>
              <a:gd name="adj" fmla="val 11111"/>
            </a:avLst>
          </a:prstGeom>
          <a:solidFill>
            <a:srgbClr val="F2F5F8"/>
          </a:solidFill>
          <a:ln w="12700">
            <a:solidFill>
              <a:srgbClr val="F2F5F8"/>
            </a:solidFill>
            <a:prstDash val="solid"/>
          </a:ln>
        </p:spPr>
      </p:sp>
      <p:sp>
        <p:nvSpPr>
          <p:cNvPr id="17" name="Text 15"/>
          <p:cNvSpPr txBox="1"/>
          <p:nvPr/>
        </p:nvSpPr>
        <p:spPr>
          <a:xfrm>
            <a:off x="777240" y="402336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:hover and :focus both styled; contrast still passes</a:t>
            </a:r>
            <a:endParaRPr lang="en-US" sz="1300" dirty="0"/>
          </a:p>
        </p:txBody>
      </p:sp>
      <p:sp>
        <p:nvSpPr>
          <p:cNvPr id="18" name="Text 16"/>
          <p:cNvSpPr txBox="1"/>
          <p:nvPr/>
        </p:nvSpPr>
        <p:spPr>
          <a:xfrm>
            <a:off x="6217920" y="402336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1.0</a:t>
            </a:r>
            <a:endParaRPr lang="en-US" sz="1500" dirty="0"/>
          </a:p>
        </p:txBody>
      </p:sp>
      <p:sp>
        <p:nvSpPr>
          <p:cNvPr id="19" name="Shape 17"/>
          <p:cNvSpPr/>
          <p:nvPr/>
        </p:nvSpPr>
        <p:spPr>
          <a:xfrm>
            <a:off x="7406640" y="1371600"/>
            <a:ext cx="4206240" cy="1737360"/>
          </a:xfrm>
          <a:prstGeom prst="roundRect">
            <a:avLst>
              <a:gd name="adj" fmla="val 4211"/>
            </a:avLst>
          </a:prstGeom>
          <a:solidFill>
            <a:srgbClr val="003366"/>
          </a:solidFill>
          <a:ln w="12700">
            <a:solidFill>
              <a:srgbClr val="003366"/>
            </a:solidFill>
            <a:prstDash val="solid"/>
          </a:ln>
          <a:effectLst>
            <a:outerShdw blurRad="76200" dist="12700" dir="5400000" algn="bl" rotWithShape="0">
              <a:srgbClr val="9AA9B8">
                <a:alpha val="18000"/>
              </a:srgbClr>
            </a:outerShdw>
          </a:effectLst>
        </p:spPr>
      </p:sp>
      <p:sp>
        <p:nvSpPr>
          <p:cNvPr id="20" name="Text 18"/>
          <p:cNvSpPr txBox="1"/>
          <p:nvPr/>
        </p:nvSpPr>
        <p:spPr>
          <a:xfrm>
            <a:off x="7662672" y="1572768"/>
            <a:ext cx="3694176" cy="329184"/>
          </a:xfrm>
          <a:prstGeom prst="rect">
            <a:avLst/>
          </a:prstGeom>
          <a:noFill/>
        </p:spPr>
        <p:txBody>
          <a:bodyPr wrap="square" lIns="0" tIns="0" rIns="0" bIns="0" rtlCol="0" anchor="ctr"/>
          <a:lstStyle/>
          <a:p>
            <a:pPr marL="0" indent="0">
              <a:buNone/>
            </a:pPr>
            <a:r>
              <a:rPr lang="en-US" sz="1700" b="1" dirty="0">
                <a:solidFill>
                  <a:srgbClr val="E39A18"/>
                </a:solidFill>
                <a:latin typeface="Arial" panose="020B0604020202020204" pitchFamily="34" charset="0"/>
                <a:ea typeface="Arial" panose="020B0604020202020204" pitchFamily="34" charset="-122"/>
                <a:cs typeface="Arial" panose="020B0604020202020204" pitchFamily="34" charset="-120"/>
              </a:rPr>
              <a:t>Exit question 1 - concept</a:t>
            </a:r>
            <a:endParaRPr lang="en-US" sz="1700" dirty="0"/>
          </a:p>
        </p:txBody>
      </p:sp>
      <p:sp>
        <p:nvSpPr>
          <p:cNvPr id="21" name="Text 19"/>
          <p:cNvSpPr txBox="1"/>
          <p:nvPr/>
        </p:nvSpPr>
        <p:spPr>
          <a:xfrm>
            <a:off x="7662672" y="1993392"/>
            <a:ext cx="3694176" cy="950976"/>
          </a:xfrm>
          <a:prstGeom prst="rect">
            <a:avLst/>
          </a:prstGeom>
          <a:noFill/>
        </p:spPr>
        <p:txBody>
          <a:bodyPr wrap="square" lIns="0" tIns="0" rIns="0" bIns="0" rtlCol="0" anchor="t"/>
          <a:lstStyle/>
          <a:p>
            <a:pPr marL="0" indent="0">
              <a:spcAft>
                <a:spcPts val="600"/>
              </a:spcAft>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What is the difference between padding and margin?</a:t>
            </a:r>
            <a:endParaRPr lang="en-US" sz="1400" dirty="0"/>
          </a:p>
        </p:txBody>
      </p:sp>
      <p:sp>
        <p:nvSpPr>
          <p:cNvPr id="22" name="Shape 20"/>
          <p:cNvSpPr/>
          <p:nvPr/>
        </p:nvSpPr>
        <p:spPr>
          <a:xfrm>
            <a:off x="7406640" y="3337560"/>
            <a:ext cx="4206240" cy="1737360"/>
          </a:xfrm>
          <a:prstGeom prst="roundRect">
            <a:avLst>
              <a:gd name="adj" fmla="val 4211"/>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23" name="Text 21"/>
          <p:cNvSpPr txBox="1"/>
          <p:nvPr/>
        </p:nvSpPr>
        <p:spPr>
          <a:xfrm>
            <a:off x="7662672" y="3538728"/>
            <a:ext cx="369417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Exit question 2 - practical</a:t>
            </a:r>
            <a:endParaRPr lang="en-US" sz="1700" dirty="0"/>
          </a:p>
        </p:txBody>
      </p:sp>
      <p:sp>
        <p:nvSpPr>
          <p:cNvPr id="24" name="Text 22"/>
          <p:cNvSpPr txBox="1"/>
          <p:nvPr/>
        </p:nvSpPr>
        <p:spPr>
          <a:xfrm>
            <a:off x="7662672" y="3959352"/>
            <a:ext cx="3694176" cy="950976"/>
          </a:xfrm>
          <a:prstGeom prst="rect">
            <a:avLst/>
          </a:prstGeom>
          <a:noFill/>
        </p:spPr>
        <p:txBody>
          <a:bodyPr wrap="square" lIns="0" tIns="0" rIns="0" bIns="0" rtlCol="0" anchor="t"/>
          <a:lstStyle/>
          <a:p>
            <a:pPr marL="0" indent="0">
              <a:spcAft>
                <a:spcPts val="600"/>
              </a:spcAft>
              <a:buNone/>
            </a:pPr>
            <a:r>
              <a:rPr lang="en-US" sz="1400" dirty="0">
                <a:solidFill>
                  <a:srgbClr val="3D4A57"/>
                </a:solidFill>
                <a:latin typeface="Arial" panose="020B0604020202020204" pitchFamily="34" charset="0"/>
                <a:ea typeface="Arial" panose="020B0604020202020204" pitchFamily="34" charset="-122"/>
                <a:cs typeface="Arial" panose="020B0604020202020204" pitchFamily="34" charset="-120"/>
              </a:rPr>
              <a:t>Write the rule that centres a block with a maximum width of 900px.</a:t>
            </a:r>
            <a:endParaRPr lang="en-US" sz="1400" dirty="0"/>
          </a:p>
        </p:txBody>
      </p:sp>
      <p:sp>
        <p:nvSpPr>
          <p:cNvPr id="25" name="Text 23"/>
          <p:cNvSpPr txBox="1"/>
          <p:nvPr/>
        </p:nvSpPr>
        <p:spPr>
          <a:xfrm>
            <a:off x="548640" y="5120640"/>
            <a:ext cx="6492240" cy="457200"/>
          </a:xfrm>
          <a:prstGeom prst="rect">
            <a:avLst/>
          </a:prstGeom>
          <a:noFill/>
        </p:spPr>
        <p:txBody>
          <a:bodyPr wrap="square" lIns="0" tIns="0" rIns="0" bIns="0" rtlCol="0" anchor="t"/>
          <a:lstStyle/>
          <a:p>
            <a:pPr marL="0" indent="0" algn="l">
              <a:lnSpc>
                <a:spcPts val="1825"/>
              </a:lnSpc>
              <a:buNone/>
            </a:pPr>
            <a:r>
              <a:rPr lang="en-US" sz="1350" i="1" dirty="0">
                <a:solidFill>
                  <a:srgbClr val="003366"/>
                </a:solidFill>
                <a:latin typeface="Arial" panose="020B0604020202020204" pitchFamily="34" charset="0"/>
                <a:ea typeface="Arial" panose="020B0604020202020204" pitchFamily="34" charset="-122"/>
                <a:cs typeface="Arial" panose="020B0604020202020204" pitchFamily="34" charset="-120"/>
              </a:rPr>
              <a:t>Next class (C4): a practice session. You debug broken layouts and rebuild a page from a target design.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12737</Words>
  <Application>WPS Presentation</Application>
  <PresentationFormat>On-screen Show (16:9)</PresentationFormat>
  <Paragraphs>820</Paragraphs>
  <Slides>23</Slides>
  <Notes>23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23</vt:i4>
      </vt:variant>
    </vt:vector>
  </HeadingPairs>
  <TitlesOfParts>
    <vt:vector size="35" baseType="lpstr">
      <vt:lpstr>Arial</vt:lpstr>
      <vt:lpstr>SimSun</vt:lpstr>
      <vt:lpstr>Wingdings</vt:lpstr>
      <vt:lpstr>Arial</vt:lpstr>
      <vt:lpstr>Arial</vt:lpstr>
      <vt:lpstr>Courier New</vt:lpstr>
      <vt:lpstr>Courier New</vt:lpstr>
      <vt:lpstr>Courier New</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International Islamic University Chittagong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W2C3 CSS Fundamentals and the Box Model</dc:title>
  <dc:creator>Md Sadman Hafiz</dc:creator>
  <dc:subject>CSS fundamentals</dc:subject>
  <cp:lastModifiedBy>Nitro Gaming</cp:lastModifiedBy>
  <cp:revision>2</cp:revision>
  <dcterms:created xsi:type="dcterms:W3CDTF">2026-09-05T17:50:00Z</dcterms:created>
  <dcterms:modified xsi:type="dcterms:W3CDTF">2026-09-12T10:12:38Z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D1AD70D9F6204CE1BDD5596602297E70_12</vt:lpwstr>
  </property>
  <property fmtid="{D5CDD505-2E9C-101B-9397-08002B2CF9AE}" pid="3" name="KSOProductBuildVer">
    <vt:lpwstr>2057-12.2.0.23206</vt:lpwstr>
  </property>
</Properties>
</file>