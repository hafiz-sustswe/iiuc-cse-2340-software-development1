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deck for both classes of the day. C1 is the teaching class (slides 2-25), C2 is the practice class (slides 26-33). Mini Project 1 is evaluated in C4 this week, so keep pointing at it. Students need their Week 2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The fourth recall question is the hook: last week getting a button to sit on the right was painful. Today that becomes one line. Say it now and they will pay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 min. Show the Exercise 4 solution from last week with the absolute positioning, then replace it live with three lines of Flexbox. The contrast does the teaching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8-12 min. Draw the two axes on the whiteboard and leave them. Almost every Flexbox confusion is a student using justify-content when they meant align-items. Point at the board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min. Open flexbox-demo.html and change the value live while students watch the boxes move. Do not read the list - show it. Thirty seconds per value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15-18 min. gap replaced margin hacks and students should use it everywhere. Mention that flex-direction: column swaps the axes, so justify-content then controls vertical position - that surprises everyone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18-21 min. Keep it to flex: 1 and flex: 0 0 Npx. The three-value shorthand in full is not worth the confusion at this level; they can look it up when they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21-26 min. Build it on the Week 2 page so they see their own work improve. flex: 1 1 280px is the single most useful line of the day - the cards wrap automatically with no media query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min. Transition. Do not let students think Grid replaces Flexbox. They are partners: Grid for the page skeleton, Flexbox for the contents of each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26-30 min. fr is new to them and is the reason Grid feels easy. Show 2fr 1fr changing the proportion live. Stress that fr handles the gap for you, which percentages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30-33 min. Demonstrate by dragging the browser edge. This is the slide students photograph. Tell them it is allowed in Mini Project 1 and that it covers most of the responsive requirement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33-35 min. Students want a rule saying one is better. There is not one. Give them the one-line-versus-slots question and move on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min. Ask how many students browse mostly on a phone. Every hand goes up. That is the argument made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35-39 min. The viewport meta tag has been in their files since Week 1 - now they learn what it does. Delete it live and reload on a phone-sized window to show the shrinking.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39-43 min. Teach device mode now - students will need it for every remaining project. Emphasise: add a breakpoint where YOUR layout breaks, not at a number from a blog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43-48 min. Build this on the Week 2 page. Note the header goes column on a phone and row on a tablet - one property, two lines. Keep DevTools device mode open the whole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48-50 min of C1. Exit questions: name one thing Flexbox does better than Grid, and write the auto-fit line from memory. Then release them; C2 continues from slide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of C2. Say the shape of the class out loud: I talk for seven minutes, you build for thirty-five. Students who missed C1 pair up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min of C2. Point hard at the MP1 deadline. Students who treat today seriously finish MP1 tonight; students who drift will be building it on Thursday at midnight.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flex badge live - most students have never noticed it. The overlay showing the main axis ends most justify-content confusion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7-19 min. Do not give answers. Ask: which element is the container? which axis? Bug 8 is the only one not in the CSS, and students hunt for it for a long time - that is intentional.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19-27 min. The written answers matter. A student who can say why auto-fit removes the need for a media query has understood the most useful idea of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27-35 min. Insist on min-width. Mixing min and max in one stylesheet is where students lose an hour, and it is worth enforcing the habit now rather than debugging it in MP1.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35-42 min. Say openly that this is MP1 practice. The strongest students will effectively finish MP1 in this exercise, and that is a good outcome, not cheating - the evaluation is a live demonstration and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42-48 min. Fix two or three live. The parent-versus-child mistake and the axis confusion will be the most common by a wide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 min. Read the MP1 line twice. Submission is the repository URL plus the deployed URL, before C4, not during it. Students who submit late are evaluated with whatever is deployed at the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48-50 min. Answer 2 is grid-template-columns: repeat(auto-fit, minmax(260px, 1fr)). Accept any sensible minimum. Close by reminding them MP1 submission is before C4, not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0A4A85"/>
          </a:solidFill>
          <a:ln w="12700">
            <a:solidFill>
              <a:srgbClr val="0A4A85"/>
            </a:solidFill>
            <a:prstDash val="solid"/>
          </a:ln>
        </p:spPr>
      </p:sp>
      <p:sp>
        <p:nvSpPr>
          <p:cNvPr id="3" name="Shape 1"/>
          <p:cNvSpPr/>
          <p:nvPr/>
        </p:nvSpPr>
        <p:spPr>
          <a:xfrm>
            <a:off x="10607040" y="4206240"/>
            <a:ext cx="3108960" cy="3108960"/>
          </a:xfrm>
          <a:prstGeom prst="ellipse">
            <a:avLst/>
          </a:prstGeom>
          <a:solidFill>
            <a:srgbClr val="07386A"/>
          </a:solidFill>
          <a:ln w="12700">
            <a:solidFill>
              <a:srgbClr val="07386A"/>
            </a:solidFill>
            <a:prstDash val="solid"/>
          </a:ln>
        </p:spPr>
      </p:sp>
      <p:sp>
        <p:nvSpPr>
          <p:cNvPr id="4" name="Text 2"/>
          <p:cNvSpPr txBox="1"/>
          <p:nvPr/>
        </p:nvSpPr>
        <p:spPr>
          <a:xfrm>
            <a:off x="548640" y="777240"/>
            <a:ext cx="8686800" cy="274320"/>
          </a:xfrm>
          <a:prstGeom prst="rect">
            <a:avLst/>
          </a:prstGeom>
          <a:noFill/>
          <a:ln/>
        </p:spPr>
        <p:txBody>
          <a:bodyPr wrap="square" lIns="0" tIns="0" rIns="0" bIns="0" rtlCol="0" anchor="ctr"/>
          <a:lstStyle/>
          <a:p>
            <a:pPr indent="0" marL="0">
              <a:buNone/>
            </a:pPr>
            <a:r>
              <a:rPr lang="en-US" sz="1200" b="1" spc="150" kern="0" dirty="0">
                <a:solidFill>
                  <a:srgbClr val="E39A18"/>
                </a:solidFill>
                <a:latin typeface="Arial" pitchFamily="34" charset="0"/>
                <a:ea typeface="Arial" pitchFamily="34" charset="-122"/>
                <a:cs typeface="Arial" pitchFamily="34" charset="-120"/>
              </a:rPr>
              <a:t>INTERNATIONAL ISLAMIC UNIVERSITY CHITTAGONG</a:t>
            </a:r>
            <a:endParaRPr lang="en-US" sz="1200" dirty="0"/>
          </a:p>
        </p:txBody>
      </p:sp>
      <p:sp>
        <p:nvSpPr>
          <p:cNvPr id="5" name="Text 3"/>
          <p:cNvSpPr txBox="1"/>
          <p:nvPr/>
        </p:nvSpPr>
        <p:spPr>
          <a:xfrm>
            <a:off x="548640" y="1078992"/>
            <a:ext cx="8686800" cy="274320"/>
          </a:xfrm>
          <a:prstGeom prst="rect">
            <a:avLst/>
          </a:prstGeom>
          <a:noFill/>
          <a:ln/>
        </p:spPr>
        <p:txBody>
          <a:bodyPr wrap="square" lIns="0" tIns="0" rIns="0" bIns="0" rtlCol="0" anchor="ctr"/>
          <a:lstStyle/>
          <a:p>
            <a:pPr indent="0" marL="0">
              <a:buNone/>
            </a:pPr>
            <a:r>
              <a:rPr lang="en-US" sz="1200" dirty="0">
                <a:solidFill>
                  <a:srgbClr val="BFD3E6"/>
                </a:solidFill>
                <a:latin typeface="Arial" pitchFamily="34" charset="0"/>
                <a:ea typeface="Arial" pitchFamily="34" charset="-122"/>
                <a:cs typeface="Arial" pitchFamily="34" charset="-120"/>
              </a:rPr>
              <a:t>Department of Computer Science and Engineering</a:t>
            </a:r>
            <a:endParaRPr lang="en-US" sz="1200" dirty="0"/>
          </a:p>
        </p:txBody>
      </p:sp>
      <p:sp>
        <p:nvSpPr>
          <p:cNvPr id="6" name="Text 4"/>
          <p:cNvSpPr txBox="1"/>
          <p:nvPr/>
        </p:nvSpPr>
        <p:spPr>
          <a:xfrm>
            <a:off x="548640" y="1828800"/>
            <a:ext cx="868680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CSE-2340: Software Development 1</a:t>
            </a:r>
            <a:endParaRPr lang="en-US" sz="1800" dirty="0"/>
          </a:p>
        </p:txBody>
      </p:sp>
      <p:sp>
        <p:nvSpPr>
          <p:cNvPr id="7" name="Text 5"/>
          <p:cNvSpPr txBox="1"/>
          <p:nvPr/>
        </p:nvSpPr>
        <p:spPr>
          <a:xfrm>
            <a:off x="548640" y="2331720"/>
            <a:ext cx="8778240" cy="137160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Flexbox, Grid &amp; Responsive Design</a:t>
            </a:r>
            <a:endParaRPr lang="en-US" sz="4200" dirty="0"/>
          </a:p>
        </p:txBody>
      </p:sp>
      <p:sp>
        <p:nvSpPr>
          <p:cNvPr id="8" name="Text 6"/>
          <p:cNvSpPr txBox="1"/>
          <p:nvPr/>
        </p:nvSpPr>
        <p:spPr>
          <a:xfrm>
            <a:off x="548640" y="3794760"/>
            <a:ext cx="8778240" cy="365760"/>
          </a:xfrm>
          <a:prstGeom prst="rect">
            <a:avLst/>
          </a:prstGeom>
          <a:noFill/>
          <a:ln/>
        </p:spPr>
        <p:txBody>
          <a:bodyPr wrap="square" lIns="0" tIns="0" rIns="0" bIns="0" rtlCol="0" anchor="ctr"/>
          <a:lstStyle/>
          <a:p>
            <a:pPr indent="0" marL="0">
              <a:buNone/>
            </a:pPr>
            <a:r>
              <a:rPr lang="en-US" sz="1500" i="1" dirty="0">
                <a:solidFill>
                  <a:srgbClr val="9FC0DE"/>
                </a:solidFill>
                <a:latin typeface="Arial" pitchFamily="34" charset="0"/>
                <a:ea typeface="Arial" pitchFamily="34" charset="-122"/>
                <a:cs typeface="Arial" pitchFamily="34" charset="-120"/>
              </a:rPr>
              <a:t>Week 3 · Class 1 (teaching) + Class 2 (practice) · Mobile-first layout</a:t>
            </a:r>
            <a:endParaRPr lang="en-US" sz="1500" dirty="0"/>
          </a:p>
        </p:txBody>
      </p:sp>
      <p:sp>
        <p:nvSpPr>
          <p:cNvPr id="9" name="Shape 7"/>
          <p:cNvSpPr/>
          <p:nvPr/>
        </p:nvSpPr>
        <p:spPr>
          <a:xfrm>
            <a:off x="548640" y="4434840"/>
            <a:ext cx="1005840" cy="32004"/>
          </a:xfrm>
          <a:prstGeom prst="rect">
            <a:avLst/>
          </a:prstGeom>
          <a:solidFill>
            <a:srgbClr val="E39A18"/>
          </a:solidFill>
          <a:ln w="12700">
            <a:solidFill>
              <a:srgbClr val="E39A18"/>
            </a:solidFill>
            <a:prstDash val="solid"/>
          </a:ln>
        </p:spPr>
      </p:sp>
      <p:sp>
        <p:nvSpPr>
          <p:cNvPr id="10" name="Text 8"/>
          <p:cNvSpPr txBox="1"/>
          <p:nvPr/>
        </p:nvSpPr>
        <p:spPr>
          <a:xfrm>
            <a:off x="548640" y="4709160"/>
            <a:ext cx="731520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Md Sadman Hafiz</a:t>
            </a:r>
            <a:endParaRPr lang="en-US" sz="1700" dirty="0"/>
          </a:p>
        </p:txBody>
      </p:sp>
      <p:sp>
        <p:nvSpPr>
          <p:cNvPr id="11" name="Text 9"/>
          <p:cNvSpPr txBox="1"/>
          <p:nvPr/>
        </p:nvSpPr>
        <p:spPr>
          <a:xfrm>
            <a:off x="548640" y="5029200"/>
            <a:ext cx="7315200" cy="274320"/>
          </a:xfrm>
          <a:prstGeom prst="rect">
            <a:avLst/>
          </a:prstGeom>
          <a:noFill/>
          <a:ln/>
        </p:spPr>
        <p:txBody>
          <a:bodyPr wrap="square" lIns="0" tIns="0" rIns="0" bIns="0" rtlCol="0" anchor="ctr"/>
          <a:lstStyle/>
          <a:p>
            <a:pPr indent="0" marL="0">
              <a:buNone/>
            </a:pPr>
            <a:r>
              <a:rPr lang="en-US" sz="1300" dirty="0">
                <a:solidFill>
                  <a:srgbClr val="BFD3E6"/>
                </a:solidFill>
                <a:latin typeface="Arial" pitchFamily="34" charset="0"/>
                <a:ea typeface="Arial" pitchFamily="34" charset="-122"/>
                <a:cs typeface="Arial" pitchFamily="34" charset="-120"/>
              </a:rPr>
              <a:t>Lecturer, Dept. of CSE, IIUC</a:t>
            </a:r>
            <a:endParaRPr lang="en-US" sz="1300" dirty="0"/>
          </a:p>
        </p:txBody>
      </p:sp>
      <p:sp>
        <p:nvSpPr>
          <p:cNvPr id="12" name="Text 10"/>
          <p:cNvSpPr txBox="1"/>
          <p:nvPr/>
        </p:nvSpPr>
        <p:spPr>
          <a:xfrm>
            <a:off x="548640" y="5715000"/>
            <a:ext cx="7315200" cy="274320"/>
          </a:xfrm>
          <a:prstGeom prst="rect">
            <a:avLst/>
          </a:prstGeom>
          <a:noFill/>
          <a:ln/>
        </p:spPr>
        <p:txBody>
          <a:bodyPr wrap="square" lIns="0" tIns="0" rIns="0" bIns="0" rtlCol="0" anchor="ctr"/>
          <a:lstStyle/>
          <a:p>
            <a:pPr indent="0" marL="0">
              <a:buNone/>
            </a:pPr>
            <a:r>
              <a:rPr lang="en-US" sz="1200" dirty="0">
                <a:solidFill>
                  <a:srgbClr val="8FB3D4"/>
                </a:solidFill>
                <a:latin typeface="Arial" pitchFamily="34" charset="0"/>
                <a:ea typeface="Arial" pitchFamily="34" charset="-122"/>
                <a:cs typeface="Arial" pitchFamily="34" charset="-120"/>
              </a:rPr>
              <a:t>Autumn 2026  |  two 50-minute classes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0-5 MINUTES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Recall &amp; Today's Outcome</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a:t>
            </a:r>
            <a:endParaRPr lang="en-US" sz="900" dirty="0"/>
          </a:p>
        </p:txBody>
      </p:sp>
      <p:sp>
        <p:nvSpPr>
          <p:cNvPr id="6" name="Shape 4"/>
          <p:cNvSpPr/>
          <p:nvPr/>
        </p:nvSpPr>
        <p:spPr>
          <a:xfrm>
            <a:off x="548640" y="1417320"/>
            <a:ext cx="5486400" cy="4480560"/>
          </a:xfrm>
          <a:prstGeom prst="roundRect">
            <a:avLst>
              <a:gd name="adj" fmla="val 1633"/>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7" name="Shape 5"/>
          <p:cNvSpPr/>
          <p:nvPr/>
        </p:nvSpPr>
        <p:spPr>
          <a:xfrm>
            <a:off x="749808" y="161848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618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9" name="Text 7"/>
          <p:cNvSpPr txBox="1"/>
          <p:nvPr/>
        </p:nvSpPr>
        <p:spPr>
          <a:xfrm>
            <a:off x="1261872" y="1645920"/>
            <a:ext cx="457200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Recall from Week 2</a:t>
            </a:r>
            <a:endParaRPr lang="en-US" sz="1700" dirty="0"/>
          </a:p>
        </p:txBody>
      </p:sp>
      <p:sp>
        <p:nvSpPr>
          <p:cNvPr id="10" name="Text 8"/>
          <p:cNvSpPr txBox="1"/>
          <p:nvPr/>
        </p:nvSpPr>
        <p:spPr>
          <a:xfrm>
            <a:off x="804672" y="2039112"/>
            <a:ext cx="4974336" cy="3694176"/>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3D4A57"/>
                </a:solidFill>
                <a:latin typeface="Arial" pitchFamily="34" charset="0"/>
                <a:ea typeface="Arial" pitchFamily="34" charset="-122"/>
                <a:cs typeface="Arial" pitchFamily="34" charset="-120"/>
              </a:rPr>
              <a:t>What does box-sizing: border-box change?</a:t>
            </a:r>
            <a:endParaRPr lang="en-US" sz="1500" dirty="0"/>
          </a:p>
          <a:p>
            <a:pPr marL="342900" indent="-342900">
              <a:spcAft>
                <a:spcPts val="1400"/>
              </a:spcAft>
              <a:buSzPct val="100000"/>
              <a:buChar char="•"/>
            </a:pPr>
            <a:r>
              <a:rPr lang="en-US" sz="1500" dirty="0">
                <a:solidFill>
                  <a:srgbClr val="3D4A57"/>
                </a:solidFill>
                <a:latin typeface="Arial" pitchFamily="34" charset="0"/>
                <a:ea typeface="Arial" pitchFamily="34" charset="-122"/>
                <a:cs typeface="Arial" pitchFamily="34" charset="-120"/>
              </a:rPr>
              <a:t>Why does width do nothing on a span?</a:t>
            </a:r>
            <a:endParaRPr lang="en-US" sz="1500" dirty="0"/>
          </a:p>
          <a:p>
            <a:pPr marL="342900" indent="-342900">
              <a:spcAft>
                <a:spcPts val="1400"/>
              </a:spcAft>
              <a:buSzPct val="100000"/>
              <a:buChar char="•"/>
            </a:pPr>
            <a:r>
              <a:rPr lang="en-US" sz="1500" dirty="0">
                <a:solidFill>
                  <a:srgbClr val="3D4A57"/>
                </a:solidFill>
                <a:latin typeface="Arial" pitchFamily="34" charset="0"/>
                <a:ea typeface="Arial" pitchFamily="34" charset="-122"/>
                <a:cs typeface="Arial" pitchFamily="34" charset="-120"/>
              </a:rPr>
              <a:t>How do you centre a block with a max-width?</a:t>
            </a:r>
            <a:endParaRPr lang="en-US" sz="1500" dirty="0"/>
          </a:p>
          <a:p>
            <a:pPr marL="342900" indent="-342900">
              <a:spcAft>
                <a:spcPts val="1400"/>
              </a:spcAft>
              <a:buSzPct val="100000"/>
              <a:buChar char="•"/>
            </a:pPr>
            <a:r>
              <a:rPr lang="en-US" sz="1500" dirty="0">
                <a:solidFill>
                  <a:srgbClr val="3D4A57"/>
                </a:solidFill>
                <a:latin typeface="Arial" pitchFamily="34" charset="0"/>
                <a:ea typeface="Arial" pitchFamily="34" charset="-122"/>
                <a:cs typeface="Arial" pitchFamily="34" charset="-120"/>
              </a:rPr>
              <a:t>Remember the Open button in Exercise 4?</a:t>
            </a:r>
            <a:endParaRPr lang="en-US" sz="1500" dirty="0"/>
          </a:p>
        </p:txBody>
      </p:sp>
      <p:sp>
        <p:nvSpPr>
          <p:cNvPr id="11" name="Shape 9"/>
          <p:cNvSpPr/>
          <p:nvPr/>
        </p:nvSpPr>
        <p:spPr>
          <a:xfrm>
            <a:off x="6309360" y="1417320"/>
            <a:ext cx="5303520" cy="4480560"/>
          </a:xfrm>
          <a:prstGeom prst="roundRect">
            <a:avLst>
              <a:gd name="adj" fmla="val 1633"/>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2" name="Shape 10"/>
          <p:cNvSpPr/>
          <p:nvPr/>
        </p:nvSpPr>
        <p:spPr>
          <a:xfrm>
            <a:off x="6510528" y="161848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6510528" y="1618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4" name="Text 12"/>
          <p:cNvSpPr txBox="1"/>
          <p:nvPr/>
        </p:nvSpPr>
        <p:spPr>
          <a:xfrm>
            <a:off x="7022592" y="1645920"/>
            <a:ext cx="43891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By the end of today you can</a:t>
            </a:r>
            <a:endParaRPr lang="en-US" sz="1700" dirty="0"/>
          </a:p>
        </p:txBody>
      </p:sp>
      <p:sp>
        <p:nvSpPr>
          <p:cNvPr id="15" name="Text 13"/>
          <p:cNvSpPr txBox="1"/>
          <p:nvPr/>
        </p:nvSpPr>
        <p:spPr>
          <a:xfrm>
            <a:off x="6565392" y="2039112"/>
            <a:ext cx="4791456" cy="3694176"/>
          </a:xfrm>
          <a:prstGeom prst="rect">
            <a:avLst/>
          </a:prstGeom>
          <a:noFill/>
          <a:ln/>
        </p:spPr>
        <p:txBody>
          <a:bodyPr wrap="square" lIns="0" tIns="0" rIns="0" bIns="0" rtlCol="0" anchor="t"/>
          <a:lstStyle/>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Lay out a row or column with Flexbox</a:t>
            </a:r>
            <a:endParaRPr lang="en-US" sz="1500" dirty="0"/>
          </a:p>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Build a two-dimensional layout with Grid</a:t>
            </a:r>
            <a:endParaRPr lang="en-US" sz="1500" dirty="0"/>
          </a:p>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Choose correctly between the two</a:t>
            </a:r>
            <a:endParaRPr lang="en-US" sz="1500" dirty="0"/>
          </a:p>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Write mobile-first media queries</a:t>
            </a:r>
            <a:endParaRPr lang="en-US" sz="1500" dirty="0"/>
          </a:p>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Make a page work from 360px to 1440px</a:t>
            </a:r>
            <a:endParaRPr lang="en-US" sz="1500" dirty="0"/>
          </a:p>
          <a:p>
            <a:pPr marL="342900" indent="-342900">
              <a:spcAft>
                <a:spcPts val="1100"/>
              </a:spcAft>
              <a:buSzPct val="100000"/>
              <a:buChar char="•"/>
            </a:pPr>
            <a:r>
              <a:rPr lang="en-US" sz="1500" dirty="0">
                <a:solidFill>
                  <a:srgbClr val="3D4A57"/>
                </a:solidFill>
                <a:latin typeface="Arial" pitchFamily="34" charset="0"/>
                <a:ea typeface="Arial" pitchFamily="34" charset="-122"/>
                <a:cs typeface="Arial" pitchFamily="34" charset="-120"/>
              </a:rPr>
              <a:t>Inspect and debug layout in DevTools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CONCEPT</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The Problem Flexbox Solves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3</a:t>
            </a:r>
            <a:endParaRPr lang="en-US" sz="900" dirty="0"/>
          </a:p>
        </p:txBody>
      </p:sp>
      <p:sp>
        <p:nvSpPr>
          <p:cNvPr id="6" name="Text 4"/>
          <p:cNvSpPr txBox="1"/>
          <p:nvPr/>
        </p:nvSpPr>
        <p:spPr>
          <a:xfrm>
            <a:off x="548640" y="1325880"/>
            <a:ext cx="5486400" cy="256032"/>
          </a:xfrm>
          <a:prstGeom prst="rect">
            <a:avLst/>
          </a:prstGeom>
          <a:noFill/>
          <a:ln/>
        </p:spPr>
        <p:txBody>
          <a:bodyPr wrap="square" lIns="0" tIns="0" rIns="0" bIns="0" rtlCol="0" anchor="ctr"/>
          <a:lstStyle/>
          <a:p>
            <a:pPr indent="0" marL="0">
              <a:buNone/>
            </a:pPr>
            <a:r>
              <a:rPr lang="en-US" sz="1200" b="1" spc="60" kern="0" dirty="0">
                <a:solidFill>
                  <a:srgbClr val="B3261E"/>
                </a:solidFill>
                <a:latin typeface="Arial" pitchFamily="34" charset="0"/>
                <a:ea typeface="Arial" pitchFamily="34" charset="-122"/>
                <a:cs typeface="Arial" pitchFamily="34" charset="-120"/>
              </a:rPr>
              <a:t>LAST WEEK — the hard way</a:t>
            </a:r>
            <a:endParaRPr lang="en-US" sz="1200" dirty="0"/>
          </a:p>
        </p:txBody>
      </p:sp>
      <p:sp>
        <p:nvSpPr>
          <p:cNvPr id="7" name="Shape 5"/>
          <p:cNvSpPr/>
          <p:nvPr/>
        </p:nvSpPr>
        <p:spPr>
          <a:xfrm>
            <a:off x="548640" y="1600200"/>
            <a:ext cx="5486400" cy="2330704"/>
          </a:xfrm>
          <a:prstGeom prst="roundRect">
            <a:avLst>
              <a:gd name="adj" fmla="val 2354"/>
            </a:avLst>
          </a:prstGeom>
          <a:solidFill>
            <a:srgbClr val="0D1B2A"/>
          </a:solidFill>
          <a:ln w="12700">
            <a:solidFill>
              <a:srgbClr val="0D1B2A"/>
            </a:solidFill>
            <a:prstDash val="solid"/>
          </a:ln>
        </p:spPr>
      </p:sp>
      <p:sp>
        <p:nvSpPr>
          <p:cNvPr id="8" name="Text 6"/>
          <p:cNvSpPr txBox="1"/>
          <p:nvPr/>
        </p:nvSpPr>
        <p:spPr>
          <a:xfrm>
            <a:off x="658368" y="1709928"/>
            <a:ext cx="5266944" cy="2111248"/>
          </a:xfrm>
          <a:prstGeom prst="rect">
            <a:avLst/>
          </a:prstGeom>
          <a:noFill/>
          <a:ln/>
        </p:spPr>
        <p:txBody>
          <a:bodyPr wrap="square" lIns="0" tIns="0" rIns="0" bIns="0" rtlCol="0" anchor="t"/>
          <a:lstStyle/>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.card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position</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relative;</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padding-right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120px;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.btn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position</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absolute;</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right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20px;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top</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50%;</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 and it still breaks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9" name="Text 7"/>
          <p:cNvSpPr txBox="1"/>
          <p:nvPr/>
        </p:nvSpPr>
        <p:spPr>
          <a:xfrm>
            <a:off x="6309360" y="1325880"/>
            <a:ext cx="5303520" cy="256032"/>
          </a:xfrm>
          <a:prstGeom prst="rect">
            <a:avLst/>
          </a:prstGeom>
          <a:noFill/>
          <a:ln/>
        </p:spPr>
        <p:txBody>
          <a:bodyPr wrap="square" lIns="0" tIns="0" rIns="0" bIns="0" rtlCol="0" anchor="ctr"/>
          <a:lstStyle/>
          <a:p>
            <a:pPr indent="0" marL="0">
              <a:buNone/>
            </a:pPr>
            <a:r>
              <a:rPr lang="en-US" sz="1200" b="1" spc="60" kern="0" dirty="0">
                <a:solidFill>
                  <a:srgbClr val="1F7A55"/>
                </a:solidFill>
                <a:latin typeface="Arial" pitchFamily="34" charset="0"/>
                <a:ea typeface="Arial" pitchFamily="34" charset="-122"/>
                <a:cs typeface="Arial" pitchFamily="34" charset="-120"/>
              </a:rPr>
              <a:t>TODAY — the same result</a:t>
            </a:r>
            <a:endParaRPr lang="en-US" sz="1200" dirty="0"/>
          </a:p>
        </p:txBody>
      </p:sp>
      <p:sp>
        <p:nvSpPr>
          <p:cNvPr id="10" name="Shape 8"/>
          <p:cNvSpPr/>
          <p:nvPr/>
        </p:nvSpPr>
        <p:spPr>
          <a:xfrm>
            <a:off x="6309360" y="1600200"/>
            <a:ext cx="5303520" cy="1209040"/>
          </a:xfrm>
          <a:prstGeom prst="roundRect">
            <a:avLst>
              <a:gd name="adj" fmla="val 4538"/>
            </a:avLst>
          </a:prstGeom>
          <a:solidFill>
            <a:srgbClr val="0D1B2A"/>
          </a:solidFill>
          <a:ln w="12700">
            <a:solidFill>
              <a:srgbClr val="0D1B2A"/>
            </a:solidFill>
            <a:prstDash val="solid"/>
          </a:ln>
        </p:spPr>
      </p:sp>
      <p:sp>
        <p:nvSpPr>
          <p:cNvPr id="11" name="Text 9"/>
          <p:cNvSpPr txBox="1"/>
          <p:nvPr/>
        </p:nvSpPr>
        <p:spPr>
          <a:xfrm>
            <a:off x="6419088" y="1709928"/>
            <a:ext cx="5084064" cy="989584"/>
          </a:xfrm>
          <a:prstGeom prst="rect">
            <a:avLst/>
          </a:prstGeom>
          <a:noFill/>
          <a:ln/>
        </p:spPr>
        <p:txBody>
          <a:bodyPr wrap="square" lIns="0" tIns="0" rIns="0" bIns="0" rtlCol="0" anchor="t"/>
          <a:lstStyle/>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.card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display</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flex;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justify-content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space-between;</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align-items</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center;</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12" name="Shape 10"/>
          <p:cNvSpPr/>
          <p:nvPr/>
        </p:nvSpPr>
        <p:spPr>
          <a:xfrm>
            <a:off x="548640" y="3931920"/>
            <a:ext cx="11064240" cy="2011680"/>
          </a:xfrm>
          <a:prstGeom prst="roundRect">
            <a:avLst>
              <a:gd name="adj" fmla="val 3636"/>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13" name="Shape 11"/>
          <p:cNvSpPr/>
          <p:nvPr/>
        </p:nvSpPr>
        <p:spPr>
          <a:xfrm>
            <a:off x="749808" y="4133088"/>
            <a:ext cx="384048" cy="384048"/>
          </a:xfrm>
          <a:prstGeom prst="ellipse">
            <a:avLst/>
          </a:prstGeom>
          <a:solidFill>
            <a:srgbClr val="1F7A55"/>
          </a:solidFill>
          <a:ln w="12700">
            <a:solidFill>
              <a:srgbClr val="1F7A55"/>
            </a:solidFill>
            <a:prstDash val="solid"/>
          </a:ln>
        </p:spPr>
      </p:sp>
      <p:sp>
        <p:nvSpPr>
          <p:cNvPr id="14" name="Text 12"/>
          <p:cNvSpPr txBox="1"/>
          <p:nvPr/>
        </p:nvSpPr>
        <p:spPr>
          <a:xfrm>
            <a:off x="749808" y="41330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1261872" y="4160520"/>
            <a:ext cx="101498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Flexbox and Grid exist because the box model alone cannot arrange things</a:t>
            </a:r>
            <a:endParaRPr lang="en-US" sz="1700" dirty="0"/>
          </a:p>
        </p:txBody>
      </p:sp>
      <p:sp>
        <p:nvSpPr>
          <p:cNvPr id="16" name="Text 14"/>
          <p:cNvSpPr txBox="1"/>
          <p:nvPr/>
        </p:nvSpPr>
        <p:spPr>
          <a:xfrm>
            <a:off x="804672" y="4553712"/>
            <a:ext cx="10552176" cy="12252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D4A57"/>
                </a:solidFill>
                <a:latin typeface="Arial" pitchFamily="34" charset="0"/>
                <a:ea typeface="Arial" pitchFamily="34" charset="-122"/>
                <a:cs typeface="Arial" pitchFamily="34" charset="-120"/>
              </a:rPr>
              <a:t>The box model tells one element how much space to take. It says nothing about how several elements sit next to each other.</a:t>
            </a:r>
            <a:endParaRPr lang="en-US" sz="1350" dirty="0"/>
          </a:p>
          <a:p>
            <a:pPr marL="342900" indent="-342900">
              <a:spcAft>
                <a:spcPts val="400"/>
              </a:spcAft>
              <a:buSzPct val="100000"/>
              <a:buChar char="•"/>
            </a:pPr>
            <a:r>
              <a:rPr lang="en-US" sz="1350" dirty="0">
                <a:solidFill>
                  <a:srgbClr val="3D4A57"/>
                </a:solidFill>
                <a:latin typeface="Arial" pitchFamily="34" charset="0"/>
                <a:ea typeface="Arial" pitchFamily="34" charset="-122"/>
                <a:cs typeface="Arial" pitchFamily="34" charset="-120"/>
              </a:rPr>
              <a:t>Before 2015 people used floats and positioning for this, which is why old tutorials look so strange.</a:t>
            </a:r>
            <a:endParaRPr lang="en-US" sz="1350" dirty="0"/>
          </a:p>
          <a:p>
            <a:pPr marL="342900" indent="-342900">
              <a:spcAft>
                <a:spcPts val="400"/>
              </a:spcAft>
              <a:buSzPct val="100000"/>
              <a:buChar char="•"/>
            </a:pPr>
            <a:r>
              <a:rPr lang="en-US" sz="1350" dirty="0">
                <a:solidFill>
                  <a:srgbClr val="3D4A57"/>
                </a:solidFill>
                <a:latin typeface="Arial" pitchFamily="34" charset="0"/>
                <a:ea typeface="Arial" pitchFamily="34" charset="-122"/>
                <a:cs typeface="Arial" pitchFamily="34" charset="-120"/>
              </a:rPr>
              <a:t>Flexbox arranges things in ONE direction. Grid arranges them in TWO.</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FLEXBOX</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Flexbox: Container and Items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4</a:t>
            </a:r>
            <a:endParaRPr lang="en-US" sz="900" dirty="0"/>
          </a:p>
        </p:txBody>
      </p:sp>
      <p:sp>
        <p:nvSpPr>
          <p:cNvPr id="6" name="Shape 4"/>
          <p:cNvSpPr/>
          <p:nvPr/>
        </p:nvSpPr>
        <p:spPr>
          <a:xfrm>
            <a:off x="548640" y="1463040"/>
            <a:ext cx="6400800" cy="2103120"/>
          </a:xfrm>
          <a:prstGeom prst="roundRect">
            <a:avLst>
              <a:gd name="adj" fmla="val 3478"/>
            </a:avLst>
          </a:prstGeom>
          <a:solidFill>
            <a:srgbClr val="E8EEF4"/>
          </a:solidFill>
          <a:ln w="12700">
            <a:solidFill>
              <a:srgbClr val="003366"/>
            </a:solidFill>
            <a:prstDash val="dash"/>
          </a:ln>
        </p:spPr>
      </p:sp>
      <p:sp>
        <p:nvSpPr>
          <p:cNvPr id="7" name="Text 5"/>
          <p:cNvSpPr txBox="1"/>
          <p:nvPr/>
        </p:nvSpPr>
        <p:spPr>
          <a:xfrm>
            <a:off x="685800" y="1536192"/>
            <a:ext cx="4114800" cy="274320"/>
          </a:xfrm>
          <a:prstGeom prst="rect">
            <a:avLst/>
          </a:prstGeom>
          <a:noFill/>
          <a:ln/>
        </p:spPr>
        <p:txBody>
          <a:bodyPr wrap="square" lIns="0" tIns="0" rIns="0" bIns="0" rtlCol="0" anchor="ctr"/>
          <a:lstStyle/>
          <a:p>
            <a:pPr indent="0" marL="0">
              <a:buNone/>
            </a:pPr>
            <a:r>
              <a:rPr lang="en-US" sz="1150" b="1" dirty="0">
                <a:solidFill>
                  <a:srgbClr val="003366"/>
                </a:solidFill>
                <a:latin typeface="Courier New" pitchFamily="34" charset="0"/>
                <a:ea typeface="Courier New" pitchFamily="34" charset="-122"/>
                <a:cs typeface="Courier New" pitchFamily="34" charset="-120"/>
              </a:rPr>
              <a:t>the flex container  ·  display: flex</a:t>
            </a:r>
            <a:endParaRPr lang="en-US" sz="1150" dirty="0"/>
          </a:p>
        </p:txBody>
      </p:sp>
      <p:sp>
        <p:nvSpPr>
          <p:cNvPr id="8" name="Shape 6"/>
          <p:cNvSpPr/>
          <p:nvPr/>
        </p:nvSpPr>
        <p:spPr>
          <a:xfrm>
            <a:off x="914400" y="1965960"/>
            <a:ext cx="1691640" cy="1280160"/>
          </a:xfrm>
          <a:prstGeom prst="roundRect">
            <a:avLst>
              <a:gd name="adj" fmla="val 4286"/>
            </a:avLst>
          </a:prstGeom>
          <a:solidFill>
            <a:srgbClr val="003366"/>
          </a:solidFill>
          <a:ln w="12700">
            <a:solidFill>
              <a:srgbClr val="003366"/>
            </a:solidFill>
            <a:prstDash val="solid"/>
          </a:ln>
        </p:spPr>
      </p:sp>
      <p:sp>
        <p:nvSpPr>
          <p:cNvPr id="9" name="Text 7"/>
          <p:cNvSpPr txBox="1"/>
          <p:nvPr/>
        </p:nvSpPr>
        <p:spPr>
          <a:xfrm>
            <a:off x="914400" y="1965960"/>
            <a:ext cx="169164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item 1</a:t>
            </a:r>
            <a:endParaRPr lang="en-US" sz="1200" dirty="0"/>
          </a:p>
        </p:txBody>
      </p:sp>
      <p:sp>
        <p:nvSpPr>
          <p:cNvPr id="10" name="Shape 8"/>
          <p:cNvSpPr/>
          <p:nvPr/>
        </p:nvSpPr>
        <p:spPr>
          <a:xfrm>
            <a:off x="2834640" y="1965960"/>
            <a:ext cx="1691640" cy="1280160"/>
          </a:xfrm>
          <a:prstGeom prst="roundRect">
            <a:avLst>
              <a:gd name="adj" fmla="val 4286"/>
            </a:avLst>
          </a:prstGeom>
          <a:solidFill>
            <a:srgbClr val="003366"/>
          </a:solidFill>
          <a:ln w="12700">
            <a:solidFill>
              <a:srgbClr val="003366"/>
            </a:solidFill>
            <a:prstDash val="solid"/>
          </a:ln>
        </p:spPr>
      </p:sp>
      <p:sp>
        <p:nvSpPr>
          <p:cNvPr id="11" name="Text 9"/>
          <p:cNvSpPr txBox="1"/>
          <p:nvPr/>
        </p:nvSpPr>
        <p:spPr>
          <a:xfrm>
            <a:off x="2834640" y="1965960"/>
            <a:ext cx="169164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item 2</a:t>
            </a:r>
            <a:endParaRPr lang="en-US" sz="1200" dirty="0"/>
          </a:p>
        </p:txBody>
      </p:sp>
      <p:sp>
        <p:nvSpPr>
          <p:cNvPr id="12" name="Shape 10"/>
          <p:cNvSpPr/>
          <p:nvPr/>
        </p:nvSpPr>
        <p:spPr>
          <a:xfrm>
            <a:off x="4754880" y="1965960"/>
            <a:ext cx="1691640" cy="1280160"/>
          </a:xfrm>
          <a:prstGeom prst="roundRect">
            <a:avLst>
              <a:gd name="adj" fmla="val 4286"/>
            </a:avLst>
          </a:prstGeom>
          <a:solidFill>
            <a:srgbClr val="003366"/>
          </a:solidFill>
          <a:ln w="12700">
            <a:solidFill>
              <a:srgbClr val="003366"/>
            </a:solidFill>
            <a:prstDash val="solid"/>
          </a:ln>
        </p:spPr>
      </p:sp>
      <p:sp>
        <p:nvSpPr>
          <p:cNvPr id="13" name="Text 11"/>
          <p:cNvSpPr txBox="1"/>
          <p:nvPr/>
        </p:nvSpPr>
        <p:spPr>
          <a:xfrm>
            <a:off x="4754880" y="1965960"/>
            <a:ext cx="169164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item 3</a:t>
            </a:r>
            <a:endParaRPr lang="en-US" sz="1200" dirty="0"/>
          </a:p>
        </p:txBody>
      </p:sp>
      <p:sp>
        <p:nvSpPr>
          <p:cNvPr id="14" name="Shape 12"/>
          <p:cNvSpPr/>
          <p:nvPr/>
        </p:nvSpPr>
        <p:spPr>
          <a:xfrm>
            <a:off x="914400" y="3703320"/>
            <a:ext cx="5669280" cy="27432"/>
          </a:xfrm>
          <a:prstGeom prst="rect">
            <a:avLst/>
          </a:prstGeom>
          <a:solidFill>
            <a:srgbClr val="E39A18"/>
          </a:solidFill>
          <a:ln w="12700">
            <a:solidFill>
              <a:srgbClr val="E39A18"/>
            </a:solidFill>
            <a:prstDash val="solid"/>
          </a:ln>
        </p:spPr>
      </p:sp>
      <p:sp>
        <p:nvSpPr>
          <p:cNvPr id="15" name="Text 13"/>
          <p:cNvSpPr txBox="1"/>
          <p:nvPr/>
        </p:nvSpPr>
        <p:spPr>
          <a:xfrm>
            <a:off x="914400" y="3767328"/>
            <a:ext cx="5669280" cy="274320"/>
          </a:xfrm>
          <a:prstGeom prst="rect">
            <a:avLst/>
          </a:prstGeom>
          <a:noFill/>
          <a:ln/>
        </p:spPr>
        <p:txBody>
          <a:bodyPr wrap="square" lIns="0" tIns="0" rIns="0" bIns="0" rtlCol="0" anchor="ctr"/>
          <a:lstStyle/>
          <a:p>
            <a:pPr indent="0" marL="0">
              <a:buNone/>
            </a:pPr>
            <a:r>
              <a:rPr lang="en-US" sz="1200" b="1" dirty="0">
                <a:solidFill>
                  <a:srgbClr val="8A5A05"/>
                </a:solidFill>
                <a:latin typeface="Arial" pitchFamily="34" charset="0"/>
                <a:ea typeface="Arial" pitchFamily="34" charset="-122"/>
                <a:cs typeface="Arial" pitchFamily="34" charset="-120"/>
              </a:rPr>
              <a:t>main axis  →  justify-content controls this</a:t>
            </a:r>
            <a:endParaRPr lang="en-US" sz="1200" dirty="0"/>
          </a:p>
        </p:txBody>
      </p:sp>
      <p:sp>
        <p:nvSpPr>
          <p:cNvPr id="16" name="Shape 14"/>
          <p:cNvSpPr/>
          <p:nvPr/>
        </p:nvSpPr>
        <p:spPr>
          <a:xfrm>
            <a:off x="658368" y="1965960"/>
            <a:ext cx="27432" cy="1280160"/>
          </a:xfrm>
          <a:prstGeom prst="rect">
            <a:avLst/>
          </a:prstGeom>
          <a:solidFill>
            <a:srgbClr val="1F7A55"/>
          </a:solidFill>
          <a:ln w="12700">
            <a:solidFill>
              <a:srgbClr val="1F7A55"/>
            </a:solidFill>
            <a:prstDash val="solid"/>
          </a:ln>
        </p:spPr>
      </p:sp>
      <p:sp>
        <p:nvSpPr>
          <p:cNvPr id="17" name="Text 15"/>
          <p:cNvSpPr txBox="1"/>
          <p:nvPr/>
        </p:nvSpPr>
        <p:spPr>
          <a:xfrm>
            <a:off x="548640" y="4114800"/>
            <a:ext cx="6035040" cy="274320"/>
          </a:xfrm>
          <a:prstGeom prst="rect">
            <a:avLst/>
          </a:prstGeom>
          <a:noFill/>
          <a:ln/>
        </p:spPr>
        <p:txBody>
          <a:bodyPr wrap="square" lIns="0" tIns="0" rIns="0" bIns="0" rtlCol="0" anchor="ctr"/>
          <a:lstStyle/>
          <a:p>
            <a:pPr indent="0" marL="0">
              <a:buNone/>
            </a:pPr>
            <a:r>
              <a:rPr lang="en-US" sz="1200" b="1" dirty="0">
                <a:solidFill>
                  <a:srgbClr val="1F7A55"/>
                </a:solidFill>
                <a:latin typeface="Arial" pitchFamily="34" charset="0"/>
                <a:ea typeface="Arial" pitchFamily="34" charset="-122"/>
                <a:cs typeface="Arial" pitchFamily="34" charset="-120"/>
              </a:rPr>
              <a:t>cross axis ↓ align-items controls this</a:t>
            </a:r>
            <a:endParaRPr lang="en-US" sz="1200" dirty="0"/>
          </a:p>
        </p:txBody>
      </p:sp>
      <p:sp>
        <p:nvSpPr>
          <p:cNvPr id="18" name="Shape 16"/>
          <p:cNvSpPr/>
          <p:nvPr/>
        </p:nvSpPr>
        <p:spPr>
          <a:xfrm>
            <a:off x="7132320" y="1463040"/>
            <a:ext cx="4480560" cy="2286000"/>
          </a:xfrm>
          <a:prstGeom prst="roundRect">
            <a:avLst>
              <a:gd name="adj" fmla="val 3200"/>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19" name="Text 17"/>
          <p:cNvSpPr txBox="1"/>
          <p:nvPr/>
        </p:nvSpPr>
        <p:spPr>
          <a:xfrm>
            <a:off x="7388352" y="1664208"/>
            <a:ext cx="396849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Two sets of properties</a:t>
            </a:r>
            <a:endParaRPr lang="en-US" sz="1700" dirty="0"/>
          </a:p>
        </p:txBody>
      </p:sp>
      <p:sp>
        <p:nvSpPr>
          <p:cNvPr id="20" name="Text 18"/>
          <p:cNvSpPr txBox="1"/>
          <p:nvPr/>
        </p:nvSpPr>
        <p:spPr>
          <a:xfrm>
            <a:off x="7388352" y="2084832"/>
            <a:ext cx="3968496" cy="149961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On the CONTAINER: display, flex-direction, justify-content, align-items, gap, flex-wrap</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On the ITEMS: flex, flex-grow, flex-basis, align-self</a:t>
            </a:r>
            <a:endParaRPr lang="en-US" sz="1300" dirty="0"/>
          </a:p>
        </p:txBody>
      </p:sp>
      <p:sp>
        <p:nvSpPr>
          <p:cNvPr id="21" name="Shape 19"/>
          <p:cNvSpPr/>
          <p:nvPr/>
        </p:nvSpPr>
        <p:spPr>
          <a:xfrm>
            <a:off x="7132320" y="3931920"/>
            <a:ext cx="4480560" cy="2011680"/>
          </a:xfrm>
          <a:prstGeom prst="roundRect">
            <a:avLst>
              <a:gd name="adj" fmla="val 3636"/>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22" name="Shape 20"/>
          <p:cNvSpPr/>
          <p:nvPr/>
        </p:nvSpPr>
        <p:spPr>
          <a:xfrm>
            <a:off x="7333488" y="4133088"/>
            <a:ext cx="384048" cy="384048"/>
          </a:xfrm>
          <a:prstGeom prst="ellipse">
            <a:avLst/>
          </a:prstGeom>
          <a:solidFill>
            <a:srgbClr val="E39A18"/>
          </a:solidFill>
          <a:ln w="12700">
            <a:solidFill>
              <a:srgbClr val="E39A18"/>
            </a:solidFill>
            <a:prstDash val="solid"/>
          </a:ln>
        </p:spPr>
      </p:sp>
      <p:sp>
        <p:nvSpPr>
          <p:cNvPr id="23" name="Text 21"/>
          <p:cNvSpPr txBox="1"/>
          <p:nvPr/>
        </p:nvSpPr>
        <p:spPr>
          <a:xfrm>
            <a:off x="7333488" y="41330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4" name="Text 22"/>
          <p:cNvSpPr txBox="1"/>
          <p:nvPr/>
        </p:nvSpPr>
        <p:spPr>
          <a:xfrm>
            <a:off x="7845552" y="4160520"/>
            <a:ext cx="356616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The rule that prevents confusion</a:t>
            </a:r>
            <a:endParaRPr lang="en-US" sz="1700" dirty="0"/>
          </a:p>
        </p:txBody>
      </p:sp>
      <p:sp>
        <p:nvSpPr>
          <p:cNvPr id="25" name="Text 23"/>
          <p:cNvSpPr txBox="1"/>
          <p:nvPr/>
        </p:nvSpPr>
        <p:spPr>
          <a:xfrm>
            <a:off x="7388352" y="4553712"/>
            <a:ext cx="3968496" cy="122529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The main axis follows flex-direction</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Change direction and justify-content changes meaning too</a:t>
            </a:r>
            <a:endParaRPr lang="en-US" sz="1300" dirty="0"/>
          </a:p>
        </p:txBody>
      </p:sp>
      <p:sp>
        <p:nvSpPr>
          <p:cNvPr id="26" name="Shape 24"/>
          <p:cNvSpPr/>
          <p:nvPr/>
        </p:nvSpPr>
        <p:spPr>
          <a:xfrm>
            <a:off x="548640" y="4572000"/>
            <a:ext cx="6400800" cy="1371600"/>
          </a:xfrm>
          <a:prstGeom prst="roundRect">
            <a:avLst>
              <a:gd name="adj" fmla="val 5333"/>
            </a:avLst>
          </a:prstGeom>
          <a:solidFill>
            <a:srgbClr val="E7F4EE"/>
          </a:solidFill>
          <a:ln w="12700">
            <a:solidFill>
              <a:srgbClr val="E7F4EE"/>
            </a:solidFill>
            <a:prstDash val="solid"/>
          </a:ln>
        </p:spPr>
      </p:sp>
      <p:sp>
        <p:nvSpPr>
          <p:cNvPr id="27" name="Text 25"/>
          <p:cNvSpPr txBox="1"/>
          <p:nvPr/>
        </p:nvSpPr>
        <p:spPr>
          <a:xfrm>
            <a:off x="804672" y="4773168"/>
            <a:ext cx="5888736" cy="32918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display: flex on a parent immediately puts its direct children in a row. That one line is 80% of Flexbox.</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FLEXBOX</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justify-content: Along the Main Axis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5</a:t>
            </a:r>
            <a:endParaRPr lang="en-US" sz="900" dirty="0"/>
          </a:p>
        </p:txBody>
      </p:sp>
      <p:sp>
        <p:nvSpPr>
          <p:cNvPr id="6" name="Text 4"/>
          <p:cNvSpPr txBox="1"/>
          <p:nvPr/>
        </p:nvSpPr>
        <p:spPr>
          <a:xfrm>
            <a:off x="548640" y="1371600"/>
            <a:ext cx="2011680" cy="64008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flex-start</a:t>
            </a:r>
            <a:endParaRPr lang="en-US" sz="1250" dirty="0"/>
          </a:p>
        </p:txBody>
      </p:sp>
      <p:sp>
        <p:nvSpPr>
          <p:cNvPr id="7" name="Shape 5"/>
          <p:cNvSpPr/>
          <p:nvPr/>
        </p:nvSpPr>
        <p:spPr>
          <a:xfrm>
            <a:off x="2651760" y="1371600"/>
            <a:ext cx="5852160" cy="640080"/>
          </a:xfrm>
          <a:prstGeom prst="rect">
            <a:avLst/>
          </a:prstGeom>
          <a:solidFill>
            <a:srgbClr val="F2F5F8"/>
          </a:solidFill>
          <a:ln w="12700">
            <a:solidFill>
              <a:srgbClr val="D6DEE6"/>
            </a:solidFill>
            <a:prstDash val="solid"/>
          </a:ln>
        </p:spPr>
      </p:sp>
      <p:sp>
        <p:nvSpPr>
          <p:cNvPr id="8" name="Shape 6"/>
          <p:cNvSpPr/>
          <p:nvPr/>
        </p:nvSpPr>
        <p:spPr>
          <a:xfrm>
            <a:off x="2697480" y="1463040"/>
            <a:ext cx="914400" cy="457200"/>
          </a:xfrm>
          <a:prstGeom prst="rect">
            <a:avLst/>
          </a:prstGeom>
          <a:solidFill>
            <a:srgbClr val="003366"/>
          </a:solidFill>
          <a:ln w="19050">
            <a:solidFill>
              <a:srgbClr val="FFFFFF"/>
            </a:solidFill>
            <a:prstDash val="solid"/>
          </a:ln>
        </p:spPr>
      </p:sp>
      <p:sp>
        <p:nvSpPr>
          <p:cNvPr id="9" name="Shape 7"/>
          <p:cNvSpPr/>
          <p:nvPr/>
        </p:nvSpPr>
        <p:spPr>
          <a:xfrm>
            <a:off x="3630168" y="1463040"/>
            <a:ext cx="914400" cy="457200"/>
          </a:xfrm>
          <a:prstGeom prst="rect">
            <a:avLst/>
          </a:prstGeom>
          <a:solidFill>
            <a:srgbClr val="003366"/>
          </a:solidFill>
          <a:ln w="19050">
            <a:solidFill>
              <a:srgbClr val="FFFFFF"/>
            </a:solidFill>
            <a:prstDash val="solid"/>
          </a:ln>
        </p:spPr>
      </p:sp>
      <p:sp>
        <p:nvSpPr>
          <p:cNvPr id="10" name="Shape 8"/>
          <p:cNvSpPr/>
          <p:nvPr/>
        </p:nvSpPr>
        <p:spPr>
          <a:xfrm>
            <a:off x="4562856" y="1463040"/>
            <a:ext cx="914400" cy="457200"/>
          </a:xfrm>
          <a:prstGeom prst="rect">
            <a:avLst/>
          </a:prstGeom>
          <a:solidFill>
            <a:srgbClr val="003366"/>
          </a:solidFill>
          <a:ln w="19050">
            <a:solidFill>
              <a:srgbClr val="FFFFFF"/>
            </a:solidFill>
            <a:prstDash val="solid"/>
          </a:ln>
        </p:spPr>
      </p:sp>
      <p:sp>
        <p:nvSpPr>
          <p:cNvPr id="11" name="Text 9"/>
          <p:cNvSpPr txBox="1"/>
          <p:nvPr/>
        </p:nvSpPr>
        <p:spPr>
          <a:xfrm>
            <a:off x="548640" y="2286000"/>
            <a:ext cx="2011680" cy="64008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center</a:t>
            </a:r>
            <a:endParaRPr lang="en-US" sz="1250" dirty="0"/>
          </a:p>
        </p:txBody>
      </p:sp>
      <p:sp>
        <p:nvSpPr>
          <p:cNvPr id="12" name="Shape 10"/>
          <p:cNvSpPr/>
          <p:nvPr/>
        </p:nvSpPr>
        <p:spPr>
          <a:xfrm>
            <a:off x="2651760" y="2286000"/>
            <a:ext cx="5852160" cy="640080"/>
          </a:xfrm>
          <a:prstGeom prst="rect">
            <a:avLst/>
          </a:prstGeom>
          <a:solidFill>
            <a:srgbClr val="F2F5F8"/>
          </a:solidFill>
          <a:ln w="12700">
            <a:solidFill>
              <a:srgbClr val="D6DEE6"/>
            </a:solidFill>
            <a:prstDash val="solid"/>
          </a:ln>
        </p:spPr>
      </p:sp>
      <p:sp>
        <p:nvSpPr>
          <p:cNvPr id="13" name="Shape 11"/>
          <p:cNvSpPr/>
          <p:nvPr/>
        </p:nvSpPr>
        <p:spPr>
          <a:xfrm>
            <a:off x="4189781" y="2377440"/>
            <a:ext cx="914400" cy="457200"/>
          </a:xfrm>
          <a:prstGeom prst="rect">
            <a:avLst/>
          </a:prstGeom>
          <a:solidFill>
            <a:srgbClr val="003366"/>
          </a:solidFill>
          <a:ln w="19050">
            <a:solidFill>
              <a:srgbClr val="FFFFFF"/>
            </a:solidFill>
            <a:prstDash val="solid"/>
          </a:ln>
        </p:spPr>
      </p:sp>
      <p:sp>
        <p:nvSpPr>
          <p:cNvPr id="14" name="Shape 12"/>
          <p:cNvSpPr/>
          <p:nvPr/>
        </p:nvSpPr>
        <p:spPr>
          <a:xfrm>
            <a:off x="5122469" y="2377440"/>
            <a:ext cx="914400" cy="457200"/>
          </a:xfrm>
          <a:prstGeom prst="rect">
            <a:avLst/>
          </a:prstGeom>
          <a:solidFill>
            <a:srgbClr val="003366"/>
          </a:solidFill>
          <a:ln w="19050">
            <a:solidFill>
              <a:srgbClr val="FFFFFF"/>
            </a:solidFill>
            <a:prstDash val="solid"/>
          </a:ln>
        </p:spPr>
      </p:sp>
      <p:sp>
        <p:nvSpPr>
          <p:cNvPr id="15" name="Shape 13"/>
          <p:cNvSpPr/>
          <p:nvPr/>
        </p:nvSpPr>
        <p:spPr>
          <a:xfrm>
            <a:off x="6055157" y="2377440"/>
            <a:ext cx="914400" cy="457200"/>
          </a:xfrm>
          <a:prstGeom prst="rect">
            <a:avLst/>
          </a:prstGeom>
          <a:solidFill>
            <a:srgbClr val="003366"/>
          </a:solidFill>
          <a:ln w="19050">
            <a:solidFill>
              <a:srgbClr val="FFFFFF"/>
            </a:solidFill>
            <a:prstDash val="solid"/>
          </a:ln>
        </p:spPr>
      </p:sp>
      <p:sp>
        <p:nvSpPr>
          <p:cNvPr id="16" name="Text 14"/>
          <p:cNvSpPr txBox="1"/>
          <p:nvPr/>
        </p:nvSpPr>
        <p:spPr>
          <a:xfrm>
            <a:off x="548640" y="3200400"/>
            <a:ext cx="2011680" cy="64008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flex-end</a:t>
            </a:r>
            <a:endParaRPr lang="en-US" sz="1250" dirty="0"/>
          </a:p>
        </p:txBody>
      </p:sp>
      <p:sp>
        <p:nvSpPr>
          <p:cNvPr id="17" name="Shape 15"/>
          <p:cNvSpPr/>
          <p:nvPr/>
        </p:nvSpPr>
        <p:spPr>
          <a:xfrm>
            <a:off x="2651760" y="3200400"/>
            <a:ext cx="5852160" cy="640080"/>
          </a:xfrm>
          <a:prstGeom prst="rect">
            <a:avLst/>
          </a:prstGeom>
          <a:solidFill>
            <a:srgbClr val="F2F5F8"/>
          </a:solidFill>
          <a:ln w="12700">
            <a:solidFill>
              <a:srgbClr val="D6DEE6"/>
            </a:solidFill>
            <a:prstDash val="solid"/>
          </a:ln>
        </p:spPr>
      </p:sp>
      <p:sp>
        <p:nvSpPr>
          <p:cNvPr id="18" name="Shape 16"/>
          <p:cNvSpPr/>
          <p:nvPr/>
        </p:nvSpPr>
        <p:spPr>
          <a:xfrm>
            <a:off x="5682082" y="3291840"/>
            <a:ext cx="914400" cy="457200"/>
          </a:xfrm>
          <a:prstGeom prst="rect">
            <a:avLst/>
          </a:prstGeom>
          <a:solidFill>
            <a:srgbClr val="003366"/>
          </a:solidFill>
          <a:ln w="19050">
            <a:solidFill>
              <a:srgbClr val="FFFFFF"/>
            </a:solidFill>
            <a:prstDash val="solid"/>
          </a:ln>
        </p:spPr>
      </p:sp>
      <p:sp>
        <p:nvSpPr>
          <p:cNvPr id="19" name="Shape 17"/>
          <p:cNvSpPr/>
          <p:nvPr/>
        </p:nvSpPr>
        <p:spPr>
          <a:xfrm>
            <a:off x="6614770" y="3291840"/>
            <a:ext cx="914400" cy="457200"/>
          </a:xfrm>
          <a:prstGeom prst="rect">
            <a:avLst/>
          </a:prstGeom>
          <a:solidFill>
            <a:srgbClr val="003366"/>
          </a:solidFill>
          <a:ln w="19050">
            <a:solidFill>
              <a:srgbClr val="FFFFFF"/>
            </a:solidFill>
            <a:prstDash val="solid"/>
          </a:ln>
        </p:spPr>
      </p:sp>
      <p:sp>
        <p:nvSpPr>
          <p:cNvPr id="20" name="Shape 18"/>
          <p:cNvSpPr/>
          <p:nvPr/>
        </p:nvSpPr>
        <p:spPr>
          <a:xfrm>
            <a:off x="7547458" y="3291840"/>
            <a:ext cx="914400" cy="457200"/>
          </a:xfrm>
          <a:prstGeom prst="rect">
            <a:avLst/>
          </a:prstGeom>
          <a:solidFill>
            <a:srgbClr val="003366"/>
          </a:solidFill>
          <a:ln w="19050">
            <a:solidFill>
              <a:srgbClr val="FFFFFF"/>
            </a:solidFill>
            <a:prstDash val="solid"/>
          </a:ln>
        </p:spPr>
      </p:sp>
      <p:sp>
        <p:nvSpPr>
          <p:cNvPr id="21" name="Text 19"/>
          <p:cNvSpPr txBox="1"/>
          <p:nvPr/>
        </p:nvSpPr>
        <p:spPr>
          <a:xfrm>
            <a:off x="548640" y="4114800"/>
            <a:ext cx="2011680" cy="64008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space-between</a:t>
            </a:r>
            <a:endParaRPr lang="en-US" sz="1250" dirty="0"/>
          </a:p>
        </p:txBody>
      </p:sp>
      <p:sp>
        <p:nvSpPr>
          <p:cNvPr id="22" name="Shape 20"/>
          <p:cNvSpPr/>
          <p:nvPr/>
        </p:nvSpPr>
        <p:spPr>
          <a:xfrm>
            <a:off x="2651760" y="4114800"/>
            <a:ext cx="5852160" cy="640080"/>
          </a:xfrm>
          <a:prstGeom prst="rect">
            <a:avLst/>
          </a:prstGeom>
          <a:solidFill>
            <a:srgbClr val="F2F5F8"/>
          </a:solidFill>
          <a:ln w="12700">
            <a:solidFill>
              <a:srgbClr val="D6DEE6"/>
            </a:solidFill>
            <a:prstDash val="solid"/>
          </a:ln>
        </p:spPr>
      </p:sp>
      <p:sp>
        <p:nvSpPr>
          <p:cNvPr id="23" name="Shape 21"/>
          <p:cNvSpPr/>
          <p:nvPr/>
        </p:nvSpPr>
        <p:spPr>
          <a:xfrm>
            <a:off x="2697480" y="4206240"/>
            <a:ext cx="914400" cy="457200"/>
          </a:xfrm>
          <a:prstGeom prst="rect">
            <a:avLst/>
          </a:prstGeom>
          <a:solidFill>
            <a:srgbClr val="003366"/>
          </a:solidFill>
          <a:ln w="19050">
            <a:solidFill>
              <a:srgbClr val="FFFFFF"/>
            </a:solidFill>
            <a:prstDash val="solid"/>
          </a:ln>
        </p:spPr>
      </p:sp>
      <p:sp>
        <p:nvSpPr>
          <p:cNvPr id="24" name="Shape 22"/>
          <p:cNvSpPr/>
          <p:nvPr/>
        </p:nvSpPr>
        <p:spPr>
          <a:xfrm>
            <a:off x="5122469" y="4206240"/>
            <a:ext cx="914400" cy="457200"/>
          </a:xfrm>
          <a:prstGeom prst="rect">
            <a:avLst/>
          </a:prstGeom>
          <a:solidFill>
            <a:srgbClr val="003366"/>
          </a:solidFill>
          <a:ln w="19050">
            <a:solidFill>
              <a:srgbClr val="FFFFFF"/>
            </a:solidFill>
            <a:prstDash val="solid"/>
          </a:ln>
        </p:spPr>
      </p:sp>
      <p:sp>
        <p:nvSpPr>
          <p:cNvPr id="25" name="Shape 23"/>
          <p:cNvSpPr/>
          <p:nvPr/>
        </p:nvSpPr>
        <p:spPr>
          <a:xfrm>
            <a:off x="7547458" y="4206240"/>
            <a:ext cx="914400" cy="457200"/>
          </a:xfrm>
          <a:prstGeom prst="rect">
            <a:avLst/>
          </a:prstGeom>
          <a:solidFill>
            <a:srgbClr val="003366"/>
          </a:solidFill>
          <a:ln w="19050">
            <a:solidFill>
              <a:srgbClr val="FFFFFF"/>
            </a:solidFill>
            <a:prstDash val="solid"/>
          </a:ln>
        </p:spPr>
      </p:sp>
      <p:sp>
        <p:nvSpPr>
          <p:cNvPr id="26" name="Text 24"/>
          <p:cNvSpPr txBox="1"/>
          <p:nvPr/>
        </p:nvSpPr>
        <p:spPr>
          <a:xfrm>
            <a:off x="548640" y="5029200"/>
            <a:ext cx="2011680" cy="640080"/>
          </a:xfrm>
          <a:prstGeom prst="rect">
            <a:avLst/>
          </a:prstGeom>
          <a:noFill/>
          <a:ln/>
        </p:spPr>
        <p:txBody>
          <a:bodyPr wrap="square" lIns="0" tIns="0" rIns="0" bIns="0" rtlCol="0" anchor="ctr"/>
          <a:lstStyle/>
          <a:p>
            <a:pPr indent="0" marL="0">
              <a:buNone/>
            </a:pPr>
            <a:r>
              <a:rPr lang="en-US" sz="1250" b="1" dirty="0">
                <a:solidFill>
                  <a:srgbClr val="003366"/>
                </a:solidFill>
                <a:latin typeface="Courier New" pitchFamily="34" charset="0"/>
                <a:ea typeface="Courier New" pitchFamily="34" charset="-122"/>
                <a:cs typeface="Courier New" pitchFamily="34" charset="-120"/>
              </a:rPr>
              <a:t>space-around</a:t>
            </a:r>
            <a:endParaRPr lang="en-US" sz="1250" dirty="0"/>
          </a:p>
        </p:txBody>
      </p:sp>
      <p:sp>
        <p:nvSpPr>
          <p:cNvPr id="27" name="Shape 25"/>
          <p:cNvSpPr/>
          <p:nvPr/>
        </p:nvSpPr>
        <p:spPr>
          <a:xfrm>
            <a:off x="2651760" y="5029200"/>
            <a:ext cx="5852160" cy="640080"/>
          </a:xfrm>
          <a:prstGeom prst="rect">
            <a:avLst/>
          </a:prstGeom>
          <a:solidFill>
            <a:srgbClr val="F2F5F8"/>
          </a:solidFill>
          <a:ln w="12700">
            <a:solidFill>
              <a:srgbClr val="D6DEE6"/>
            </a:solidFill>
            <a:prstDash val="solid"/>
          </a:ln>
        </p:spPr>
      </p:sp>
      <p:sp>
        <p:nvSpPr>
          <p:cNvPr id="28" name="Shape 26"/>
          <p:cNvSpPr/>
          <p:nvPr/>
        </p:nvSpPr>
        <p:spPr>
          <a:xfrm>
            <a:off x="3117190" y="5120640"/>
            <a:ext cx="914400" cy="457200"/>
          </a:xfrm>
          <a:prstGeom prst="rect">
            <a:avLst/>
          </a:prstGeom>
          <a:solidFill>
            <a:srgbClr val="003366"/>
          </a:solidFill>
          <a:ln w="19050">
            <a:solidFill>
              <a:srgbClr val="FFFFFF"/>
            </a:solidFill>
            <a:prstDash val="solid"/>
          </a:ln>
        </p:spPr>
      </p:sp>
      <p:sp>
        <p:nvSpPr>
          <p:cNvPr id="29" name="Shape 27"/>
          <p:cNvSpPr/>
          <p:nvPr/>
        </p:nvSpPr>
        <p:spPr>
          <a:xfrm>
            <a:off x="5122469" y="5120640"/>
            <a:ext cx="914400" cy="457200"/>
          </a:xfrm>
          <a:prstGeom prst="rect">
            <a:avLst/>
          </a:prstGeom>
          <a:solidFill>
            <a:srgbClr val="003366"/>
          </a:solidFill>
          <a:ln w="19050">
            <a:solidFill>
              <a:srgbClr val="FFFFFF"/>
            </a:solidFill>
            <a:prstDash val="solid"/>
          </a:ln>
        </p:spPr>
      </p:sp>
      <p:sp>
        <p:nvSpPr>
          <p:cNvPr id="30" name="Shape 28"/>
          <p:cNvSpPr/>
          <p:nvPr/>
        </p:nvSpPr>
        <p:spPr>
          <a:xfrm>
            <a:off x="7127748" y="5120640"/>
            <a:ext cx="914400" cy="457200"/>
          </a:xfrm>
          <a:prstGeom prst="rect">
            <a:avLst/>
          </a:prstGeom>
          <a:solidFill>
            <a:srgbClr val="003366"/>
          </a:solidFill>
          <a:ln w="19050">
            <a:solidFill>
              <a:srgbClr val="FFFFFF"/>
            </a:solidFill>
            <a:prstDash val="solid"/>
          </a:ln>
        </p:spPr>
      </p:sp>
      <p:sp>
        <p:nvSpPr>
          <p:cNvPr id="31" name="Shape 29"/>
          <p:cNvSpPr/>
          <p:nvPr/>
        </p:nvSpPr>
        <p:spPr>
          <a:xfrm>
            <a:off x="8778240" y="1371600"/>
            <a:ext cx="2834640" cy="1168400"/>
          </a:xfrm>
          <a:prstGeom prst="roundRect">
            <a:avLst>
              <a:gd name="adj" fmla="val 4696"/>
            </a:avLst>
          </a:prstGeom>
          <a:solidFill>
            <a:srgbClr val="0D1B2A"/>
          </a:solidFill>
          <a:ln w="12700">
            <a:solidFill>
              <a:srgbClr val="0D1B2A"/>
            </a:solidFill>
            <a:prstDash val="solid"/>
          </a:ln>
        </p:spPr>
      </p:sp>
      <p:sp>
        <p:nvSpPr>
          <p:cNvPr id="32" name="Text 30"/>
          <p:cNvSpPr txBox="1"/>
          <p:nvPr/>
        </p:nvSpPr>
        <p:spPr>
          <a:xfrm>
            <a:off x="8887968" y="1481328"/>
            <a:ext cx="2615184" cy="948944"/>
          </a:xfrm>
          <a:prstGeom prst="rect">
            <a:avLst/>
          </a:prstGeom>
          <a:noFill/>
          <a:ln/>
        </p:spPr>
        <p:txBody>
          <a:bodyPr wrap="square" lIns="0" tIns="0" rIns="0" bIns="0" rtlCol="0" anchor="t"/>
          <a:lstStyle/>
          <a:p>
            <a:pPr indent="0" marL="0">
              <a:lnSpc>
                <a:spcPts val="1408"/>
              </a:lnSpc>
              <a:buNone/>
            </a:pPr>
            <a:r>
              <a:rPr lang="en-US" sz="1100" dirty="0">
                <a:solidFill>
                  <a:srgbClr val="FFC46B"/>
                </a:solidFill>
                <a:latin typeface="Courier New" pitchFamily="34" charset="0"/>
                <a:ea typeface="Courier New" pitchFamily="34" charset="-122"/>
                <a:cs typeface="Courier New" pitchFamily="34" charset="-120"/>
              </a:rPr>
              <a:t>.row </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display</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flex;</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justify-content</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t>
            </a:r>
            <a:pPr indent="0" marL="0">
              <a:lnSpc>
                <a:spcPts val="1408"/>
              </a:lnSpc>
              <a:buNone/>
            </a:pP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space-between;</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p:txBody>
      </p:sp>
      <p:sp>
        <p:nvSpPr>
          <p:cNvPr id="33" name="Shape 31"/>
          <p:cNvSpPr/>
          <p:nvPr/>
        </p:nvSpPr>
        <p:spPr>
          <a:xfrm>
            <a:off x="8778240" y="2926080"/>
            <a:ext cx="2834640" cy="3017520"/>
          </a:xfrm>
          <a:prstGeom prst="roundRect">
            <a:avLst>
              <a:gd name="adj" fmla="val 258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34" name="Text 32"/>
          <p:cNvSpPr txBox="1"/>
          <p:nvPr/>
        </p:nvSpPr>
        <p:spPr>
          <a:xfrm>
            <a:off x="9034272" y="3127248"/>
            <a:ext cx="232257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Use it for</a:t>
            </a:r>
            <a:endParaRPr lang="en-US" sz="1700" dirty="0"/>
          </a:p>
        </p:txBody>
      </p:sp>
      <p:sp>
        <p:nvSpPr>
          <p:cNvPr id="35" name="Text 33"/>
          <p:cNvSpPr txBox="1"/>
          <p:nvPr/>
        </p:nvSpPr>
        <p:spPr>
          <a:xfrm>
            <a:off x="9034272" y="3547872"/>
            <a:ext cx="2322576" cy="2231136"/>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D4A57"/>
                </a:solidFill>
                <a:latin typeface="Arial" pitchFamily="34" charset="0"/>
                <a:ea typeface="Arial" pitchFamily="34" charset="-122"/>
                <a:cs typeface="Arial" pitchFamily="34" charset="-120"/>
              </a:rPr>
              <a:t>A logo left, menu right: space-between</a:t>
            </a:r>
            <a:endParaRPr lang="en-US" sz="1200" dirty="0"/>
          </a:p>
          <a:p>
            <a:pPr marL="342900" indent="-342900">
              <a:spcAft>
                <a:spcPts val="600"/>
              </a:spcAft>
              <a:buSzPct val="100000"/>
              <a:buChar char="•"/>
            </a:pPr>
            <a:r>
              <a:rPr lang="en-US" sz="1200" dirty="0">
                <a:solidFill>
                  <a:srgbClr val="3D4A57"/>
                </a:solidFill>
                <a:latin typeface="Arial" pitchFamily="34" charset="0"/>
                <a:ea typeface="Arial" pitchFamily="34" charset="-122"/>
                <a:cs typeface="Arial" pitchFamily="34" charset="-120"/>
              </a:rPr>
              <a:t>Centring a row of buttons: center</a:t>
            </a:r>
            <a:endParaRPr lang="en-US" sz="1200" dirty="0"/>
          </a:p>
          <a:p>
            <a:pPr marL="342900" indent="-342900">
              <a:spcAft>
                <a:spcPts val="600"/>
              </a:spcAft>
              <a:buSzPct val="100000"/>
              <a:buChar char="•"/>
            </a:pPr>
            <a:r>
              <a:rPr lang="en-US" sz="1200" dirty="0">
                <a:solidFill>
                  <a:srgbClr val="3D4A57"/>
                </a:solidFill>
                <a:latin typeface="Arial" pitchFamily="34" charset="0"/>
                <a:ea typeface="Arial" pitchFamily="34" charset="-122"/>
                <a:cs typeface="Arial" pitchFamily="34" charset="-120"/>
              </a:rPr>
              <a:t>Even spacing: space-around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FLEXBOX</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align-items, gap and flex-direction</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6</a:t>
            </a:r>
            <a:endParaRPr lang="en-US" sz="900" dirty="0"/>
          </a:p>
        </p:txBody>
      </p:sp>
      <p:sp>
        <p:nvSpPr>
          <p:cNvPr id="6" name="Shape 4"/>
          <p:cNvSpPr/>
          <p:nvPr/>
        </p:nvSpPr>
        <p:spPr>
          <a:xfrm>
            <a:off x="548640" y="1371600"/>
            <a:ext cx="5852160" cy="1769872"/>
          </a:xfrm>
          <a:prstGeom prst="roundRect">
            <a:avLst>
              <a:gd name="adj" fmla="val 3100"/>
            </a:avLst>
          </a:prstGeom>
          <a:solidFill>
            <a:srgbClr val="0D1B2A"/>
          </a:solidFill>
          <a:ln w="12700">
            <a:solidFill>
              <a:srgbClr val="0D1B2A"/>
            </a:solidFill>
            <a:prstDash val="solid"/>
          </a:ln>
        </p:spPr>
      </p:sp>
      <p:sp>
        <p:nvSpPr>
          <p:cNvPr id="7" name="Text 5"/>
          <p:cNvSpPr txBox="1"/>
          <p:nvPr/>
        </p:nvSpPr>
        <p:spPr>
          <a:xfrm>
            <a:off x="658368" y="1481328"/>
            <a:ext cx="5632704" cy="1550416"/>
          </a:xfrm>
          <a:prstGeom prst="rect">
            <a:avLst/>
          </a:prstGeom>
          <a:noFill/>
          <a:ln/>
        </p:spPr>
        <p:txBody>
          <a:bodyPr wrap="square" lIns="0" tIns="0" rIns="0" bIns="0" rtlCol="0" anchor="t"/>
          <a:lstStyle/>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.row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display</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flex;</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flex-direction: row;      /* or column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justify-content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space-between;</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align-items: center;      /* cross axis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gap: 16px;                /* space BETWEEN items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flex-wrap: wrap;          /* allow a second line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8" name="Shape 6"/>
          <p:cNvSpPr/>
          <p:nvPr/>
        </p:nvSpPr>
        <p:spPr>
          <a:xfrm>
            <a:off x="548640" y="3291840"/>
            <a:ext cx="5349240" cy="859536"/>
          </a:xfrm>
          <a:prstGeom prst="roundRect">
            <a:avLst>
              <a:gd name="adj" fmla="val 8511"/>
            </a:avLst>
          </a:prstGeom>
          <a:solidFill>
            <a:srgbClr val="E8EEF4"/>
          </a:solidFill>
          <a:ln w="12700">
            <a:solidFill>
              <a:srgbClr val="E8EEF4"/>
            </a:solidFill>
            <a:prstDash val="solid"/>
          </a:ln>
        </p:spPr>
      </p:sp>
      <p:sp>
        <p:nvSpPr>
          <p:cNvPr id="9" name="Text 7"/>
          <p:cNvSpPr txBox="1"/>
          <p:nvPr/>
        </p:nvSpPr>
        <p:spPr>
          <a:xfrm>
            <a:off x="804672" y="3493008"/>
            <a:ext cx="4837176" cy="32918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align-items: stretch</a:t>
            </a:r>
            <a:endParaRPr lang="en-US" sz="1300" dirty="0"/>
          </a:p>
        </p:txBody>
      </p:sp>
      <p:sp>
        <p:nvSpPr>
          <p:cNvPr id="10" name="Text 8"/>
          <p:cNvSpPr txBox="1"/>
          <p:nvPr/>
        </p:nvSpPr>
        <p:spPr>
          <a:xfrm>
            <a:off x="804672" y="3913632"/>
            <a:ext cx="4837176" cy="73152"/>
          </a:xfrm>
          <a:prstGeom prst="rect">
            <a:avLst/>
          </a:prstGeom>
          <a:noFill/>
          <a:ln/>
        </p:spPr>
        <p:txBody>
          <a:bodyPr wrap="square" lIns="0" tIns="0" rIns="0" bIns="0" rtlCol="0" anchor="t"/>
          <a:lstStyle/>
          <a:p>
            <a:pPr indent="0" marL="0">
              <a:spcAft>
                <a:spcPts val="600"/>
              </a:spcAft>
              <a:buNone/>
            </a:pPr>
            <a:r>
              <a:rPr lang="en-US" sz="1200" dirty="0">
                <a:solidFill>
                  <a:srgbClr val="3D4A57"/>
                </a:solidFill>
                <a:latin typeface="Arial" pitchFamily="34" charset="0"/>
                <a:ea typeface="Arial" pitchFamily="34" charset="-122"/>
                <a:cs typeface="Arial" pitchFamily="34" charset="-120"/>
              </a:rPr>
              <a:t>Default. Items fill the container height</a:t>
            </a:r>
            <a:endParaRPr lang="en-US" sz="1200" dirty="0"/>
          </a:p>
        </p:txBody>
      </p:sp>
      <p:sp>
        <p:nvSpPr>
          <p:cNvPr id="11" name="Shape 9"/>
          <p:cNvSpPr/>
          <p:nvPr/>
        </p:nvSpPr>
        <p:spPr>
          <a:xfrm>
            <a:off x="6263640" y="3291840"/>
            <a:ext cx="5349240" cy="859536"/>
          </a:xfrm>
          <a:prstGeom prst="roundRect">
            <a:avLst>
              <a:gd name="adj" fmla="val 8511"/>
            </a:avLst>
          </a:prstGeom>
          <a:solidFill>
            <a:srgbClr val="F2F5F8"/>
          </a:solidFill>
          <a:ln w="12700">
            <a:solidFill>
              <a:srgbClr val="F2F5F8"/>
            </a:solidFill>
            <a:prstDash val="solid"/>
          </a:ln>
        </p:spPr>
      </p:sp>
      <p:sp>
        <p:nvSpPr>
          <p:cNvPr id="12" name="Text 10"/>
          <p:cNvSpPr txBox="1"/>
          <p:nvPr/>
        </p:nvSpPr>
        <p:spPr>
          <a:xfrm>
            <a:off x="6519672" y="3493008"/>
            <a:ext cx="4837176" cy="32918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align-items: center</a:t>
            </a:r>
            <a:endParaRPr lang="en-US" sz="1300" dirty="0"/>
          </a:p>
        </p:txBody>
      </p:sp>
      <p:sp>
        <p:nvSpPr>
          <p:cNvPr id="13" name="Text 11"/>
          <p:cNvSpPr txBox="1"/>
          <p:nvPr/>
        </p:nvSpPr>
        <p:spPr>
          <a:xfrm>
            <a:off x="6519672" y="3913632"/>
            <a:ext cx="4837176" cy="73152"/>
          </a:xfrm>
          <a:prstGeom prst="rect">
            <a:avLst/>
          </a:prstGeom>
          <a:noFill/>
          <a:ln/>
        </p:spPr>
        <p:txBody>
          <a:bodyPr wrap="square" lIns="0" tIns="0" rIns="0" bIns="0" rtlCol="0" anchor="t"/>
          <a:lstStyle/>
          <a:p>
            <a:pPr indent="0" marL="0">
              <a:spcAft>
                <a:spcPts val="600"/>
              </a:spcAft>
              <a:buNone/>
            </a:pPr>
            <a:r>
              <a:rPr lang="en-US" sz="1200" dirty="0">
                <a:solidFill>
                  <a:srgbClr val="3D4A57"/>
                </a:solidFill>
                <a:latin typeface="Arial" pitchFamily="34" charset="0"/>
                <a:ea typeface="Arial" pitchFamily="34" charset="-122"/>
                <a:cs typeface="Arial" pitchFamily="34" charset="-120"/>
              </a:rPr>
              <a:t>Vertically centred — the classic use</a:t>
            </a:r>
            <a:endParaRPr lang="en-US" sz="1200" dirty="0"/>
          </a:p>
        </p:txBody>
      </p:sp>
      <p:sp>
        <p:nvSpPr>
          <p:cNvPr id="14" name="Shape 12"/>
          <p:cNvSpPr/>
          <p:nvPr/>
        </p:nvSpPr>
        <p:spPr>
          <a:xfrm>
            <a:off x="548640" y="4261104"/>
            <a:ext cx="5349240" cy="859536"/>
          </a:xfrm>
          <a:prstGeom prst="roundRect">
            <a:avLst>
              <a:gd name="adj" fmla="val 8511"/>
            </a:avLst>
          </a:prstGeom>
          <a:solidFill>
            <a:srgbClr val="E8EEF4"/>
          </a:solidFill>
          <a:ln w="12700">
            <a:solidFill>
              <a:srgbClr val="E8EEF4"/>
            </a:solidFill>
            <a:prstDash val="solid"/>
          </a:ln>
        </p:spPr>
      </p:sp>
      <p:sp>
        <p:nvSpPr>
          <p:cNvPr id="15" name="Text 13"/>
          <p:cNvSpPr txBox="1"/>
          <p:nvPr/>
        </p:nvSpPr>
        <p:spPr>
          <a:xfrm>
            <a:off x="804672" y="4462272"/>
            <a:ext cx="4837176" cy="32918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align-items: flex-start</a:t>
            </a:r>
            <a:endParaRPr lang="en-US" sz="1300" dirty="0"/>
          </a:p>
        </p:txBody>
      </p:sp>
      <p:sp>
        <p:nvSpPr>
          <p:cNvPr id="16" name="Text 14"/>
          <p:cNvSpPr txBox="1"/>
          <p:nvPr/>
        </p:nvSpPr>
        <p:spPr>
          <a:xfrm>
            <a:off x="804672" y="4882896"/>
            <a:ext cx="4837176" cy="73152"/>
          </a:xfrm>
          <a:prstGeom prst="rect">
            <a:avLst/>
          </a:prstGeom>
          <a:noFill/>
          <a:ln/>
        </p:spPr>
        <p:txBody>
          <a:bodyPr wrap="square" lIns="0" tIns="0" rIns="0" bIns="0" rtlCol="0" anchor="t"/>
          <a:lstStyle/>
          <a:p>
            <a:pPr indent="0" marL="0">
              <a:spcAft>
                <a:spcPts val="600"/>
              </a:spcAft>
              <a:buNone/>
            </a:pPr>
            <a:r>
              <a:rPr lang="en-US" sz="1200" dirty="0">
                <a:solidFill>
                  <a:srgbClr val="3D4A57"/>
                </a:solidFill>
                <a:latin typeface="Arial" pitchFamily="34" charset="0"/>
                <a:ea typeface="Arial" pitchFamily="34" charset="-122"/>
                <a:cs typeface="Arial" pitchFamily="34" charset="-120"/>
              </a:rPr>
              <a:t>Pinned to the top</a:t>
            </a:r>
            <a:endParaRPr lang="en-US" sz="1200" dirty="0"/>
          </a:p>
        </p:txBody>
      </p:sp>
      <p:sp>
        <p:nvSpPr>
          <p:cNvPr id="17" name="Shape 15"/>
          <p:cNvSpPr/>
          <p:nvPr/>
        </p:nvSpPr>
        <p:spPr>
          <a:xfrm>
            <a:off x="6263640" y="4261104"/>
            <a:ext cx="5349240" cy="859536"/>
          </a:xfrm>
          <a:prstGeom prst="roundRect">
            <a:avLst>
              <a:gd name="adj" fmla="val 8511"/>
            </a:avLst>
          </a:prstGeom>
          <a:solidFill>
            <a:srgbClr val="F2F5F8"/>
          </a:solidFill>
          <a:ln w="12700">
            <a:solidFill>
              <a:srgbClr val="F2F5F8"/>
            </a:solidFill>
            <a:prstDash val="solid"/>
          </a:ln>
        </p:spPr>
      </p:sp>
      <p:sp>
        <p:nvSpPr>
          <p:cNvPr id="18" name="Text 16"/>
          <p:cNvSpPr txBox="1"/>
          <p:nvPr/>
        </p:nvSpPr>
        <p:spPr>
          <a:xfrm>
            <a:off x="6519672" y="4462272"/>
            <a:ext cx="4837176" cy="32918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gap: 16px</a:t>
            </a:r>
            <a:endParaRPr lang="en-US" sz="1300" dirty="0"/>
          </a:p>
        </p:txBody>
      </p:sp>
      <p:sp>
        <p:nvSpPr>
          <p:cNvPr id="19" name="Text 17"/>
          <p:cNvSpPr txBox="1"/>
          <p:nvPr/>
        </p:nvSpPr>
        <p:spPr>
          <a:xfrm>
            <a:off x="6519672" y="4882896"/>
            <a:ext cx="4837176" cy="73152"/>
          </a:xfrm>
          <a:prstGeom prst="rect">
            <a:avLst/>
          </a:prstGeom>
          <a:noFill/>
          <a:ln/>
        </p:spPr>
        <p:txBody>
          <a:bodyPr wrap="square" lIns="0" tIns="0" rIns="0" bIns="0" rtlCol="0" anchor="t"/>
          <a:lstStyle/>
          <a:p>
            <a:pPr indent="0" marL="0">
              <a:spcAft>
                <a:spcPts val="600"/>
              </a:spcAft>
              <a:buNone/>
            </a:pPr>
            <a:r>
              <a:rPr lang="en-US" sz="1200" dirty="0">
                <a:solidFill>
                  <a:srgbClr val="3D4A57"/>
                </a:solidFill>
                <a:latin typeface="Arial" pitchFamily="34" charset="0"/>
                <a:ea typeface="Arial" pitchFamily="34" charset="-122"/>
                <a:cs typeface="Arial" pitchFamily="34" charset="-120"/>
              </a:rPr>
              <a:t>Space between items only, not on the outside</a:t>
            </a:r>
            <a:endParaRPr lang="en-US" sz="1200" dirty="0"/>
          </a:p>
        </p:txBody>
      </p:sp>
      <p:sp>
        <p:nvSpPr>
          <p:cNvPr id="20" name="Shape 18"/>
          <p:cNvSpPr/>
          <p:nvPr/>
        </p:nvSpPr>
        <p:spPr>
          <a:xfrm>
            <a:off x="548640" y="5230368"/>
            <a:ext cx="5349240" cy="859536"/>
          </a:xfrm>
          <a:prstGeom prst="roundRect">
            <a:avLst>
              <a:gd name="adj" fmla="val 8511"/>
            </a:avLst>
          </a:prstGeom>
          <a:solidFill>
            <a:srgbClr val="E8EEF4"/>
          </a:solidFill>
          <a:ln w="12700">
            <a:solidFill>
              <a:srgbClr val="E8EEF4"/>
            </a:solidFill>
            <a:prstDash val="solid"/>
          </a:ln>
        </p:spPr>
      </p:sp>
      <p:sp>
        <p:nvSpPr>
          <p:cNvPr id="21" name="Text 19"/>
          <p:cNvSpPr txBox="1"/>
          <p:nvPr/>
        </p:nvSpPr>
        <p:spPr>
          <a:xfrm>
            <a:off x="804672" y="5431536"/>
            <a:ext cx="4837176" cy="32918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flex-wrap: wrap</a:t>
            </a:r>
            <a:endParaRPr lang="en-US" sz="1300" dirty="0"/>
          </a:p>
        </p:txBody>
      </p:sp>
      <p:sp>
        <p:nvSpPr>
          <p:cNvPr id="22" name="Text 20"/>
          <p:cNvSpPr txBox="1"/>
          <p:nvPr/>
        </p:nvSpPr>
        <p:spPr>
          <a:xfrm>
            <a:off x="804672" y="5852160"/>
            <a:ext cx="4837176" cy="73152"/>
          </a:xfrm>
          <a:prstGeom prst="rect">
            <a:avLst/>
          </a:prstGeom>
          <a:noFill/>
          <a:ln/>
        </p:spPr>
        <p:txBody>
          <a:bodyPr wrap="square" lIns="0" tIns="0" rIns="0" bIns="0" rtlCol="0" anchor="t"/>
          <a:lstStyle/>
          <a:p>
            <a:pPr indent="0" marL="0">
              <a:spcAft>
                <a:spcPts val="600"/>
              </a:spcAft>
              <a:buNone/>
            </a:pPr>
            <a:r>
              <a:rPr lang="en-US" sz="1200" dirty="0">
                <a:solidFill>
                  <a:srgbClr val="3D4A57"/>
                </a:solidFill>
                <a:latin typeface="Arial" pitchFamily="34" charset="0"/>
                <a:ea typeface="Arial" pitchFamily="34" charset="-122"/>
                <a:cs typeface="Arial" pitchFamily="34" charset="-120"/>
              </a:rPr>
              <a:t>Items drop to a new line instead of squashing</a:t>
            </a:r>
            <a:endParaRPr lang="en-US" sz="1200" dirty="0"/>
          </a:p>
        </p:txBody>
      </p:sp>
      <p:sp>
        <p:nvSpPr>
          <p:cNvPr id="23" name="Shape 21"/>
          <p:cNvSpPr/>
          <p:nvPr/>
        </p:nvSpPr>
        <p:spPr>
          <a:xfrm>
            <a:off x="6263640" y="5230368"/>
            <a:ext cx="5349240" cy="859536"/>
          </a:xfrm>
          <a:prstGeom prst="roundRect">
            <a:avLst>
              <a:gd name="adj" fmla="val 8511"/>
            </a:avLst>
          </a:prstGeom>
          <a:solidFill>
            <a:srgbClr val="F2F5F8"/>
          </a:solidFill>
          <a:ln w="12700">
            <a:solidFill>
              <a:srgbClr val="F2F5F8"/>
            </a:solidFill>
            <a:prstDash val="solid"/>
          </a:ln>
        </p:spPr>
      </p:sp>
      <p:sp>
        <p:nvSpPr>
          <p:cNvPr id="24" name="Text 22"/>
          <p:cNvSpPr txBox="1"/>
          <p:nvPr/>
        </p:nvSpPr>
        <p:spPr>
          <a:xfrm>
            <a:off x="6519672" y="5431536"/>
            <a:ext cx="4837176" cy="32918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flex-direction: column</a:t>
            </a:r>
            <a:endParaRPr lang="en-US" sz="1300" dirty="0"/>
          </a:p>
        </p:txBody>
      </p:sp>
      <p:sp>
        <p:nvSpPr>
          <p:cNvPr id="25" name="Text 23"/>
          <p:cNvSpPr txBox="1"/>
          <p:nvPr/>
        </p:nvSpPr>
        <p:spPr>
          <a:xfrm>
            <a:off x="6519672" y="5852160"/>
            <a:ext cx="4837176" cy="73152"/>
          </a:xfrm>
          <a:prstGeom prst="rect">
            <a:avLst/>
          </a:prstGeom>
          <a:noFill/>
          <a:ln/>
        </p:spPr>
        <p:txBody>
          <a:bodyPr wrap="square" lIns="0" tIns="0" rIns="0" bIns="0" rtlCol="0" anchor="t"/>
          <a:lstStyle/>
          <a:p>
            <a:pPr indent="0" marL="0">
              <a:spcAft>
                <a:spcPts val="600"/>
              </a:spcAft>
              <a:buNone/>
            </a:pPr>
            <a:r>
              <a:rPr lang="en-US" sz="1200" dirty="0">
                <a:solidFill>
                  <a:srgbClr val="3D4A57"/>
                </a:solidFill>
                <a:latin typeface="Arial" pitchFamily="34" charset="0"/>
                <a:ea typeface="Arial" pitchFamily="34" charset="-122"/>
                <a:cs typeface="Arial" pitchFamily="34" charset="-120"/>
              </a:rPr>
              <a:t>Main axis becomes vertical — everything rotates</a:t>
            </a:r>
            <a:endParaRPr lang="en-US" sz="1200" dirty="0"/>
          </a:p>
        </p:txBody>
      </p:sp>
      <p:sp>
        <p:nvSpPr>
          <p:cNvPr id="26" name="Shape 24"/>
          <p:cNvSpPr/>
          <p:nvPr/>
        </p:nvSpPr>
        <p:spPr>
          <a:xfrm>
            <a:off x="6583680" y="1371600"/>
            <a:ext cx="5029200" cy="1417320"/>
          </a:xfrm>
          <a:prstGeom prst="roundRect">
            <a:avLst>
              <a:gd name="adj" fmla="val 5161"/>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27" name="Shape 25"/>
          <p:cNvSpPr/>
          <p:nvPr/>
        </p:nvSpPr>
        <p:spPr>
          <a:xfrm>
            <a:off x="6784848" y="1572768"/>
            <a:ext cx="384048" cy="384048"/>
          </a:xfrm>
          <a:prstGeom prst="ellipse">
            <a:avLst/>
          </a:prstGeom>
          <a:solidFill>
            <a:srgbClr val="1F7A55"/>
          </a:solidFill>
          <a:ln w="12700">
            <a:solidFill>
              <a:srgbClr val="1F7A55"/>
            </a:solidFill>
            <a:prstDash val="solid"/>
          </a:ln>
        </p:spPr>
      </p:sp>
      <p:sp>
        <p:nvSpPr>
          <p:cNvPr id="28" name="Text 26"/>
          <p:cNvSpPr txBox="1"/>
          <p:nvPr/>
        </p:nvSpPr>
        <p:spPr>
          <a:xfrm>
            <a:off x="678484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7296912" y="1600200"/>
            <a:ext cx="411480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Vertical centring, finally</a:t>
            </a:r>
            <a:endParaRPr lang="en-US" sz="1700" dirty="0"/>
          </a:p>
        </p:txBody>
      </p:sp>
      <p:sp>
        <p:nvSpPr>
          <p:cNvPr id="30" name="Text 28"/>
          <p:cNvSpPr txBox="1"/>
          <p:nvPr/>
        </p:nvSpPr>
        <p:spPr>
          <a:xfrm>
            <a:off x="6839712" y="1993392"/>
            <a:ext cx="4517136" cy="63093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display: flex plus align-items: center. Two lines. This used to be the hardest thing in CSS.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FLEXBOX</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Sizing Items: the flex Shorthand</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7</a:t>
            </a:r>
            <a:endParaRPr lang="en-US" sz="900" dirty="0"/>
          </a:p>
        </p:txBody>
      </p:sp>
      <p:sp>
        <p:nvSpPr>
          <p:cNvPr id="6" name="Shape 4"/>
          <p:cNvSpPr/>
          <p:nvPr/>
        </p:nvSpPr>
        <p:spPr>
          <a:xfrm>
            <a:off x="548640" y="1371600"/>
            <a:ext cx="6035040" cy="2704592"/>
          </a:xfrm>
          <a:prstGeom prst="roundRect">
            <a:avLst>
              <a:gd name="adj" fmla="val 2029"/>
            </a:avLst>
          </a:prstGeom>
          <a:solidFill>
            <a:srgbClr val="0D1B2A"/>
          </a:solidFill>
          <a:ln w="12700">
            <a:solidFill>
              <a:srgbClr val="0D1B2A"/>
            </a:solidFill>
            <a:prstDash val="solid"/>
          </a:ln>
        </p:spPr>
      </p:sp>
      <p:sp>
        <p:nvSpPr>
          <p:cNvPr id="7" name="Text 5"/>
          <p:cNvSpPr txBox="1"/>
          <p:nvPr/>
        </p:nvSpPr>
        <p:spPr>
          <a:xfrm>
            <a:off x="658368" y="1481328"/>
            <a:ext cx="5815584" cy="2485136"/>
          </a:xfrm>
          <a:prstGeom prst="rect">
            <a:avLst/>
          </a:prstGeom>
          <a:noFill/>
          <a:ln/>
        </p:spPr>
        <p:txBody>
          <a:bodyPr wrap="square" lIns="0" tIns="0" rIns="0" bIns="0" rtlCol="0" anchor="t"/>
          <a:lstStyle/>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Each item takes an equal share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.item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flex</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1;</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One item takes twice the space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.sidebar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flex: 1;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.content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flex: 2;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Do not grow, do not shrink, stay 240px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.fixed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flex</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0 0 240px;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8" name="Shape 6"/>
          <p:cNvSpPr/>
          <p:nvPr/>
        </p:nvSpPr>
        <p:spPr>
          <a:xfrm>
            <a:off x="6766560" y="1371600"/>
            <a:ext cx="4846320" cy="2194560"/>
          </a:xfrm>
          <a:prstGeom prst="roundRect">
            <a:avLst>
              <a:gd name="adj" fmla="val 3333"/>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9" name="Text 7"/>
          <p:cNvSpPr txBox="1"/>
          <p:nvPr/>
        </p:nvSpPr>
        <p:spPr>
          <a:xfrm>
            <a:off x="7022592" y="1572768"/>
            <a:ext cx="433425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flex: 1 means</a:t>
            </a:r>
            <a:endParaRPr lang="en-US" sz="1700" dirty="0"/>
          </a:p>
        </p:txBody>
      </p:sp>
      <p:sp>
        <p:nvSpPr>
          <p:cNvPr id="10" name="Text 8"/>
          <p:cNvSpPr txBox="1"/>
          <p:nvPr/>
        </p:nvSpPr>
        <p:spPr>
          <a:xfrm>
            <a:off x="7022592" y="1993392"/>
            <a:ext cx="4334256" cy="140817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grow to fill leftover space</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shrink if there is not enough</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starting from a base of 0</a:t>
            </a:r>
            <a:endParaRPr lang="en-US" sz="1300" dirty="0"/>
          </a:p>
        </p:txBody>
      </p:sp>
      <p:sp>
        <p:nvSpPr>
          <p:cNvPr id="11" name="Shape 9"/>
          <p:cNvSpPr/>
          <p:nvPr/>
        </p:nvSpPr>
        <p:spPr>
          <a:xfrm>
            <a:off x="6766560" y="3749040"/>
            <a:ext cx="4846320" cy="2194560"/>
          </a:xfrm>
          <a:prstGeom prst="roundRect">
            <a:avLst>
              <a:gd name="adj" fmla="val 3333"/>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2" name="Shape 10"/>
          <p:cNvSpPr/>
          <p:nvPr/>
        </p:nvSpPr>
        <p:spPr>
          <a:xfrm>
            <a:off x="6967728" y="395020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6967728" y="3950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4" name="Text 12"/>
          <p:cNvSpPr txBox="1"/>
          <p:nvPr/>
        </p:nvSpPr>
        <p:spPr>
          <a:xfrm>
            <a:off x="7479792" y="3977640"/>
            <a:ext cx="39319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This is what you will use</a:t>
            </a:r>
            <a:endParaRPr lang="en-US" sz="1700" dirty="0"/>
          </a:p>
        </p:txBody>
      </p:sp>
      <p:sp>
        <p:nvSpPr>
          <p:cNvPr id="15" name="Text 13"/>
          <p:cNvSpPr txBox="1"/>
          <p:nvPr/>
        </p:nvSpPr>
        <p:spPr>
          <a:xfrm>
            <a:off x="7022592" y="4370832"/>
            <a:ext cx="4334256" cy="140817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flex: 1 on cards makes them equal width</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flex: 2 on one makes it double</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You rarely need flex-grow and flex-basis separately</a:t>
            </a:r>
            <a:endParaRPr lang="en-US" sz="1300" dirty="0"/>
          </a:p>
        </p:txBody>
      </p:sp>
      <p:sp>
        <p:nvSpPr>
          <p:cNvPr id="16" name="Shape 14"/>
          <p:cNvSpPr/>
          <p:nvPr/>
        </p:nvSpPr>
        <p:spPr>
          <a:xfrm>
            <a:off x="548640" y="3977640"/>
            <a:ext cx="6035040" cy="1965960"/>
          </a:xfrm>
          <a:prstGeom prst="roundRect">
            <a:avLst>
              <a:gd name="adj" fmla="val 3721"/>
            </a:avLst>
          </a:prstGeom>
          <a:solidFill>
            <a:srgbClr val="E7F4EE"/>
          </a:solidFill>
          <a:ln w="12700">
            <a:solidFill>
              <a:srgbClr val="E7F4EE"/>
            </a:solidFill>
            <a:prstDash val="solid"/>
          </a:ln>
        </p:spPr>
      </p:sp>
      <p:sp>
        <p:nvSpPr>
          <p:cNvPr id="17" name="Text 15"/>
          <p:cNvSpPr txBox="1"/>
          <p:nvPr/>
        </p:nvSpPr>
        <p:spPr>
          <a:xfrm>
            <a:off x="804672" y="4178808"/>
            <a:ext cx="5522976"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Rule of thumb</a:t>
            </a:r>
            <a:endParaRPr lang="en-US" sz="1400" dirty="0"/>
          </a:p>
        </p:txBody>
      </p:sp>
      <p:sp>
        <p:nvSpPr>
          <p:cNvPr id="18" name="Text 16"/>
          <p:cNvSpPr txBox="1"/>
          <p:nvPr/>
        </p:nvSpPr>
        <p:spPr>
          <a:xfrm>
            <a:off x="804672" y="4599432"/>
            <a:ext cx="5522976" cy="117957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Container properties decide the arrangement. Item properties decide how leftover space is divided. If items are the wrong size, look at the item; if they are in the wrong place, look at the container.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FLEXBOX · 21-26 MIN</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Live Build: Nav Bar and Card Row</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8</a:t>
            </a:r>
            <a:endParaRPr lang="en-US" sz="900" dirty="0"/>
          </a:p>
        </p:txBody>
      </p:sp>
      <p:sp>
        <p:nvSpPr>
          <p:cNvPr id="6" name="Shape 4"/>
          <p:cNvSpPr/>
          <p:nvPr/>
        </p:nvSpPr>
        <p:spPr>
          <a:xfrm>
            <a:off x="548640" y="1325880"/>
            <a:ext cx="11064240" cy="4947920"/>
          </a:xfrm>
          <a:prstGeom prst="roundRect">
            <a:avLst>
              <a:gd name="adj" fmla="val 1109"/>
            </a:avLst>
          </a:prstGeom>
          <a:solidFill>
            <a:srgbClr val="0D1B2A"/>
          </a:solidFill>
          <a:ln w="12700">
            <a:solidFill>
              <a:srgbClr val="0D1B2A"/>
            </a:solidFill>
            <a:prstDash val="solid"/>
          </a:ln>
        </p:spPr>
      </p:sp>
      <p:sp>
        <p:nvSpPr>
          <p:cNvPr id="7" name="Text 5"/>
          <p:cNvSpPr txBox="1"/>
          <p:nvPr/>
        </p:nvSpPr>
        <p:spPr>
          <a:xfrm>
            <a:off x="658368" y="1435608"/>
            <a:ext cx="10844784" cy="4728464"/>
          </a:xfrm>
          <a:prstGeom prst="rect">
            <a:avLst/>
          </a:prstGeom>
          <a:noFill/>
          <a:ln/>
        </p:spPr>
        <p:txBody>
          <a:bodyPr wrap="square" lIns="0" tIns="0" rIns="0" bIns="0" rtlCol="0" anchor="t"/>
          <a:lstStyle/>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1. The nav bar: title on the left, links on the right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header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display</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flex;</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justify-content: space-between;   /* pushes them apart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align-items: center;              /* same vertical line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flex-wrap</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wrap;</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gap</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12px;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nav ul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display</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flex;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gap</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20px;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list-style</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none;</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2. The card row: three equal cards that wrap on a small screen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.card-row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display</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flex;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flex-wrap</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wrap;</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gap</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20px;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.card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flex: 1 1 280px;      /* grow, shrink, never narrower than 280px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10241280" y="4480560"/>
            <a:ext cx="2743200" cy="2743200"/>
          </a:xfrm>
          <a:prstGeom prst="ellipse">
            <a:avLst/>
          </a:prstGeom>
          <a:solidFill>
            <a:srgbClr val="07386A"/>
          </a:solidFill>
          <a:ln w="12700">
            <a:solidFill>
              <a:srgbClr val="07386A"/>
            </a:solidFill>
            <a:prstDash val="solid"/>
          </a:ln>
        </p:spPr>
      </p:sp>
      <p:sp>
        <p:nvSpPr>
          <p:cNvPr id="3" name="Text 1"/>
          <p:cNvSpPr txBox="1"/>
          <p:nvPr/>
        </p:nvSpPr>
        <p:spPr>
          <a:xfrm>
            <a:off x="548640" y="2057400"/>
            <a:ext cx="1828800" cy="822960"/>
          </a:xfrm>
          <a:prstGeom prst="rect">
            <a:avLst/>
          </a:prstGeom>
          <a:noFill/>
          <a:ln/>
        </p:spPr>
        <p:txBody>
          <a:bodyPr wrap="square" lIns="0" tIns="0" rIns="0" bIns="0" rtlCol="0" anchor="ctr"/>
          <a:lstStyle/>
          <a:p>
            <a:pPr indent="0" marL="0">
              <a:buNone/>
            </a:pPr>
            <a:r>
              <a:rPr lang="en-US" sz="6400" b="1" dirty="0">
                <a:solidFill>
                  <a:srgbClr val="E39A18"/>
                </a:solidFill>
                <a:latin typeface="Arial" pitchFamily="34" charset="0"/>
                <a:ea typeface="Arial" pitchFamily="34" charset="-122"/>
                <a:cs typeface="Arial" pitchFamily="34" charset="-120"/>
              </a:rPr>
              <a:t>01</a:t>
            </a:r>
            <a:endParaRPr lang="en-US" sz="6400" dirty="0"/>
          </a:p>
        </p:txBody>
      </p:sp>
      <p:sp>
        <p:nvSpPr>
          <p:cNvPr id="4" name="Text 2"/>
          <p:cNvSpPr txBox="1"/>
          <p:nvPr/>
        </p:nvSpPr>
        <p:spPr>
          <a:xfrm>
            <a:off x="548640" y="2971800"/>
            <a:ext cx="1005840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CSS Grid</a:t>
            </a:r>
            <a:endParaRPr lang="en-US" sz="3800" dirty="0"/>
          </a:p>
        </p:txBody>
      </p:sp>
      <p:sp>
        <p:nvSpPr>
          <p:cNvPr id="5" name="Text 3"/>
          <p:cNvSpPr txBox="1"/>
          <p:nvPr/>
        </p:nvSpPr>
        <p:spPr>
          <a:xfrm>
            <a:off x="548640" y="3749040"/>
            <a:ext cx="9601200" cy="457200"/>
          </a:xfrm>
          <a:prstGeom prst="rect">
            <a:avLst/>
          </a:prstGeom>
          <a:noFill/>
          <a:ln/>
        </p:spPr>
        <p:txBody>
          <a:bodyPr wrap="square" lIns="0" tIns="0" rIns="0" bIns="0" rtlCol="0" anchor="ctr"/>
          <a:lstStyle/>
          <a:p>
            <a:pPr indent="0" marL="0">
              <a:buNone/>
            </a:pPr>
            <a:r>
              <a:rPr lang="en-US" sz="1500" dirty="0">
                <a:solidFill>
                  <a:srgbClr val="9FC0DE"/>
                </a:solidFill>
                <a:latin typeface="Arial" pitchFamily="34" charset="0"/>
                <a:ea typeface="Arial" pitchFamily="34" charset="-122"/>
                <a:cs typeface="Arial" pitchFamily="34" charset="-120"/>
              </a:rPr>
              <a:t>Flexbox arranges in one direction. Grid arranges in two at once.</a:t>
            </a:r>
            <a:endParaRPr lang="en-US" sz="1500" dirty="0"/>
          </a:p>
        </p:txBody>
      </p:sp>
      <p:sp>
        <p:nvSpPr>
          <p:cNvPr id="6" name="Text 4"/>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E93B8"/>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GRID</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Grid: Columns and Rows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10</a:t>
            </a:r>
            <a:endParaRPr lang="en-US" sz="900" dirty="0"/>
          </a:p>
        </p:txBody>
      </p:sp>
      <p:sp>
        <p:nvSpPr>
          <p:cNvPr id="6" name="Shape 4"/>
          <p:cNvSpPr/>
          <p:nvPr/>
        </p:nvSpPr>
        <p:spPr>
          <a:xfrm>
            <a:off x="548640" y="1371600"/>
            <a:ext cx="5852160" cy="2517648"/>
          </a:xfrm>
          <a:prstGeom prst="roundRect">
            <a:avLst>
              <a:gd name="adj" fmla="val 2179"/>
            </a:avLst>
          </a:prstGeom>
          <a:solidFill>
            <a:srgbClr val="0D1B2A"/>
          </a:solidFill>
          <a:ln w="12700">
            <a:solidFill>
              <a:srgbClr val="0D1B2A"/>
            </a:solidFill>
            <a:prstDash val="solid"/>
          </a:ln>
        </p:spPr>
      </p:sp>
      <p:sp>
        <p:nvSpPr>
          <p:cNvPr id="7" name="Text 5"/>
          <p:cNvSpPr txBox="1"/>
          <p:nvPr/>
        </p:nvSpPr>
        <p:spPr>
          <a:xfrm>
            <a:off x="658368" y="1481328"/>
            <a:ext cx="5632704" cy="2298192"/>
          </a:xfrm>
          <a:prstGeom prst="rect">
            <a:avLst/>
          </a:prstGeom>
          <a:noFill/>
          <a:ln/>
        </p:spPr>
        <p:txBody>
          <a:bodyPr wrap="square" lIns="0" tIns="0" rIns="0" bIns="0" rtlCol="0" anchor="t"/>
          <a:lstStyle/>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.gallery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display</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grid;</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grid-template-columns</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1fr 1fr 1fr;</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gap</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20px;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repeat() says the same thing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.gallery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display</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grid;</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grid-template-columns</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repeat(3, 1fr);</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gap</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20px;</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8" name="Shape 6"/>
          <p:cNvSpPr/>
          <p:nvPr/>
        </p:nvSpPr>
        <p:spPr>
          <a:xfrm>
            <a:off x="6583680" y="1463040"/>
            <a:ext cx="1508760" cy="960120"/>
          </a:xfrm>
          <a:prstGeom prst="roundRect">
            <a:avLst>
              <a:gd name="adj" fmla="val 4762"/>
            </a:avLst>
          </a:prstGeom>
          <a:solidFill>
            <a:srgbClr val="003366"/>
          </a:solidFill>
          <a:ln w="12700">
            <a:solidFill>
              <a:srgbClr val="003366"/>
            </a:solidFill>
            <a:prstDash val="solid"/>
          </a:ln>
        </p:spPr>
      </p:sp>
      <p:sp>
        <p:nvSpPr>
          <p:cNvPr id="9" name="Text 7"/>
          <p:cNvSpPr txBox="1"/>
          <p:nvPr/>
        </p:nvSpPr>
        <p:spPr>
          <a:xfrm>
            <a:off x="6583680" y="1463040"/>
            <a:ext cx="150876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10" name="Shape 8"/>
          <p:cNvSpPr/>
          <p:nvPr/>
        </p:nvSpPr>
        <p:spPr>
          <a:xfrm>
            <a:off x="6583680" y="2606040"/>
            <a:ext cx="1508760" cy="960120"/>
          </a:xfrm>
          <a:prstGeom prst="roundRect">
            <a:avLst>
              <a:gd name="adj" fmla="val 4762"/>
            </a:avLst>
          </a:prstGeom>
          <a:solidFill>
            <a:srgbClr val="003366"/>
          </a:solidFill>
          <a:ln w="12700">
            <a:solidFill>
              <a:srgbClr val="003366"/>
            </a:solidFill>
            <a:prstDash val="solid"/>
          </a:ln>
        </p:spPr>
      </p:sp>
      <p:sp>
        <p:nvSpPr>
          <p:cNvPr id="11" name="Text 9"/>
          <p:cNvSpPr txBox="1"/>
          <p:nvPr/>
        </p:nvSpPr>
        <p:spPr>
          <a:xfrm>
            <a:off x="6583680" y="2606040"/>
            <a:ext cx="150876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12" name="Shape 10"/>
          <p:cNvSpPr/>
          <p:nvPr/>
        </p:nvSpPr>
        <p:spPr>
          <a:xfrm>
            <a:off x="8275320" y="1463040"/>
            <a:ext cx="1508760" cy="960120"/>
          </a:xfrm>
          <a:prstGeom prst="roundRect">
            <a:avLst>
              <a:gd name="adj" fmla="val 4762"/>
            </a:avLst>
          </a:prstGeom>
          <a:solidFill>
            <a:srgbClr val="003366"/>
          </a:solidFill>
          <a:ln w="12700">
            <a:solidFill>
              <a:srgbClr val="003366"/>
            </a:solidFill>
            <a:prstDash val="solid"/>
          </a:ln>
        </p:spPr>
      </p:sp>
      <p:sp>
        <p:nvSpPr>
          <p:cNvPr id="13" name="Text 11"/>
          <p:cNvSpPr txBox="1"/>
          <p:nvPr/>
        </p:nvSpPr>
        <p:spPr>
          <a:xfrm>
            <a:off x="8275320" y="1463040"/>
            <a:ext cx="150876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4" name="Shape 12"/>
          <p:cNvSpPr/>
          <p:nvPr/>
        </p:nvSpPr>
        <p:spPr>
          <a:xfrm>
            <a:off x="8275320" y="2606040"/>
            <a:ext cx="1508760" cy="960120"/>
          </a:xfrm>
          <a:prstGeom prst="roundRect">
            <a:avLst>
              <a:gd name="adj" fmla="val 4762"/>
            </a:avLst>
          </a:prstGeom>
          <a:solidFill>
            <a:srgbClr val="003366"/>
          </a:solidFill>
          <a:ln w="12700">
            <a:solidFill>
              <a:srgbClr val="003366"/>
            </a:solidFill>
            <a:prstDash val="solid"/>
          </a:ln>
        </p:spPr>
      </p:sp>
      <p:sp>
        <p:nvSpPr>
          <p:cNvPr id="15" name="Text 13"/>
          <p:cNvSpPr txBox="1"/>
          <p:nvPr/>
        </p:nvSpPr>
        <p:spPr>
          <a:xfrm>
            <a:off x="8275320" y="2606040"/>
            <a:ext cx="150876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16" name="Shape 14"/>
          <p:cNvSpPr/>
          <p:nvPr/>
        </p:nvSpPr>
        <p:spPr>
          <a:xfrm>
            <a:off x="9966960" y="1463040"/>
            <a:ext cx="1508760" cy="960120"/>
          </a:xfrm>
          <a:prstGeom prst="roundRect">
            <a:avLst>
              <a:gd name="adj" fmla="val 4762"/>
            </a:avLst>
          </a:prstGeom>
          <a:solidFill>
            <a:srgbClr val="003366"/>
          </a:solidFill>
          <a:ln w="12700">
            <a:solidFill>
              <a:srgbClr val="003366"/>
            </a:solidFill>
            <a:prstDash val="solid"/>
          </a:ln>
        </p:spPr>
      </p:sp>
      <p:sp>
        <p:nvSpPr>
          <p:cNvPr id="17" name="Text 15"/>
          <p:cNvSpPr txBox="1"/>
          <p:nvPr/>
        </p:nvSpPr>
        <p:spPr>
          <a:xfrm>
            <a:off x="9966960" y="1463040"/>
            <a:ext cx="150876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8" name="Shape 16"/>
          <p:cNvSpPr/>
          <p:nvPr/>
        </p:nvSpPr>
        <p:spPr>
          <a:xfrm>
            <a:off x="9966960" y="2606040"/>
            <a:ext cx="1508760" cy="960120"/>
          </a:xfrm>
          <a:prstGeom prst="roundRect">
            <a:avLst>
              <a:gd name="adj" fmla="val 4762"/>
            </a:avLst>
          </a:prstGeom>
          <a:solidFill>
            <a:srgbClr val="003366"/>
          </a:solidFill>
          <a:ln w="12700">
            <a:solidFill>
              <a:srgbClr val="003366"/>
            </a:solidFill>
            <a:prstDash val="solid"/>
          </a:ln>
        </p:spPr>
      </p:sp>
      <p:sp>
        <p:nvSpPr>
          <p:cNvPr id="19" name="Text 17"/>
          <p:cNvSpPr txBox="1"/>
          <p:nvPr/>
        </p:nvSpPr>
        <p:spPr>
          <a:xfrm>
            <a:off x="9966960" y="2606040"/>
            <a:ext cx="150876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6</a:t>
            </a:r>
            <a:endParaRPr lang="en-US" sz="1300" dirty="0"/>
          </a:p>
        </p:txBody>
      </p:sp>
      <p:sp>
        <p:nvSpPr>
          <p:cNvPr id="20" name="Text 18"/>
          <p:cNvSpPr txBox="1"/>
          <p:nvPr/>
        </p:nvSpPr>
        <p:spPr>
          <a:xfrm>
            <a:off x="6583680" y="3794760"/>
            <a:ext cx="4937760" cy="274320"/>
          </a:xfrm>
          <a:prstGeom prst="rect">
            <a:avLst/>
          </a:prstGeom>
          <a:noFill/>
          <a:ln/>
        </p:spPr>
        <p:txBody>
          <a:bodyPr wrap="square" lIns="0" tIns="0" rIns="0" bIns="0" rtlCol="0" anchor="ctr"/>
          <a:lstStyle/>
          <a:p>
            <a:pPr algn="ctr" indent="0" marL="0">
              <a:buNone/>
            </a:pPr>
            <a:r>
              <a:rPr lang="en-US" sz="1200" i="1" dirty="0">
                <a:solidFill>
                  <a:srgbClr val="6B7A88"/>
                </a:solidFill>
                <a:latin typeface="Arial" pitchFamily="34" charset="0"/>
                <a:ea typeface="Arial" pitchFamily="34" charset="-122"/>
                <a:cs typeface="Arial" pitchFamily="34" charset="-120"/>
              </a:rPr>
              <a:t>repeat(3, 1fr) with gap: 20px</a:t>
            </a:r>
            <a:endParaRPr lang="en-US" sz="1200" dirty="0"/>
          </a:p>
        </p:txBody>
      </p:sp>
      <p:sp>
        <p:nvSpPr>
          <p:cNvPr id="21" name="Shape 19"/>
          <p:cNvSpPr/>
          <p:nvPr/>
        </p:nvSpPr>
        <p:spPr>
          <a:xfrm>
            <a:off x="548640" y="3657600"/>
            <a:ext cx="5852160" cy="2286000"/>
          </a:xfrm>
          <a:prstGeom prst="roundRect">
            <a:avLst>
              <a:gd name="adj" fmla="val 3200"/>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22" name="Shape 20"/>
          <p:cNvSpPr/>
          <p:nvPr/>
        </p:nvSpPr>
        <p:spPr>
          <a:xfrm>
            <a:off x="749808" y="3858768"/>
            <a:ext cx="384048" cy="384048"/>
          </a:xfrm>
          <a:prstGeom prst="ellipse">
            <a:avLst/>
          </a:prstGeom>
          <a:solidFill>
            <a:srgbClr val="E39A18"/>
          </a:solidFill>
          <a:ln w="12700">
            <a:solidFill>
              <a:srgbClr val="E39A18"/>
            </a:solidFill>
            <a:prstDash val="solid"/>
          </a:ln>
        </p:spPr>
      </p:sp>
      <p:sp>
        <p:nvSpPr>
          <p:cNvPr id="23" name="Text 21"/>
          <p:cNvSpPr txBox="1"/>
          <p:nvPr/>
        </p:nvSpPr>
        <p:spPr>
          <a:xfrm>
            <a:off x="749808" y="3858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4" name="Text 22"/>
          <p:cNvSpPr txBox="1"/>
          <p:nvPr/>
        </p:nvSpPr>
        <p:spPr>
          <a:xfrm>
            <a:off x="1261872" y="3886200"/>
            <a:ext cx="493776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The fr unit</a:t>
            </a:r>
            <a:endParaRPr lang="en-US" sz="1700" dirty="0"/>
          </a:p>
        </p:txBody>
      </p:sp>
      <p:sp>
        <p:nvSpPr>
          <p:cNvPr id="25" name="Text 23"/>
          <p:cNvSpPr txBox="1"/>
          <p:nvPr/>
        </p:nvSpPr>
        <p:spPr>
          <a:xfrm>
            <a:off x="804672" y="4279392"/>
            <a:ext cx="5340096" cy="149961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fr means one share of the leftover space</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1fr 1fr 1fr = three equal columns</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2fr 1fr = the first column is twice as wide</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Unlike %, fr already accounts for the gap</a:t>
            </a:r>
            <a:endParaRPr lang="en-US" sz="1300" dirty="0"/>
          </a:p>
        </p:txBody>
      </p:sp>
      <p:sp>
        <p:nvSpPr>
          <p:cNvPr id="26" name="Shape 24"/>
          <p:cNvSpPr/>
          <p:nvPr/>
        </p:nvSpPr>
        <p:spPr>
          <a:xfrm>
            <a:off x="6583680" y="4206240"/>
            <a:ext cx="5029200" cy="1737360"/>
          </a:xfrm>
          <a:prstGeom prst="roundRect">
            <a:avLst>
              <a:gd name="adj" fmla="val 421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27" name="Text 25"/>
          <p:cNvSpPr txBox="1"/>
          <p:nvPr/>
        </p:nvSpPr>
        <p:spPr>
          <a:xfrm>
            <a:off x="6839712" y="4407408"/>
            <a:ext cx="451713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Two lines is a grid</a:t>
            </a:r>
            <a:endParaRPr lang="en-US" sz="1700" dirty="0"/>
          </a:p>
        </p:txBody>
      </p:sp>
      <p:sp>
        <p:nvSpPr>
          <p:cNvPr id="28" name="Text 26"/>
          <p:cNvSpPr txBox="1"/>
          <p:nvPr/>
        </p:nvSpPr>
        <p:spPr>
          <a:xfrm>
            <a:off x="6839712" y="4828032"/>
            <a:ext cx="4517136" cy="950976"/>
          </a:xfrm>
          <a:prstGeom prst="rect">
            <a:avLst/>
          </a:prstGeom>
          <a:noFill/>
          <a:ln/>
        </p:spPr>
        <p:txBody>
          <a:bodyPr wrap="square" lIns="0" tIns="0" rIns="0" bIns="0" rtlCol="0" anchor="t"/>
          <a:lstStyle/>
          <a:p>
            <a:pPr indent="0" marL="0">
              <a:spcAft>
                <a:spcPts val="600"/>
              </a:spcAft>
              <a:buNone/>
            </a:pPr>
            <a:r>
              <a:rPr lang="en-US" sz="1300" dirty="0">
                <a:solidFill>
                  <a:srgbClr val="3D4A57"/>
                </a:solidFill>
                <a:latin typeface="Arial" pitchFamily="34" charset="0"/>
                <a:ea typeface="Arial" pitchFamily="34" charset="-122"/>
                <a:cs typeface="Arial" pitchFamily="34" charset="-120"/>
              </a:rPr>
              <a:t>display: grid and grid-template-columns. Everything else is refinement.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GRID</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The One Grid Line Worth Memorising</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11</a:t>
            </a:r>
            <a:endParaRPr lang="en-US" sz="900" dirty="0"/>
          </a:p>
        </p:txBody>
      </p:sp>
      <p:sp>
        <p:nvSpPr>
          <p:cNvPr id="6" name="Shape 4"/>
          <p:cNvSpPr/>
          <p:nvPr/>
        </p:nvSpPr>
        <p:spPr>
          <a:xfrm>
            <a:off x="548640" y="1371600"/>
            <a:ext cx="11064240" cy="1330960"/>
          </a:xfrm>
          <a:prstGeom prst="roundRect">
            <a:avLst>
              <a:gd name="adj" fmla="val 4122"/>
            </a:avLst>
          </a:prstGeom>
          <a:solidFill>
            <a:srgbClr val="0D1B2A"/>
          </a:solidFill>
          <a:ln w="12700">
            <a:solidFill>
              <a:srgbClr val="0D1B2A"/>
            </a:solidFill>
            <a:prstDash val="solid"/>
          </a:ln>
        </p:spPr>
      </p:sp>
      <p:sp>
        <p:nvSpPr>
          <p:cNvPr id="7" name="Text 5"/>
          <p:cNvSpPr txBox="1"/>
          <p:nvPr/>
        </p:nvSpPr>
        <p:spPr>
          <a:xfrm>
            <a:off x="658368" y="1481328"/>
            <a:ext cx="10844784" cy="1111504"/>
          </a:xfrm>
          <a:prstGeom prst="rect">
            <a:avLst/>
          </a:prstGeom>
          <a:noFill/>
          <a:ln/>
        </p:spPr>
        <p:txBody>
          <a:bodyPr wrap="square" lIns="0" tIns="0" rIns="0" bIns="0" rtlCol="0" anchor="t"/>
          <a:lstStyle/>
          <a:p>
            <a:pPr indent="0" marL="0">
              <a:lnSpc>
                <a:spcPts val="1664"/>
              </a:lnSpc>
              <a:buNone/>
            </a:pPr>
            <a:r>
              <a:rPr lang="en-US" sz="1300" dirty="0">
                <a:solidFill>
                  <a:srgbClr val="FFC46B"/>
                </a:solidFill>
                <a:latin typeface="Courier New" pitchFamily="34" charset="0"/>
                <a:ea typeface="Courier New" pitchFamily="34" charset="-122"/>
                <a:cs typeface="Courier New" pitchFamily="34" charset="-120"/>
              </a:rPr>
              <a:t>.gallery </a:t>
            </a:r>
            <a:pPr indent="0" marL="0">
              <a:lnSpc>
                <a:spcPts val="1664"/>
              </a:lnSpc>
              <a:buNone/>
            </a:pPr>
            <a:r>
              <a:rPr lang="en-US" sz="1300" dirty="0">
                <a:solidFill>
                  <a:srgbClr val="E8EEF7"/>
                </a:solidFill>
                <a:latin typeface="Courier New" pitchFamily="34" charset="0"/>
                <a:ea typeface="Courier New" pitchFamily="34" charset="-122"/>
                <a:cs typeface="Courier New" pitchFamily="34" charset="-120"/>
              </a:rPr>
              <a:t>{</a:t>
            </a:r>
            <a:endParaRPr lang="en-US" sz="1300" dirty="0"/>
          </a:p>
          <a:p>
            <a:pPr indent="0" marL="0">
              <a:lnSpc>
                <a:spcPts val="1664"/>
              </a:lnSpc>
              <a:buNone/>
            </a:pPr>
            <a:r>
              <a:rPr lang="en-US" sz="1300" dirty="0">
                <a:solidFill>
                  <a:srgbClr val="E8EEF7"/>
                </a:solidFill>
                <a:latin typeface="Courier New" pitchFamily="34" charset="0"/>
                <a:ea typeface="Courier New" pitchFamily="34" charset="-122"/>
                <a:cs typeface="Courier New" pitchFamily="34" charset="-120"/>
              </a:rPr>
              <a:t>  </a:t>
            </a:r>
            <a:pPr indent="0" marL="0">
              <a:lnSpc>
                <a:spcPts val="1664"/>
              </a:lnSpc>
              <a:buNone/>
            </a:pPr>
            <a:r>
              <a:rPr lang="en-US" sz="1300" dirty="0">
                <a:solidFill>
                  <a:srgbClr val="8FD3FF"/>
                </a:solidFill>
                <a:latin typeface="Courier New" pitchFamily="34" charset="0"/>
                <a:ea typeface="Courier New" pitchFamily="34" charset="-122"/>
                <a:cs typeface="Courier New" pitchFamily="34" charset="-120"/>
              </a:rPr>
              <a:t>display</a:t>
            </a:r>
            <a:pPr indent="0" marL="0">
              <a:lnSpc>
                <a:spcPts val="1664"/>
              </a:lnSpc>
              <a:buNone/>
            </a:pPr>
            <a:r>
              <a:rPr lang="en-US" sz="1300" dirty="0">
                <a:solidFill>
                  <a:srgbClr val="E8EEF7"/>
                </a:solidFill>
                <a:latin typeface="Courier New" pitchFamily="34" charset="0"/>
                <a:ea typeface="Courier New" pitchFamily="34" charset="-122"/>
                <a:cs typeface="Courier New" pitchFamily="34" charset="-120"/>
              </a:rPr>
              <a:t>: </a:t>
            </a:r>
            <a:pPr indent="0" marL="0">
              <a:lnSpc>
                <a:spcPts val="1664"/>
              </a:lnSpc>
              <a:buNone/>
            </a:pPr>
            <a:r>
              <a:rPr lang="en-US" sz="1300" dirty="0">
                <a:solidFill>
                  <a:srgbClr val="A8E6A3"/>
                </a:solidFill>
                <a:latin typeface="Courier New" pitchFamily="34" charset="0"/>
                <a:ea typeface="Courier New" pitchFamily="34" charset="-122"/>
                <a:cs typeface="Courier New" pitchFamily="34" charset="-120"/>
              </a:rPr>
              <a:t>grid;</a:t>
            </a:r>
            <a:endParaRPr lang="en-US" sz="1300" dirty="0"/>
          </a:p>
          <a:p>
            <a:pPr indent="0" marL="0">
              <a:lnSpc>
                <a:spcPts val="1664"/>
              </a:lnSpc>
              <a:buNone/>
            </a:pPr>
            <a:r>
              <a:rPr lang="en-US" sz="1300" dirty="0">
                <a:solidFill>
                  <a:srgbClr val="E8EEF7"/>
                </a:solidFill>
                <a:latin typeface="Courier New" pitchFamily="34" charset="0"/>
                <a:ea typeface="Courier New" pitchFamily="34" charset="-122"/>
                <a:cs typeface="Courier New" pitchFamily="34" charset="-120"/>
              </a:rPr>
              <a:t>  </a:t>
            </a:r>
            <a:pPr indent="0" marL="0">
              <a:lnSpc>
                <a:spcPts val="1664"/>
              </a:lnSpc>
              <a:buNone/>
            </a:pPr>
            <a:r>
              <a:rPr lang="en-US" sz="1300" dirty="0">
                <a:solidFill>
                  <a:srgbClr val="8FD3FF"/>
                </a:solidFill>
                <a:latin typeface="Courier New" pitchFamily="34" charset="0"/>
                <a:ea typeface="Courier New" pitchFamily="34" charset="-122"/>
                <a:cs typeface="Courier New" pitchFamily="34" charset="-120"/>
              </a:rPr>
              <a:t>grid-template-columns</a:t>
            </a:r>
            <a:pPr indent="0" marL="0">
              <a:lnSpc>
                <a:spcPts val="1664"/>
              </a:lnSpc>
              <a:buNone/>
            </a:pPr>
            <a:r>
              <a:rPr lang="en-US" sz="1300" dirty="0">
                <a:solidFill>
                  <a:srgbClr val="E8EEF7"/>
                </a:solidFill>
                <a:latin typeface="Courier New" pitchFamily="34" charset="0"/>
                <a:ea typeface="Courier New" pitchFamily="34" charset="-122"/>
                <a:cs typeface="Courier New" pitchFamily="34" charset="-120"/>
              </a:rPr>
              <a:t>: </a:t>
            </a:r>
            <a:pPr indent="0" marL="0">
              <a:lnSpc>
                <a:spcPts val="1664"/>
              </a:lnSpc>
              <a:buNone/>
            </a:pPr>
            <a:r>
              <a:rPr lang="en-US" sz="1300" dirty="0">
                <a:solidFill>
                  <a:srgbClr val="A8E6A3"/>
                </a:solidFill>
                <a:latin typeface="Courier New" pitchFamily="34" charset="0"/>
                <a:ea typeface="Courier New" pitchFamily="34" charset="-122"/>
                <a:cs typeface="Courier New" pitchFamily="34" charset="-120"/>
              </a:rPr>
              <a:t>repeat(auto-fit, minmax(260px, 1fr));</a:t>
            </a:r>
            <a:endParaRPr lang="en-US" sz="1300" dirty="0"/>
          </a:p>
          <a:p>
            <a:pPr indent="0" marL="0">
              <a:lnSpc>
                <a:spcPts val="1664"/>
              </a:lnSpc>
              <a:buNone/>
            </a:pPr>
            <a:r>
              <a:rPr lang="en-US" sz="1300" dirty="0">
                <a:solidFill>
                  <a:srgbClr val="E8EEF7"/>
                </a:solidFill>
                <a:latin typeface="Courier New" pitchFamily="34" charset="0"/>
                <a:ea typeface="Courier New" pitchFamily="34" charset="-122"/>
                <a:cs typeface="Courier New" pitchFamily="34" charset="-120"/>
              </a:rPr>
              <a:t>  </a:t>
            </a:r>
            <a:pPr indent="0" marL="0">
              <a:lnSpc>
                <a:spcPts val="1664"/>
              </a:lnSpc>
              <a:buNone/>
            </a:pPr>
            <a:r>
              <a:rPr lang="en-US" sz="1300" dirty="0">
                <a:solidFill>
                  <a:srgbClr val="8FD3FF"/>
                </a:solidFill>
                <a:latin typeface="Courier New" pitchFamily="34" charset="0"/>
                <a:ea typeface="Courier New" pitchFamily="34" charset="-122"/>
                <a:cs typeface="Courier New" pitchFamily="34" charset="-120"/>
              </a:rPr>
              <a:t>gap</a:t>
            </a:r>
            <a:pPr indent="0" marL="0">
              <a:lnSpc>
                <a:spcPts val="1664"/>
              </a:lnSpc>
              <a:buNone/>
            </a:pPr>
            <a:r>
              <a:rPr lang="en-US" sz="1300" dirty="0">
                <a:solidFill>
                  <a:srgbClr val="E8EEF7"/>
                </a:solidFill>
                <a:latin typeface="Courier New" pitchFamily="34" charset="0"/>
                <a:ea typeface="Courier New" pitchFamily="34" charset="-122"/>
                <a:cs typeface="Courier New" pitchFamily="34" charset="-120"/>
              </a:rPr>
              <a:t>: </a:t>
            </a:r>
            <a:pPr indent="0" marL="0">
              <a:lnSpc>
                <a:spcPts val="1664"/>
              </a:lnSpc>
              <a:buNone/>
            </a:pPr>
            <a:r>
              <a:rPr lang="en-US" sz="1300" dirty="0">
                <a:solidFill>
                  <a:srgbClr val="A8E6A3"/>
                </a:solidFill>
                <a:latin typeface="Courier New" pitchFamily="34" charset="0"/>
                <a:ea typeface="Courier New" pitchFamily="34" charset="-122"/>
                <a:cs typeface="Courier New" pitchFamily="34" charset="-120"/>
              </a:rPr>
              <a:t>20px;</a:t>
            </a:r>
            <a:endParaRPr lang="en-US" sz="1300" dirty="0"/>
          </a:p>
          <a:p>
            <a:pPr indent="0" marL="0">
              <a:lnSpc>
                <a:spcPts val="1664"/>
              </a:lnSpc>
              <a:buNone/>
            </a:pPr>
            <a:r>
              <a:rPr lang="en-US" sz="1300" dirty="0">
                <a:solidFill>
                  <a:srgbClr val="E8EEF7"/>
                </a:solidFill>
                <a:latin typeface="Courier New" pitchFamily="34" charset="0"/>
                <a:ea typeface="Courier New" pitchFamily="34" charset="-122"/>
                <a:cs typeface="Courier New" pitchFamily="34" charset="-120"/>
              </a:rPr>
              <a:t>}</a:t>
            </a:r>
            <a:endParaRPr lang="en-US" sz="1300" dirty="0"/>
          </a:p>
        </p:txBody>
      </p:sp>
      <p:sp>
        <p:nvSpPr>
          <p:cNvPr id="8" name="Shape 6"/>
          <p:cNvSpPr/>
          <p:nvPr/>
        </p:nvSpPr>
        <p:spPr>
          <a:xfrm>
            <a:off x="548640" y="2926080"/>
            <a:ext cx="3520440" cy="1417320"/>
          </a:xfrm>
          <a:prstGeom prst="roundRect">
            <a:avLst>
              <a:gd name="adj" fmla="val 516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9" name="Shape 7"/>
          <p:cNvSpPr/>
          <p:nvPr/>
        </p:nvSpPr>
        <p:spPr>
          <a:xfrm>
            <a:off x="749808" y="3127248"/>
            <a:ext cx="384048" cy="384048"/>
          </a:xfrm>
          <a:prstGeom prst="ellipse">
            <a:avLst/>
          </a:prstGeom>
          <a:solidFill>
            <a:srgbClr val="003366"/>
          </a:solidFill>
          <a:ln w="12700">
            <a:solidFill>
              <a:srgbClr val="003366"/>
            </a:solidFill>
            <a:prstDash val="solid"/>
          </a:ln>
        </p:spPr>
      </p:sp>
      <p:sp>
        <p:nvSpPr>
          <p:cNvPr id="10" name="Text 8"/>
          <p:cNvSpPr txBox="1"/>
          <p:nvPr/>
        </p:nvSpPr>
        <p:spPr>
          <a:xfrm>
            <a:off x="749808" y="3127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1" name="Text 9"/>
          <p:cNvSpPr txBox="1"/>
          <p:nvPr/>
        </p:nvSpPr>
        <p:spPr>
          <a:xfrm>
            <a:off x="1261872" y="3154680"/>
            <a:ext cx="26060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auto-fit</a:t>
            </a:r>
            <a:endParaRPr lang="en-US" sz="1700" dirty="0"/>
          </a:p>
        </p:txBody>
      </p:sp>
      <p:sp>
        <p:nvSpPr>
          <p:cNvPr id="12" name="Text 10"/>
          <p:cNvSpPr txBox="1"/>
          <p:nvPr/>
        </p:nvSpPr>
        <p:spPr>
          <a:xfrm>
            <a:off x="804672" y="3547872"/>
            <a:ext cx="3008376" cy="630936"/>
          </a:xfrm>
          <a:prstGeom prst="rect">
            <a:avLst/>
          </a:prstGeom>
          <a:noFill/>
          <a:ln/>
        </p:spPr>
        <p:txBody>
          <a:bodyPr wrap="square" lIns="0" tIns="0" rIns="0" bIns="0" rtlCol="0" anchor="t"/>
          <a:lstStyle/>
          <a:p>
            <a:pPr indent="0" marL="0">
              <a:spcAft>
                <a:spcPts val="600"/>
              </a:spcAft>
              <a:buNone/>
            </a:pPr>
            <a:r>
              <a:rPr lang="en-US" sz="1300" dirty="0">
                <a:solidFill>
                  <a:srgbClr val="3D4A57"/>
                </a:solidFill>
                <a:latin typeface="Arial" pitchFamily="34" charset="0"/>
                <a:ea typeface="Arial" pitchFamily="34" charset="-122"/>
                <a:cs typeface="Arial" pitchFamily="34" charset="-120"/>
              </a:rPr>
              <a:t>Fit as many columns as will comfortably fit</a:t>
            </a:r>
            <a:endParaRPr lang="en-US" sz="1300" dirty="0"/>
          </a:p>
        </p:txBody>
      </p:sp>
      <p:sp>
        <p:nvSpPr>
          <p:cNvPr id="13" name="Shape 11"/>
          <p:cNvSpPr/>
          <p:nvPr/>
        </p:nvSpPr>
        <p:spPr>
          <a:xfrm>
            <a:off x="4297680" y="2926080"/>
            <a:ext cx="3520440" cy="1417320"/>
          </a:xfrm>
          <a:prstGeom prst="roundRect">
            <a:avLst>
              <a:gd name="adj" fmla="val 516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14" name="Shape 12"/>
          <p:cNvSpPr/>
          <p:nvPr/>
        </p:nvSpPr>
        <p:spPr>
          <a:xfrm>
            <a:off x="4498848" y="3127248"/>
            <a:ext cx="384048" cy="384048"/>
          </a:xfrm>
          <a:prstGeom prst="ellipse">
            <a:avLst/>
          </a:prstGeom>
          <a:solidFill>
            <a:srgbClr val="003366"/>
          </a:solidFill>
          <a:ln w="12700">
            <a:solidFill>
              <a:srgbClr val="003366"/>
            </a:solidFill>
            <a:prstDash val="solid"/>
          </a:ln>
        </p:spPr>
      </p:sp>
      <p:sp>
        <p:nvSpPr>
          <p:cNvPr id="15" name="Text 13"/>
          <p:cNvSpPr txBox="1"/>
          <p:nvPr/>
        </p:nvSpPr>
        <p:spPr>
          <a:xfrm>
            <a:off x="4498848" y="3127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6" name="Text 14"/>
          <p:cNvSpPr txBox="1"/>
          <p:nvPr/>
        </p:nvSpPr>
        <p:spPr>
          <a:xfrm>
            <a:off x="5010912" y="3154680"/>
            <a:ext cx="26060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minmax(260px, 1fr)</a:t>
            </a:r>
            <a:endParaRPr lang="en-US" sz="1700" dirty="0"/>
          </a:p>
        </p:txBody>
      </p:sp>
      <p:sp>
        <p:nvSpPr>
          <p:cNvPr id="17" name="Text 15"/>
          <p:cNvSpPr txBox="1"/>
          <p:nvPr/>
        </p:nvSpPr>
        <p:spPr>
          <a:xfrm>
            <a:off x="4553712" y="3547872"/>
            <a:ext cx="3008376" cy="630936"/>
          </a:xfrm>
          <a:prstGeom prst="rect">
            <a:avLst/>
          </a:prstGeom>
          <a:noFill/>
          <a:ln/>
        </p:spPr>
        <p:txBody>
          <a:bodyPr wrap="square" lIns="0" tIns="0" rIns="0" bIns="0" rtlCol="0" anchor="t"/>
          <a:lstStyle/>
          <a:p>
            <a:pPr indent="0" marL="0">
              <a:spcAft>
                <a:spcPts val="600"/>
              </a:spcAft>
              <a:buNone/>
            </a:pPr>
            <a:r>
              <a:rPr lang="en-US" sz="1300" dirty="0">
                <a:solidFill>
                  <a:srgbClr val="3D4A57"/>
                </a:solidFill>
                <a:latin typeface="Arial" pitchFamily="34" charset="0"/>
                <a:ea typeface="Arial" pitchFamily="34" charset="-122"/>
                <a:cs typeface="Arial" pitchFamily="34" charset="-120"/>
              </a:rPr>
              <a:t>Never narrower than 260px, otherwise share the space equally</a:t>
            </a:r>
            <a:endParaRPr lang="en-US" sz="1300" dirty="0"/>
          </a:p>
        </p:txBody>
      </p:sp>
      <p:sp>
        <p:nvSpPr>
          <p:cNvPr id="18" name="Shape 16"/>
          <p:cNvSpPr/>
          <p:nvPr/>
        </p:nvSpPr>
        <p:spPr>
          <a:xfrm>
            <a:off x="8046720" y="2926080"/>
            <a:ext cx="3566160" cy="1417320"/>
          </a:xfrm>
          <a:prstGeom prst="roundRect">
            <a:avLst>
              <a:gd name="adj" fmla="val 516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19" name="Shape 17"/>
          <p:cNvSpPr/>
          <p:nvPr/>
        </p:nvSpPr>
        <p:spPr>
          <a:xfrm>
            <a:off x="8247888" y="3127248"/>
            <a:ext cx="384048" cy="384048"/>
          </a:xfrm>
          <a:prstGeom prst="ellipse">
            <a:avLst/>
          </a:prstGeom>
          <a:solidFill>
            <a:srgbClr val="003366"/>
          </a:solidFill>
          <a:ln w="12700">
            <a:solidFill>
              <a:srgbClr val="003366"/>
            </a:solidFill>
            <a:prstDash val="solid"/>
          </a:ln>
        </p:spPr>
      </p:sp>
      <p:sp>
        <p:nvSpPr>
          <p:cNvPr id="20" name="Text 18"/>
          <p:cNvSpPr txBox="1"/>
          <p:nvPr/>
        </p:nvSpPr>
        <p:spPr>
          <a:xfrm>
            <a:off x="8247888" y="3127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txBox="1"/>
          <p:nvPr/>
        </p:nvSpPr>
        <p:spPr>
          <a:xfrm>
            <a:off x="8759952" y="3154680"/>
            <a:ext cx="265176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The result</a:t>
            </a:r>
            <a:endParaRPr lang="en-US" sz="1700" dirty="0"/>
          </a:p>
        </p:txBody>
      </p:sp>
      <p:sp>
        <p:nvSpPr>
          <p:cNvPr id="22" name="Text 20"/>
          <p:cNvSpPr txBox="1"/>
          <p:nvPr/>
        </p:nvSpPr>
        <p:spPr>
          <a:xfrm>
            <a:off x="8302752" y="3547872"/>
            <a:ext cx="3054096" cy="630936"/>
          </a:xfrm>
          <a:prstGeom prst="rect">
            <a:avLst/>
          </a:prstGeom>
          <a:noFill/>
          <a:ln/>
        </p:spPr>
        <p:txBody>
          <a:bodyPr wrap="square" lIns="0" tIns="0" rIns="0" bIns="0" rtlCol="0" anchor="t"/>
          <a:lstStyle/>
          <a:p>
            <a:pPr indent="0" marL="0">
              <a:spcAft>
                <a:spcPts val="600"/>
              </a:spcAft>
              <a:buNone/>
            </a:pPr>
            <a:r>
              <a:rPr lang="en-US" sz="1300" dirty="0">
                <a:solidFill>
                  <a:srgbClr val="3D4A57"/>
                </a:solidFill>
                <a:latin typeface="Arial" pitchFamily="34" charset="0"/>
                <a:ea typeface="Arial" pitchFamily="34" charset="-122"/>
                <a:cs typeface="Arial" pitchFamily="34" charset="-120"/>
              </a:rPr>
              <a:t>4 columns on a laptop, 2 on a tablet, 1 on a phone</a:t>
            </a:r>
            <a:endParaRPr lang="en-US" sz="1300" dirty="0"/>
          </a:p>
        </p:txBody>
      </p:sp>
      <p:sp>
        <p:nvSpPr>
          <p:cNvPr id="23" name="Shape 21"/>
          <p:cNvSpPr/>
          <p:nvPr/>
        </p:nvSpPr>
        <p:spPr>
          <a:xfrm>
            <a:off x="548640" y="4572000"/>
            <a:ext cx="11064240" cy="1325880"/>
          </a:xfrm>
          <a:prstGeom prst="roundRect">
            <a:avLst>
              <a:gd name="adj" fmla="val 5517"/>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24" name="Shape 22"/>
          <p:cNvSpPr/>
          <p:nvPr/>
        </p:nvSpPr>
        <p:spPr>
          <a:xfrm>
            <a:off x="749808" y="4773168"/>
            <a:ext cx="384048" cy="384048"/>
          </a:xfrm>
          <a:prstGeom prst="ellipse">
            <a:avLst/>
          </a:prstGeom>
          <a:solidFill>
            <a:srgbClr val="1F7A55"/>
          </a:solidFill>
          <a:ln w="12700">
            <a:solidFill>
              <a:srgbClr val="1F7A55"/>
            </a:solidFill>
            <a:prstDash val="solid"/>
          </a:ln>
        </p:spPr>
      </p:sp>
      <p:sp>
        <p:nvSpPr>
          <p:cNvPr id="25" name="Text 23"/>
          <p:cNvSpPr txBox="1"/>
          <p:nvPr/>
        </p:nvSpPr>
        <p:spPr>
          <a:xfrm>
            <a:off x="749808" y="47731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6" name="Text 24"/>
          <p:cNvSpPr txBox="1"/>
          <p:nvPr/>
        </p:nvSpPr>
        <p:spPr>
          <a:xfrm>
            <a:off x="1261872" y="4800600"/>
            <a:ext cx="101498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This is responsive with no media query at all</a:t>
            </a:r>
            <a:endParaRPr lang="en-US" sz="1700" dirty="0"/>
          </a:p>
        </p:txBody>
      </p:sp>
      <p:sp>
        <p:nvSpPr>
          <p:cNvPr id="27" name="Text 25"/>
          <p:cNvSpPr txBox="1"/>
          <p:nvPr/>
        </p:nvSpPr>
        <p:spPr>
          <a:xfrm>
            <a:off x="804672" y="5193792"/>
            <a:ext cx="10552176" cy="539496"/>
          </a:xfrm>
          <a:prstGeom prst="rect">
            <a:avLst/>
          </a:prstGeom>
          <a:noFill/>
          <a:ln/>
        </p:spPr>
        <p:txBody>
          <a:bodyPr wrap="square" lIns="0" tIns="0" rIns="0" bIns="0" rtlCol="0" anchor="t"/>
          <a:lstStyle/>
          <a:p>
            <a:pPr indent="0" marL="0">
              <a:spcAft>
                <a:spcPts val="600"/>
              </a:spcAft>
              <a:buNone/>
            </a:pPr>
            <a:r>
              <a:rPr lang="en-US" sz="1350" dirty="0">
                <a:solidFill>
                  <a:srgbClr val="3D4A57"/>
                </a:solidFill>
                <a:latin typeface="Arial" pitchFamily="34" charset="0"/>
                <a:ea typeface="Arial" pitchFamily="34" charset="-122"/>
                <a:cs typeface="Arial" pitchFamily="34" charset="-120"/>
              </a:rPr>
              <a:t>Resize the browser and the column count changes by itself. For galleries, card lists and product grids, this single declaration is usually the whole job.</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CONCEPT</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Flexbox or Grid?</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12</a:t>
            </a:r>
            <a:endParaRPr lang="en-US" sz="900" dirty="0"/>
          </a:p>
        </p:txBody>
      </p:sp>
      <p:sp>
        <p:nvSpPr>
          <p:cNvPr id="6" name="Shape 4"/>
          <p:cNvSpPr/>
          <p:nvPr/>
        </p:nvSpPr>
        <p:spPr>
          <a:xfrm>
            <a:off x="548640" y="1371600"/>
            <a:ext cx="5486400" cy="2651760"/>
          </a:xfrm>
          <a:prstGeom prst="roundRect">
            <a:avLst>
              <a:gd name="adj" fmla="val 2759"/>
            </a:avLst>
          </a:prstGeom>
          <a:solidFill>
            <a:srgbClr val="003366"/>
          </a:solidFill>
          <a:ln w="12700">
            <a:solidFill>
              <a:srgbClr val="003366"/>
            </a:solidFill>
            <a:prstDash val="solid"/>
          </a:ln>
          <a:effectLst>
            <a:outerShdw sx="100000" sy="100000" kx="0" ky="0" algn="bl" rotWithShape="0" blurRad="76200" dist="12700" dir="5400000">
              <a:srgbClr val="9AA9B8">
                <a:alpha val="18000"/>
              </a:srgbClr>
            </a:outerShdw>
          </a:effectLst>
        </p:spPr>
      </p:sp>
      <p:sp>
        <p:nvSpPr>
          <p:cNvPr id="7" name="Text 5"/>
          <p:cNvSpPr txBox="1"/>
          <p:nvPr/>
        </p:nvSpPr>
        <p:spPr>
          <a:xfrm>
            <a:off x="804672" y="1572768"/>
            <a:ext cx="4974336" cy="329184"/>
          </a:xfrm>
          <a:prstGeom prst="rect">
            <a:avLst/>
          </a:prstGeom>
          <a:noFill/>
          <a:ln/>
        </p:spPr>
        <p:txBody>
          <a:bodyPr wrap="square" lIns="0" tIns="0" rIns="0" bIns="0" rtlCol="0" anchor="ctr"/>
          <a:lstStyle/>
          <a:p>
            <a:pPr indent="0" marL="0">
              <a:buNone/>
            </a:pPr>
            <a:r>
              <a:rPr lang="en-US" sz="1700" b="1" dirty="0">
                <a:solidFill>
                  <a:srgbClr val="E39A18"/>
                </a:solidFill>
                <a:latin typeface="Arial" pitchFamily="34" charset="0"/>
                <a:ea typeface="Arial" pitchFamily="34" charset="-122"/>
                <a:cs typeface="Arial" pitchFamily="34" charset="-120"/>
              </a:rPr>
              <a:t>Use Flexbox when</a:t>
            </a:r>
            <a:endParaRPr lang="en-US" sz="1700" dirty="0"/>
          </a:p>
        </p:txBody>
      </p:sp>
      <p:sp>
        <p:nvSpPr>
          <p:cNvPr id="8" name="Text 6"/>
          <p:cNvSpPr txBox="1"/>
          <p:nvPr/>
        </p:nvSpPr>
        <p:spPr>
          <a:xfrm>
            <a:off x="804672" y="1993392"/>
            <a:ext cx="4974336" cy="1865376"/>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The items sit in ONE line or column</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A nav bar: title left, links right</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A row of buttons</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Vertically centring something</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The content decides the sizes</a:t>
            </a:r>
            <a:endParaRPr lang="en-US" sz="1350" dirty="0"/>
          </a:p>
        </p:txBody>
      </p:sp>
      <p:sp>
        <p:nvSpPr>
          <p:cNvPr id="9" name="Shape 7"/>
          <p:cNvSpPr/>
          <p:nvPr/>
        </p:nvSpPr>
        <p:spPr>
          <a:xfrm>
            <a:off x="6309360" y="1371600"/>
            <a:ext cx="5303520" cy="2651760"/>
          </a:xfrm>
          <a:prstGeom prst="roundRect">
            <a:avLst>
              <a:gd name="adj" fmla="val 2759"/>
            </a:avLst>
          </a:prstGeom>
          <a:solidFill>
            <a:srgbClr val="0A4A85"/>
          </a:solidFill>
          <a:ln w="12700">
            <a:solidFill>
              <a:srgbClr val="0A4A85"/>
            </a:solidFill>
            <a:prstDash val="solid"/>
          </a:ln>
          <a:effectLst>
            <a:outerShdw sx="100000" sy="100000" kx="0" ky="0" algn="bl" rotWithShape="0" blurRad="76200" dist="12700" dir="5400000">
              <a:srgbClr val="9AA9B8">
                <a:alpha val="18000"/>
              </a:srgbClr>
            </a:outerShdw>
          </a:effectLst>
        </p:spPr>
      </p:sp>
      <p:sp>
        <p:nvSpPr>
          <p:cNvPr id="10" name="Text 8"/>
          <p:cNvSpPr txBox="1"/>
          <p:nvPr/>
        </p:nvSpPr>
        <p:spPr>
          <a:xfrm>
            <a:off x="6565392" y="1572768"/>
            <a:ext cx="4791456" cy="329184"/>
          </a:xfrm>
          <a:prstGeom prst="rect">
            <a:avLst/>
          </a:prstGeom>
          <a:noFill/>
          <a:ln/>
        </p:spPr>
        <p:txBody>
          <a:bodyPr wrap="square" lIns="0" tIns="0" rIns="0" bIns="0" rtlCol="0" anchor="ctr"/>
          <a:lstStyle/>
          <a:p>
            <a:pPr indent="0" marL="0">
              <a:buNone/>
            </a:pPr>
            <a:r>
              <a:rPr lang="en-US" sz="1700" b="1" dirty="0">
                <a:solidFill>
                  <a:srgbClr val="E39A18"/>
                </a:solidFill>
                <a:latin typeface="Arial" pitchFamily="34" charset="0"/>
                <a:ea typeface="Arial" pitchFamily="34" charset="-122"/>
                <a:cs typeface="Arial" pitchFamily="34" charset="-120"/>
              </a:rPr>
              <a:t>Use Grid when</a:t>
            </a:r>
            <a:endParaRPr lang="en-US" sz="1700" dirty="0"/>
          </a:p>
        </p:txBody>
      </p:sp>
      <p:sp>
        <p:nvSpPr>
          <p:cNvPr id="11" name="Text 9"/>
          <p:cNvSpPr txBox="1"/>
          <p:nvPr/>
        </p:nvSpPr>
        <p:spPr>
          <a:xfrm>
            <a:off x="6565392" y="1993392"/>
            <a:ext cx="4791456" cy="1865376"/>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You need rows AND columns at once</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A gallery or card grid</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A whole page skeleton</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You want the layout to decide the sizes</a:t>
            </a:r>
            <a:endParaRPr lang="en-US" sz="1350" dirty="0"/>
          </a:p>
        </p:txBody>
      </p:sp>
      <p:sp>
        <p:nvSpPr>
          <p:cNvPr id="12" name="Shape 10"/>
          <p:cNvSpPr/>
          <p:nvPr/>
        </p:nvSpPr>
        <p:spPr>
          <a:xfrm>
            <a:off x="548640" y="4251960"/>
            <a:ext cx="11064240" cy="1691640"/>
          </a:xfrm>
          <a:prstGeom prst="roundRect">
            <a:avLst>
              <a:gd name="adj" fmla="val 4324"/>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13" name="Shape 11"/>
          <p:cNvSpPr/>
          <p:nvPr/>
        </p:nvSpPr>
        <p:spPr>
          <a:xfrm>
            <a:off x="749808" y="4453128"/>
            <a:ext cx="384048" cy="384048"/>
          </a:xfrm>
          <a:prstGeom prst="ellipse">
            <a:avLst/>
          </a:prstGeom>
          <a:solidFill>
            <a:srgbClr val="1F7A55"/>
          </a:solidFill>
          <a:ln w="12700">
            <a:solidFill>
              <a:srgbClr val="1F7A55"/>
            </a:solidFill>
            <a:prstDash val="solid"/>
          </a:ln>
        </p:spPr>
      </p:sp>
      <p:sp>
        <p:nvSpPr>
          <p:cNvPr id="14" name="Text 12"/>
          <p:cNvSpPr txBox="1"/>
          <p:nvPr/>
        </p:nvSpPr>
        <p:spPr>
          <a:xfrm>
            <a:off x="749808" y="44531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1261872" y="4480560"/>
            <a:ext cx="101498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You will use both on the same page, and that is correct</a:t>
            </a:r>
            <a:endParaRPr lang="en-US" sz="1700" dirty="0"/>
          </a:p>
        </p:txBody>
      </p:sp>
      <p:sp>
        <p:nvSpPr>
          <p:cNvPr id="16" name="Text 14"/>
          <p:cNvSpPr txBox="1"/>
          <p:nvPr/>
        </p:nvSpPr>
        <p:spPr>
          <a:xfrm>
            <a:off x="804672" y="4873752"/>
            <a:ext cx="10552176" cy="90525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D4A57"/>
                </a:solidFill>
                <a:latin typeface="Arial" pitchFamily="34" charset="0"/>
                <a:ea typeface="Arial" pitchFamily="34" charset="-122"/>
                <a:cs typeface="Arial" pitchFamily="34" charset="-120"/>
              </a:rPr>
              <a:t>Typical structure: Grid for the page skeleton, Flexbox inside each area for its contents.</a:t>
            </a:r>
            <a:endParaRPr lang="en-US" sz="1350" dirty="0"/>
          </a:p>
          <a:p>
            <a:pPr marL="342900" indent="-342900">
              <a:spcAft>
                <a:spcPts val="400"/>
              </a:spcAft>
              <a:buSzPct val="100000"/>
              <a:buChar char="•"/>
            </a:pPr>
            <a:r>
              <a:rPr lang="en-US" sz="1350" dirty="0">
                <a:solidFill>
                  <a:srgbClr val="3D4A57"/>
                </a:solidFill>
                <a:latin typeface="Arial" pitchFamily="34" charset="0"/>
                <a:ea typeface="Arial" pitchFamily="34" charset="-122"/>
                <a:cs typeface="Arial" pitchFamily="34" charset="-120"/>
              </a:rPr>
              <a:t>If you cannot decide, ask: am I arranging along one line, or filling a table of slots?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10241280" y="4480560"/>
            <a:ext cx="2743200" cy="2743200"/>
          </a:xfrm>
          <a:prstGeom prst="ellipse">
            <a:avLst/>
          </a:prstGeom>
          <a:solidFill>
            <a:srgbClr val="07386A"/>
          </a:solidFill>
          <a:ln w="12700">
            <a:solidFill>
              <a:srgbClr val="07386A"/>
            </a:solidFill>
            <a:prstDash val="solid"/>
          </a:ln>
        </p:spPr>
      </p:sp>
      <p:sp>
        <p:nvSpPr>
          <p:cNvPr id="3" name="Text 1"/>
          <p:cNvSpPr txBox="1"/>
          <p:nvPr/>
        </p:nvSpPr>
        <p:spPr>
          <a:xfrm>
            <a:off x="548640" y="2057400"/>
            <a:ext cx="1828800" cy="822960"/>
          </a:xfrm>
          <a:prstGeom prst="rect">
            <a:avLst/>
          </a:prstGeom>
          <a:noFill/>
          <a:ln/>
        </p:spPr>
        <p:txBody>
          <a:bodyPr wrap="square" lIns="0" tIns="0" rIns="0" bIns="0" rtlCol="0" anchor="ctr"/>
          <a:lstStyle/>
          <a:p>
            <a:pPr indent="0" marL="0">
              <a:buNone/>
            </a:pPr>
            <a:r>
              <a:rPr lang="en-US" sz="6400" b="1" dirty="0">
                <a:solidFill>
                  <a:srgbClr val="E39A18"/>
                </a:solidFill>
                <a:latin typeface="Arial" pitchFamily="34" charset="0"/>
                <a:ea typeface="Arial" pitchFamily="34" charset="-122"/>
                <a:cs typeface="Arial" pitchFamily="34" charset="-120"/>
              </a:rPr>
              <a:t>02</a:t>
            </a:r>
            <a:endParaRPr lang="en-US" sz="6400" dirty="0"/>
          </a:p>
        </p:txBody>
      </p:sp>
      <p:sp>
        <p:nvSpPr>
          <p:cNvPr id="4" name="Text 2"/>
          <p:cNvSpPr txBox="1"/>
          <p:nvPr/>
        </p:nvSpPr>
        <p:spPr>
          <a:xfrm>
            <a:off x="548640" y="2971800"/>
            <a:ext cx="1005840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Responsive &amp; Mobile-First</a:t>
            </a:r>
            <a:endParaRPr lang="en-US" sz="3800" dirty="0"/>
          </a:p>
        </p:txBody>
      </p:sp>
      <p:sp>
        <p:nvSpPr>
          <p:cNvPr id="5" name="Text 3"/>
          <p:cNvSpPr txBox="1"/>
          <p:nvPr/>
        </p:nvSpPr>
        <p:spPr>
          <a:xfrm>
            <a:off x="548640" y="3749040"/>
            <a:ext cx="9601200" cy="457200"/>
          </a:xfrm>
          <a:prstGeom prst="rect">
            <a:avLst/>
          </a:prstGeom>
          <a:noFill/>
          <a:ln/>
        </p:spPr>
        <p:txBody>
          <a:bodyPr wrap="square" lIns="0" tIns="0" rIns="0" bIns="0" rtlCol="0" anchor="ctr"/>
          <a:lstStyle/>
          <a:p>
            <a:pPr indent="0" marL="0">
              <a:buNone/>
            </a:pPr>
            <a:r>
              <a:rPr lang="en-US" sz="1500" dirty="0">
                <a:solidFill>
                  <a:srgbClr val="9FC0DE"/>
                </a:solidFill>
                <a:latin typeface="Arial" pitchFamily="34" charset="0"/>
                <a:ea typeface="Arial" pitchFamily="34" charset="-122"/>
                <a:cs typeface="Arial" pitchFamily="34" charset="-120"/>
              </a:rPr>
              <a:t>Most of your users are on a phone. Design for that first, then add the desktop.</a:t>
            </a:r>
            <a:endParaRPr lang="en-US" sz="1500" dirty="0"/>
          </a:p>
        </p:txBody>
      </p:sp>
      <p:sp>
        <p:nvSpPr>
          <p:cNvPr id="6" name="Text 4"/>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E93B8"/>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RESPONSIVE</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Mobile-First: Why and How</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14</a:t>
            </a:r>
            <a:endParaRPr lang="en-US" sz="900" dirty="0"/>
          </a:p>
        </p:txBody>
      </p:sp>
      <p:sp>
        <p:nvSpPr>
          <p:cNvPr id="6" name="Shape 4"/>
          <p:cNvSpPr/>
          <p:nvPr/>
        </p:nvSpPr>
        <p:spPr>
          <a:xfrm>
            <a:off x="548640" y="1371600"/>
            <a:ext cx="5852160" cy="1022096"/>
          </a:xfrm>
          <a:prstGeom prst="roundRect">
            <a:avLst>
              <a:gd name="adj" fmla="val 5368"/>
            </a:avLst>
          </a:prstGeom>
          <a:solidFill>
            <a:srgbClr val="0D1B2A"/>
          </a:solidFill>
          <a:ln w="12700">
            <a:solidFill>
              <a:srgbClr val="0D1B2A"/>
            </a:solidFill>
            <a:prstDash val="solid"/>
          </a:ln>
        </p:spPr>
      </p:sp>
      <p:sp>
        <p:nvSpPr>
          <p:cNvPr id="7" name="Text 5"/>
          <p:cNvSpPr txBox="1"/>
          <p:nvPr/>
        </p:nvSpPr>
        <p:spPr>
          <a:xfrm>
            <a:off x="658368" y="1481328"/>
            <a:ext cx="5632704" cy="802640"/>
          </a:xfrm>
          <a:prstGeom prst="rect">
            <a:avLst/>
          </a:prstGeom>
          <a:noFill/>
          <a:ln/>
        </p:spPr>
        <p:txBody>
          <a:bodyPr wrap="square" lIns="0" tIns="0" rIns="0" bIns="0" rtlCol="0" anchor="t"/>
          <a:lstStyle/>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&lt;!-- Without this, a phone pretends to be</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980px wide and shrinks everything --&gt;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&lt;meta name=</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"viewport"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content="width=device-width, initial-scale=1.0"&gt;</a:t>
            </a:r>
            <a:endParaRPr lang="en-US" sz="1150" dirty="0"/>
          </a:p>
        </p:txBody>
      </p:sp>
      <p:sp>
        <p:nvSpPr>
          <p:cNvPr id="8" name="Text 6"/>
          <p:cNvSpPr txBox="1"/>
          <p:nvPr/>
        </p:nvSpPr>
        <p:spPr>
          <a:xfrm>
            <a:off x="548640" y="2880360"/>
            <a:ext cx="5852160" cy="256032"/>
          </a:xfrm>
          <a:prstGeom prst="rect">
            <a:avLst/>
          </a:prstGeom>
          <a:noFill/>
          <a:ln/>
        </p:spPr>
        <p:txBody>
          <a:bodyPr wrap="square" lIns="0" tIns="0" rIns="0" bIns="0" rtlCol="0" anchor="ctr"/>
          <a:lstStyle/>
          <a:p>
            <a:pPr indent="0" marL="0">
              <a:buNone/>
            </a:pPr>
            <a:r>
              <a:rPr lang="en-US" sz="1200" b="1" spc="60" kern="0" dirty="0">
                <a:solidFill>
                  <a:srgbClr val="B3261E"/>
                </a:solidFill>
                <a:latin typeface="Arial" pitchFamily="34" charset="0"/>
                <a:ea typeface="Arial" pitchFamily="34" charset="-122"/>
                <a:cs typeface="Arial" pitchFamily="34" charset="-120"/>
              </a:rPr>
              <a:t>DESKTOP-FIRST — harder</a:t>
            </a:r>
            <a:endParaRPr lang="en-US" sz="1200" dirty="0"/>
          </a:p>
        </p:txBody>
      </p:sp>
      <p:sp>
        <p:nvSpPr>
          <p:cNvPr id="9" name="Shape 7"/>
          <p:cNvSpPr/>
          <p:nvPr/>
        </p:nvSpPr>
        <p:spPr>
          <a:xfrm>
            <a:off x="548640" y="3154680"/>
            <a:ext cx="5852160" cy="1168400"/>
          </a:xfrm>
          <a:prstGeom prst="roundRect">
            <a:avLst>
              <a:gd name="adj" fmla="val 4696"/>
            </a:avLst>
          </a:prstGeom>
          <a:solidFill>
            <a:srgbClr val="0D1B2A"/>
          </a:solidFill>
          <a:ln w="12700">
            <a:solidFill>
              <a:srgbClr val="0D1B2A"/>
            </a:solidFill>
            <a:prstDash val="solid"/>
          </a:ln>
        </p:spPr>
      </p:sp>
      <p:sp>
        <p:nvSpPr>
          <p:cNvPr id="10" name="Text 8"/>
          <p:cNvSpPr txBox="1"/>
          <p:nvPr/>
        </p:nvSpPr>
        <p:spPr>
          <a:xfrm>
            <a:off x="658368" y="3264408"/>
            <a:ext cx="5632704" cy="948944"/>
          </a:xfrm>
          <a:prstGeom prst="rect">
            <a:avLst/>
          </a:prstGeom>
          <a:noFill/>
          <a:ln/>
        </p:spPr>
        <p:txBody>
          <a:bodyPr wrap="square" lIns="0" tIns="0" rIns="0" bIns="0" rtlCol="0" anchor="t"/>
          <a:lstStyle/>
          <a:p>
            <a:pPr indent="0" marL="0">
              <a:lnSpc>
                <a:spcPts val="1408"/>
              </a:lnSpc>
              <a:buNone/>
            </a:pPr>
            <a:r>
              <a:rPr lang="en-US" sz="1100" dirty="0">
                <a:solidFill>
                  <a:srgbClr val="FFC46B"/>
                </a:solidFill>
                <a:latin typeface="Courier New" pitchFamily="34" charset="0"/>
                <a:ea typeface="Courier New" pitchFamily="34" charset="-122"/>
                <a:cs typeface="Courier New" pitchFamily="34" charset="-120"/>
              </a:rPr>
              <a:t>.card-row </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display: flex; }</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ts val="1408"/>
              </a:lnSpc>
              <a:buNone/>
            </a:pPr>
            <a:r>
              <a:rPr lang="en-US" sz="1100" dirty="0">
                <a:solidFill>
                  <a:srgbClr val="FFC46B"/>
                </a:solidFill>
                <a:latin typeface="Courier New" pitchFamily="34" charset="0"/>
                <a:ea typeface="Courier New" pitchFamily="34" charset="-122"/>
                <a:cs typeface="Courier New" pitchFamily="34" charset="-120"/>
              </a:rPr>
              <a:t>@media (max-width: 768px) </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ts val="1408"/>
              </a:lnSpc>
              <a:buNone/>
            </a:pPr>
            <a:r>
              <a:rPr lang="en-US" sz="1100" dirty="0">
                <a:solidFill>
                  <a:srgbClr val="FFC46B"/>
                </a:solidFill>
                <a:latin typeface="Courier New" pitchFamily="34" charset="0"/>
                <a:ea typeface="Courier New" pitchFamily="34" charset="-122"/>
                <a:cs typeface="Courier New" pitchFamily="34" charset="-120"/>
              </a:rPr>
              <a:t>  .card-row </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display: block; }</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p:txBody>
      </p:sp>
      <p:sp>
        <p:nvSpPr>
          <p:cNvPr id="11" name="Text 9"/>
          <p:cNvSpPr txBox="1"/>
          <p:nvPr/>
        </p:nvSpPr>
        <p:spPr>
          <a:xfrm>
            <a:off x="6583680" y="1325880"/>
            <a:ext cx="5029200" cy="256032"/>
          </a:xfrm>
          <a:prstGeom prst="rect">
            <a:avLst/>
          </a:prstGeom>
          <a:noFill/>
          <a:ln/>
        </p:spPr>
        <p:txBody>
          <a:bodyPr wrap="square" lIns="0" tIns="0" rIns="0" bIns="0" rtlCol="0" anchor="ctr"/>
          <a:lstStyle/>
          <a:p>
            <a:pPr indent="0" marL="0">
              <a:buNone/>
            </a:pPr>
            <a:r>
              <a:rPr lang="en-US" sz="1200" b="1" spc="60" kern="0" dirty="0">
                <a:solidFill>
                  <a:srgbClr val="1F7A55"/>
                </a:solidFill>
                <a:latin typeface="Arial" pitchFamily="34" charset="0"/>
                <a:ea typeface="Arial" pitchFamily="34" charset="-122"/>
                <a:cs typeface="Arial" pitchFamily="34" charset="-120"/>
              </a:rPr>
              <a:t>MOBILE-FIRST — do this</a:t>
            </a:r>
            <a:endParaRPr lang="en-US" sz="1200" dirty="0"/>
          </a:p>
        </p:txBody>
      </p:sp>
      <p:sp>
        <p:nvSpPr>
          <p:cNvPr id="12" name="Shape 10"/>
          <p:cNvSpPr/>
          <p:nvPr/>
        </p:nvSpPr>
        <p:spPr>
          <a:xfrm>
            <a:off x="6583680" y="1600200"/>
            <a:ext cx="5029200" cy="2420112"/>
          </a:xfrm>
          <a:prstGeom prst="roundRect">
            <a:avLst>
              <a:gd name="adj" fmla="val 2267"/>
            </a:avLst>
          </a:prstGeom>
          <a:solidFill>
            <a:srgbClr val="0D1B2A"/>
          </a:solidFill>
          <a:ln w="12700">
            <a:solidFill>
              <a:srgbClr val="0D1B2A"/>
            </a:solidFill>
            <a:prstDash val="solid"/>
          </a:ln>
        </p:spPr>
      </p:sp>
      <p:sp>
        <p:nvSpPr>
          <p:cNvPr id="13" name="Text 11"/>
          <p:cNvSpPr txBox="1"/>
          <p:nvPr/>
        </p:nvSpPr>
        <p:spPr>
          <a:xfrm>
            <a:off x="6693408" y="1709928"/>
            <a:ext cx="4809744" cy="2200656"/>
          </a:xfrm>
          <a:prstGeom prst="rect">
            <a:avLst/>
          </a:prstGeom>
          <a:noFill/>
          <a:ln/>
        </p:spPr>
        <p:txBody>
          <a:bodyPr wrap="square" lIns="0" tIns="0" rIns="0" bIns="0" rtlCol="0" anchor="t"/>
          <a:lstStyle/>
          <a:p>
            <a:pPr indent="0" marL="0">
              <a:lnSpc>
                <a:spcPts val="1408"/>
              </a:lnSpc>
              <a:buNone/>
            </a:pPr>
            <a:r>
              <a:rPr lang="en-US" sz="1100" dirty="0">
                <a:solidFill>
                  <a:srgbClr val="8296A8"/>
                </a:solidFill>
                <a:latin typeface="Courier New" pitchFamily="34" charset="0"/>
                <a:ea typeface="Courier New" pitchFamily="34" charset="-122"/>
                <a:cs typeface="Courier New" pitchFamily="34" charset="-120"/>
              </a:rPr>
              <a:t>/* base = phone, no query */</a:t>
            </a:r>
            <a:endParaRPr lang="en-US" sz="1100" dirty="0"/>
          </a:p>
          <a:p>
            <a:pPr indent="0" marL="0">
              <a:lnSpc>
                <a:spcPts val="1408"/>
              </a:lnSpc>
              <a:buNone/>
            </a:pPr>
            <a:r>
              <a:rPr lang="en-US" sz="1100" dirty="0">
                <a:solidFill>
                  <a:srgbClr val="FFC46B"/>
                </a:solidFill>
                <a:latin typeface="Courier New" pitchFamily="34" charset="0"/>
                <a:ea typeface="Courier New" pitchFamily="34" charset="-122"/>
                <a:cs typeface="Courier New" pitchFamily="34" charset="-120"/>
              </a:rPr>
              <a:t>.card-row </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display</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block;</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ts val="1408"/>
              </a:lnSpc>
              <a:buNone/>
            </a:pPr>
            <a:r>
              <a:rPr lang="en-US" sz="1100" dirty="0">
                <a:solidFill>
                  <a:srgbClr val="8296A8"/>
                </a:solidFill>
                <a:latin typeface="Courier New" pitchFamily="34" charset="0"/>
                <a:ea typeface="Courier New" pitchFamily="34" charset="-122"/>
                <a:cs typeface="Courier New" pitchFamily="34" charset="-120"/>
              </a:rPr>
              <a:t>/* then ADD for bigger screens */</a:t>
            </a:r>
            <a:endParaRPr lang="en-US" sz="1100" dirty="0"/>
          </a:p>
          <a:p>
            <a:pPr indent="0" marL="0">
              <a:lnSpc>
                <a:spcPts val="1408"/>
              </a:lnSpc>
              <a:buNone/>
            </a:pPr>
            <a:r>
              <a:rPr lang="en-US" sz="1100" dirty="0">
                <a:solidFill>
                  <a:srgbClr val="FFC46B"/>
                </a:solidFill>
                <a:latin typeface="Courier New" pitchFamily="34" charset="0"/>
                <a:ea typeface="Courier New" pitchFamily="34" charset="-122"/>
                <a:cs typeface="Courier New" pitchFamily="34" charset="-120"/>
              </a:rPr>
              <a:t>@media (min-width: 768px) </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ts val="1408"/>
              </a:lnSpc>
              <a:buNone/>
            </a:pPr>
            <a:r>
              <a:rPr lang="en-US" sz="1100" dirty="0">
                <a:solidFill>
                  <a:srgbClr val="FFC46B"/>
                </a:solidFill>
                <a:latin typeface="Courier New" pitchFamily="34" charset="0"/>
                <a:ea typeface="Courier New" pitchFamily="34" charset="-122"/>
                <a:cs typeface="Courier New" pitchFamily="34" charset="-120"/>
              </a:rPr>
              <a:t>  .card-row </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display</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flex;</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8FD3FF"/>
                </a:solidFill>
                <a:latin typeface="Courier New" pitchFamily="34" charset="0"/>
                <a:ea typeface="Courier New" pitchFamily="34" charset="-122"/>
                <a:cs typeface="Courier New" pitchFamily="34" charset="-120"/>
              </a:rPr>
              <a:t>gap</a:t>
            </a:r>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pPr indent="0" marL="0">
              <a:lnSpc>
                <a:spcPts val="1408"/>
              </a:lnSpc>
              <a:buNone/>
            </a:pPr>
            <a:r>
              <a:rPr lang="en-US" sz="1100" dirty="0">
                <a:solidFill>
                  <a:srgbClr val="A8E6A3"/>
                </a:solidFill>
                <a:latin typeface="Courier New" pitchFamily="34" charset="0"/>
                <a:ea typeface="Courier New" pitchFamily="34" charset="-122"/>
                <a:cs typeface="Courier New" pitchFamily="34" charset="-120"/>
              </a:rPr>
              <a:t>20px;</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  }</a:t>
            </a:r>
            <a:endParaRPr lang="en-US" sz="1100" dirty="0"/>
          </a:p>
          <a:p>
            <a:pPr indent="0" marL="0">
              <a:lnSpc>
                <a:spcPts val="1408"/>
              </a:lnSpc>
              <a:buNone/>
            </a:pPr>
            <a:r>
              <a:rPr lang="en-US" sz="1100" dirty="0">
                <a:solidFill>
                  <a:srgbClr val="E8EEF7"/>
                </a:solidFill>
                <a:latin typeface="Courier New" pitchFamily="34" charset="0"/>
                <a:ea typeface="Courier New" pitchFamily="34" charset="-122"/>
                <a:cs typeface="Courier New" pitchFamily="34" charset="-120"/>
              </a:rPr>
              <a:t>}</a:t>
            </a:r>
            <a:endParaRPr lang="en-US" sz="1100" dirty="0"/>
          </a:p>
        </p:txBody>
      </p:sp>
      <p:sp>
        <p:nvSpPr>
          <p:cNvPr id="14" name="Shape 12"/>
          <p:cNvSpPr/>
          <p:nvPr/>
        </p:nvSpPr>
        <p:spPr>
          <a:xfrm>
            <a:off x="6583680" y="4160520"/>
            <a:ext cx="5029200" cy="1783080"/>
          </a:xfrm>
          <a:prstGeom prst="roundRect">
            <a:avLst>
              <a:gd name="adj" fmla="val 4103"/>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5" name="Shape 13"/>
          <p:cNvSpPr/>
          <p:nvPr/>
        </p:nvSpPr>
        <p:spPr>
          <a:xfrm>
            <a:off x="6784848" y="4361688"/>
            <a:ext cx="384048" cy="384048"/>
          </a:xfrm>
          <a:prstGeom prst="ellipse">
            <a:avLst/>
          </a:prstGeom>
          <a:solidFill>
            <a:srgbClr val="E39A18"/>
          </a:solidFill>
          <a:ln w="12700">
            <a:solidFill>
              <a:srgbClr val="E39A18"/>
            </a:solidFill>
            <a:prstDash val="solid"/>
          </a:ln>
        </p:spPr>
      </p:sp>
      <p:sp>
        <p:nvSpPr>
          <p:cNvPr id="16" name="Text 14"/>
          <p:cNvSpPr txBox="1"/>
          <p:nvPr/>
        </p:nvSpPr>
        <p:spPr>
          <a:xfrm>
            <a:off x="6784848" y="43616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7" name="Text 15"/>
          <p:cNvSpPr txBox="1"/>
          <p:nvPr/>
        </p:nvSpPr>
        <p:spPr>
          <a:xfrm>
            <a:off x="7296912" y="4389120"/>
            <a:ext cx="411480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Why mobile-first wins</a:t>
            </a:r>
            <a:endParaRPr lang="en-US" sz="1700" dirty="0"/>
          </a:p>
        </p:txBody>
      </p:sp>
      <p:sp>
        <p:nvSpPr>
          <p:cNvPr id="18" name="Text 16"/>
          <p:cNvSpPr txBox="1"/>
          <p:nvPr/>
        </p:nvSpPr>
        <p:spPr>
          <a:xfrm>
            <a:off x="6839712" y="4782312"/>
            <a:ext cx="4517136" cy="99669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The simplest layout needs no query at all</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You add complexity instead of undoing it</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Old phones never download rules they cannot use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RESPONSIVE</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Media Queries and Breakpoints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15</a:t>
            </a:r>
            <a:endParaRPr lang="en-US" sz="900" dirty="0"/>
          </a:p>
        </p:txBody>
      </p:sp>
      <p:sp>
        <p:nvSpPr>
          <p:cNvPr id="6" name="Shape 4"/>
          <p:cNvSpPr/>
          <p:nvPr/>
        </p:nvSpPr>
        <p:spPr>
          <a:xfrm>
            <a:off x="548640" y="1371600"/>
            <a:ext cx="6035040" cy="2704592"/>
          </a:xfrm>
          <a:prstGeom prst="roundRect">
            <a:avLst>
              <a:gd name="adj" fmla="val 2029"/>
            </a:avLst>
          </a:prstGeom>
          <a:solidFill>
            <a:srgbClr val="0D1B2A"/>
          </a:solidFill>
          <a:ln w="12700">
            <a:solidFill>
              <a:srgbClr val="0D1B2A"/>
            </a:solidFill>
            <a:prstDash val="solid"/>
          </a:ln>
        </p:spPr>
      </p:sp>
      <p:sp>
        <p:nvSpPr>
          <p:cNvPr id="7" name="Text 5"/>
          <p:cNvSpPr txBox="1"/>
          <p:nvPr/>
        </p:nvSpPr>
        <p:spPr>
          <a:xfrm>
            <a:off x="658368" y="1481328"/>
            <a:ext cx="5815584" cy="2485136"/>
          </a:xfrm>
          <a:prstGeom prst="rect">
            <a:avLst/>
          </a:prstGeom>
          <a:noFill/>
          <a:ln/>
        </p:spPr>
        <p:txBody>
          <a:bodyPr wrap="square" lIns="0" tIns="0" rIns="0" bIns="0" rtlCol="0" anchor="t"/>
          <a:lstStyle/>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Base styles: phone. No media query.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.container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padding: 16px;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Tablet and up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@media (min-width: 768px)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  .container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padding: 24px;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  .card-row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display: flex; gap: 20px;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Laptop and up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@media (min-width: 1024px)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  .container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max-width: 1100px;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
        <p:nvSpPr>
          <p:cNvPr id="8" name="Shape 6"/>
          <p:cNvSpPr/>
          <p:nvPr/>
        </p:nvSpPr>
        <p:spPr>
          <a:xfrm>
            <a:off x="6766560" y="1371600"/>
            <a:ext cx="4846320" cy="804672"/>
          </a:xfrm>
          <a:prstGeom prst="roundRect">
            <a:avLst>
              <a:gd name="adj" fmla="val 9091"/>
            </a:avLst>
          </a:prstGeom>
          <a:solidFill>
            <a:srgbClr val="E8EEF4"/>
          </a:solidFill>
          <a:ln w="12700">
            <a:solidFill>
              <a:srgbClr val="E8EEF4"/>
            </a:solidFill>
            <a:prstDash val="solid"/>
          </a:ln>
        </p:spPr>
      </p:sp>
      <p:sp>
        <p:nvSpPr>
          <p:cNvPr id="9" name="Text 7"/>
          <p:cNvSpPr txBox="1"/>
          <p:nvPr/>
        </p:nvSpPr>
        <p:spPr>
          <a:xfrm>
            <a:off x="6949440" y="1426464"/>
            <a:ext cx="1097280" cy="69494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Phone</a:t>
            </a:r>
            <a:endParaRPr lang="en-US" sz="1300" dirty="0"/>
          </a:p>
        </p:txBody>
      </p:sp>
      <p:sp>
        <p:nvSpPr>
          <p:cNvPr id="10" name="Text 8"/>
          <p:cNvSpPr txBox="1"/>
          <p:nvPr/>
        </p:nvSpPr>
        <p:spPr>
          <a:xfrm>
            <a:off x="8046720" y="1426464"/>
            <a:ext cx="2194560" cy="694944"/>
          </a:xfrm>
          <a:prstGeom prst="rect">
            <a:avLst/>
          </a:prstGeom>
          <a:noFill/>
          <a:ln/>
        </p:spPr>
        <p:txBody>
          <a:bodyPr wrap="square" lIns="0" tIns="0" rIns="0" bIns="0" rtlCol="0" anchor="ctr"/>
          <a:lstStyle/>
          <a:p>
            <a:pPr indent="0" marL="0">
              <a:buNone/>
            </a:pPr>
            <a:r>
              <a:rPr lang="en-US" sz="1050" dirty="0">
                <a:solidFill>
                  <a:srgbClr val="3D4A57"/>
                </a:solidFill>
                <a:latin typeface="Courier New" pitchFamily="34" charset="0"/>
                <a:ea typeface="Courier New" pitchFamily="34" charset="-122"/>
                <a:cs typeface="Courier New" pitchFamily="34" charset="-120"/>
              </a:rPr>
              <a:t>base, no query</a:t>
            </a:r>
            <a:endParaRPr lang="en-US" sz="1050" dirty="0"/>
          </a:p>
        </p:txBody>
      </p:sp>
      <p:sp>
        <p:nvSpPr>
          <p:cNvPr id="11" name="Text 9"/>
          <p:cNvSpPr txBox="1"/>
          <p:nvPr/>
        </p:nvSpPr>
        <p:spPr>
          <a:xfrm>
            <a:off x="10241280" y="1426464"/>
            <a:ext cx="1188720" cy="694944"/>
          </a:xfrm>
          <a:prstGeom prst="rect">
            <a:avLst/>
          </a:prstGeom>
          <a:noFill/>
          <a:ln/>
        </p:spPr>
        <p:txBody>
          <a:bodyPr wrap="square" lIns="0" tIns="0" rIns="0" bIns="0" rtlCol="0" anchor="ctr"/>
          <a:lstStyle/>
          <a:p>
            <a:pPr indent="0" marL="0">
              <a:buNone/>
            </a:pPr>
            <a:r>
              <a:rPr lang="en-US" sz="1050" dirty="0">
                <a:solidFill>
                  <a:srgbClr val="6B7A88"/>
                </a:solidFill>
                <a:latin typeface="Arial" pitchFamily="34" charset="0"/>
                <a:ea typeface="Arial" pitchFamily="34" charset="-122"/>
                <a:cs typeface="Arial" pitchFamily="34" charset="-120"/>
              </a:rPr>
              <a:t>up to 767px</a:t>
            </a:r>
            <a:endParaRPr lang="en-US" sz="1050" dirty="0"/>
          </a:p>
        </p:txBody>
      </p:sp>
      <p:sp>
        <p:nvSpPr>
          <p:cNvPr id="12" name="Shape 10"/>
          <p:cNvSpPr/>
          <p:nvPr/>
        </p:nvSpPr>
        <p:spPr>
          <a:xfrm>
            <a:off x="6766560" y="2286000"/>
            <a:ext cx="4846320" cy="804672"/>
          </a:xfrm>
          <a:prstGeom prst="roundRect">
            <a:avLst>
              <a:gd name="adj" fmla="val 9091"/>
            </a:avLst>
          </a:prstGeom>
          <a:solidFill>
            <a:srgbClr val="F2F5F8"/>
          </a:solidFill>
          <a:ln w="12700">
            <a:solidFill>
              <a:srgbClr val="F2F5F8"/>
            </a:solidFill>
            <a:prstDash val="solid"/>
          </a:ln>
        </p:spPr>
      </p:sp>
      <p:sp>
        <p:nvSpPr>
          <p:cNvPr id="13" name="Text 11"/>
          <p:cNvSpPr txBox="1"/>
          <p:nvPr/>
        </p:nvSpPr>
        <p:spPr>
          <a:xfrm>
            <a:off x="6949440" y="2340864"/>
            <a:ext cx="1097280" cy="69494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Tablet</a:t>
            </a:r>
            <a:endParaRPr lang="en-US" sz="1300" dirty="0"/>
          </a:p>
        </p:txBody>
      </p:sp>
      <p:sp>
        <p:nvSpPr>
          <p:cNvPr id="14" name="Text 12"/>
          <p:cNvSpPr txBox="1"/>
          <p:nvPr/>
        </p:nvSpPr>
        <p:spPr>
          <a:xfrm>
            <a:off x="8046720" y="2340864"/>
            <a:ext cx="2194560" cy="694944"/>
          </a:xfrm>
          <a:prstGeom prst="rect">
            <a:avLst/>
          </a:prstGeom>
          <a:noFill/>
          <a:ln/>
        </p:spPr>
        <p:txBody>
          <a:bodyPr wrap="square" lIns="0" tIns="0" rIns="0" bIns="0" rtlCol="0" anchor="ctr"/>
          <a:lstStyle/>
          <a:p>
            <a:pPr indent="0" marL="0">
              <a:buNone/>
            </a:pPr>
            <a:r>
              <a:rPr lang="en-US" sz="1050" dirty="0">
                <a:solidFill>
                  <a:srgbClr val="3D4A57"/>
                </a:solidFill>
                <a:latin typeface="Courier New" pitchFamily="34" charset="0"/>
                <a:ea typeface="Courier New" pitchFamily="34" charset="-122"/>
                <a:cs typeface="Courier New" pitchFamily="34" charset="-120"/>
              </a:rPr>
              <a:t>min-width: 768px</a:t>
            </a:r>
            <a:endParaRPr lang="en-US" sz="1050" dirty="0"/>
          </a:p>
        </p:txBody>
      </p:sp>
      <p:sp>
        <p:nvSpPr>
          <p:cNvPr id="15" name="Text 13"/>
          <p:cNvSpPr txBox="1"/>
          <p:nvPr/>
        </p:nvSpPr>
        <p:spPr>
          <a:xfrm>
            <a:off x="10241280" y="2340864"/>
            <a:ext cx="1188720" cy="694944"/>
          </a:xfrm>
          <a:prstGeom prst="rect">
            <a:avLst/>
          </a:prstGeom>
          <a:noFill/>
          <a:ln/>
        </p:spPr>
        <p:txBody>
          <a:bodyPr wrap="square" lIns="0" tIns="0" rIns="0" bIns="0" rtlCol="0" anchor="ctr"/>
          <a:lstStyle/>
          <a:p>
            <a:pPr indent="0" marL="0">
              <a:buNone/>
            </a:pPr>
            <a:r>
              <a:rPr lang="en-US" sz="1050" dirty="0">
                <a:solidFill>
                  <a:srgbClr val="6B7A88"/>
                </a:solidFill>
                <a:latin typeface="Arial" pitchFamily="34" charset="0"/>
                <a:ea typeface="Arial" pitchFamily="34" charset="-122"/>
                <a:cs typeface="Arial" pitchFamily="34" charset="-120"/>
              </a:rPr>
              <a:t>768 - 1023px</a:t>
            </a:r>
            <a:endParaRPr lang="en-US" sz="1050" dirty="0"/>
          </a:p>
        </p:txBody>
      </p:sp>
      <p:sp>
        <p:nvSpPr>
          <p:cNvPr id="16" name="Shape 14"/>
          <p:cNvSpPr/>
          <p:nvPr/>
        </p:nvSpPr>
        <p:spPr>
          <a:xfrm>
            <a:off x="6766560" y="3200400"/>
            <a:ext cx="4846320" cy="804672"/>
          </a:xfrm>
          <a:prstGeom prst="roundRect">
            <a:avLst>
              <a:gd name="adj" fmla="val 9091"/>
            </a:avLst>
          </a:prstGeom>
          <a:solidFill>
            <a:srgbClr val="E8EEF4"/>
          </a:solidFill>
          <a:ln w="12700">
            <a:solidFill>
              <a:srgbClr val="E8EEF4"/>
            </a:solidFill>
            <a:prstDash val="solid"/>
          </a:ln>
        </p:spPr>
      </p:sp>
      <p:sp>
        <p:nvSpPr>
          <p:cNvPr id="17" name="Text 15"/>
          <p:cNvSpPr txBox="1"/>
          <p:nvPr/>
        </p:nvSpPr>
        <p:spPr>
          <a:xfrm>
            <a:off x="6949440" y="3255264"/>
            <a:ext cx="1097280" cy="69494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Laptop</a:t>
            </a:r>
            <a:endParaRPr lang="en-US" sz="1300" dirty="0"/>
          </a:p>
        </p:txBody>
      </p:sp>
      <p:sp>
        <p:nvSpPr>
          <p:cNvPr id="18" name="Text 16"/>
          <p:cNvSpPr txBox="1"/>
          <p:nvPr/>
        </p:nvSpPr>
        <p:spPr>
          <a:xfrm>
            <a:off x="8046720" y="3255264"/>
            <a:ext cx="2194560" cy="694944"/>
          </a:xfrm>
          <a:prstGeom prst="rect">
            <a:avLst/>
          </a:prstGeom>
          <a:noFill/>
          <a:ln/>
        </p:spPr>
        <p:txBody>
          <a:bodyPr wrap="square" lIns="0" tIns="0" rIns="0" bIns="0" rtlCol="0" anchor="ctr"/>
          <a:lstStyle/>
          <a:p>
            <a:pPr indent="0" marL="0">
              <a:buNone/>
            </a:pPr>
            <a:r>
              <a:rPr lang="en-US" sz="1050" dirty="0">
                <a:solidFill>
                  <a:srgbClr val="3D4A57"/>
                </a:solidFill>
                <a:latin typeface="Courier New" pitchFamily="34" charset="0"/>
                <a:ea typeface="Courier New" pitchFamily="34" charset="-122"/>
                <a:cs typeface="Courier New" pitchFamily="34" charset="-120"/>
              </a:rPr>
              <a:t>min-width: 1024px</a:t>
            </a:r>
            <a:endParaRPr lang="en-US" sz="1050" dirty="0"/>
          </a:p>
        </p:txBody>
      </p:sp>
      <p:sp>
        <p:nvSpPr>
          <p:cNvPr id="19" name="Text 17"/>
          <p:cNvSpPr txBox="1"/>
          <p:nvPr/>
        </p:nvSpPr>
        <p:spPr>
          <a:xfrm>
            <a:off x="10241280" y="3255264"/>
            <a:ext cx="1188720" cy="694944"/>
          </a:xfrm>
          <a:prstGeom prst="rect">
            <a:avLst/>
          </a:prstGeom>
          <a:noFill/>
          <a:ln/>
        </p:spPr>
        <p:txBody>
          <a:bodyPr wrap="square" lIns="0" tIns="0" rIns="0" bIns="0" rtlCol="0" anchor="ctr"/>
          <a:lstStyle/>
          <a:p>
            <a:pPr indent="0" marL="0">
              <a:buNone/>
            </a:pPr>
            <a:r>
              <a:rPr lang="en-US" sz="1050" dirty="0">
                <a:solidFill>
                  <a:srgbClr val="6B7A88"/>
                </a:solidFill>
                <a:latin typeface="Arial" pitchFamily="34" charset="0"/>
                <a:ea typeface="Arial" pitchFamily="34" charset="-122"/>
                <a:cs typeface="Arial" pitchFamily="34" charset="-120"/>
              </a:rPr>
              <a:t>1024px and up</a:t>
            </a:r>
            <a:endParaRPr lang="en-US" sz="1050" dirty="0"/>
          </a:p>
        </p:txBody>
      </p:sp>
      <p:sp>
        <p:nvSpPr>
          <p:cNvPr id="20" name="Shape 18"/>
          <p:cNvSpPr/>
          <p:nvPr/>
        </p:nvSpPr>
        <p:spPr>
          <a:xfrm>
            <a:off x="6766560" y="4206240"/>
            <a:ext cx="4846320" cy="1737360"/>
          </a:xfrm>
          <a:prstGeom prst="roundRect">
            <a:avLst>
              <a:gd name="adj" fmla="val 4211"/>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21" name="Shape 19"/>
          <p:cNvSpPr/>
          <p:nvPr/>
        </p:nvSpPr>
        <p:spPr>
          <a:xfrm>
            <a:off x="6967728" y="4407408"/>
            <a:ext cx="384048" cy="384048"/>
          </a:xfrm>
          <a:prstGeom prst="ellipse">
            <a:avLst/>
          </a:prstGeom>
          <a:solidFill>
            <a:srgbClr val="1F7A55"/>
          </a:solidFill>
          <a:ln w="12700">
            <a:solidFill>
              <a:srgbClr val="1F7A55"/>
            </a:solidFill>
            <a:prstDash val="solid"/>
          </a:ln>
        </p:spPr>
      </p:sp>
      <p:sp>
        <p:nvSpPr>
          <p:cNvPr id="22" name="Text 20"/>
          <p:cNvSpPr txBox="1"/>
          <p:nvPr/>
        </p:nvSpPr>
        <p:spPr>
          <a:xfrm>
            <a:off x="6967728" y="44074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3" name="Text 21"/>
          <p:cNvSpPr txBox="1"/>
          <p:nvPr/>
        </p:nvSpPr>
        <p:spPr>
          <a:xfrm>
            <a:off x="7479792" y="4434840"/>
            <a:ext cx="39319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Two breakpoints is enough</a:t>
            </a:r>
            <a:endParaRPr lang="en-US" sz="1700" dirty="0"/>
          </a:p>
        </p:txBody>
      </p:sp>
      <p:sp>
        <p:nvSpPr>
          <p:cNvPr id="24" name="Text 22"/>
          <p:cNvSpPr txBox="1"/>
          <p:nvPr/>
        </p:nvSpPr>
        <p:spPr>
          <a:xfrm>
            <a:off x="7022592" y="4828032"/>
            <a:ext cx="4334256" cy="95097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You do not need one per device. Add a breakpoint where the layout actually breaks, not at a famous number.</a:t>
            </a:r>
            <a:endParaRPr lang="en-US" sz="1250" dirty="0"/>
          </a:p>
        </p:txBody>
      </p:sp>
      <p:sp>
        <p:nvSpPr>
          <p:cNvPr id="25" name="Shape 23"/>
          <p:cNvSpPr/>
          <p:nvPr/>
        </p:nvSpPr>
        <p:spPr>
          <a:xfrm>
            <a:off x="548640" y="4114800"/>
            <a:ext cx="6035040" cy="1828800"/>
          </a:xfrm>
          <a:prstGeom prst="roundRect">
            <a:avLst>
              <a:gd name="adj" fmla="val 4000"/>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26" name="Text 24"/>
          <p:cNvSpPr txBox="1"/>
          <p:nvPr/>
        </p:nvSpPr>
        <p:spPr>
          <a:xfrm>
            <a:off x="804672" y="4315968"/>
            <a:ext cx="552297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Test it properly</a:t>
            </a:r>
            <a:endParaRPr lang="en-US" sz="1700" dirty="0"/>
          </a:p>
        </p:txBody>
      </p:sp>
      <p:sp>
        <p:nvSpPr>
          <p:cNvPr id="27" name="Text 25"/>
          <p:cNvSpPr txBox="1"/>
          <p:nvPr/>
        </p:nvSpPr>
        <p:spPr>
          <a:xfrm>
            <a:off x="804672" y="4736592"/>
            <a:ext cx="5522976" cy="104241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DevTools: click the phone icon (Ctrl+Shift+M)</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Try 360px, 768px and 1280px</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Drag the edge slowly and watch where it breaks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43-48 MIN</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Live Build: A Responsive Page</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16</a:t>
            </a:r>
            <a:endParaRPr lang="en-US" sz="900" dirty="0"/>
          </a:p>
        </p:txBody>
      </p:sp>
      <p:sp>
        <p:nvSpPr>
          <p:cNvPr id="6" name="Shape 4"/>
          <p:cNvSpPr/>
          <p:nvPr/>
        </p:nvSpPr>
        <p:spPr>
          <a:xfrm>
            <a:off x="548640" y="1325880"/>
            <a:ext cx="11064240" cy="4013200"/>
          </a:xfrm>
          <a:prstGeom prst="roundRect">
            <a:avLst>
              <a:gd name="adj" fmla="val 1367"/>
            </a:avLst>
          </a:prstGeom>
          <a:solidFill>
            <a:srgbClr val="0D1B2A"/>
          </a:solidFill>
          <a:ln w="12700">
            <a:solidFill>
              <a:srgbClr val="0D1B2A"/>
            </a:solidFill>
            <a:prstDash val="solid"/>
          </a:ln>
        </p:spPr>
      </p:sp>
      <p:sp>
        <p:nvSpPr>
          <p:cNvPr id="7" name="Text 5"/>
          <p:cNvSpPr txBox="1"/>
          <p:nvPr/>
        </p:nvSpPr>
        <p:spPr>
          <a:xfrm>
            <a:off x="658368" y="1435608"/>
            <a:ext cx="10844784" cy="3793744"/>
          </a:xfrm>
          <a:prstGeom prst="rect">
            <a:avLst/>
          </a:prstGeom>
          <a:noFill/>
          <a:ln/>
        </p:spPr>
        <p:txBody>
          <a:bodyPr wrap="square" lIns="0" tIns="0" rIns="0" bIns="0" rtlCol="0" anchor="t"/>
          <a:lstStyle/>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 BASE: phone. Everything stacks. ----------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 box-sizing: border-box;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.container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width: 92%; max-width: 1100px; margin: 0 auto; padding: 16px;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header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display: flex; flex-direction: column; gap: 8px;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.gallery { display: grid; gap: 16px; }          /* one column by default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 TABLET AND UP ----------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@media (min-width: 768px)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  header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flex-direction: row; justify-content: space-between; align-items: center;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  .gallery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grid-template-columns: repeat(auto-fit, minmax(260px, 1fr));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 LAPTOP AND UP ----------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@media (min-width: 1024px)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  .container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padding: 24px;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C1 · 48-50 MIN</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Common Mistakes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17</a:t>
            </a:r>
            <a:endParaRPr lang="en-US" sz="900" dirty="0"/>
          </a:p>
        </p:txBody>
      </p:sp>
      <p:sp>
        <p:nvSpPr>
          <p:cNvPr id="6" name="Shape 4"/>
          <p:cNvSpPr/>
          <p:nvPr/>
        </p:nvSpPr>
        <p:spPr>
          <a:xfrm>
            <a:off x="548640" y="1325880"/>
            <a:ext cx="11064240" cy="676656"/>
          </a:xfrm>
          <a:prstGeom prst="roundRect">
            <a:avLst>
              <a:gd name="adj" fmla="val 10811"/>
            </a:avLst>
          </a:prstGeom>
          <a:solidFill>
            <a:srgbClr val="FBEAE8"/>
          </a:solidFill>
          <a:ln w="12700">
            <a:solidFill>
              <a:srgbClr val="FBEAE8"/>
            </a:solidFill>
            <a:prstDash val="solid"/>
          </a:ln>
        </p:spPr>
      </p:sp>
      <p:sp>
        <p:nvSpPr>
          <p:cNvPr id="7" name="Text 5"/>
          <p:cNvSpPr txBox="1"/>
          <p:nvPr/>
        </p:nvSpPr>
        <p:spPr>
          <a:xfrm>
            <a:off x="777240" y="1325880"/>
            <a:ext cx="411480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Flexbox does nothing</a:t>
            </a:r>
            <a:endParaRPr lang="en-US" sz="1250" dirty="0"/>
          </a:p>
        </p:txBody>
      </p:sp>
      <p:sp>
        <p:nvSpPr>
          <p:cNvPr id="8" name="Text 6"/>
          <p:cNvSpPr txBox="1"/>
          <p:nvPr/>
        </p:nvSpPr>
        <p:spPr>
          <a:xfrm>
            <a:off x="5029200" y="1325880"/>
            <a:ext cx="630936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display: flex must be on the PARENT, not the items.</a:t>
            </a:r>
            <a:endParaRPr lang="en-US" sz="1200" dirty="0"/>
          </a:p>
        </p:txBody>
      </p:sp>
      <p:sp>
        <p:nvSpPr>
          <p:cNvPr id="9" name="Shape 7"/>
          <p:cNvSpPr/>
          <p:nvPr/>
        </p:nvSpPr>
        <p:spPr>
          <a:xfrm>
            <a:off x="548640" y="2103120"/>
            <a:ext cx="11064240" cy="676656"/>
          </a:xfrm>
          <a:prstGeom prst="roundRect">
            <a:avLst>
              <a:gd name="adj" fmla="val 10811"/>
            </a:avLst>
          </a:prstGeom>
          <a:solidFill>
            <a:srgbClr val="F2F5F8"/>
          </a:solidFill>
          <a:ln w="12700">
            <a:solidFill>
              <a:srgbClr val="F2F5F8"/>
            </a:solidFill>
            <a:prstDash val="solid"/>
          </a:ln>
        </p:spPr>
      </p:sp>
      <p:sp>
        <p:nvSpPr>
          <p:cNvPr id="10" name="Text 8"/>
          <p:cNvSpPr txBox="1"/>
          <p:nvPr/>
        </p:nvSpPr>
        <p:spPr>
          <a:xfrm>
            <a:off x="777240" y="2103120"/>
            <a:ext cx="411480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justify-content is not working</a:t>
            </a:r>
            <a:endParaRPr lang="en-US" sz="1250" dirty="0"/>
          </a:p>
        </p:txBody>
      </p:sp>
      <p:sp>
        <p:nvSpPr>
          <p:cNvPr id="11" name="Text 9"/>
          <p:cNvSpPr txBox="1"/>
          <p:nvPr/>
        </p:nvSpPr>
        <p:spPr>
          <a:xfrm>
            <a:off x="5029200" y="2103120"/>
            <a:ext cx="630936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You wanted align-items. Check which axis you mean.</a:t>
            </a:r>
            <a:endParaRPr lang="en-US" sz="1200" dirty="0"/>
          </a:p>
        </p:txBody>
      </p:sp>
      <p:sp>
        <p:nvSpPr>
          <p:cNvPr id="12" name="Shape 10"/>
          <p:cNvSpPr/>
          <p:nvPr/>
        </p:nvSpPr>
        <p:spPr>
          <a:xfrm>
            <a:off x="548640" y="2880360"/>
            <a:ext cx="11064240" cy="676656"/>
          </a:xfrm>
          <a:prstGeom prst="roundRect">
            <a:avLst>
              <a:gd name="adj" fmla="val 10811"/>
            </a:avLst>
          </a:prstGeom>
          <a:solidFill>
            <a:srgbClr val="FBEAE8"/>
          </a:solidFill>
          <a:ln w="12700">
            <a:solidFill>
              <a:srgbClr val="FBEAE8"/>
            </a:solidFill>
            <a:prstDash val="solid"/>
          </a:ln>
        </p:spPr>
      </p:sp>
      <p:sp>
        <p:nvSpPr>
          <p:cNvPr id="13" name="Text 11"/>
          <p:cNvSpPr txBox="1"/>
          <p:nvPr/>
        </p:nvSpPr>
        <p:spPr>
          <a:xfrm>
            <a:off x="777240" y="2880360"/>
            <a:ext cx="411480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Items squash instead of wrapping</a:t>
            </a:r>
            <a:endParaRPr lang="en-US" sz="1250" dirty="0"/>
          </a:p>
        </p:txBody>
      </p:sp>
      <p:sp>
        <p:nvSpPr>
          <p:cNvPr id="14" name="Text 12"/>
          <p:cNvSpPr txBox="1"/>
          <p:nvPr/>
        </p:nvSpPr>
        <p:spPr>
          <a:xfrm>
            <a:off x="5029200" y="2880360"/>
            <a:ext cx="630936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Add flex-wrap: wrap. It is not on by default.</a:t>
            </a:r>
            <a:endParaRPr lang="en-US" sz="1200" dirty="0"/>
          </a:p>
        </p:txBody>
      </p:sp>
      <p:sp>
        <p:nvSpPr>
          <p:cNvPr id="15" name="Shape 13"/>
          <p:cNvSpPr/>
          <p:nvPr/>
        </p:nvSpPr>
        <p:spPr>
          <a:xfrm>
            <a:off x="548640" y="3657600"/>
            <a:ext cx="11064240" cy="676656"/>
          </a:xfrm>
          <a:prstGeom prst="roundRect">
            <a:avLst>
              <a:gd name="adj" fmla="val 10811"/>
            </a:avLst>
          </a:prstGeom>
          <a:solidFill>
            <a:srgbClr val="F2F5F8"/>
          </a:solidFill>
          <a:ln w="12700">
            <a:solidFill>
              <a:srgbClr val="F2F5F8"/>
            </a:solidFill>
            <a:prstDash val="solid"/>
          </a:ln>
        </p:spPr>
      </p:sp>
      <p:sp>
        <p:nvSpPr>
          <p:cNvPr id="16" name="Text 14"/>
          <p:cNvSpPr txBox="1"/>
          <p:nvPr/>
        </p:nvSpPr>
        <p:spPr>
          <a:xfrm>
            <a:off x="777240" y="3657600"/>
            <a:ext cx="411480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The grid has one column only</a:t>
            </a:r>
            <a:endParaRPr lang="en-US" sz="1250" dirty="0"/>
          </a:p>
        </p:txBody>
      </p:sp>
      <p:sp>
        <p:nvSpPr>
          <p:cNvPr id="17" name="Text 15"/>
          <p:cNvSpPr txBox="1"/>
          <p:nvPr/>
        </p:nvSpPr>
        <p:spPr>
          <a:xfrm>
            <a:off x="5029200" y="3657600"/>
            <a:ext cx="630936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You set display: grid but no grid-template-columns.</a:t>
            </a:r>
            <a:endParaRPr lang="en-US" sz="1200" dirty="0"/>
          </a:p>
        </p:txBody>
      </p:sp>
      <p:sp>
        <p:nvSpPr>
          <p:cNvPr id="18" name="Shape 16"/>
          <p:cNvSpPr/>
          <p:nvPr/>
        </p:nvSpPr>
        <p:spPr>
          <a:xfrm>
            <a:off x="548640" y="4434840"/>
            <a:ext cx="11064240" cy="676656"/>
          </a:xfrm>
          <a:prstGeom prst="roundRect">
            <a:avLst>
              <a:gd name="adj" fmla="val 10811"/>
            </a:avLst>
          </a:prstGeom>
          <a:solidFill>
            <a:srgbClr val="FBEAE8"/>
          </a:solidFill>
          <a:ln w="12700">
            <a:solidFill>
              <a:srgbClr val="FBEAE8"/>
            </a:solidFill>
            <a:prstDash val="solid"/>
          </a:ln>
        </p:spPr>
      </p:sp>
      <p:sp>
        <p:nvSpPr>
          <p:cNvPr id="19" name="Text 17"/>
          <p:cNvSpPr txBox="1"/>
          <p:nvPr/>
        </p:nvSpPr>
        <p:spPr>
          <a:xfrm>
            <a:off x="777240" y="4434840"/>
            <a:ext cx="411480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The phone layout looks zoomed out</a:t>
            </a:r>
            <a:endParaRPr lang="en-US" sz="1250" dirty="0"/>
          </a:p>
        </p:txBody>
      </p:sp>
      <p:sp>
        <p:nvSpPr>
          <p:cNvPr id="20" name="Text 18"/>
          <p:cNvSpPr txBox="1"/>
          <p:nvPr/>
        </p:nvSpPr>
        <p:spPr>
          <a:xfrm>
            <a:off x="5029200" y="4434840"/>
            <a:ext cx="630936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Missing the viewport meta tag in the head.</a:t>
            </a:r>
            <a:endParaRPr lang="en-US" sz="1200" dirty="0"/>
          </a:p>
        </p:txBody>
      </p:sp>
      <p:sp>
        <p:nvSpPr>
          <p:cNvPr id="21" name="Shape 19"/>
          <p:cNvSpPr/>
          <p:nvPr/>
        </p:nvSpPr>
        <p:spPr>
          <a:xfrm>
            <a:off x="548640" y="5212080"/>
            <a:ext cx="11064240" cy="676656"/>
          </a:xfrm>
          <a:prstGeom prst="roundRect">
            <a:avLst>
              <a:gd name="adj" fmla="val 10811"/>
            </a:avLst>
          </a:prstGeom>
          <a:solidFill>
            <a:srgbClr val="F2F5F8"/>
          </a:solidFill>
          <a:ln w="12700">
            <a:solidFill>
              <a:srgbClr val="F2F5F8"/>
            </a:solidFill>
            <a:prstDash val="solid"/>
          </a:ln>
        </p:spPr>
      </p:sp>
      <p:sp>
        <p:nvSpPr>
          <p:cNvPr id="22" name="Text 20"/>
          <p:cNvSpPr txBox="1"/>
          <p:nvPr/>
        </p:nvSpPr>
        <p:spPr>
          <a:xfrm>
            <a:off x="777240" y="5212080"/>
            <a:ext cx="411480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My media query is ignored</a:t>
            </a:r>
            <a:endParaRPr lang="en-US" sz="1250" dirty="0"/>
          </a:p>
        </p:txBody>
      </p:sp>
      <p:sp>
        <p:nvSpPr>
          <p:cNvPr id="23" name="Text 21"/>
          <p:cNvSpPr txBox="1"/>
          <p:nvPr/>
        </p:nvSpPr>
        <p:spPr>
          <a:xfrm>
            <a:off x="5029200" y="5212080"/>
            <a:ext cx="630936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It sits above the base rule, or the syntax is (min-width: 768px) with the colon.</a:t>
            </a:r>
            <a:endParaRPr lang="en-US" sz="1200" dirty="0"/>
          </a:p>
        </p:txBody>
      </p:sp>
      <p:sp>
        <p:nvSpPr>
          <p:cNvPr id="24" name="Text 22"/>
          <p:cNvSpPr txBox="1"/>
          <p:nvPr/>
        </p:nvSpPr>
        <p:spPr>
          <a:xfrm>
            <a:off x="548640" y="6035040"/>
            <a:ext cx="11064240" cy="274320"/>
          </a:xfrm>
          <a:prstGeom prst="rect">
            <a:avLst/>
          </a:prstGeom>
          <a:noFill/>
          <a:ln/>
        </p:spPr>
        <p:txBody>
          <a:bodyPr wrap="square" lIns="0" tIns="0" rIns="0" bIns="0" rtlCol="0" anchor="t"/>
          <a:lstStyle/>
          <a:p>
            <a:pPr algn="l" indent="0" marL="0">
              <a:lnSpc>
                <a:spcPts val="1620"/>
              </a:lnSpc>
              <a:buNone/>
            </a:pPr>
            <a:r>
              <a:rPr lang="en-US" sz="1200" i="1" dirty="0">
                <a:solidFill>
                  <a:srgbClr val="6B7A88"/>
                </a:solidFill>
                <a:latin typeface="Arial" pitchFamily="34" charset="0"/>
                <a:ea typeface="Arial" pitchFamily="34" charset="-122"/>
                <a:cs typeface="Arial" pitchFamily="34" charset="-120"/>
              </a:rPr>
              <a:t>Order matters in CSS: a later rule wins over an earlier one with the same specificity. Media queries go at the BOTTOM.</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10241280" y="4480560"/>
            <a:ext cx="2743200" cy="2743200"/>
          </a:xfrm>
          <a:prstGeom prst="ellipse">
            <a:avLst/>
          </a:prstGeom>
          <a:solidFill>
            <a:srgbClr val="07386A"/>
          </a:solidFill>
          <a:ln w="12700">
            <a:solidFill>
              <a:srgbClr val="07386A"/>
            </a:solidFill>
            <a:prstDash val="solid"/>
          </a:ln>
        </p:spPr>
      </p:sp>
      <p:sp>
        <p:nvSpPr>
          <p:cNvPr id="3" name="Text 1"/>
          <p:cNvSpPr txBox="1"/>
          <p:nvPr/>
        </p:nvSpPr>
        <p:spPr>
          <a:xfrm>
            <a:off x="548640" y="2057400"/>
            <a:ext cx="1828800" cy="822960"/>
          </a:xfrm>
          <a:prstGeom prst="rect">
            <a:avLst/>
          </a:prstGeom>
          <a:noFill/>
          <a:ln/>
        </p:spPr>
        <p:txBody>
          <a:bodyPr wrap="square" lIns="0" tIns="0" rIns="0" bIns="0" rtlCol="0" anchor="ctr"/>
          <a:lstStyle/>
          <a:p>
            <a:pPr indent="0" marL="0">
              <a:buNone/>
            </a:pPr>
            <a:r>
              <a:rPr lang="en-US" sz="6400" b="1" dirty="0">
                <a:solidFill>
                  <a:srgbClr val="E39A18"/>
                </a:solidFill>
                <a:latin typeface="Arial" pitchFamily="34" charset="0"/>
                <a:ea typeface="Arial" pitchFamily="34" charset="-122"/>
                <a:cs typeface="Arial" pitchFamily="34" charset="-120"/>
              </a:rPr>
              <a:t>03</a:t>
            </a:r>
            <a:endParaRPr lang="en-US" sz="6400" dirty="0"/>
          </a:p>
        </p:txBody>
      </p:sp>
      <p:sp>
        <p:nvSpPr>
          <p:cNvPr id="4" name="Text 2"/>
          <p:cNvSpPr txBox="1"/>
          <p:nvPr/>
        </p:nvSpPr>
        <p:spPr>
          <a:xfrm>
            <a:off x="548640" y="2971800"/>
            <a:ext cx="10058400" cy="73152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Class 2 — Practice</a:t>
            </a:r>
            <a:endParaRPr lang="en-US" sz="3800" dirty="0"/>
          </a:p>
        </p:txBody>
      </p:sp>
      <p:sp>
        <p:nvSpPr>
          <p:cNvPr id="5" name="Text 3"/>
          <p:cNvSpPr txBox="1"/>
          <p:nvPr/>
        </p:nvSpPr>
        <p:spPr>
          <a:xfrm>
            <a:off x="548640" y="3749040"/>
            <a:ext cx="9601200" cy="457200"/>
          </a:xfrm>
          <a:prstGeom prst="rect">
            <a:avLst/>
          </a:prstGeom>
          <a:noFill/>
          <a:ln/>
        </p:spPr>
        <p:txBody>
          <a:bodyPr wrap="square" lIns="0" tIns="0" rIns="0" bIns="0" rtlCol="0" anchor="ctr"/>
          <a:lstStyle/>
          <a:p>
            <a:pPr indent="0" marL="0">
              <a:buNone/>
            </a:pPr>
            <a:r>
              <a:rPr lang="en-US" sz="1500" dirty="0">
                <a:solidFill>
                  <a:srgbClr val="9FC0DE"/>
                </a:solidFill>
                <a:latin typeface="Arial" pitchFamily="34" charset="0"/>
                <a:ea typeface="Arial" pitchFamily="34" charset="-122"/>
                <a:cs typeface="Arial" pitchFamily="34" charset="-120"/>
              </a:rPr>
              <a:t>Open the starter folder. You build and debug; I circulate.</a:t>
            </a:r>
            <a:endParaRPr lang="en-US" sz="1500" dirty="0"/>
          </a:p>
        </p:txBody>
      </p:sp>
      <p:sp>
        <p:nvSpPr>
          <p:cNvPr id="6" name="Text 4"/>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E93B8"/>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C2 · 0-7 MINUTES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Class 2: What You Will Do</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19</a:t>
            </a:r>
            <a:endParaRPr lang="en-US" sz="900" dirty="0"/>
          </a:p>
        </p:txBody>
      </p:sp>
      <p:sp>
        <p:nvSpPr>
          <p:cNvPr id="6" name="Shape 4"/>
          <p:cNvSpPr/>
          <p:nvPr/>
        </p:nvSpPr>
        <p:spPr>
          <a:xfrm>
            <a:off x="548640" y="1463040"/>
            <a:ext cx="2651760" cy="2743200"/>
          </a:xfrm>
          <a:prstGeom prst="roundRect">
            <a:avLst>
              <a:gd name="adj" fmla="val 2759"/>
            </a:avLst>
          </a:prstGeom>
          <a:solidFill>
            <a:srgbClr val="E8EEF4"/>
          </a:solidFill>
          <a:ln w="12700">
            <a:solidFill>
              <a:srgbClr val="E8EEF4"/>
            </a:solidFill>
            <a:prstDash val="solid"/>
          </a:ln>
          <a:effectLst>
            <a:outerShdw sx="100000" sy="100000" kx="0" ky="0" algn="bl" rotWithShape="0" blurRad="76200" dist="12700" dir="5400000">
              <a:srgbClr val="9AA9B8">
                <a:alpha val="18000"/>
              </a:srgbClr>
            </a:outerShdw>
          </a:effectLst>
        </p:spPr>
      </p:sp>
      <p:sp>
        <p:nvSpPr>
          <p:cNvPr id="7" name="Shape 5"/>
          <p:cNvSpPr/>
          <p:nvPr/>
        </p:nvSpPr>
        <p:spPr>
          <a:xfrm>
            <a:off x="749808" y="166420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261872" y="1691640"/>
            <a:ext cx="1737360" cy="329184"/>
          </a:xfrm>
          <a:prstGeom prst="rect">
            <a:avLst/>
          </a:prstGeom>
          <a:noFill/>
          <a:ln/>
        </p:spPr>
        <p:txBody>
          <a:bodyPr wrap="square" lIns="0" tIns="0" rIns="0" bIns="0" rtlCol="0" anchor="ctr"/>
          <a:lstStyle/>
          <a:p>
            <a:pPr indent="0" marL="0">
              <a:buNone/>
            </a:pPr>
            <a:r>
              <a:rPr lang="en-US" sz="1450" b="1" dirty="0">
                <a:solidFill>
                  <a:srgbClr val="003366"/>
                </a:solidFill>
                <a:latin typeface="Arial" pitchFamily="34" charset="0"/>
                <a:ea typeface="Arial" pitchFamily="34" charset="-122"/>
                <a:cs typeface="Arial" pitchFamily="34" charset="-120"/>
              </a:rPr>
              <a:t>Fix the broken layout</a:t>
            </a:r>
            <a:endParaRPr lang="en-US" sz="1450" dirty="0"/>
          </a:p>
        </p:txBody>
      </p:sp>
      <p:sp>
        <p:nvSpPr>
          <p:cNvPr id="10" name="Text 8"/>
          <p:cNvSpPr txBox="1"/>
          <p:nvPr/>
        </p:nvSpPr>
        <p:spPr>
          <a:xfrm>
            <a:off x="804672" y="2084832"/>
            <a:ext cx="2139696" cy="195681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Eight bugs planted in the CSS</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12 min</a:t>
            </a:r>
            <a:endParaRPr lang="en-US" sz="1250" dirty="0"/>
          </a:p>
        </p:txBody>
      </p:sp>
      <p:sp>
        <p:nvSpPr>
          <p:cNvPr id="11" name="Shape 9"/>
          <p:cNvSpPr/>
          <p:nvPr/>
        </p:nvSpPr>
        <p:spPr>
          <a:xfrm>
            <a:off x="3401568" y="1463040"/>
            <a:ext cx="2651760" cy="2743200"/>
          </a:xfrm>
          <a:prstGeom prst="roundRect">
            <a:avLst>
              <a:gd name="adj" fmla="val 2759"/>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12" name="Shape 10"/>
          <p:cNvSpPr/>
          <p:nvPr/>
        </p:nvSpPr>
        <p:spPr>
          <a:xfrm>
            <a:off x="3602736" y="1664208"/>
            <a:ext cx="384048" cy="384048"/>
          </a:xfrm>
          <a:prstGeom prst="ellipse">
            <a:avLst/>
          </a:prstGeom>
          <a:solidFill>
            <a:srgbClr val="003366"/>
          </a:solidFill>
          <a:ln w="12700">
            <a:solidFill>
              <a:srgbClr val="003366"/>
            </a:solidFill>
            <a:prstDash val="solid"/>
          </a:ln>
        </p:spPr>
      </p:sp>
      <p:sp>
        <p:nvSpPr>
          <p:cNvPr id="13" name="Text 11"/>
          <p:cNvSpPr txBox="1"/>
          <p:nvPr/>
        </p:nvSpPr>
        <p:spPr>
          <a:xfrm>
            <a:off x="3602736"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4114800" y="1691640"/>
            <a:ext cx="1737360" cy="329184"/>
          </a:xfrm>
          <a:prstGeom prst="rect">
            <a:avLst/>
          </a:prstGeom>
          <a:noFill/>
          <a:ln/>
        </p:spPr>
        <p:txBody>
          <a:bodyPr wrap="square" lIns="0" tIns="0" rIns="0" bIns="0" rtlCol="0" anchor="ctr"/>
          <a:lstStyle/>
          <a:p>
            <a:pPr indent="0" marL="0">
              <a:buNone/>
            </a:pPr>
            <a:r>
              <a:rPr lang="en-US" sz="1450" b="1" dirty="0">
                <a:solidFill>
                  <a:srgbClr val="003366"/>
                </a:solidFill>
                <a:latin typeface="Arial" pitchFamily="34" charset="0"/>
                <a:ea typeface="Arial" pitchFamily="34" charset="-122"/>
                <a:cs typeface="Arial" pitchFamily="34" charset="-120"/>
              </a:rPr>
              <a:t>Grid gallery</a:t>
            </a:r>
            <a:endParaRPr lang="en-US" sz="1450" dirty="0"/>
          </a:p>
        </p:txBody>
      </p:sp>
      <p:sp>
        <p:nvSpPr>
          <p:cNvPr id="15" name="Text 13"/>
          <p:cNvSpPr txBox="1"/>
          <p:nvPr/>
        </p:nvSpPr>
        <p:spPr>
          <a:xfrm>
            <a:off x="3657600" y="2084832"/>
            <a:ext cx="2139696" cy="195681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auto-fit and minmax from scratch</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8 min</a:t>
            </a:r>
            <a:endParaRPr lang="en-US" sz="1250" dirty="0"/>
          </a:p>
        </p:txBody>
      </p:sp>
      <p:sp>
        <p:nvSpPr>
          <p:cNvPr id="16" name="Shape 14"/>
          <p:cNvSpPr/>
          <p:nvPr/>
        </p:nvSpPr>
        <p:spPr>
          <a:xfrm>
            <a:off x="6254496" y="1463040"/>
            <a:ext cx="2651760" cy="2743200"/>
          </a:xfrm>
          <a:prstGeom prst="roundRect">
            <a:avLst>
              <a:gd name="adj" fmla="val 2759"/>
            </a:avLst>
          </a:prstGeom>
          <a:solidFill>
            <a:srgbClr val="E8EEF4"/>
          </a:solidFill>
          <a:ln w="12700">
            <a:solidFill>
              <a:srgbClr val="E8EEF4"/>
            </a:solidFill>
            <a:prstDash val="solid"/>
          </a:ln>
          <a:effectLst>
            <a:outerShdw sx="100000" sy="100000" kx="0" ky="0" algn="bl" rotWithShape="0" blurRad="76200" dist="12700" dir="5400000">
              <a:srgbClr val="9AA9B8">
                <a:alpha val="18000"/>
              </a:srgbClr>
            </a:outerShdw>
          </a:effectLst>
        </p:spPr>
      </p:sp>
      <p:sp>
        <p:nvSpPr>
          <p:cNvPr id="17" name="Shape 15"/>
          <p:cNvSpPr/>
          <p:nvPr/>
        </p:nvSpPr>
        <p:spPr>
          <a:xfrm>
            <a:off x="6455664" y="1664208"/>
            <a:ext cx="384048" cy="384048"/>
          </a:xfrm>
          <a:prstGeom prst="ellipse">
            <a:avLst/>
          </a:prstGeom>
          <a:solidFill>
            <a:srgbClr val="003366"/>
          </a:solidFill>
          <a:ln w="12700">
            <a:solidFill>
              <a:srgbClr val="003366"/>
            </a:solidFill>
            <a:prstDash val="solid"/>
          </a:ln>
        </p:spPr>
      </p:sp>
      <p:sp>
        <p:nvSpPr>
          <p:cNvPr id="18" name="Text 16"/>
          <p:cNvSpPr txBox="1"/>
          <p:nvPr/>
        </p:nvSpPr>
        <p:spPr>
          <a:xfrm>
            <a:off x="6455664"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Text 17"/>
          <p:cNvSpPr txBox="1"/>
          <p:nvPr/>
        </p:nvSpPr>
        <p:spPr>
          <a:xfrm>
            <a:off x="6967728" y="1691640"/>
            <a:ext cx="1737360" cy="329184"/>
          </a:xfrm>
          <a:prstGeom prst="rect">
            <a:avLst/>
          </a:prstGeom>
          <a:noFill/>
          <a:ln/>
        </p:spPr>
        <p:txBody>
          <a:bodyPr wrap="square" lIns="0" tIns="0" rIns="0" bIns="0" rtlCol="0" anchor="ctr"/>
          <a:lstStyle/>
          <a:p>
            <a:pPr indent="0" marL="0">
              <a:buNone/>
            </a:pPr>
            <a:r>
              <a:rPr lang="en-US" sz="1450" b="1" dirty="0">
                <a:solidFill>
                  <a:srgbClr val="003366"/>
                </a:solidFill>
                <a:latin typeface="Arial" pitchFamily="34" charset="0"/>
                <a:ea typeface="Arial" pitchFamily="34" charset="-122"/>
                <a:cs typeface="Arial" pitchFamily="34" charset="-120"/>
              </a:rPr>
              <a:t>Make it responsive</a:t>
            </a:r>
            <a:endParaRPr lang="en-US" sz="1450" dirty="0"/>
          </a:p>
        </p:txBody>
      </p:sp>
      <p:sp>
        <p:nvSpPr>
          <p:cNvPr id="20" name="Text 18"/>
          <p:cNvSpPr txBox="1"/>
          <p:nvPr/>
        </p:nvSpPr>
        <p:spPr>
          <a:xfrm>
            <a:off x="6510528" y="2084832"/>
            <a:ext cx="2139696" cy="195681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Mobile-first, two breakpoints</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8 min</a:t>
            </a:r>
            <a:endParaRPr lang="en-US" sz="1250" dirty="0"/>
          </a:p>
        </p:txBody>
      </p:sp>
      <p:sp>
        <p:nvSpPr>
          <p:cNvPr id="21" name="Shape 19"/>
          <p:cNvSpPr/>
          <p:nvPr/>
        </p:nvSpPr>
        <p:spPr>
          <a:xfrm>
            <a:off x="9107424" y="1463040"/>
            <a:ext cx="2651760" cy="2743200"/>
          </a:xfrm>
          <a:prstGeom prst="roundRect">
            <a:avLst>
              <a:gd name="adj" fmla="val 2759"/>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22" name="Shape 20"/>
          <p:cNvSpPr/>
          <p:nvPr/>
        </p:nvSpPr>
        <p:spPr>
          <a:xfrm>
            <a:off x="9308592" y="1664208"/>
            <a:ext cx="384048" cy="384048"/>
          </a:xfrm>
          <a:prstGeom prst="ellipse">
            <a:avLst/>
          </a:prstGeom>
          <a:solidFill>
            <a:srgbClr val="003366"/>
          </a:solidFill>
          <a:ln w="12700">
            <a:solidFill>
              <a:srgbClr val="003366"/>
            </a:solidFill>
            <a:prstDash val="solid"/>
          </a:ln>
        </p:spPr>
      </p:sp>
      <p:sp>
        <p:nvSpPr>
          <p:cNvPr id="23" name="Text 21"/>
          <p:cNvSpPr txBox="1"/>
          <p:nvPr/>
        </p:nvSpPr>
        <p:spPr>
          <a:xfrm>
            <a:off x="9308592"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4" name="Text 22"/>
          <p:cNvSpPr txBox="1"/>
          <p:nvPr/>
        </p:nvSpPr>
        <p:spPr>
          <a:xfrm>
            <a:off x="9820656" y="1691640"/>
            <a:ext cx="1737360" cy="329184"/>
          </a:xfrm>
          <a:prstGeom prst="rect">
            <a:avLst/>
          </a:prstGeom>
          <a:noFill/>
          <a:ln/>
        </p:spPr>
        <p:txBody>
          <a:bodyPr wrap="square" lIns="0" tIns="0" rIns="0" bIns="0" rtlCol="0" anchor="ctr"/>
          <a:lstStyle/>
          <a:p>
            <a:pPr indent="0" marL="0">
              <a:buNone/>
            </a:pPr>
            <a:r>
              <a:rPr lang="en-US" sz="1450" b="1" dirty="0">
                <a:solidFill>
                  <a:srgbClr val="003366"/>
                </a:solidFill>
                <a:latin typeface="Arial" pitchFamily="34" charset="0"/>
                <a:ea typeface="Arial" pitchFamily="34" charset="-122"/>
                <a:cs typeface="Arial" pitchFamily="34" charset="-120"/>
              </a:rPr>
              <a:t>Rebuild the target</a:t>
            </a:r>
            <a:endParaRPr lang="en-US" sz="1450" dirty="0"/>
          </a:p>
        </p:txBody>
      </p:sp>
      <p:sp>
        <p:nvSpPr>
          <p:cNvPr id="25" name="Text 23"/>
          <p:cNvSpPr txBox="1"/>
          <p:nvPr/>
        </p:nvSpPr>
        <p:spPr>
          <a:xfrm>
            <a:off x="9363456" y="2084832"/>
            <a:ext cx="2139696" cy="195681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Stretch task, and MP1 practice</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7 min</a:t>
            </a:r>
            <a:endParaRPr lang="en-US" sz="1250" dirty="0"/>
          </a:p>
        </p:txBody>
      </p:sp>
      <p:sp>
        <p:nvSpPr>
          <p:cNvPr id="26" name="Shape 24"/>
          <p:cNvSpPr/>
          <p:nvPr/>
        </p:nvSpPr>
        <p:spPr>
          <a:xfrm>
            <a:off x="548640" y="4480560"/>
            <a:ext cx="11064240" cy="1463040"/>
          </a:xfrm>
          <a:prstGeom prst="roundRect">
            <a:avLst>
              <a:gd name="adj" fmla="val 5000"/>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27" name="Shape 25"/>
          <p:cNvSpPr/>
          <p:nvPr/>
        </p:nvSpPr>
        <p:spPr>
          <a:xfrm>
            <a:off x="749808" y="4681728"/>
            <a:ext cx="384048" cy="384048"/>
          </a:xfrm>
          <a:prstGeom prst="ellipse">
            <a:avLst/>
          </a:prstGeom>
          <a:solidFill>
            <a:srgbClr val="E39A18"/>
          </a:solidFill>
          <a:ln w="12700">
            <a:solidFill>
              <a:srgbClr val="E39A18"/>
            </a:solidFill>
            <a:prstDash val="solid"/>
          </a:ln>
        </p:spPr>
      </p:sp>
      <p:sp>
        <p:nvSpPr>
          <p:cNvPr id="28" name="Text 26"/>
          <p:cNvSpPr txBox="1"/>
          <p:nvPr/>
        </p:nvSpPr>
        <p:spPr>
          <a:xfrm>
            <a:off x="749808" y="46817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1261872" y="4709160"/>
            <a:ext cx="101498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Mini Project 1 is evaluated in C4 this week</a:t>
            </a:r>
            <a:endParaRPr lang="en-US" sz="1700" dirty="0"/>
          </a:p>
        </p:txBody>
      </p:sp>
      <p:sp>
        <p:nvSpPr>
          <p:cNvPr id="30" name="Text 28"/>
          <p:cNvSpPr txBox="1"/>
          <p:nvPr/>
        </p:nvSpPr>
        <p:spPr>
          <a:xfrm>
            <a:off x="804672" y="5102352"/>
            <a:ext cx="10552176" cy="676656"/>
          </a:xfrm>
          <a:prstGeom prst="rect">
            <a:avLst/>
          </a:prstGeom>
          <a:noFill/>
          <a:ln/>
        </p:spPr>
        <p:txBody>
          <a:bodyPr wrap="square" lIns="0" tIns="0" rIns="0" bIns="0" rtlCol="0" anchor="t"/>
          <a:lstStyle/>
          <a:p>
            <a:pPr indent="0" marL="0">
              <a:spcAft>
                <a:spcPts val="600"/>
              </a:spcAft>
              <a:buNone/>
            </a:pPr>
            <a:r>
              <a:rPr lang="en-US" sz="1350" dirty="0">
                <a:solidFill>
                  <a:srgbClr val="3D4A57"/>
                </a:solidFill>
                <a:latin typeface="Arial" pitchFamily="34" charset="0"/>
                <a:ea typeface="Arial" pitchFamily="34" charset="-122"/>
                <a:cs typeface="Arial" pitchFamily="34" charset="-120"/>
              </a:rPr>
              <a:t>Everything you do today is directly reusable in it. Exercise 4 is deliberately close to what MP1 asks for.</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C2 · DEBUGGING</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DevTools for Layout</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20</a:t>
            </a:r>
            <a:endParaRPr lang="en-US" sz="900" dirty="0"/>
          </a:p>
        </p:txBody>
      </p:sp>
      <p:sp>
        <p:nvSpPr>
          <p:cNvPr id="6" name="Shape 4"/>
          <p:cNvSpPr/>
          <p:nvPr/>
        </p:nvSpPr>
        <p:spPr>
          <a:xfrm>
            <a:off x="548640" y="1417320"/>
            <a:ext cx="5349240" cy="1371600"/>
          </a:xfrm>
          <a:prstGeom prst="roundRect">
            <a:avLst>
              <a:gd name="adj" fmla="val 5333"/>
            </a:avLst>
          </a:prstGeom>
          <a:solidFill>
            <a:srgbClr val="E8EEF4"/>
          </a:solidFill>
          <a:ln w="12700">
            <a:solidFill>
              <a:srgbClr val="E8EEF4"/>
            </a:solidFill>
            <a:prstDash val="solid"/>
          </a:ln>
        </p:spPr>
      </p:sp>
      <p:sp>
        <p:nvSpPr>
          <p:cNvPr id="7" name="Text 5"/>
          <p:cNvSpPr txBox="1"/>
          <p:nvPr/>
        </p:nvSpPr>
        <p:spPr>
          <a:xfrm>
            <a:off x="804672" y="1618488"/>
            <a:ext cx="4837176"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The flex and grid badges</a:t>
            </a:r>
            <a:endParaRPr lang="en-US" sz="1400" dirty="0"/>
          </a:p>
        </p:txBody>
      </p:sp>
      <p:sp>
        <p:nvSpPr>
          <p:cNvPr id="8" name="Text 6"/>
          <p:cNvSpPr txBox="1"/>
          <p:nvPr/>
        </p:nvSpPr>
        <p:spPr>
          <a:xfrm>
            <a:off x="804672" y="2039112"/>
            <a:ext cx="4837176" cy="58521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In the Elements panel, a small 'flex' or 'grid' badge appears next to any container. Click it.</a:t>
            </a:r>
            <a:endParaRPr lang="en-US" sz="1250" dirty="0"/>
          </a:p>
        </p:txBody>
      </p:sp>
      <p:sp>
        <p:nvSpPr>
          <p:cNvPr id="9" name="Shape 7"/>
          <p:cNvSpPr/>
          <p:nvPr/>
        </p:nvSpPr>
        <p:spPr>
          <a:xfrm>
            <a:off x="6263640" y="1417320"/>
            <a:ext cx="5349240" cy="1371600"/>
          </a:xfrm>
          <a:prstGeom prst="roundRect">
            <a:avLst>
              <a:gd name="adj" fmla="val 5333"/>
            </a:avLst>
          </a:prstGeom>
          <a:solidFill>
            <a:srgbClr val="F2F5F8"/>
          </a:solidFill>
          <a:ln w="12700">
            <a:solidFill>
              <a:srgbClr val="F2F5F8"/>
            </a:solidFill>
            <a:prstDash val="solid"/>
          </a:ln>
        </p:spPr>
      </p:sp>
      <p:sp>
        <p:nvSpPr>
          <p:cNvPr id="10" name="Text 8"/>
          <p:cNvSpPr txBox="1"/>
          <p:nvPr/>
        </p:nvSpPr>
        <p:spPr>
          <a:xfrm>
            <a:off x="6519672" y="1618488"/>
            <a:ext cx="4837176"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Overlay lines</a:t>
            </a:r>
            <a:endParaRPr lang="en-US" sz="1400" dirty="0"/>
          </a:p>
        </p:txBody>
      </p:sp>
      <p:sp>
        <p:nvSpPr>
          <p:cNvPr id="11" name="Text 9"/>
          <p:cNvSpPr txBox="1"/>
          <p:nvPr/>
        </p:nvSpPr>
        <p:spPr>
          <a:xfrm>
            <a:off x="6519672" y="2039112"/>
            <a:ext cx="4837176" cy="58521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Clicking the badge draws the axes, the gaps and the grid lines directly on the page.</a:t>
            </a:r>
            <a:endParaRPr lang="en-US" sz="1250" dirty="0"/>
          </a:p>
        </p:txBody>
      </p:sp>
      <p:sp>
        <p:nvSpPr>
          <p:cNvPr id="12" name="Shape 10"/>
          <p:cNvSpPr/>
          <p:nvPr/>
        </p:nvSpPr>
        <p:spPr>
          <a:xfrm>
            <a:off x="548640" y="2971800"/>
            <a:ext cx="5349240" cy="1371600"/>
          </a:xfrm>
          <a:prstGeom prst="roundRect">
            <a:avLst>
              <a:gd name="adj" fmla="val 5333"/>
            </a:avLst>
          </a:prstGeom>
          <a:solidFill>
            <a:srgbClr val="E8EEF4"/>
          </a:solidFill>
          <a:ln w="12700">
            <a:solidFill>
              <a:srgbClr val="E8EEF4"/>
            </a:solidFill>
            <a:prstDash val="solid"/>
          </a:ln>
        </p:spPr>
      </p:sp>
      <p:sp>
        <p:nvSpPr>
          <p:cNvPr id="13" name="Text 11"/>
          <p:cNvSpPr txBox="1"/>
          <p:nvPr/>
        </p:nvSpPr>
        <p:spPr>
          <a:xfrm>
            <a:off x="804672" y="3172968"/>
            <a:ext cx="4837176"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Device mode</a:t>
            </a:r>
            <a:endParaRPr lang="en-US" sz="1400" dirty="0"/>
          </a:p>
        </p:txBody>
      </p:sp>
      <p:sp>
        <p:nvSpPr>
          <p:cNvPr id="14" name="Text 12"/>
          <p:cNvSpPr txBox="1"/>
          <p:nvPr/>
        </p:nvSpPr>
        <p:spPr>
          <a:xfrm>
            <a:off x="804672" y="3593592"/>
            <a:ext cx="4837176" cy="58521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Ctrl+Shift+M. Test at 360px, 768px and 1280px.</a:t>
            </a:r>
            <a:endParaRPr lang="en-US" sz="1250" dirty="0"/>
          </a:p>
        </p:txBody>
      </p:sp>
      <p:sp>
        <p:nvSpPr>
          <p:cNvPr id="15" name="Shape 13"/>
          <p:cNvSpPr/>
          <p:nvPr/>
        </p:nvSpPr>
        <p:spPr>
          <a:xfrm>
            <a:off x="6263640" y="2971800"/>
            <a:ext cx="5349240" cy="1371600"/>
          </a:xfrm>
          <a:prstGeom prst="roundRect">
            <a:avLst>
              <a:gd name="adj" fmla="val 5333"/>
            </a:avLst>
          </a:prstGeom>
          <a:solidFill>
            <a:srgbClr val="F2F5F8"/>
          </a:solidFill>
          <a:ln w="12700">
            <a:solidFill>
              <a:srgbClr val="F2F5F8"/>
            </a:solidFill>
            <a:prstDash val="solid"/>
          </a:ln>
        </p:spPr>
      </p:sp>
      <p:sp>
        <p:nvSpPr>
          <p:cNvPr id="16" name="Text 14"/>
          <p:cNvSpPr txBox="1"/>
          <p:nvPr/>
        </p:nvSpPr>
        <p:spPr>
          <a:xfrm>
            <a:off x="6519672" y="3172968"/>
            <a:ext cx="4837176"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The Styles panel</a:t>
            </a:r>
            <a:endParaRPr lang="en-US" sz="1400" dirty="0"/>
          </a:p>
        </p:txBody>
      </p:sp>
      <p:sp>
        <p:nvSpPr>
          <p:cNvPr id="17" name="Text 15"/>
          <p:cNvSpPr txBox="1"/>
          <p:nvPr/>
        </p:nvSpPr>
        <p:spPr>
          <a:xfrm>
            <a:off x="6519672" y="3593592"/>
            <a:ext cx="4837176" cy="58521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Media queries that do not apply are greyed out — a fast way to see which one is active.</a:t>
            </a:r>
            <a:endParaRPr lang="en-US" sz="1250" dirty="0"/>
          </a:p>
        </p:txBody>
      </p:sp>
      <p:sp>
        <p:nvSpPr>
          <p:cNvPr id="18" name="Shape 16"/>
          <p:cNvSpPr/>
          <p:nvPr/>
        </p:nvSpPr>
        <p:spPr>
          <a:xfrm>
            <a:off x="548640" y="4617720"/>
            <a:ext cx="11064240" cy="1325880"/>
          </a:xfrm>
          <a:prstGeom prst="roundRect">
            <a:avLst>
              <a:gd name="adj" fmla="val 5517"/>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19" name="Shape 17"/>
          <p:cNvSpPr/>
          <p:nvPr/>
        </p:nvSpPr>
        <p:spPr>
          <a:xfrm>
            <a:off x="749808" y="4818888"/>
            <a:ext cx="384048" cy="384048"/>
          </a:xfrm>
          <a:prstGeom prst="ellipse">
            <a:avLst/>
          </a:prstGeom>
          <a:solidFill>
            <a:srgbClr val="1F7A55"/>
          </a:solidFill>
          <a:ln w="12700">
            <a:solidFill>
              <a:srgbClr val="1F7A55"/>
            </a:solidFill>
            <a:prstDash val="solid"/>
          </a:ln>
        </p:spPr>
      </p:sp>
      <p:sp>
        <p:nvSpPr>
          <p:cNvPr id="20" name="Text 18"/>
          <p:cNvSpPr txBox="1"/>
          <p:nvPr/>
        </p:nvSpPr>
        <p:spPr>
          <a:xfrm>
            <a:off x="749808" y="48188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1" name="Text 19"/>
          <p:cNvSpPr txBox="1"/>
          <p:nvPr/>
        </p:nvSpPr>
        <p:spPr>
          <a:xfrm>
            <a:off x="1261872" y="4846320"/>
            <a:ext cx="101498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Same four-step method as last week</a:t>
            </a:r>
            <a:endParaRPr lang="en-US" sz="1700" dirty="0"/>
          </a:p>
        </p:txBody>
      </p:sp>
      <p:sp>
        <p:nvSpPr>
          <p:cNvPr id="22" name="Text 20"/>
          <p:cNvSpPr txBox="1"/>
          <p:nvPr/>
        </p:nvSpPr>
        <p:spPr>
          <a:xfrm>
            <a:off x="804672" y="5239512"/>
            <a:ext cx="10552176" cy="539496"/>
          </a:xfrm>
          <a:prstGeom prst="rect">
            <a:avLst/>
          </a:prstGeom>
          <a:noFill/>
          <a:ln/>
        </p:spPr>
        <p:txBody>
          <a:bodyPr wrap="square" lIns="0" tIns="0" rIns="0" bIns="0" rtlCol="0" anchor="t"/>
          <a:lstStyle/>
          <a:p>
            <a:pPr indent="0" marL="0">
              <a:spcAft>
                <a:spcPts val="600"/>
              </a:spcAft>
              <a:buNone/>
            </a:pPr>
            <a:r>
              <a:rPr lang="en-US" sz="1300" dirty="0">
                <a:solidFill>
                  <a:srgbClr val="3D4A57"/>
                </a:solidFill>
                <a:latin typeface="Arial" pitchFamily="34" charset="0"/>
                <a:ea typeface="Arial" pitchFamily="34" charset="-122"/>
                <a:cs typeface="Arial" pitchFamily="34" charset="-120"/>
              </a:rPr>
              <a:t>Inspect → read the overlay → find the rule → test live. The only difference is that you are now reading axes and tracks instead of the box model.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C2 · 7-19 MINUTES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Exercise 1: Fix the Broken Layout</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21</a:t>
            </a:r>
            <a:endParaRPr lang="en-US" sz="900" dirty="0"/>
          </a:p>
        </p:txBody>
      </p:sp>
      <p:sp>
        <p:nvSpPr>
          <p:cNvPr id="6" name="Text 4"/>
          <p:cNvSpPr txBox="1"/>
          <p:nvPr/>
        </p:nvSpPr>
        <p:spPr>
          <a:xfrm>
            <a:off x="548640" y="1325880"/>
            <a:ext cx="11064240" cy="320040"/>
          </a:xfrm>
          <a:prstGeom prst="rect">
            <a:avLst/>
          </a:prstGeom>
          <a:noFill/>
          <a:ln/>
        </p:spPr>
        <p:txBody>
          <a:bodyPr wrap="square" lIns="0" tIns="0" rIns="0" bIns="0" rtlCol="0" anchor="t"/>
          <a:lstStyle/>
          <a:p>
            <a:pPr algn="l" indent="0" marL="0">
              <a:lnSpc>
                <a:spcPts val="1958"/>
              </a:lnSpc>
              <a:buNone/>
            </a:pPr>
            <a:r>
              <a:rPr lang="en-US" sz="1450" dirty="0">
                <a:solidFill>
                  <a:srgbClr val="3D4A57"/>
                </a:solidFill>
                <a:latin typeface="Arial" pitchFamily="34" charset="0"/>
                <a:ea typeface="Arial" pitchFamily="34" charset="-122"/>
                <a:cs typeface="Arial" pitchFamily="34" charset="-120"/>
              </a:rPr>
              <a:t>Files: starter/index.html and starter/styles.css. Eight bugs. The HTML is correct — do not change it.</a:t>
            </a:r>
            <a:endParaRPr lang="en-US" sz="1450" dirty="0"/>
          </a:p>
        </p:txBody>
      </p:sp>
      <p:sp>
        <p:nvSpPr>
          <p:cNvPr id="7" name="Shape 5"/>
          <p:cNvSpPr/>
          <p:nvPr/>
        </p:nvSpPr>
        <p:spPr>
          <a:xfrm>
            <a:off x="548640" y="1783080"/>
            <a:ext cx="5349240" cy="896112"/>
          </a:xfrm>
          <a:prstGeom prst="roundRect">
            <a:avLst>
              <a:gd name="adj" fmla="val 8163"/>
            </a:avLst>
          </a:prstGeom>
          <a:solidFill>
            <a:srgbClr val="E8EEF4"/>
          </a:solidFill>
          <a:ln w="12700">
            <a:solidFill>
              <a:srgbClr val="E8EEF4"/>
            </a:solidFill>
            <a:prstDash val="solid"/>
          </a:ln>
        </p:spPr>
      </p:sp>
      <p:sp>
        <p:nvSpPr>
          <p:cNvPr id="8" name="Shape 6"/>
          <p:cNvSpPr/>
          <p:nvPr/>
        </p:nvSpPr>
        <p:spPr>
          <a:xfrm>
            <a:off x="749808" y="1984248"/>
            <a:ext cx="384048" cy="384048"/>
          </a:xfrm>
          <a:prstGeom prst="ellipse">
            <a:avLst/>
          </a:prstGeom>
          <a:solidFill>
            <a:srgbClr val="003366"/>
          </a:solidFill>
          <a:ln w="12700">
            <a:solidFill>
              <a:srgbClr val="003366"/>
            </a:solidFill>
            <a:prstDash val="solid"/>
          </a:ln>
        </p:spPr>
      </p:sp>
      <p:sp>
        <p:nvSpPr>
          <p:cNvPr id="9" name="Text 7"/>
          <p:cNvSpPr txBox="1"/>
          <p:nvPr/>
        </p:nvSpPr>
        <p:spPr>
          <a:xfrm>
            <a:off x="749808" y="1984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8"/>
          <p:cNvSpPr txBox="1"/>
          <p:nvPr/>
        </p:nvSpPr>
        <p:spPr>
          <a:xfrm>
            <a:off x="1261872" y="2011680"/>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The nav items are still stacked</a:t>
            </a:r>
            <a:endParaRPr lang="en-US" sz="1250" dirty="0"/>
          </a:p>
        </p:txBody>
      </p:sp>
      <p:sp>
        <p:nvSpPr>
          <p:cNvPr id="11" name="Text 9"/>
          <p:cNvSpPr txBox="1"/>
          <p:nvPr/>
        </p:nvSpPr>
        <p:spPr>
          <a:xfrm>
            <a:off x="804672" y="2404872"/>
            <a:ext cx="4837176" cy="109728"/>
          </a:xfrm>
          <a:prstGeom prst="rect">
            <a:avLst/>
          </a:prstGeom>
          <a:noFill/>
          <a:ln/>
        </p:spPr>
        <p:txBody>
          <a:bodyPr wrap="square" lIns="0" tIns="0" rIns="0" bIns="0" rtlCol="0" anchor="t"/>
          <a:lstStyle/>
          <a:p>
            <a:pPr indent="0" marL="0">
              <a:spcAft>
                <a:spcPts val="600"/>
              </a:spcAft>
              <a:buNone/>
            </a:pPr>
            <a:r>
              <a:rPr lang="en-US" sz="1150" dirty="0">
                <a:solidFill>
                  <a:srgbClr val="3D4A57"/>
                </a:solidFill>
                <a:latin typeface="Arial" pitchFamily="34" charset="0"/>
                <a:ea typeface="Arial" pitchFamily="34" charset="-122"/>
                <a:cs typeface="Arial" pitchFamily="34" charset="-120"/>
              </a:rPr>
              <a:t>Which element needs display: flex?</a:t>
            </a:r>
            <a:endParaRPr lang="en-US" sz="1150" dirty="0"/>
          </a:p>
        </p:txBody>
      </p:sp>
      <p:sp>
        <p:nvSpPr>
          <p:cNvPr id="12" name="Shape 10"/>
          <p:cNvSpPr/>
          <p:nvPr/>
        </p:nvSpPr>
        <p:spPr>
          <a:xfrm>
            <a:off x="6263640" y="1783080"/>
            <a:ext cx="5349240" cy="896112"/>
          </a:xfrm>
          <a:prstGeom prst="roundRect">
            <a:avLst>
              <a:gd name="adj" fmla="val 8163"/>
            </a:avLst>
          </a:prstGeom>
          <a:solidFill>
            <a:srgbClr val="F2F5F8"/>
          </a:solidFill>
          <a:ln w="12700">
            <a:solidFill>
              <a:srgbClr val="F2F5F8"/>
            </a:solidFill>
            <a:prstDash val="solid"/>
          </a:ln>
        </p:spPr>
      </p:sp>
      <p:sp>
        <p:nvSpPr>
          <p:cNvPr id="13" name="Shape 11"/>
          <p:cNvSpPr/>
          <p:nvPr/>
        </p:nvSpPr>
        <p:spPr>
          <a:xfrm>
            <a:off x="6464808" y="1984248"/>
            <a:ext cx="384048" cy="384048"/>
          </a:xfrm>
          <a:prstGeom prst="ellipse">
            <a:avLst/>
          </a:prstGeom>
          <a:solidFill>
            <a:srgbClr val="003366"/>
          </a:solidFill>
          <a:ln w="12700">
            <a:solidFill>
              <a:srgbClr val="003366"/>
            </a:solidFill>
            <a:prstDash val="solid"/>
          </a:ln>
        </p:spPr>
      </p:sp>
      <p:sp>
        <p:nvSpPr>
          <p:cNvPr id="14" name="Text 12"/>
          <p:cNvSpPr txBox="1"/>
          <p:nvPr/>
        </p:nvSpPr>
        <p:spPr>
          <a:xfrm>
            <a:off x="6464808" y="1984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txBox="1"/>
          <p:nvPr/>
        </p:nvSpPr>
        <p:spPr>
          <a:xfrm>
            <a:off x="6976872" y="2011680"/>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Title and links are jammed together</a:t>
            </a:r>
            <a:endParaRPr lang="en-US" sz="1250" dirty="0"/>
          </a:p>
        </p:txBody>
      </p:sp>
      <p:sp>
        <p:nvSpPr>
          <p:cNvPr id="16" name="Text 14"/>
          <p:cNvSpPr txBox="1"/>
          <p:nvPr/>
        </p:nvSpPr>
        <p:spPr>
          <a:xfrm>
            <a:off x="6519672" y="2404872"/>
            <a:ext cx="4837176" cy="109728"/>
          </a:xfrm>
          <a:prstGeom prst="rect">
            <a:avLst/>
          </a:prstGeom>
          <a:noFill/>
          <a:ln/>
        </p:spPr>
        <p:txBody>
          <a:bodyPr wrap="square" lIns="0" tIns="0" rIns="0" bIns="0" rtlCol="0" anchor="t"/>
          <a:lstStyle/>
          <a:p>
            <a:pPr indent="0" marL="0">
              <a:spcAft>
                <a:spcPts val="600"/>
              </a:spcAft>
              <a:buNone/>
            </a:pPr>
            <a:r>
              <a:rPr lang="en-US" sz="1150" dirty="0">
                <a:solidFill>
                  <a:srgbClr val="3D4A57"/>
                </a:solidFill>
                <a:latin typeface="Arial" pitchFamily="34" charset="0"/>
                <a:ea typeface="Arial" pitchFamily="34" charset="-122"/>
                <a:cs typeface="Arial" pitchFamily="34" charset="-120"/>
              </a:rPr>
              <a:t>Which axis, and which property?</a:t>
            </a:r>
            <a:endParaRPr lang="en-US" sz="1150" dirty="0"/>
          </a:p>
        </p:txBody>
      </p:sp>
      <p:sp>
        <p:nvSpPr>
          <p:cNvPr id="17" name="Shape 15"/>
          <p:cNvSpPr/>
          <p:nvPr/>
        </p:nvSpPr>
        <p:spPr>
          <a:xfrm>
            <a:off x="548640" y="2807208"/>
            <a:ext cx="5349240" cy="896112"/>
          </a:xfrm>
          <a:prstGeom prst="roundRect">
            <a:avLst>
              <a:gd name="adj" fmla="val 8163"/>
            </a:avLst>
          </a:prstGeom>
          <a:solidFill>
            <a:srgbClr val="E8EEF4"/>
          </a:solidFill>
          <a:ln w="12700">
            <a:solidFill>
              <a:srgbClr val="E8EEF4"/>
            </a:solidFill>
            <a:prstDash val="solid"/>
          </a:ln>
        </p:spPr>
      </p:sp>
      <p:sp>
        <p:nvSpPr>
          <p:cNvPr id="18" name="Shape 16"/>
          <p:cNvSpPr/>
          <p:nvPr/>
        </p:nvSpPr>
        <p:spPr>
          <a:xfrm>
            <a:off x="749808" y="3008376"/>
            <a:ext cx="384048" cy="384048"/>
          </a:xfrm>
          <a:prstGeom prst="ellipse">
            <a:avLst/>
          </a:prstGeom>
          <a:solidFill>
            <a:srgbClr val="003366"/>
          </a:solidFill>
          <a:ln w="12700">
            <a:solidFill>
              <a:srgbClr val="003366"/>
            </a:solidFill>
            <a:prstDash val="solid"/>
          </a:ln>
        </p:spPr>
      </p:sp>
      <p:sp>
        <p:nvSpPr>
          <p:cNvPr id="19" name="Text 17"/>
          <p:cNvSpPr txBox="1"/>
          <p:nvPr/>
        </p:nvSpPr>
        <p:spPr>
          <a:xfrm>
            <a:off x="749808" y="30083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0" name="Text 18"/>
          <p:cNvSpPr txBox="1"/>
          <p:nvPr/>
        </p:nvSpPr>
        <p:spPr>
          <a:xfrm>
            <a:off x="1261872" y="3035808"/>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The links sit above the title, not beside it</a:t>
            </a:r>
            <a:endParaRPr lang="en-US" sz="1250" dirty="0"/>
          </a:p>
        </p:txBody>
      </p:sp>
      <p:sp>
        <p:nvSpPr>
          <p:cNvPr id="21" name="Text 19"/>
          <p:cNvSpPr txBox="1"/>
          <p:nvPr/>
        </p:nvSpPr>
        <p:spPr>
          <a:xfrm>
            <a:off x="804672" y="3429000"/>
            <a:ext cx="4837176" cy="109728"/>
          </a:xfrm>
          <a:prstGeom prst="rect">
            <a:avLst/>
          </a:prstGeom>
          <a:noFill/>
          <a:ln/>
        </p:spPr>
        <p:txBody>
          <a:bodyPr wrap="square" lIns="0" tIns="0" rIns="0" bIns="0" rtlCol="0" anchor="t"/>
          <a:lstStyle/>
          <a:p>
            <a:pPr indent="0" marL="0">
              <a:spcAft>
                <a:spcPts val="600"/>
              </a:spcAft>
              <a:buNone/>
            </a:pPr>
            <a:r>
              <a:rPr lang="en-US" sz="1150" dirty="0">
                <a:solidFill>
                  <a:srgbClr val="3D4A57"/>
                </a:solidFill>
                <a:latin typeface="Arial" pitchFamily="34" charset="0"/>
                <a:ea typeface="Arial" pitchFamily="34" charset="-122"/>
                <a:cs typeface="Arial" pitchFamily="34" charset="-120"/>
              </a:rPr>
              <a:t>Cross axis this time</a:t>
            </a:r>
            <a:endParaRPr lang="en-US" sz="1150" dirty="0"/>
          </a:p>
        </p:txBody>
      </p:sp>
      <p:sp>
        <p:nvSpPr>
          <p:cNvPr id="22" name="Shape 20"/>
          <p:cNvSpPr/>
          <p:nvPr/>
        </p:nvSpPr>
        <p:spPr>
          <a:xfrm>
            <a:off x="6263640" y="2807208"/>
            <a:ext cx="5349240" cy="896112"/>
          </a:xfrm>
          <a:prstGeom prst="roundRect">
            <a:avLst>
              <a:gd name="adj" fmla="val 8163"/>
            </a:avLst>
          </a:prstGeom>
          <a:solidFill>
            <a:srgbClr val="F2F5F8"/>
          </a:solidFill>
          <a:ln w="12700">
            <a:solidFill>
              <a:srgbClr val="F2F5F8"/>
            </a:solidFill>
            <a:prstDash val="solid"/>
          </a:ln>
        </p:spPr>
      </p:sp>
      <p:sp>
        <p:nvSpPr>
          <p:cNvPr id="23" name="Shape 21"/>
          <p:cNvSpPr/>
          <p:nvPr/>
        </p:nvSpPr>
        <p:spPr>
          <a:xfrm>
            <a:off x="6464808" y="3008376"/>
            <a:ext cx="384048" cy="384048"/>
          </a:xfrm>
          <a:prstGeom prst="ellipse">
            <a:avLst/>
          </a:prstGeom>
          <a:solidFill>
            <a:srgbClr val="003366"/>
          </a:solidFill>
          <a:ln w="12700">
            <a:solidFill>
              <a:srgbClr val="003366"/>
            </a:solidFill>
            <a:prstDash val="solid"/>
          </a:ln>
        </p:spPr>
      </p:sp>
      <p:sp>
        <p:nvSpPr>
          <p:cNvPr id="24" name="Text 22"/>
          <p:cNvSpPr txBox="1"/>
          <p:nvPr/>
        </p:nvSpPr>
        <p:spPr>
          <a:xfrm>
            <a:off x="6464808" y="30083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5" name="Text 23"/>
          <p:cNvSpPr txBox="1"/>
          <p:nvPr/>
        </p:nvSpPr>
        <p:spPr>
          <a:xfrm>
            <a:off x="6976872" y="3035808"/>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Cards squash instead of wrapping</a:t>
            </a:r>
            <a:endParaRPr lang="en-US" sz="1250" dirty="0"/>
          </a:p>
        </p:txBody>
      </p:sp>
      <p:sp>
        <p:nvSpPr>
          <p:cNvPr id="26" name="Text 24"/>
          <p:cNvSpPr txBox="1"/>
          <p:nvPr/>
        </p:nvSpPr>
        <p:spPr>
          <a:xfrm>
            <a:off x="6519672" y="3429000"/>
            <a:ext cx="4837176" cy="109728"/>
          </a:xfrm>
          <a:prstGeom prst="rect">
            <a:avLst/>
          </a:prstGeom>
          <a:noFill/>
          <a:ln/>
        </p:spPr>
        <p:txBody>
          <a:bodyPr wrap="square" lIns="0" tIns="0" rIns="0" bIns="0" rtlCol="0" anchor="t"/>
          <a:lstStyle/>
          <a:p>
            <a:pPr indent="0" marL="0">
              <a:spcAft>
                <a:spcPts val="600"/>
              </a:spcAft>
              <a:buNone/>
            </a:pPr>
            <a:r>
              <a:rPr lang="en-US" sz="1150" dirty="0">
                <a:solidFill>
                  <a:srgbClr val="3D4A57"/>
                </a:solidFill>
                <a:latin typeface="Arial" pitchFamily="34" charset="0"/>
                <a:ea typeface="Arial" pitchFamily="34" charset="-122"/>
                <a:cs typeface="Arial" pitchFamily="34" charset="-120"/>
              </a:rPr>
              <a:t>One missing declaration</a:t>
            </a:r>
            <a:endParaRPr lang="en-US" sz="1150" dirty="0"/>
          </a:p>
        </p:txBody>
      </p:sp>
      <p:sp>
        <p:nvSpPr>
          <p:cNvPr id="27" name="Shape 25"/>
          <p:cNvSpPr/>
          <p:nvPr/>
        </p:nvSpPr>
        <p:spPr>
          <a:xfrm>
            <a:off x="548640" y="3831336"/>
            <a:ext cx="5349240" cy="896112"/>
          </a:xfrm>
          <a:prstGeom prst="roundRect">
            <a:avLst>
              <a:gd name="adj" fmla="val 8163"/>
            </a:avLst>
          </a:prstGeom>
          <a:solidFill>
            <a:srgbClr val="E8EEF4"/>
          </a:solidFill>
          <a:ln w="12700">
            <a:solidFill>
              <a:srgbClr val="E8EEF4"/>
            </a:solidFill>
            <a:prstDash val="solid"/>
          </a:ln>
        </p:spPr>
      </p:sp>
      <p:sp>
        <p:nvSpPr>
          <p:cNvPr id="28" name="Shape 26"/>
          <p:cNvSpPr/>
          <p:nvPr/>
        </p:nvSpPr>
        <p:spPr>
          <a:xfrm>
            <a:off x="749808" y="4032504"/>
            <a:ext cx="384048" cy="384048"/>
          </a:xfrm>
          <a:prstGeom prst="ellipse">
            <a:avLst/>
          </a:prstGeom>
          <a:solidFill>
            <a:srgbClr val="003366"/>
          </a:solidFill>
          <a:ln w="12700">
            <a:solidFill>
              <a:srgbClr val="003366"/>
            </a:solidFill>
            <a:prstDash val="solid"/>
          </a:ln>
        </p:spPr>
      </p:sp>
      <p:sp>
        <p:nvSpPr>
          <p:cNvPr id="29" name="Text 27"/>
          <p:cNvSpPr txBox="1"/>
          <p:nvPr/>
        </p:nvSpPr>
        <p:spPr>
          <a:xfrm>
            <a:off x="749808" y="40325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30" name="Text 28"/>
          <p:cNvSpPr txBox="1"/>
          <p:nvPr/>
        </p:nvSpPr>
        <p:spPr>
          <a:xfrm>
            <a:off x="1261872" y="4059936"/>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There is no space between cards</a:t>
            </a:r>
            <a:endParaRPr lang="en-US" sz="1250" dirty="0"/>
          </a:p>
        </p:txBody>
      </p:sp>
      <p:sp>
        <p:nvSpPr>
          <p:cNvPr id="31" name="Text 29"/>
          <p:cNvSpPr txBox="1"/>
          <p:nvPr/>
        </p:nvSpPr>
        <p:spPr>
          <a:xfrm>
            <a:off x="804672" y="4453128"/>
            <a:ext cx="4837176" cy="109728"/>
          </a:xfrm>
          <a:prstGeom prst="rect">
            <a:avLst/>
          </a:prstGeom>
          <a:noFill/>
          <a:ln/>
        </p:spPr>
        <p:txBody>
          <a:bodyPr wrap="square" lIns="0" tIns="0" rIns="0" bIns="0" rtlCol="0" anchor="t"/>
          <a:lstStyle/>
          <a:p>
            <a:pPr indent="0" marL="0">
              <a:spcAft>
                <a:spcPts val="600"/>
              </a:spcAft>
              <a:buNone/>
            </a:pPr>
            <a:r>
              <a:rPr lang="en-US" sz="1150" dirty="0">
                <a:solidFill>
                  <a:srgbClr val="3D4A57"/>
                </a:solidFill>
                <a:latin typeface="Arial" pitchFamily="34" charset="0"/>
                <a:ea typeface="Arial" pitchFamily="34" charset="-122"/>
                <a:cs typeface="Arial" pitchFamily="34" charset="-120"/>
              </a:rPr>
              <a:t>Do not reach for margin</a:t>
            </a:r>
            <a:endParaRPr lang="en-US" sz="1150" dirty="0"/>
          </a:p>
        </p:txBody>
      </p:sp>
      <p:sp>
        <p:nvSpPr>
          <p:cNvPr id="32" name="Shape 30"/>
          <p:cNvSpPr/>
          <p:nvPr/>
        </p:nvSpPr>
        <p:spPr>
          <a:xfrm>
            <a:off x="6263640" y="3831336"/>
            <a:ext cx="5349240" cy="896112"/>
          </a:xfrm>
          <a:prstGeom prst="roundRect">
            <a:avLst>
              <a:gd name="adj" fmla="val 8163"/>
            </a:avLst>
          </a:prstGeom>
          <a:solidFill>
            <a:srgbClr val="F2F5F8"/>
          </a:solidFill>
          <a:ln w="12700">
            <a:solidFill>
              <a:srgbClr val="F2F5F8"/>
            </a:solidFill>
            <a:prstDash val="solid"/>
          </a:ln>
        </p:spPr>
      </p:sp>
      <p:sp>
        <p:nvSpPr>
          <p:cNvPr id="33" name="Shape 31"/>
          <p:cNvSpPr/>
          <p:nvPr/>
        </p:nvSpPr>
        <p:spPr>
          <a:xfrm>
            <a:off x="6464808" y="4032504"/>
            <a:ext cx="384048" cy="384048"/>
          </a:xfrm>
          <a:prstGeom prst="ellipse">
            <a:avLst/>
          </a:prstGeom>
          <a:solidFill>
            <a:srgbClr val="003366"/>
          </a:solidFill>
          <a:ln w="12700">
            <a:solidFill>
              <a:srgbClr val="003366"/>
            </a:solidFill>
            <a:prstDash val="solid"/>
          </a:ln>
        </p:spPr>
      </p:sp>
      <p:sp>
        <p:nvSpPr>
          <p:cNvPr id="34" name="Text 32"/>
          <p:cNvSpPr txBox="1"/>
          <p:nvPr/>
        </p:nvSpPr>
        <p:spPr>
          <a:xfrm>
            <a:off x="6464808" y="40325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35" name="Text 33"/>
          <p:cNvSpPr txBox="1"/>
          <p:nvPr/>
        </p:nvSpPr>
        <p:spPr>
          <a:xfrm>
            <a:off x="6976872" y="4059936"/>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The gallery is a single column</a:t>
            </a:r>
            <a:endParaRPr lang="en-US" sz="1250" dirty="0"/>
          </a:p>
        </p:txBody>
      </p:sp>
      <p:sp>
        <p:nvSpPr>
          <p:cNvPr id="36" name="Text 34"/>
          <p:cNvSpPr txBox="1"/>
          <p:nvPr/>
        </p:nvSpPr>
        <p:spPr>
          <a:xfrm>
            <a:off x="6519672" y="4453128"/>
            <a:ext cx="4837176" cy="109728"/>
          </a:xfrm>
          <a:prstGeom prst="rect">
            <a:avLst/>
          </a:prstGeom>
          <a:noFill/>
          <a:ln/>
        </p:spPr>
        <p:txBody>
          <a:bodyPr wrap="square" lIns="0" tIns="0" rIns="0" bIns="0" rtlCol="0" anchor="t"/>
          <a:lstStyle/>
          <a:p>
            <a:pPr indent="0" marL="0">
              <a:spcAft>
                <a:spcPts val="600"/>
              </a:spcAft>
              <a:buNone/>
            </a:pPr>
            <a:r>
              <a:rPr lang="en-US" sz="1150" dirty="0">
                <a:solidFill>
                  <a:srgbClr val="3D4A57"/>
                </a:solidFill>
                <a:latin typeface="Arial" pitchFamily="34" charset="0"/>
                <a:ea typeface="Arial" pitchFamily="34" charset="-122"/>
                <a:cs typeface="Arial" pitchFamily="34" charset="-120"/>
              </a:rPr>
              <a:t>display: grid alone is not enough</a:t>
            </a:r>
            <a:endParaRPr lang="en-US" sz="1150" dirty="0"/>
          </a:p>
        </p:txBody>
      </p:sp>
      <p:sp>
        <p:nvSpPr>
          <p:cNvPr id="37" name="Shape 35"/>
          <p:cNvSpPr/>
          <p:nvPr/>
        </p:nvSpPr>
        <p:spPr>
          <a:xfrm>
            <a:off x="548640" y="4855464"/>
            <a:ext cx="5349240" cy="896112"/>
          </a:xfrm>
          <a:prstGeom prst="roundRect">
            <a:avLst>
              <a:gd name="adj" fmla="val 8163"/>
            </a:avLst>
          </a:prstGeom>
          <a:solidFill>
            <a:srgbClr val="E8EEF4"/>
          </a:solidFill>
          <a:ln w="12700">
            <a:solidFill>
              <a:srgbClr val="E8EEF4"/>
            </a:solidFill>
            <a:prstDash val="solid"/>
          </a:ln>
        </p:spPr>
      </p:sp>
      <p:sp>
        <p:nvSpPr>
          <p:cNvPr id="38" name="Shape 36"/>
          <p:cNvSpPr/>
          <p:nvPr/>
        </p:nvSpPr>
        <p:spPr>
          <a:xfrm>
            <a:off x="749808" y="5056632"/>
            <a:ext cx="384048" cy="384048"/>
          </a:xfrm>
          <a:prstGeom prst="ellipse">
            <a:avLst/>
          </a:prstGeom>
          <a:solidFill>
            <a:srgbClr val="003366"/>
          </a:solidFill>
          <a:ln w="12700">
            <a:solidFill>
              <a:srgbClr val="003366"/>
            </a:solidFill>
            <a:prstDash val="solid"/>
          </a:ln>
        </p:spPr>
      </p:sp>
      <p:sp>
        <p:nvSpPr>
          <p:cNvPr id="39" name="Text 37"/>
          <p:cNvSpPr txBox="1"/>
          <p:nvPr/>
        </p:nvSpPr>
        <p:spPr>
          <a:xfrm>
            <a:off x="749808" y="50566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40" name="Text 38"/>
          <p:cNvSpPr txBox="1"/>
          <p:nvPr/>
        </p:nvSpPr>
        <p:spPr>
          <a:xfrm>
            <a:off x="1261872" y="5084064"/>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Columns do not change on resize</a:t>
            </a:r>
            <a:endParaRPr lang="en-US" sz="1250" dirty="0"/>
          </a:p>
        </p:txBody>
      </p:sp>
      <p:sp>
        <p:nvSpPr>
          <p:cNvPr id="41" name="Text 39"/>
          <p:cNvSpPr txBox="1"/>
          <p:nvPr/>
        </p:nvSpPr>
        <p:spPr>
          <a:xfrm>
            <a:off x="804672" y="5477256"/>
            <a:ext cx="4837176" cy="109728"/>
          </a:xfrm>
          <a:prstGeom prst="rect">
            <a:avLst/>
          </a:prstGeom>
          <a:noFill/>
          <a:ln/>
        </p:spPr>
        <p:txBody>
          <a:bodyPr wrap="square" lIns="0" tIns="0" rIns="0" bIns="0" rtlCol="0" anchor="t"/>
          <a:lstStyle/>
          <a:p>
            <a:pPr indent="0" marL="0">
              <a:spcAft>
                <a:spcPts val="600"/>
              </a:spcAft>
              <a:buNone/>
            </a:pPr>
            <a:r>
              <a:rPr lang="en-US" sz="1150" dirty="0">
                <a:solidFill>
                  <a:srgbClr val="3D4A57"/>
                </a:solidFill>
                <a:latin typeface="Arial" pitchFamily="34" charset="0"/>
                <a:ea typeface="Arial" pitchFamily="34" charset="-122"/>
                <a:cs typeface="Arial" pitchFamily="34" charset="-120"/>
              </a:rPr>
              <a:t>The auto-fit line from C1</a:t>
            </a:r>
            <a:endParaRPr lang="en-US" sz="1150" dirty="0"/>
          </a:p>
        </p:txBody>
      </p:sp>
      <p:sp>
        <p:nvSpPr>
          <p:cNvPr id="42" name="Shape 40"/>
          <p:cNvSpPr/>
          <p:nvPr/>
        </p:nvSpPr>
        <p:spPr>
          <a:xfrm>
            <a:off x="6263640" y="4855464"/>
            <a:ext cx="5349240" cy="896112"/>
          </a:xfrm>
          <a:prstGeom prst="roundRect">
            <a:avLst>
              <a:gd name="adj" fmla="val 8163"/>
            </a:avLst>
          </a:prstGeom>
          <a:solidFill>
            <a:srgbClr val="F2F5F8"/>
          </a:solidFill>
          <a:ln w="12700">
            <a:solidFill>
              <a:srgbClr val="F2F5F8"/>
            </a:solidFill>
            <a:prstDash val="solid"/>
          </a:ln>
        </p:spPr>
      </p:sp>
      <p:sp>
        <p:nvSpPr>
          <p:cNvPr id="43" name="Shape 41"/>
          <p:cNvSpPr/>
          <p:nvPr/>
        </p:nvSpPr>
        <p:spPr>
          <a:xfrm>
            <a:off x="6464808" y="5056632"/>
            <a:ext cx="384048" cy="384048"/>
          </a:xfrm>
          <a:prstGeom prst="ellipse">
            <a:avLst/>
          </a:prstGeom>
          <a:solidFill>
            <a:srgbClr val="003366"/>
          </a:solidFill>
          <a:ln w="12700">
            <a:solidFill>
              <a:srgbClr val="003366"/>
            </a:solidFill>
            <a:prstDash val="solid"/>
          </a:ln>
        </p:spPr>
      </p:sp>
      <p:sp>
        <p:nvSpPr>
          <p:cNvPr id="44" name="Text 42"/>
          <p:cNvSpPr txBox="1"/>
          <p:nvPr/>
        </p:nvSpPr>
        <p:spPr>
          <a:xfrm>
            <a:off x="6464808" y="50566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45" name="Text 43"/>
          <p:cNvSpPr txBox="1"/>
          <p:nvPr/>
        </p:nvSpPr>
        <p:spPr>
          <a:xfrm>
            <a:off x="6976872" y="5084064"/>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The phone layout is tiny and zoomed out</a:t>
            </a:r>
            <a:endParaRPr lang="en-US" sz="1250" dirty="0"/>
          </a:p>
        </p:txBody>
      </p:sp>
      <p:sp>
        <p:nvSpPr>
          <p:cNvPr id="46" name="Text 44"/>
          <p:cNvSpPr txBox="1"/>
          <p:nvPr/>
        </p:nvSpPr>
        <p:spPr>
          <a:xfrm>
            <a:off x="6519672" y="5477256"/>
            <a:ext cx="4837176" cy="109728"/>
          </a:xfrm>
          <a:prstGeom prst="rect">
            <a:avLst/>
          </a:prstGeom>
          <a:noFill/>
          <a:ln/>
        </p:spPr>
        <p:txBody>
          <a:bodyPr wrap="square" lIns="0" tIns="0" rIns="0" bIns="0" rtlCol="0" anchor="t"/>
          <a:lstStyle/>
          <a:p>
            <a:pPr indent="0" marL="0">
              <a:spcAft>
                <a:spcPts val="600"/>
              </a:spcAft>
              <a:buNone/>
            </a:pPr>
            <a:r>
              <a:rPr lang="en-US" sz="1150" dirty="0">
                <a:solidFill>
                  <a:srgbClr val="3D4A57"/>
                </a:solidFill>
                <a:latin typeface="Arial" pitchFamily="34" charset="0"/>
                <a:ea typeface="Arial" pitchFamily="34" charset="-122"/>
                <a:cs typeface="Arial" pitchFamily="34" charset="-120"/>
              </a:rPr>
              <a:t>Look in the head, not the CSS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C2 · 19-27 MINUTES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Exercise 2: Grid Gallery</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22</a:t>
            </a:r>
            <a:endParaRPr lang="en-US" sz="900" dirty="0"/>
          </a:p>
        </p:txBody>
      </p:sp>
      <p:sp>
        <p:nvSpPr>
          <p:cNvPr id="6" name="Shape 4"/>
          <p:cNvSpPr/>
          <p:nvPr/>
        </p:nvSpPr>
        <p:spPr>
          <a:xfrm>
            <a:off x="548640" y="1371600"/>
            <a:ext cx="6035040" cy="1769872"/>
          </a:xfrm>
          <a:prstGeom prst="roundRect">
            <a:avLst>
              <a:gd name="adj" fmla="val 3100"/>
            </a:avLst>
          </a:prstGeom>
          <a:solidFill>
            <a:srgbClr val="0D1B2A"/>
          </a:solidFill>
          <a:ln w="12700">
            <a:solidFill>
              <a:srgbClr val="0D1B2A"/>
            </a:solidFill>
            <a:prstDash val="solid"/>
          </a:ln>
        </p:spPr>
      </p:sp>
      <p:sp>
        <p:nvSpPr>
          <p:cNvPr id="7" name="Text 5"/>
          <p:cNvSpPr txBox="1"/>
          <p:nvPr/>
        </p:nvSpPr>
        <p:spPr>
          <a:xfrm>
            <a:off x="658368" y="1481328"/>
            <a:ext cx="5815584" cy="1550416"/>
          </a:xfrm>
          <a:prstGeom prst="rect">
            <a:avLst/>
          </a:prstGeom>
          <a:noFill/>
          <a:ln/>
        </p:spPr>
        <p:txBody>
          <a:bodyPr wrap="square" lIns="0" tIns="0" rIns="0" bIns="0" rtlCol="0" anchor="t"/>
          <a:lstStyle/>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&lt;section class=</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"gallery"</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 class=</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"tile"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Week 1</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 class=</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"tile"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Week 2</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 class=</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"tile"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Week 3</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 class=</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"tile"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Week 4</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 class=</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"tile"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Week 5</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&lt;/article&gt;</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 class=</a:t>
            </a:r>
            <a:pPr indent="0" marL="0">
              <a:lnSpc>
                <a:spcPts val="1472"/>
              </a:lnSpc>
              <a:buNone/>
            </a:pPr>
            <a:r>
              <a:rPr lang="en-US" sz="1150" dirty="0">
                <a:solidFill>
                  <a:srgbClr val="A8E6A3"/>
                </a:solidFill>
                <a:latin typeface="Courier New" pitchFamily="34" charset="0"/>
                <a:ea typeface="Courier New" pitchFamily="34" charset="-122"/>
                <a:cs typeface="Courier New" pitchFamily="34" charset="-120"/>
              </a:rPr>
              <a:t>"tile"</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&gt;</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Week 6</a:t>
            </a:r>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&lt;/article&gt;</a:t>
            </a:r>
            <a:endParaRPr lang="en-US" sz="1150" dirty="0"/>
          </a:p>
          <a:p>
            <a:pPr indent="0" marL="0">
              <a:lnSpc>
                <a:spcPts val="1472"/>
              </a:lnSpc>
              <a:buNone/>
            </a:pPr>
            <a:r>
              <a:rPr lang="en-US" sz="1150" dirty="0">
                <a:solidFill>
                  <a:srgbClr val="8FD3FF"/>
                </a:solidFill>
                <a:latin typeface="Courier New" pitchFamily="34" charset="0"/>
                <a:ea typeface="Courier New" pitchFamily="34" charset="-122"/>
                <a:cs typeface="Courier New" pitchFamily="34" charset="-120"/>
              </a:rPr>
              <a:t>&lt;/section&gt;</a:t>
            </a:r>
            <a:endParaRPr lang="en-US" sz="1150" dirty="0"/>
          </a:p>
        </p:txBody>
      </p:sp>
      <p:sp>
        <p:nvSpPr>
          <p:cNvPr id="8" name="Shape 6"/>
          <p:cNvSpPr/>
          <p:nvPr/>
        </p:nvSpPr>
        <p:spPr>
          <a:xfrm>
            <a:off x="6766560" y="1371600"/>
            <a:ext cx="4846320" cy="2377440"/>
          </a:xfrm>
          <a:prstGeom prst="roundRect">
            <a:avLst>
              <a:gd name="adj" fmla="val 3077"/>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9" name="Text 7"/>
          <p:cNvSpPr txBox="1"/>
          <p:nvPr/>
        </p:nvSpPr>
        <p:spPr>
          <a:xfrm>
            <a:off x="7022592" y="1572768"/>
            <a:ext cx="433425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Build it so that</a:t>
            </a:r>
            <a:endParaRPr lang="en-US" sz="1700" dirty="0"/>
          </a:p>
        </p:txBody>
      </p:sp>
      <p:sp>
        <p:nvSpPr>
          <p:cNvPr id="10" name="Text 8"/>
          <p:cNvSpPr txBox="1"/>
          <p:nvPr/>
        </p:nvSpPr>
        <p:spPr>
          <a:xfrm>
            <a:off x="7022592" y="1993392"/>
            <a:ext cx="4334256" cy="159105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Tiles are never narrower than 240px</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The column count changes by itself on resize</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There is a 20px gap in both directions</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No media query is used at all</a:t>
            </a:r>
            <a:endParaRPr lang="en-US" sz="1300" dirty="0"/>
          </a:p>
        </p:txBody>
      </p:sp>
      <p:sp>
        <p:nvSpPr>
          <p:cNvPr id="11" name="Shape 9"/>
          <p:cNvSpPr/>
          <p:nvPr/>
        </p:nvSpPr>
        <p:spPr>
          <a:xfrm>
            <a:off x="548640" y="3200400"/>
            <a:ext cx="6035040" cy="2743200"/>
          </a:xfrm>
          <a:prstGeom prst="roundRect">
            <a:avLst>
              <a:gd name="adj" fmla="val 2667"/>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2" name="Shape 10"/>
          <p:cNvSpPr/>
          <p:nvPr/>
        </p:nvSpPr>
        <p:spPr>
          <a:xfrm>
            <a:off x="749808" y="340156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749808" y="34015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4" name="Text 12"/>
          <p:cNvSpPr txBox="1"/>
          <p:nvPr/>
        </p:nvSpPr>
        <p:spPr>
          <a:xfrm>
            <a:off x="1261872" y="3429000"/>
            <a:ext cx="51206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Then answer in a CSS comment</a:t>
            </a:r>
            <a:endParaRPr lang="en-US" sz="1700" dirty="0"/>
          </a:p>
        </p:txBody>
      </p:sp>
      <p:sp>
        <p:nvSpPr>
          <p:cNvPr id="15" name="Text 13"/>
          <p:cNvSpPr txBox="1"/>
          <p:nvPr/>
        </p:nvSpPr>
        <p:spPr>
          <a:xfrm>
            <a:off x="804672" y="3822192"/>
            <a:ext cx="5522976" cy="195681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How many columns do you see at 1280px? At 800px? At 375px?</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What happens if you change 240px to 400px?</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Why does this need no media query?</a:t>
            </a:r>
            <a:endParaRPr lang="en-US" sz="1300" dirty="0"/>
          </a:p>
        </p:txBody>
      </p:sp>
      <p:sp>
        <p:nvSpPr>
          <p:cNvPr id="16" name="Shape 14"/>
          <p:cNvSpPr/>
          <p:nvPr/>
        </p:nvSpPr>
        <p:spPr>
          <a:xfrm>
            <a:off x="6766560" y="3931920"/>
            <a:ext cx="4846320" cy="2011680"/>
          </a:xfrm>
          <a:prstGeom prst="roundRect">
            <a:avLst>
              <a:gd name="adj" fmla="val 3636"/>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17" name="Shape 15"/>
          <p:cNvSpPr/>
          <p:nvPr/>
        </p:nvSpPr>
        <p:spPr>
          <a:xfrm>
            <a:off x="6967728" y="4133088"/>
            <a:ext cx="384048" cy="384048"/>
          </a:xfrm>
          <a:prstGeom prst="ellipse">
            <a:avLst/>
          </a:prstGeom>
          <a:solidFill>
            <a:srgbClr val="1F7A55"/>
          </a:solidFill>
          <a:ln w="12700">
            <a:solidFill>
              <a:srgbClr val="1F7A55"/>
            </a:solidFill>
            <a:prstDash val="solid"/>
          </a:ln>
        </p:spPr>
      </p:sp>
      <p:sp>
        <p:nvSpPr>
          <p:cNvPr id="18" name="Text 16"/>
          <p:cNvSpPr txBox="1"/>
          <p:nvPr/>
        </p:nvSpPr>
        <p:spPr>
          <a:xfrm>
            <a:off x="6967728" y="41330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9" name="Text 17"/>
          <p:cNvSpPr txBox="1"/>
          <p:nvPr/>
        </p:nvSpPr>
        <p:spPr>
          <a:xfrm>
            <a:off x="7479792" y="4160520"/>
            <a:ext cx="39319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Done when</a:t>
            </a:r>
            <a:endParaRPr lang="en-US" sz="1700" dirty="0"/>
          </a:p>
        </p:txBody>
      </p:sp>
      <p:sp>
        <p:nvSpPr>
          <p:cNvPr id="20" name="Text 18"/>
          <p:cNvSpPr txBox="1"/>
          <p:nvPr/>
        </p:nvSpPr>
        <p:spPr>
          <a:xfrm>
            <a:off x="7022592" y="4553712"/>
            <a:ext cx="4334256" cy="1225296"/>
          </a:xfrm>
          <a:prstGeom prst="rect">
            <a:avLst/>
          </a:prstGeom>
          <a:noFill/>
          <a:ln/>
        </p:spPr>
        <p:txBody>
          <a:bodyPr wrap="square" lIns="0" tIns="0" rIns="0" bIns="0" rtlCol="0" anchor="t"/>
          <a:lstStyle/>
          <a:p>
            <a:pPr indent="0" marL="0">
              <a:spcAft>
                <a:spcPts val="600"/>
              </a:spcAft>
              <a:buNone/>
            </a:pPr>
            <a:r>
              <a:rPr lang="en-US" sz="1300" dirty="0">
                <a:solidFill>
                  <a:srgbClr val="3D4A57"/>
                </a:solidFill>
                <a:latin typeface="Arial" pitchFamily="34" charset="0"/>
                <a:ea typeface="Arial" pitchFamily="34" charset="-122"/>
                <a:cs typeface="Arial" pitchFamily="34" charset="-120"/>
              </a:rPr>
              <a:t>Dragging the browser edge changes the column count smoothly, with no jumps or overflow</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C2 · 27-35 MINUTES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Exercise 3: Make It Responsive</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23</a:t>
            </a:r>
            <a:endParaRPr lang="en-US" sz="900" dirty="0"/>
          </a:p>
        </p:txBody>
      </p:sp>
      <p:sp>
        <p:nvSpPr>
          <p:cNvPr id="6" name="Shape 4"/>
          <p:cNvSpPr/>
          <p:nvPr/>
        </p:nvSpPr>
        <p:spPr>
          <a:xfrm>
            <a:off x="548640" y="1371600"/>
            <a:ext cx="5486400" cy="2651760"/>
          </a:xfrm>
          <a:prstGeom prst="roundRect">
            <a:avLst>
              <a:gd name="adj" fmla="val 2759"/>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7" name="Text 5"/>
          <p:cNvSpPr txBox="1"/>
          <p:nvPr/>
        </p:nvSpPr>
        <p:spPr>
          <a:xfrm>
            <a:off x="804672" y="1572768"/>
            <a:ext cx="497433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Required behaviour</a:t>
            </a:r>
            <a:endParaRPr lang="en-US" sz="1700" dirty="0"/>
          </a:p>
        </p:txBody>
      </p:sp>
      <p:sp>
        <p:nvSpPr>
          <p:cNvPr id="8" name="Text 6"/>
          <p:cNvSpPr txBox="1"/>
          <p:nvPr/>
        </p:nvSpPr>
        <p:spPr>
          <a:xfrm>
            <a:off x="804672" y="1993392"/>
            <a:ext cx="4974336" cy="186537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Phone (360px): everything in one column, header stacked</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Tablet (768px): header becomes a row, cards in two columns</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Laptop (1280px): container capped, cards in three or four columns</a:t>
            </a:r>
            <a:endParaRPr lang="en-US" sz="1300" dirty="0"/>
          </a:p>
        </p:txBody>
      </p:sp>
      <p:sp>
        <p:nvSpPr>
          <p:cNvPr id="9" name="Shape 7"/>
          <p:cNvSpPr/>
          <p:nvPr/>
        </p:nvSpPr>
        <p:spPr>
          <a:xfrm>
            <a:off x="6309360" y="1371600"/>
            <a:ext cx="5303520" cy="2651760"/>
          </a:xfrm>
          <a:prstGeom prst="roundRect">
            <a:avLst>
              <a:gd name="adj" fmla="val 2759"/>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0" name="Shape 8"/>
          <p:cNvSpPr/>
          <p:nvPr/>
        </p:nvSpPr>
        <p:spPr>
          <a:xfrm>
            <a:off x="6510528" y="1572768"/>
            <a:ext cx="384048" cy="384048"/>
          </a:xfrm>
          <a:prstGeom prst="ellipse">
            <a:avLst/>
          </a:prstGeom>
          <a:solidFill>
            <a:srgbClr val="E39A18"/>
          </a:solidFill>
          <a:ln w="12700">
            <a:solidFill>
              <a:srgbClr val="E39A18"/>
            </a:solidFill>
            <a:prstDash val="solid"/>
          </a:ln>
        </p:spPr>
      </p:sp>
      <p:sp>
        <p:nvSpPr>
          <p:cNvPr id="11" name="Text 9"/>
          <p:cNvSpPr txBox="1"/>
          <p:nvPr/>
        </p:nvSpPr>
        <p:spPr>
          <a:xfrm>
            <a:off x="651052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7022592" y="1600200"/>
            <a:ext cx="43891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Rules</a:t>
            </a:r>
            <a:endParaRPr lang="en-US" sz="1700" dirty="0"/>
          </a:p>
        </p:txBody>
      </p:sp>
      <p:sp>
        <p:nvSpPr>
          <p:cNvPr id="13" name="Text 11"/>
          <p:cNvSpPr txBox="1"/>
          <p:nvPr/>
        </p:nvSpPr>
        <p:spPr>
          <a:xfrm>
            <a:off x="6565392" y="1993392"/>
            <a:ext cx="4791456" cy="186537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Mobile-first: the base styles have NO media query</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Maximum two breakpoints</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Use min-width, never max-width</a:t>
            </a:r>
            <a:endParaRPr lang="en-US" sz="1300" dirty="0"/>
          </a:p>
        </p:txBody>
      </p:sp>
      <p:sp>
        <p:nvSpPr>
          <p:cNvPr id="14" name="Shape 12"/>
          <p:cNvSpPr/>
          <p:nvPr/>
        </p:nvSpPr>
        <p:spPr>
          <a:xfrm>
            <a:off x="548640" y="4251960"/>
            <a:ext cx="11064240" cy="1395984"/>
          </a:xfrm>
          <a:prstGeom prst="roundRect">
            <a:avLst>
              <a:gd name="adj" fmla="val 3930"/>
            </a:avLst>
          </a:prstGeom>
          <a:solidFill>
            <a:srgbClr val="0D1B2A"/>
          </a:solidFill>
          <a:ln w="12700">
            <a:solidFill>
              <a:srgbClr val="0D1B2A"/>
            </a:solidFill>
            <a:prstDash val="solid"/>
          </a:ln>
        </p:spPr>
      </p:sp>
      <p:sp>
        <p:nvSpPr>
          <p:cNvPr id="15" name="Text 13"/>
          <p:cNvSpPr txBox="1"/>
          <p:nvPr/>
        </p:nvSpPr>
        <p:spPr>
          <a:xfrm>
            <a:off x="658368" y="4361688"/>
            <a:ext cx="10844784" cy="1176528"/>
          </a:xfrm>
          <a:prstGeom prst="rect">
            <a:avLst/>
          </a:prstGeom>
          <a:noFill/>
          <a:ln/>
        </p:spPr>
        <p:txBody>
          <a:bodyPr wrap="square" lIns="0" tIns="0" rIns="0" bIns="0" rtlCol="0" anchor="t"/>
          <a:lstStyle/>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Start here. Base = phone. Then add.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header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display: flex; flex-direction: column; gap: 8px;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 </a:t>
            </a:r>
            <a:endParaRPr lang="en-US" sz="1150" dirty="0"/>
          </a:p>
          <a:p>
            <a:pPr indent="0" marL="0">
              <a:lnSpc>
                <a:spcPts val="1472"/>
              </a:lnSpc>
              <a:buNone/>
            </a:pPr>
            <a:r>
              <a:rPr lang="en-US" sz="1150" dirty="0">
                <a:solidFill>
                  <a:srgbClr val="FFC46B"/>
                </a:solidFill>
                <a:latin typeface="Courier New" pitchFamily="34" charset="0"/>
                <a:ea typeface="Courier New" pitchFamily="34" charset="-122"/>
                <a:cs typeface="Courier New" pitchFamily="34" charset="-120"/>
              </a:rPr>
              <a:t>@media (min-width: 768px) </a:t>
            </a:r>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a:p>
            <a:pPr indent="0" marL="0">
              <a:lnSpc>
                <a:spcPts val="1472"/>
              </a:lnSpc>
              <a:buNone/>
            </a:pPr>
            <a:r>
              <a:rPr lang="en-US" sz="1150" dirty="0">
                <a:solidFill>
                  <a:srgbClr val="8296A8"/>
                </a:solidFill>
                <a:latin typeface="Courier New" pitchFamily="34" charset="0"/>
                <a:ea typeface="Courier New" pitchFamily="34" charset="-122"/>
                <a:cs typeface="Courier New" pitchFamily="34" charset="-120"/>
              </a:rPr>
              <a:t>  /* your job */</a:t>
            </a:r>
            <a:endParaRPr lang="en-US" sz="1150" dirty="0"/>
          </a:p>
          <a:p>
            <a:pPr indent="0" marL="0">
              <a:lnSpc>
                <a:spcPts val="1472"/>
              </a:lnSpc>
              <a:buNone/>
            </a:pPr>
            <a:r>
              <a:rPr lang="en-US" sz="1150" dirty="0">
                <a:solidFill>
                  <a:srgbClr val="E8EEF7"/>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C2 · 35-42 MIN · STRETCH</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Exercise 4: Rebuild the Target</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24</a:t>
            </a:r>
            <a:endParaRPr lang="en-US" sz="900" dirty="0"/>
          </a:p>
        </p:txBody>
      </p:sp>
      <p:sp>
        <p:nvSpPr>
          <p:cNvPr id="6" name="Shape 4"/>
          <p:cNvSpPr/>
          <p:nvPr/>
        </p:nvSpPr>
        <p:spPr>
          <a:xfrm>
            <a:off x="548640" y="1371600"/>
            <a:ext cx="6035040" cy="4572000"/>
          </a:xfrm>
          <a:prstGeom prst="roundRect">
            <a:avLst>
              <a:gd name="adj" fmla="val 1200"/>
            </a:avLst>
          </a:prstGeom>
          <a:solidFill>
            <a:srgbClr val="FFFFFF"/>
          </a:solidFill>
          <a:ln w="12700">
            <a:solidFill>
              <a:srgbClr val="D6DEE6"/>
            </a:solidFill>
            <a:prstDash val="solid"/>
          </a:ln>
          <a:effectLst>
            <a:outerShdw sx="100000" sy="100000" kx="0" ky="0" algn="bl" rotWithShape="0" blurRad="76200" dist="12700" dir="5400000">
              <a:srgbClr val="9AA9B8">
                <a:alpha val="20000"/>
              </a:srgbClr>
            </a:outerShdw>
          </a:effectLst>
        </p:spPr>
      </p:sp>
      <p:sp>
        <p:nvSpPr>
          <p:cNvPr id="7" name="Shape 5"/>
          <p:cNvSpPr/>
          <p:nvPr/>
        </p:nvSpPr>
        <p:spPr>
          <a:xfrm>
            <a:off x="548640" y="1371600"/>
            <a:ext cx="6035040" cy="292608"/>
          </a:xfrm>
          <a:prstGeom prst="rect">
            <a:avLst/>
          </a:prstGeom>
          <a:solidFill>
            <a:srgbClr val="E8EEF4"/>
          </a:solidFill>
          <a:ln w="12700">
            <a:solidFill>
              <a:srgbClr val="D6DEE6"/>
            </a:solidFill>
            <a:prstDash val="solid"/>
          </a:ln>
        </p:spPr>
      </p:sp>
      <p:sp>
        <p:nvSpPr>
          <p:cNvPr id="8" name="Shape 6"/>
          <p:cNvSpPr/>
          <p:nvPr/>
        </p:nvSpPr>
        <p:spPr>
          <a:xfrm>
            <a:off x="676656" y="1463040"/>
            <a:ext cx="109728" cy="109728"/>
          </a:xfrm>
          <a:prstGeom prst="ellipse">
            <a:avLst/>
          </a:prstGeom>
          <a:solidFill>
            <a:srgbClr val="E06C5E"/>
          </a:solidFill>
          <a:ln w="12700">
            <a:solidFill>
              <a:srgbClr val="E06C5E"/>
            </a:solidFill>
            <a:prstDash val="solid"/>
          </a:ln>
        </p:spPr>
      </p:sp>
      <p:sp>
        <p:nvSpPr>
          <p:cNvPr id="9" name="Shape 7"/>
          <p:cNvSpPr/>
          <p:nvPr/>
        </p:nvSpPr>
        <p:spPr>
          <a:xfrm>
            <a:off x="859536" y="1463040"/>
            <a:ext cx="109728" cy="109728"/>
          </a:xfrm>
          <a:prstGeom prst="ellipse">
            <a:avLst/>
          </a:prstGeom>
          <a:solidFill>
            <a:srgbClr val="E3B341"/>
          </a:solidFill>
          <a:ln w="12700">
            <a:solidFill>
              <a:srgbClr val="E3B341"/>
            </a:solidFill>
            <a:prstDash val="solid"/>
          </a:ln>
        </p:spPr>
      </p:sp>
      <p:sp>
        <p:nvSpPr>
          <p:cNvPr id="10" name="Shape 8"/>
          <p:cNvSpPr/>
          <p:nvPr/>
        </p:nvSpPr>
        <p:spPr>
          <a:xfrm>
            <a:off x="1042416" y="1463040"/>
            <a:ext cx="109728" cy="109728"/>
          </a:xfrm>
          <a:prstGeom prst="ellipse">
            <a:avLst/>
          </a:prstGeom>
          <a:solidFill>
            <a:srgbClr val="5FB878"/>
          </a:solidFill>
          <a:ln w="12700">
            <a:solidFill>
              <a:srgbClr val="5FB878"/>
            </a:solidFill>
            <a:prstDash val="solid"/>
          </a:ln>
        </p:spPr>
      </p:sp>
      <p:sp>
        <p:nvSpPr>
          <p:cNvPr id="11" name="Text 9"/>
          <p:cNvSpPr txBox="1"/>
          <p:nvPr/>
        </p:nvSpPr>
        <p:spPr>
          <a:xfrm>
            <a:off x="1325880" y="1399032"/>
            <a:ext cx="5120640" cy="237744"/>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target — laptop width</a:t>
            </a:r>
            <a:endParaRPr lang="en-US" sz="900" dirty="0"/>
          </a:p>
        </p:txBody>
      </p:sp>
      <p:sp>
        <p:nvSpPr>
          <p:cNvPr id="12" name="Shape 10"/>
          <p:cNvSpPr/>
          <p:nvPr/>
        </p:nvSpPr>
        <p:spPr>
          <a:xfrm>
            <a:off x="777240" y="1783080"/>
            <a:ext cx="5577840" cy="548640"/>
          </a:xfrm>
          <a:prstGeom prst="rect">
            <a:avLst/>
          </a:prstGeom>
          <a:solidFill>
            <a:srgbClr val="003366"/>
          </a:solidFill>
          <a:ln w="12700">
            <a:solidFill>
              <a:srgbClr val="003366"/>
            </a:solidFill>
            <a:prstDash val="solid"/>
          </a:ln>
        </p:spPr>
      </p:sp>
      <p:sp>
        <p:nvSpPr>
          <p:cNvPr id="13" name="Text 11"/>
          <p:cNvSpPr txBox="1"/>
          <p:nvPr/>
        </p:nvSpPr>
        <p:spPr>
          <a:xfrm>
            <a:off x="914400" y="1783080"/>
            <a:ext cx="2286000"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IIUC Courses</a:t>
            </a:r>
            <a:endParaRPr lang="en-US" sz="1200" dirty="0"/>
          </a:p>
        </p:txBody>
      </p:sp>
      <p:sp>
        <p:nvSpPr>
          <p:cNvPr id="14" name="Text 12"/>
          <p:cNvSpPr txBox="1"/>
          <p:nvPr/>
        </p:nvSpPr>
        <p:spPr>
          <a:xfrm>
            <a:off x="3657600" y="1783080"/>
            <a:ext cx="2560320" cy="548640"/>
          </a:xfrm>
          <a:prstGeom prst="rect">
            <a:avLst/>
          </a:prstGeom>
          <a:noFill/>
          <a:ln/>
        </p:spPr>
        <p:txBody>
          <a:bodyPr wrap="square" lIns="0" tIns="0" rIns="0" bIns="0" rtlCol="0" anchor="ctr"/>
          <a:lstStyle/>
          <a:p>
            <a:pPr algn="r" indent="0" marL="0">
              <a:buNone/>
            </a:pPr>
            <a:r>
              <a:rPr lang="en-US" sz="950" dirty="0">
                <a:solidFill>
                  <a:srgbClr val="BFD3E6"/>
                </a:solidFill>
                <a:latin typeface="Arial" pitchFamily="34" charset="0"/>
                <a:ea typeface="Arial" pitchFamily="34" charset="-122"/>
                <a:cs typeface="Arial" pitchFamily="34" charset="-120"/>
              </a:rPr>
              <a:t>Home   Courses   About</a:t>
            </a:r>
            <a:endParaRPr lang="en-US" sz="950" dirty="0"/>
          </a:p>
        </p:txBody>
      </p:sp>
      <p:sp>
        <p:nvSpPr>
          <p:cNvPr id="15" name="Shape 13"/>
          <p:cNvSpPr/>
          <p:nvPr/>
        </p:nvSpPr>
        <p:spPr>
          <a:xfrm>
            <a:off x="914400" y="2514600"/>
            <a:ext cx="1691640" cy="1234440"/>
          </a:xfrm>
          <a:prstGeom prst="roundRect">
            <a:avLst>
              <a:gd name="adj" fmla="val 3704"/>
            </a:avLst>
          </a:prstGeom>
          <a:solidFill>
            <a:srgbClr val="FFFFFF"/>
          </a:solidFill>
          <a:ln w="12700">
            <a:solidFill>
              <a:srgbClr val="D6DEE6"/>
            </a:solidFill>
            <a:prstDash val="solid"/>
          </a:ln>
        </p:spPr>
      </p:sp>
      <p:sp>
        <p:nvSpPr>
          <p:cNvPr id="16" name="Shape 14"/>
          <p:cNvSpPr/>
          <p:nvPr/>
        </p:nvSpPr>
        <p:spPr>
          <a:xfrm>
            <a:off x="1024128" y="2624328"/>
            <a:ext cx="1463040" cy="457200"/>
          </a:xfrm>
          <a:prstGeom prst="rect">
            <a:avLst/>
          </a:prstGeom>
          <a:solidFill>
            <a:srgbClr val="E8EEF4"/>
          </a:solidFill>
          <a:ln w="12700">
            <a:solidFill>
              <a:srgbClr val="E8EEF4"/>
            </a:solidFill>
            <a:prstDash val="solid"/>
          </a:ln>
        </p:spPr>
      </p:sp>
      <p:sp>
        <p:nvSpPr>
          <p:cNvPr id="17" name="Text 15"/>
          <p:cNvSpPr txBox="1"/>
          <p:nvPr/>
        </p:nvSpPr>
        <p:spPr>
          <a:xfrm>
            <a:off x="1024128" y="3136392"/>
            <a:ext cx="1463040" cy="228600"/>
          </a:xfrm>
          <a:prstGeom prst="rect">
            <a:avLst/>
          </a:prstGeom>
          <a:noFill/>
          <a:ln/>
        </p:spPr>
        <p:txBody>
          <a:bodyPr wrap="square" lIns="0" tIns="0" rIns="0" bIns="0" rtlCol="0" anchor="ctr"/>
          <a:lstStyle/>
          <a:p>
            <a:pPr indent="0" marL="0">
              <a:buNone/>
            </a:pPr>
            <a:r>
              <a:rPr lang="en-US" sz="950" b="1" dirty="0">
                <a:solidFill>
                  <a:srgbClr val="1A2733"/>
                </a:solidFill>
                <a:latin typeface="Arial" pitchFamily="34" charset="0"/>
                <a:ea typeface="Arial" pitchFamily="34" charset="-122"/>
                <a:cs typeface="Arial" pitchFamily="34" charset="-120"/>
              </a:rPr>
              <a:t>Week 1</a:t>
            </a:r>
            <a:endParaRPr lang="en-US" sz="950" dirty="0"/>
          </a:p>
        </p:txBody>
      </p:sp>
      <p:sp>
        <p:nvSpPr>
          <p:cNvPr id="18" name="Text 16"/>
          <p:cNvSpPr txBox="1"/>
          <p:nvPr/>
        </p:nvSpPr>
        <p:spPr>
          <a:xfrm>
            <a:off x="1024128" y="3383280"/>
            <a:ext cx="1463040" cy="228600"/>
          </a:xfrm>
          <a:prstGeom prst="rect">
            <a:avLst/>
          </a:prstGeom>
          <a:noFill/>
          <a:ln/>
        </p:spPr>
        <p:txBody>
          <a:bodyPr wrap="square" lIns="0" tIns="0" rIns="0" bIns="0" rtlCol="0" anchor="ctr"/>
          <a:lstStyle/>
          <a:p>
            <a:pPr indent="0" marL="0">
              <a:buNone/>
            </a:pPr>
            <a:r>
              <a:rPr lang="en-US" sz="850" dirty="0">
                <a:solidFill>
                  <a:srgbClr val="6B7A88"/>
                </a:solidFill>
                <a:latin typeface="Arial" pitchFamily="34" charset="0"/>
                <a:ea typeface="Arial" pitchFamily="34" charset="-122"/>
                <a:cs typeface="Arial" pitchFamily="34" charset="-120"/>
              </a:rPr>
              <a:t>4 classes</a:t>
            </a:r>
            <a:endParaRPr lang="en-US" sz="850" dirty="0"/>
          </a:p>
        </p:txBody>
      </p:sp>
      <p:sp>
        <p:nvSpPr>
          <p:cNvPr id="19" name="Shape 17"/>
          <p:cNvSpPr/>
          <p:nvPr/>
        </p:nvSpPr>
        <p:spPr>
          <a:xfrm>
            <a:off x="2743200" y="2514600"/>
            <a:ext cx="1691640" cy="1234440"/>
          </a:xfrm>
          <a:prstGeom prst="roundRect">
            <a:avLst>
              <a:gd name="adj" fmla="val 3704"/>
            </a:avLst>
          </a:prstGeom>
          <a:solidFill>
            <a:srgbClr val="FFFFFF"/>
          </a:solidFill>
          <a:ln w="12700">
            <a:solidFill>
              <a:srgbClr val="D6DEE6"/>
            </a:solidFill>
            <a:prstDash val="solid"/>
          </a:ln>
        </p:spPr>
      </p:sp>
      <p:sp>
        <p:nvSpPr>
          <p:cNvPr id="20" name="Shape 18"/>
          <p:cNvSpPr/>
          <p:nvPr/>
        </p:nvSpPr>
        <p:spPr>
          <a:xfrm>
            <a:off x="2852928" y="2624328"/>
            <a:ext cx="1463040" cy="457200"/>
          </a:xfrm>
          <a:prstGeom prst="rect">
            <a:avLst/>
          </a:prstGeom>
          <a:solidFill>
            <a:srgbClr val="E8EEF4"/>
          </a:solidFill>
          <a:ln w="12700">
            <a:solidFill>
              <a:srgbClr val="E8EEF4"/>
            </a:solidFill>
            <a:prstDash val="solid"/>
          </a:ln>
        </p:spPr>
      </p:sp>
      <p:sp>
        <p:nvSpPr>
          <p:cNvPr id="21" name="Text 19"/>
          <p:cNvSpPr txBox="1"/>
          <p:nvPr/>
        </p:nvSpPr>
        <p:spPr>
          <a:xfrm>
            <a:off x="2852928" y="3136392"/>
            <a:ext cx="1463040" cy="228600"/>
          </a:xfrm>
          <a:prstGeom prst="rect">
            <a:avLst/>
          </a:prstGeom>
          <a:noFill/>
          <a:ln/>
        </p:spPr>
        <p:txBody>
          <a:bodyPr wrap="square" lIns="0" tIns="0" rIns="0" bIns="0" rtlCol="0" anchor="ctr"/>
          <a:lstStyle/>
          <a:p>
            <a:pPr indent="0" marL="0">
              <a:buNone/>
            </a:pPr>
            <a:r>
              <a:rPr lang="en-US" sz="950" b="1" dirty="0">
                <a:solidFill>
                  <a:srgbClr val="1A2733"/>
                </a:solidFill>
                <a:latin typeface="Arial" pitchFamily="34" charset="0"/>
                <a:ea typeface="Arial" pitchFamily="34" charset="-122"/>
                <a:cs typeface="Arial" pitchFamily="34" charset="-120"/>
              </a:rPr>
              <a:t>Week 2</a:t>
            </a:r>
            <a:endParaRPr lang="en-US" sz="950" dirty="0"/>
          </a:p>
        </p:txBody>
      </p:sp>
      <p:sp>
        <p:nvSpPr>
          <p:cNvPr id="22" name="Text 20"/>
          <p:cNvSpPr txBox="1"/>
          <p:nvPr/>
        </p:nvSpPr>
        <p:spPr>
          <a:xfrm>
            <a:off x="2852928" y="3383280"/>
            <a:ext cx="1463040" cy="228600"/>
          </a:xfrm>
          <a:prstGeom prst="rect">
            <a:avLst/>
          </a:prstGeom>
          <a:noFill/>
          <a:ln/>
        </p:spPr>
        <p:txBody>
          <a:bodyPr wrap="square" lIns="0" tIns="0" rIns="0" bIns="0" rtlCol="0" anchor="ctr"/>
          <a:lstStyle/>
          <a:p>
            <a:pPr indent="0" marL="0">
              <a:buNone/>
            </a:pPr>
            <a:r>
              <a:rPr lang="en-US" sz="850" dirty="0">
                <a:solidFill>
                  <a:srgbClr val="6B7A88"/>
                </a:solidFill>
                <a:latin typeface="Arial" pitchFamily="34" charset="0"/>
                <a:ea typeface="Arial" pitchFamily="34" charset="-122"/>
                <a:cs typeface="Arial" pitchFamily="34" charset="-120"/>
              </a:rPr>
              <a:t>4 classes</a:t>
            </a:r>
            <a:endParaRPr lang="en-US" sz="850" dirty="0"/>
          </a:p>
        </p:txBody>
      </p:sp>
      <p:sp>
        <p:nvSpPr>
          <p:cNvPr id="23" name="Shape 21"/>
          <p:cNvSpPr/>
          <p:nvPr/>
        </p:nvSpPr>
        <p:spPr>
          <a:xfrm>
            <a:off x="4572000" y="2514600"/>
            <a:ext cx="1691640" cy="1234440"/>
          </a:xfrm>
          <a:prstGeom prst="roundRect">
            <a:avLst>
              <a:gd name="adj" fmla="val 3704"/>
            </a:avLst>
          </a:prstGeom>
          <a:solidFill>
            <a:srgbClr val="FFFFFF"/>
          </a:solidFill>
          <a:ln w="12700">
            <a:solidFill>
              <a:srgbClr val="D6DEE6"/>
            </a:solidFill>
            <a:prstDash val="solid"/>
          </a:ln>
        </p:spPr>
      </p:sp>
      <p:sp>
        <p:nvSpPr>
          <p:cNvPr id="24" name="Shape 22"/>
          <p:cNvSpPr/>
          <p:nvPr/>
        </p:nvSpPr>
        <p:spPr>
          <a:xfrm>
            <a:off x="4681728" y="2624328"/>
            <a:ext cx="1463040" cy="457200"/>
          </a:xfrm>
          <a:prstGeom prst="rect">
            <a:avLst/>
          </a:prstGeom>
          <a:solidFill>
            <a:srgbClr val="E8EEF4"/>
          </a:solidFill>
          <a:ln w="12700">
            <a:solidFill>
              <a:srgbClr val="E8EEF4"/>
            </a:solidFill>
            <a:prstDash val="solid"/>
          </a:ln>
        </p:spPr>
      </p:sp>
      <p:sp>
        <p:nvSpPr>
          <p:cNvPr id="25" name="Text 23"/>
          <p:cNvSpPr txBox="1"/>
          <p:nvPr/>
        </p:nvSpPr>
        <p:spPr>
          <a:xfrm>
            <a:off x="4681728" y="3136392"/>
            <a:ext cx="1463040" cy="228600"/>
          </a:xfrm>
          <a:prstGeom prst="rect">
            <a:avLst/>
          </a:prstGeom>
          <a:noFill/>
          <a:ln/>
        </p:spPr>
        <p:txBody>
          <a:bodyPr wrap="square" lIns="0" tIns="0" rIns="0" bIns="0" rtlCol="0" anchor="ctr"/>
          <a:lstStyle/>
          <a:p>
            <a:pPr indent="0" marL="0">
              <a:buNone/>
            </a:pPr>
            <a:r>
              <a:rPr lang="en-US" sz="950" b="1" dirty="0">
                <a:solidFill>
                  <a:srgbClr val="1A2733"/>
                </a:solidFill>
                <a:latin typeface="Arial" pitchFamily="34" charset="0"/>
                <a:ea typeface="Arial" pitchFamily="34" charset="-122"/>
                <a:cs typeface="Arial" pitchFamily="34" charset="-120"/>
              </a:rPr>
              <a:t>Week 3</a:t>
            </a:r>
            <a:endParaRPr lang="en-US" sz="950" dirty="0"/>
          </a:p>
        </p:txBody>
      </p:sp>
      <p:sp>
        <p:nvSpPr>
          <p:cNvPr id="26" name="Text 24"/>
          <p:cNvSpPr txBox="1"/>
          <p:nvPr/>
        </p:nvSpPr>
        <p:spPr>
          <a:xfrm>
            <a:off x="4681728" y="3383280"/>
            <a:ext cx="1463040" cy="228600"/>
          </a:xfrm>
          <a:prstGeom prst="rect">
            <a:avLst/>
          </a:prstGeom>
          <a:noFill/>
          <a:ln/>
        </p:spPr>
        <p:txBody>
          <a:bodyPr wrap="square" lIns="0" tIns="0" rIns="0" bIns="0" rtlCol="0" anchor="ctr"/>
          <a:lstStyle/>
          <a:p>
            <a:pPr indent="0" marL="0">
              <a:buNone/>
            </a:pPr>
            <a:r>
              <a:rPr lang="en-US" sz="850" dirty="0">
                <a:solidFill>
                  <a:srgbClr val="6B7A88"/>
                </a:solidFill>
                <a:latin typeface="Arial" pitchFamily="34" charset="0"/>
                <a:ea typeface="Arial" pitchFamily="34" charset="-122"/>
                <a:cs typeface="Arial" pitchFamily="34" charset="-120"/>
              </a:rPr>
              <a:t>4 classes</a:t>
            </a:r>
            <a:endParaRPr lang="en-US" sz="850" dirty="0"/>
          </a:p>
        </p:txBody>
      </p:sp>
      <p:sp>
        <p:nvSpPr>
          <p:cNvPr id="27" name="Shape 25"/>
          <p:cNvSpPr/>
          <p:nvPr/>
        </p:nvSpPr>
        <p:spPr>
          <a:xfrm>
            <a:off x="914400" y="3886200"/>
            <a:ext cx="1691640" cy="1234440"/>
          </a:xfrm>
          <a:prstGeom prst="roundRect">
            <a:avLst>
              <a:gd name="adj" fmla="val 3704"/>
            </a:avLst>
          </a:prstGeom>
          <a:solidFill>
            <a:srgbClr val="FFFFFF"/>
          </a:solidFill>
          <a:ln w="12700">
            <a:solidFill>
              <a:srgbClr val="D6DEE6"/>
            </a:solidFill>
            <a:prstDash val="solid"/>
          </a:ln>
        </p:spPr>
      </p:sp>
      <p:sp>
        <p:nvSpPr>
          <p:cNvPr id="28" name="Shape 26"/>
          <p:cNvSpPr/>
          <p:nvPr/>
        </p:nvSpPr>
        <p:spPr>
          <a:xfrm>
            <a:off x="1024128" y="3995928"/>
            <a:ext cx="1463040" cy="457200"/>
          </a:xfrm>
          <a:prstGeom prst="rect">
            <a:avLst/>
          </a:prstGeom>
          <a:solidFill>
            <a:srgbClr val="E8EEF4"/>
          </a:solidFill>
          <a:ln w="12700">
            <a:solidFill>
              <a:srgbClr val="E8EEF4"/>
            </a:solidFill>
            <a:prstDash val="solid"/>
          </a:ln>
        </p:spPr>
      </p:sp>
      <p:sp>
        <p:nvSpPr>
          <p:cNvPr id="29" name="Text 27"/>
          <p:cNvSpPr txBox="1"/>
          <p:nvPr/>
        </p:nvSpPr>
        <p:spPr>
          <a:xfrm>
            <a:off x="1024128" y="4507992"/>
            <a:ext cx="1463040" cy="228600"/>
          </a:xfrm>
          <a:prstGeom prst="rect">
            <a:avLst/>
          </a:prstGeom>
          <a:noFill/>
          <a:ln/>
        </p:spPr>
        <p:txBody>
          <a:bodyPr wrap="square" lIns="0" tIns="0" rIns="0" bIns="0" rtlCol="0" anchor="ctr"/>
          <a:lstStyle/>
          <a:p>
            <a:pPr indent="0" marL="0">
              <a:buNone/>
            </a:pPr>
            <a:r>
              <a:rPr lang="en-US" sz="950" b="1" dirty="0">
                <a:solidFill>
                  <a:srgbClr val="1A2733"/>
                </a:solidFill>
                <a:latin typeface="Arial" pitchFamily="34" charset="0"/>
                <a:ea typeface="Arial" pitchFamily="34" charset="-122"/>
                <a:cs typeface="Arial" pitchFamily="34" charset="-120"/>
              </a:rPr>
              <a:t>Week 4</a:t>
            </a:r>
            <a:endParaRPr lang="en-US" sz="950" dirty="0"/>
          </a:p>
        </p:txBody>
      </p:sp>
      <p:sp>
        <p:nvSpPr>
          <p:cNvPr id="30" name="Text 28"/>
          <p:cNvSpPr txBox="1"/>
          <p:nvPr/>
        </p:nvSpPr>
        <p:spPr>
          <a:xfrm>
            <a:off x="1024128" y="4754880"/>
            <a:ext cx="1463040" cy="228600"/>
          </a:xfrm>
          <a:prstGeom prst="rect">
            <a:avLst/>
          </a:prstGeom>
          <a:noFill/>
          <a:ln/>
        </p:spPr>
        <p:txBody>
          <a:bodyPr wrap="square" lIns="0" tIns="0" rIns="0" bIns="0" rtlCol="0" anchor="ctr"/>
          <a:lstStyle/>
          <a:p>
            <a:pPr indent="0" marL="0">
              <a:buNone/>
            </a:pPr>
            <a:r>
              <a:rPr lang="en-US" sz="850" dirty="0">
                <a:solidFill>
                  <a:srgbClr val="6B7A88"/>
                </a:solidFill>
                <a:latin typeface="Arial" pitchFamily="34" charset="0"/>
                <a:ea typeface="Arial" pitchFamily="34" charset="-122"/>
                <a:cs typeface="Arial" pitchFamily="34" charset="-120"/>
              </a:rPr>
              <a:t>4 classes</a:t>
            </a:r>
            <a:endParaRPr lang="en-US" sz="850" dirty="0"/>
          </a:p>
        </p:txBody>
      </p:sp>
      <p:sp>
        <p:nvSpPr>
          <p:cNvPr id="31" name="Shape 29"/>
          <p:cNvSpPr/>
          <p:nvPr/>
        </p:nvSpPr>
        <p:spPr>
          <a:xfrm>
            <a:off x="2743200" y="3886200"/>
            <a:ext cx="1691640" cy="1234440"/>
          </a:xfrm>
          <a:prstGeom prst="roundRect">
            <a:avLst>
              <a:gd name="adj" fmla="val 3704"/>
            </a:avLst>
          </a:prstGeom>
          <a:solidFill>
            <a:srgbClr val="FFFFFF"/>
          </a:solidFill>
          <a:ln w="12700">
            <a:solidFill>
              <a:srgbClr val="D6DEE6"/>
            </a:solidFill>
            <a:prstDash val="solid"/>
          </a:ln>
        </p:spPr>
      </p:sp>
      <p:sp>
        <p:nvSpPr>
          <p:cNvPr id="32" name="Shape 30"/>
          <p:cNvSpPr/>
          <p:nvPr/>
        </p:nvSpPr>
        <p:spPr>
          <a:xfrm>
            <a:off x="2852928" y="3995928"/>
            <a:ext cx="1463040" cy="457200"/>
          </a:xfrm>
          <a:prstGeom prst="rect">
            <a:avLst/>
          </a:prstGeom>
          <a:solidFill>
            <a:srgbClr val="E8EEF4"/>
          </a:solidFill>
          <a:ln w="12700">
            <a:solidFill>
              <a:srgbClr val="E8EEF4"/>
            </a:solidFill>
            <a:prstDash val="solid"/>
          </a:ln>
        </p:spPr>
      </p:sp>
      <p:sp>
        <p:nvSpPr>
          <p:cNvPr id="33" name="Text 31"/>
          <p:cNvSpPr txBox="1"/>
          <p:nvPr/>
        </p:nvSpPr>
        <p:spPr>
          <a:xfrm>
            <a:off x="2852928" y="4507992"/>
            <a:ext cx="1463040" cy="228600"/>
          </a:xfrm>
          <a:prstGeom prst="rect">
            <a:avLst/>
          </a:prstGeom>
          <a:noFill/>
          <a:ln/>
        </p:spPr>
        <p:txBody>
          <a:bodyPr wrap="square" lIns="0" tIns="0" rIns="0" bIns="0" rtlCol="0" anchor="ctr"/>
          <a:lstStyle/>
          <a:p>
            <a:pPr indent="0" marL="0">
              <a:buNone/>
            </a:pPr>
            <a:r>
              <a:rPr lang="en-US" sz="950" b="1" dirty="0">
                <a:solidFill>
                  <a:srgbClr val="1A2733"/>
                </a:solidFill>
                <a:latin typeface="Arial" pitchFamily="34" charset="0"/>
                <a:ea typeface="Arial" pitchFamily="34" charset="-122"/>
                <a:cs typeface="Arial" pitchFamily="34" charset="-120"/>
              </a:rPr>
              <a:t>Week 5</a:t>
            </a:r>
            <a:endParaRPr lang="en-US" sz="950" dirty="0"/>
          </a:p>
        </p:txBody>
      </p:sp>
      <p:sp>
        <p:nvSpPr>
          <p:cNvPr id="34" name="Text 32"/>
          <p:cNvSpPr txBox="1"/>
          <p:nvPr/>
        </p:nvSpPr>
        <p:spPr>
          <a:xfrm>
            <a:off x="2852928" y="4754880"/>
            <a:ext cx="1463040" cy="228600"/>
          </a:xfrm>
          <a:prstGeom prst="rect">
            <a:avLst/>
          </a:prstGeom>
          <a:noFill/>
          <a:ln/>
        </p:spPr>
        <p:txBody>
          <a:bodyPr wrap="square" lIns="0" tIns="0" rIns="0" bIns="0" rtlCol="0" anchor="ctr"/>
          <a:lstStyle/>
          <a:p>
            <a:pPr indent="0" marL="0">
              <a:buNone/>
            </a:pPr>
            <a:r>
              <a:rPr lang="en-US" sz="850" dirty="0">
                <a:solidFill>
                  <a:srgbClr val="6B7A88"/>
                </a:solidFill>
                <a:latin typeface="Arial" pitchFamily="34" charset="0"/>
                <a:ea typeface="Arial" pitchFamily="34" charset="-122"/>
                <a:cs typeface="Arial" pitchFamily="34" charset="-120"/>
              </a:rPr>
              <a:t>4 classes</a:t>
            </a:r>
            <a:endParaRPr lang="en-US" sz="850" dirty="0"/>
          </a:p>
        </p:txBody>
      </p:sp>
      <p:sp>
        <p:nvSpPr>
          <p:cNvPr id="35" name="Shape 33"/>
          <p:cNvSpPr/>
          <p:nvPr/>
        </p:nvSpPr>
        <p:spPr>
          <a:xfrm>
            <a:off x="4572000" y="3886200"/>
            <a:ext cx="1691640" cy="1234440"/>
          </a:xfrm>
          <a:prstGeom prst="roundRect">
            <a:avLst>
              <a:gd name="adj" fmla="val 3704"/>
            </a:avLst>
          </a:prstGeom>
          <a:solidFill>
            <a:srgbClr val="FFFFFF"/>
          </a:solidFill>
          <a:ln w="12700">
            <a:solidFill>
              <a:srgbClr val="D6DEE6"/>
            </a:solidFill>
            <a:prstDash val="solid"/>
          </a:ln>
        </p:spPr>
      </p:sp>
      <p:sp>
        <p:nvSpPr>
          <p:cNvPr id="36" name="Shape 34"/>
          <p:cNvSpPr/>
          <p:nvPr/>
        </p:nvSpPr>
        <p:spPr>
          <a:xfrm>
            <a:off x="4681728" y="3995928"/>
            <a:ext cx="1463040" cy="457200"/>
          </a:xfrm>
          <a:prstGeom prst="rect">
            <a:avLst/>
          </a:prstGeom>
          <a:solidFill>
            <a:srgbClr val="E8EEF4"/>
          </a:solidFill>
          <a:ln w="12700">
            <a:solidFill>
              <a:srgbClr val="E8EEF4"/>
            </a:solidFill>
            <a:prstDash val="solid"/>
          </a:ln>
        </p:spPr>
      </p:sp>
      <p:sp>
        <p:nvSpPr>
          <p:cNvPr id="37" name="Text 35"/>
          <p:cNvSpPr txBox="1"/>
          <p:nvPr/>
        </p:nvSpPr>
        <p:spPr>
          <a:xfrm>
            <a:off x="4681728" y="4507992"/>
            <a:ext cx="1463040" cy="228600"/>
          </a:xfrm>
          <a:prstGeom prst="rect">
            <a:avLst/>
          </a:prstGeom>
          <a:noFill/>
          <a:ln/>
        </p:spPr>
        <p:txBody>
          <a:bodyPr wrap="square" lIns="0" tIns="0" rIns="0" bIns="0" rtlCol="0" anchor="ctr"/>
          <a:lstStyle/>
          <a:p>
            <a:pPr indent="0" marL="0">
              <a:buNone/>
            </a:pPr>
            <a:r>
              <a:rPr lang="en-US" sz="950" b="1" dirty="0">
                <a:solidFill>
                  <a:srgbClr val="1A2733"/>
                </a:solidFill>
                <a:latin typeface="Arial" pitchFamily="34" charset="0"/>
                <a:ea typeface="Arial" pitchFamily="34" charset="-122"/>
                <a:cs typeface="Arial" pitchFamily="34" charset="-120"/>
              </a:rPr>
              <a:t>Week 6</a:t>
            </a:r>
            <a:endParaRPr lang="en-US" sz="950" dirty="0"/>
          </a:p>
        </p:txBody>
      </p:sp>
      <p:sp>
        <p:nvSpPr>
          <p:cNvPr id="38" name="Text 36"/>
          <p:cNvSpPr txBox="1"/>
          <p:nvPr/>
        </p:nvSpPr>
        <p:spPr>
          <a:xfrm>
            <a:off x="4681728" y="4754880"/>
            <a:ext cx="1463040" cy="228600"/>
          </a:xfrm>
          <a:prstGeom prst="rect">
            <a:avLst/>
          </a:prstGeom>
          <a:noFill/>
          <a:ln/>
        </p:spPr>
        <p:txBody>
          <a:bodyPr wrap="square" lIns="0" tIns="0" rIns="0" bIns="0" rtlCol="0" anchor="ctr"/>
          <a:lstStyle/>
          <a:p>
            <a:pPr indent="0" marL="0">
              <a:buNone/>
            </a:pPr>
            <a:r>
              <a:rPr lang="en-US" sz="850" dirty="0">
                <a:solidFill>
                  <a:srgbClr val="6B7A88"/>
                </a:solidFill>
                <a:latin typeface="Arial" pitchFamily="34" charset="0"/>
                <a:ea typeface="Arial" pitchFamily="34" charset="-122"/>
                <a:cs typeface="Arial" pitchFamily="34" charset="-120"/>
              </a:rPr>
              <a:t>4 classes</a:t>
            </a:r>
            <a:endParaRPr lang="en-US" sz="850" dirty="0"/>
          </a:p>
        </p:txBody>
      </p:sp>
      <p:sp>
        <p:nvSpPr>
          <p:cNvPr id="39" name="Shape 37"/>
          <p:cNvSpPr/>
          <p:nvPr/>
        </p:nvSpPr>
        <p:spPr>
          <a:xfrm>
            <a:off x="777240" y="5440680"/>
            <a:ext cx="5577840" cy="457200"/>
          </a:xfrm>
          <a:prstGeom prst="rect">
            <a:avLst/>
          </a:prstGeom>
          <a:solidFill>
            <a:srgbClr val="E8EEF4"/>
          </a:solidFill>
          <a:ln w="12700">
            <a:solidFill>
              <a:srgbClr val="E8EEF4"/>
            </a:solidFill>
            <a:prstDash val="solid"/>
          </a:ln>
        </p:spPr>
      </p:sp>
      <p:sp>
        <p:nvSpPr>
          <p:cNvPr id="40" name="Text 38"/>
          <p:cNvSpPr txBox="1"/>
          <p:nvPr/>
        </p:nvSpPr>
        <p:spPr>
          <a:xfrm>
            <a:off x="914400" y="5440680"/>
            <a:ext cx="3657600" cy="457200"/>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 2026 IIUC CSE</a:t>
            </a:r>
            <a:endParaRPr lang="en-US" sz="900" dirty="0"/>
          </a:p>
        </p:txBody>
      </p:sp>
      <p:sp>
        <p:nvSpPr>
          <p:cNvPr id="41" name="Shape 39"/>
          <p:cNvSpPr/>
          <p:nvPr/>
        </p:nvSpPr>
        <p:spPr>
          <a:xfrm>
            <a:off x="6766560" y="1371600"/>
            <a:ext cx="4846320" cy="2194560"/>
          </a:xfrm>
          <a:prstGeom prst="roundRect">
            <a:avLst>
              <a:gd name="adj" fmla="val 3333"/>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42" name="Text 40"/>
          <p:cNvSpPr txBox="1"/>
          <p:nvPr/>
        </p:nvSpPr>
        <p:spPr>
          <a:xfrm>
            <a:off x="7022592" y="1572768"/>
            <a:ext cx="433425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Requirements</a:t>
            </a:r>
            <a:endParaRPr lang="en-US" sz="1700" dirty="0"/>
          </a:p>
        </p:txBody>
      </p:sp>
      <p:sp>
        <p:nvSpPr>
          <p:cNvPr id="43" name="Text 41"/>
          <p:cNvSpPr txBox="1"/>
          <p:nvPr/>
        </p:nvSpPr>
        <p:spPr>
          <a:xfrm>
            <a:off x="7022592" y="1993392"/>
            <a:ext cx="4334256" cy="140817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Flexbox for the header</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Grid for the six cards</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Three columns on a laptop, two on a tablet, one on a phone</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Semantic HTML, written by you</a:t>
            </a:r>
            <a:endParaRPr lang="en-US" sz="1250" dirty="0"/>
          </a:p>
        </p:txBody>
      </p:sp>
      <p:sp>
        <p:nvSpPr>
          <p:cNvPr id="44" name="Shape 42"/>
          <p:cNvSpPr/>
          <p:nvPr/>
        </p:nvSpPr>
        <p:spPr>
          <a:xfrm>
            <a:off x="6766560" y="3749040"/>
            <a:ext cx="4846320" cy="2194560"/>
          </a:xfrm>
          <a:prstGeom prst="roundRect">
            <a:avLst>
              <a:gd name="adj" fmla="val 3333"/>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45" name="Shape 43"/>
          <p:cNvSpPr/>
          <p:nvPr/>
        </p:nvSpPr>
        <p:spPr>
          <a:xfrm>
            <a:off x="6967728" y="3950208"/>
            <a:ext cx="384048" cy="384048"/>
          </a:xfrm>
          <a:prstGeom prst="ellipse">
            <a:avLst/>
          </a:prstGeom>
          <a:solidFill>
            <a:srgbClr val="E39A18"/>
          </a:solidFill>
          <a:ln w="12700">
            <a:solidFill>
              <a:srgbClr val="E39A18"/>
            </a:solidFill>
            <a:prstDash val="solid"/>
          </a:ln>
        </p:spPr>
      </p:sp>
      <p:sp>
        <p:nvSpPr>
          <p:cNvPr id="46" name="Text 44"/>
          <p:cNvSpPr txBox="1"/>
          <p:nvPr/>
        </p:nvSpPr>
        <p:spPr>
          <a:xfrm>
            <a:off x="6967728" y="3950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47" name="Text 45"/>
          <p:cNvSpPr txBox="1"/>
          <p:nvPr/>
        </p:nvSpPr>
        <p:spPr>
          <a:xfrm>
            <a:off x="7479792" y="3977640"/>
            <a:ext cx="39319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This is Mini Project 1</a:t>
            </a:r>
            <a:endParaRPr lang="en-US" sz="1700" dirty="0"/>
          </a:p>
        </p:txBody>
      </p:sp>
      <p:sp>
        <p:nvSpPr>
          <p:cNvPr id="48" name="Text 46"/>
          <p:cNvSpPr txBox="1"/>
          <p:nvPr/>
        </p:nvSpPr>
        <p:spPr>
          <a:xfrm>
            <a:off x="7022592" y="4370832"/>
            <a:ext cx="4334256" cy="140817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MP1 wants exactly this: semantic HTML, CSS, responsive layout, deployed</a:t>
            </a:r>
            <a:endParaRPr lang="en-US" sz="1250" dirty="0"/>
          </a:p>
          <a:p>
            <a:pPr marL="342900" indent="-342900">
              <a:spcAft>
                <a:spcPts val="600"/>
              </a:spcAft>
              <a:buSzPct val="100000"/>
              <a:buChar char="•"/>
            </a:pPr>
            <a:r>
              <a:rPr lang="en-US" sz="1250" dirty="0">
                <a:solidFill>
                  <a:srgbClr val="3D4A57"/>
                </a:solidFill>
                <a:latin typeface="Arial" pitchFamily="34" charset="0"/>
                <a:ea typeface="Arial" pitchFamily="34" charset="-122"/>
                <a:cs typeface="Arial" pitchFamily="34" charset="-120"/>
              </a:rPr>
              <a:t>Finish this well and MP1 is mostly done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C2 · 42-48 MINUTES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Bug Clinic</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25</a:t>
            </a:r>
            <a:endParaRPr lang="en-US" sz="900" dirty="0"/>
          </a:p>
        </p:txBody>
      </p:sp>
      <p:sp>
        <p:nvSpPr>
          <p:cNvPr id="6" name="Shape 4"/>
          <p:cNvSpPr/>
          <p:nvPr/>
        </p:nvSpPr>
        <p:spPr>
          <a:xfrm>
            <a:off x="548640" y="1325880"/>
            <a:ext cx="11064240" cy="676656"/>
          </a:xfrm>
          <a:prstGeom prst="roundRect">
            <a:avLst>
              <a:gd name="adj" fmla="val 10811"/>
            </a:avLst>
          </a:prstGeom>
          <a:solidFill>
            <a:srgbClr val="FBEAE8"/>
          </a:solidFill>
          <a:ln w="12700">
            <a:solidFill>
              <a:srgbClr val="FBEAE8"/>
            </a:solidFill>
            <a:prstDash val="solid"/>
          </a:ln>
        </p:spPr>
      </p:sp>
      <p:sp>
        <p:nvSpPr>
          <p:cNvPr id="7" name="Text 5"/>
          <p:cNvSpPr txBox="1"/>
          <p:nvPr/>
        </p:nvSpPr>
        <p:spPr>
          <a:xfrm>
            <a:off x="777240" y="1325880"/>
            <a:ext cx="420624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Flexbox is doing nothing</a:t>
            </a:r>
            <a:endParaRPr lang="en-US" sz="1250" dirty="0"/>
          </a:p>
        </p:txBody>
      </p:sp>
      <p:sp>
        <p:nvSpPr>
          <p:cNvPr id="8" name="Text 6"/>
          <p:cNvSpPr txBox="1"/>
          <p:nvPr/>
        </p:nvSpPr>
        <p:spPr>
          <a:xfrm>
            <a:off x="5120640" y="1325880"/>
            <a:ext cx="621792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display: flex is on the child. It belongs on the parent.</a:t>
            </a:r>
            <a:endParaRPr lang="en-US" sz="1200" dirty="0"/>
          </a:p>
        </p:txBody>
      </p:sp>
      <p:sp>
        <p:nvSpPr>
          <p:cNvPr id="9" name="Shape 7"/>
          <p:cNvSpPr/>
          <p:nvPr/>
        </p:nvSpPr>
        <p:spPr>
          <a:xfrm>
            <a:off x="548640" y="2103120"/>
            <a:ext cx="11064240" cy="676656"/>
          </a:xfrm>
          <a:prstGeom prst="roundRect">
            <a:avLst>
              <a:gd name="adj" fmla="val 10811"/>
            </a:avLst>
          </a:prstGeom>
          <a:solidFill>
            <a:srgbClr val="F2F5F8"/>
          </a:solidFill>
          <a:ln w="12700">
            <a:solidFill>
              <a:srgbClr val="F2F5F8"/>
            </a:solidFill>
            <a:prstDash val="solid"/>
          </a:ln>
        </p:spPr>
      </p:sp>
      <p:sp>
        <p:nvSpPr>
          <p:cNvPr id="10" name="Text 8"/>
          <p:cNvSpPr txBox="1"/>
          <p:nvPr/>
        </p:nvSpPr>
        <p:spPr>
          <a:xfrm>
            <a:off x="777240" y="2103120"/>
            <a:ext cx="420624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Everything is centred vertically but not horizontally</a:t>
            </a:r>
            <a:endParaRPr lang="en-US" sz="1250" dirty="0"/>
          </a:p>
        </p:txBody>
      </p:sp>
      <p:sp>
        <p:nvSpPr>
          <p:cNvPr id="11" name="Text 9"/>
          <p:cNvSpPr txBox="1"/>
          <p:nvPr/>
        </p:nvSpPr>
        <p:spPr>
          <a:xfrm>
            <a:off x="5120640" y="2103120"/>
            <a:ext cx="621792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You swapped justify-content and align-items. Check the axis.</a:t>
            </a:r>
            <a:endParaRPr lang="en-US" sz="1200" dirty="0"/>
          </a:p>
        </p:txBody>
      </p:sp>
      <p:sp>
        <p:nvSpPr>
          <p:cNvPr id="12" name="Shape 10"/>
          <p:cNvSpPr/>
          <p:nvPr/>
        </p:nvSpPr>
        <p:spPr>
          <a:xfrm>
            <a:off x="548640" y="2880360"/>
            <a:ext cx="11064240" cy="676656"/>
          </a:xfrm>
          <a:prstGeom prst="roundRect">
            <a:avLst>
              <a:gd name="adj" fmla="val 10811"/>
            </a:avLst>
          </a:prstGeom>
          <a:solidFill>
            <a:srgbClr val="FBEAE8"/>
          </a:solidFill>
          <a:ln w="12700">
            <a:solidFill>
              <a:srgbClr val="FBEAE8"/>
            </a:solidFill>
            <a:prstDash val="solid"/>
          </a:ln>
        </p:spPr>
      </p:sp>
      <p:sp>
        <p:nvSpPr>
          <p:cNvPr id="13" name="Text 11"/>
          <p:cNvSpPr txBox="1"/>
          <p:nvPr/>
        </p:nvSpPr>
        <p:spPr>
          <a:xfrm>
            <a:off x="777240" y="2880360"/>
            <a:ext cx="420624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Cards overflow the screen on a phone</a:t>
            </a:r>
            <a:endParaRPr lang="en-US" sz="1250" dirty="0"/>
          </a:p>
        </p:txBody>
      </p:sp>
      <p:sp>
        <p:nvSpPr>
          <p:cNvPr id="14" name="Text 12"/>
          <p:cNvSpPr txBox="1"/>
          <p:nvPr/>
        </p:nvSpPr>
        <p:spPr>
          <a:xfrm>
            <a:off x="5120640" y="2880360"/>
            <a:ext cx="621792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A fixed width somewhere. Use flex-basis or minmax instead.</a:t>
            </a:r>
            <a:endParaRPr lang="en-US" sz="1200" dirty="0"/>
          </a:p>
        </p:txBody>
      </p:sp>
      <p:sp>
        <p:nvSpPr>
          <p:cNvPr id="15" name="Shape 13"/>
          <p:cNvSpPr/>
          <p:nvPr/>
        </p:nvSpPr>
        <p:spPr>
          <a:xfrm>
            <a:off x="548640" y="3657600"/>
            <a:ext cx="11064240" cy="676656"/>
          </a:xfrm>
          <a:prstGeom prst="roundRect">
            <a:avLst>
              <a:gd name="adj" fmla="val 10811"/>
            </a:avLst>
          </a:prstGeom>
          <a:solidFill>
            <a:srgbClr val="F2F5F8"/>
          </a:solidFill>
          <a:ln w="12700">
            <a:solidFill>
              <a:srgbClr val="F2F5F8"/>
            </a:solidFill>
            <a:prstDash val="solid"/>
          </a:ln>
        </p:spPr>
      </p:sp>
      <p:sp>
        <p:nvSpPr>
          <p:cNvPr id="16" name="Text 14"/>
          <p:cNvSpPr txBox="1"/>
          <p:nvPr/>
        </p:nvSpPr>
        <p:spPr>
          <a:xfrm>
            <a:off x="777240" y="3657600"/>
            <a:ext cx="420624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The grid ignores auto-fit</a:t>
            </a:r>
            <a:endParaRPr lang="en-US" sz="1250" dirty="0"/>
          </a:p>
        </p:txBody>
      </p:sp>
      <p:sp>
        <p:nvSpPr>
          <p:cNvPr id="17" name="Text 15"/>
          <p:cNvSpPr txBox="1"/>
          <p:nvPr/>
        </p:nvSpPr>
        <p:spPr>
          <a:xfrm>
            <a:off x="5120640" y="3657600"/>
            <a:ext cx="621792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minmax is missing, or the container has no width to work with.</a:t>
            </a:r>
            <a:endParaRPr lang="en-US" sz="1200" dirty="0"/>
          </a:p>
        </p:txBody>
      </p:sp>
      <p:sp>
        <p:nvSpPr>
          <p:cNvPr id="18" name="Shape 16"/>
          <p:cNvSpPr/>
          <p:nvPr/>
        </p:nvSpPr>
        <p:spPr>
          <a:xfrm>
            <a:off x="548640" y="4434840"/>
            <a:ext cx="11064240" cy="676656"/>
          </a:xfrm>
          <a:prstGeom prst="roundRect">
            <a:avLst>
              <a:gd name="adj" fmla="val 10811"/>
            </a:avLst>
          </a:prstGeom>
          <a:solidFill>
            <a:srgbClr val="FBEAE8"/>
          </a:solidFill>
          <a:ln w="12700">
            <a:solidFill>
              <a:srgbClr val="FBEAE8"/>
            </a:solidFill>
            <a:prstDash val="solid"/>
          </a:ln>
        </p:spPr>
      </p:sp>
      <p:sp>
        <p:nvSpPr>
          <p:cNvPr id="19" name="Text 17"/>
          <p:cNvSpPr txBox="1"/>
          <p:nvPr/>
        </p:nvSpPr>
        <p:spPr>
          <a:xfrm>
            <a:off x="777240" y="4434840"/>
            <a:ext cx="420624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My breakpoint fires at the wrong size</a:t>
            </a:r>
            <a:endParaRPr lang="en-US" sz="1250" dirty="0"/>
          </a:p>
        </p:txBody>
      </p:sp>
      <p:sp>
        <p:nvSpPr>
          <p:cNvPr id="20" name="Text 18"/>
          <p:cNvSpPr txBox="1"/>
          <p:nvPr/>
        </p:nvSpPr>
        <p:spPr>
          <a:xfrm>
            <a:off x="5120640" y="4434840"/>
            <a:ext cx="621792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You used max-width in a mobile-first stylesheet. Pick one direction.</a:t>
            </a:r>
            <a:endParaRPr lang="en-US" sz="1200" dirty="0"/>
          </a:p>
        </p:txBody>
      </p:sp>
      <p:sp>
        <p:nvSpPr>
          <p:cNvPr id="21" name="Shape 19"/>
          <p:cNvSpPr/>
          <p:nvPr/>
        </p:nvSpPr>
        <p:spPr>
          <a:xfrm>
            <a:off x="548640" y="5212080"/>
            <a:ext cx="11064240" cy="676656"/>
          </a:xfrm>
          <a:prstGeom prst="roundRect">
            <a:avLst>
              <a:gd name="adj" fmla="val 10811"/>
            </a:avLst>
          </a:prstGeom>
          <a:solidFill>
            <a:srgbClr val="F2F5F8"/>
          </a:solidFill>
          <a:ln w="12700">
            <a:solidFill>
              <a:srgbClr val="F2F5F8"/>
            </a:solidFill>
            <a:prstDash val="solid"/>
          </a:ln>
        </p:spPr>
      </p:sp>
      <p:sp>
        <p:nvSpPr>
          <p:cNvPr id="22" name="Text 20"/>
          <p:cNvSpPr txBox="1"/>
          <p:nvPr/>
        </p:nvSpPr>
        <p:spPr>
          <a:xfrm>
            <a:off x="777240" y="5212080"/>
            <a:ext cx="4206240" cy="676656"/>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It works at 1280px and breaks at 360px</a:t>
            </a:r>
            <a:endParaRPr lang="en-US" sz="1250" dirty="0"/>
          </a:p>
        </p:txBody>
      </p:sp>
      <p:sp>
        <p:nvSpPr>
          <p:cNvPr id="23" name="Text 21"/>
          <p:cNvSpPr txBox="1"/>
          <p:nvPr/>
        </p:nvSpPr>
        <p:spPr>
          <a:xfrm>
            <a:off x="5120640" y="5212080"/>
            <a:ext cx="6217920" cy="676656"/>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You wrote desktop-first. Start from the phone and add upwards.</a:t>
            </a:r>
            <a:endParaRPr lang="en-US" sz="1200" dirty="0"/>
          </a:p>
        </p:txBody>
      </p:sp>
      <p:sp>
        <p:nvSpPr>
          <p:cNvPr id="24" name="Text 22"/>
          <p:cNvSpPr txBox="1"/>
          <p:nvPr/>
        </p:nvSpPr>
        <p:spPr>
          <a:xfrm>
            <a:off x="548640" y="6035040"/>
            <a:ext cx="11064240" cy="274320"/>
          </a:xfrm>
          <a:prstGeom prst="rect">
            <a:avLst/>
          </a:prstGeom>
          <a:noFill/>
          <a:ln/>
        </p:spPr>
        <p:txBody>
          <a:bodyPr wrap="square" lIns="0" tIns="0" rIns="0" bIns="0" rtlCol="0" anchor="t"/>
          <a:lstStyle/>
          <a:p>
            <a:pPr algn="l" indent="0" marL="0">
              <a:lnSpc>
                <a:spcPts val="1620"/>
              </a:lnSpc>
              <a:buNone/>
            </a:pPr>
            <a:r>
              <a:rPr lang="en-US" sz="1200" i="1" dirty="0">
                <a:solidFill>
                  <a:srgbClr val="6B7A88"/>
                </a:solidFill>
                <a:latin typeface="Arial" pitchFamily="34" charset="0"/>
                <a:ea typeface="Arial" pitchFamily="34" charset="-122"/>
                <a:cs typeface="Arial" pitchFamily="34" charset="-120"/>
              </a:rPr>
              <a:t>Before asking for help: open the flex or grid overlay and say which axis you think is wrong. That question answers itself most of the time.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PART 1 IN CLASS · PART 2 AT HOME</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Assignment - Week 3, C1 and C2</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26</a:t>
            </a:r>
            <a:endParaRPr lang="en-US" sz="900" dirty="0"/>
          </a:p>
        </p:txBody>
      </p:sp>
      <p:sp>
        <p:nvSpPr>
          <p:cNvPr id="6" name="Shape 4"/>
          <p:cNvSpPr/>
          <p:nvPr/>
        </p:nvSpPr>
        <p:spPr>
          <a:xfrm>
            <a:off x="548640" y="1371600"/>
            <a:ext cx="5486400" cy="3566160"/>
          </a:xfrm>
          <a:prstGeom prst="roundRect">
            <a:avLst>
              <a:gd name="adj" fmla="val 2051"/>
            </a:avLst>
          </a:prstGeom>
          <a:solidFill>
            <a:srgbClr val="E8EEF4"/>
          </a:solidFill>
          <a:ln w="12700">
            <a:solidFill>
              <a:srgbClr val="E8EEF4"/>
            </a:solidFill>
            <a:prstDash val="solid"/>
          </a:ln>
          <a:effectLst>
            <a:outerShdw sx="100000" sy="100000" kx="0" ky="0" algn="bl" rotWithShape="0" blurRad="76200" dist="12700" dir="5400000">
              <a:srgbClr val="9AA9B8">
                <a:alpha val="18000"/>
              </a:srgbClr>
            </a:outerShdw>
          </a:effectLst>
        </p:spPr>
      </p:sp>
      <p:sp>
        <p:nvSpPr>
          <p:cNvPr id="7" name="Shape 5"/>
          <p:cNvSpPr/>
          <p:nvPr/>
        </p:nvSpPr>
        <p:spPr>
          <a:xfrm>
            <a:off x="749808" y="157276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261872" y="1600200"/>
            <a:ext cx="457200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Part 1 - In-class demonstration</a:t>
            </a:r>
            <a:endParaRPr lang="en-US" sz="1700" dirty="0"/>
          </a:p>
        </p:txBody>
      </p:sp>
      <p:sp>
        <p:nvSpPr>
          <p:cNvPr id="10" name="Text 8"/>
          <p:cNvSpPr txBox="1"/>
          <p:nvPr/>
        </p:nvSpPr>
        <p:spPr>
          <a:xfrm>
            <a:off x="804672" y="1993392"/>
            <a:ext cx="4974336" cy="277977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Time: last 5 minutes of C2</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Task: show your fixed starter page with at least six of the eight bugs corrected</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Resize to 360px and 1280px in front of the instructor</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Open the flex or grid overlay and explain one fix</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Submission: show on your screen before leaving</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Marks: 2 (checked on the spot)</a:t>
            </a:r>
            <a:endParaRPr lang="en-US" sz="1300" dirty="0"/>
          </a:p>
        </p:txBody>
      </p:sp>
      <p:sp>
        <p:nvSpPr>
          <p:cNvPr id="11" name="Shape 9"/>
          <p:cNvSpPr/>
          <p:nvPr/>
        </p:nvSpPr>
        <p:spPr>
          <a:xfrm>
            <a:off x="6309360" y="1371600"/>
            <a:ext cx="5303520" cy="3840480"/>
          </a:xfrm>
          <a:prstGeom prst="roundRect">
            <a:avLst>
              <a:gd name="adj" fmla="val 1905"/>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2" name="Shape 10"/>
          <p:cNvSpPr/>
          <p:nvPr/>
        </p:nvSpPr>
        <p:spPr>
          <a:xfrm>
            <a:off x="6510528" y="157276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651052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7022592" y="1600200"/>
            <a:ext cx="43891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Part 2 - Home task</a:t>
            </a:r>
            <a:endParaRPr lang="en-US" sz="1700" dirty="0"/>
          </a:p>
        </p:txBody>
      </p:sp>
      <p:sp>
        <p:nvSpPr>
          <p:cNvPr id="15" name="Text 13"/>
          <p:cNvSpPr txBox="1"/>
          <p:nvPr/>
        </p:nvSpPr>
        <p:spPr>
          <a:xfrm>
            <a:off x="6565392" y="1993392"/>
            <a:ext cx="4791456" cy="3054096"/>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3D4A57"/>
                </a:solidFill>
                <a:latin typeface="Arial" pitchFamily="34" charset="0"/>
                <a:ea typeface="Arial" pitchFamily="34" charset="-122"/>
                <a:cs typeface="Arial" pitchFamily="34" charset="-120"/>
              </a:rPr>
              <a:t>Finish all eight fixes and Exercises 2, 3 and 4</a:t>
            </a:r>
            <a:endParaRPr lang="en-US" sz="1300" dirty="0"/>
          </a:p>
          <a:p>
            <a:pPr marL="342900" indent="-342900">
              <a:spcAft>
                <a:spcPts val="700"/>
              </a:spcAft>
              <a:buSzPct val="100000"/>
              <a:buChar char="•"/>
            </a:pPr>
            <a:r>
              <a:rPr lang="en-US" sz="1300" dirty="0">
                <a:solidFill>
                  <a:srgbClr val="3D4A57"/>
                </a:solidFill>
                <a:latin typeface="Arial" pitchFamily="34" charset="0"/>
                <a:ea typeface="Arial" pitchFamily="34" charset="-122"/>
                <a:cs typeface="Arial" pitchFamily="34" charset="-120"/>
              </a:rPr>
              <a:t>Make your Week 2 pages fully responsive: mobile-first, maximum two breakpoints</a:t>
            </a:r>
            <a:endParaRPr lang="en-US" sz="1300" dirty="0"/>
          </a:p>
          <a:p>
            <a:pPr marL="342900" indent="-342900">
              <a:spcAft>
                <a:spcPts val="700"/>
              </a:spcAft>
              <a:buSzPct val="100000"/>
              <a:buChar char="•"/>
            </a:pPr>
            <a:r>
              <a:rPr lang="en-US" sz="1300" dirty="0">
                <a:solidFill>
                  <a:srgbClr val="3D4A57"/>
                </a:solidFill>
                <a:latin typeface="Arial" pitchFamily="34" charset="0"/>
                <a:ea typeface="Arial" pitchFamily="34" charset="-122"/>
                <a:cs typeface="Arial" pitchFamily="34" charset="-120"/>
              </a:rPr>
              <a:t>Write layout-notes.md: where each breakpoint is and why you chose it</a:t>
            </a:r>
            <a:endParaRPr lang="en-US" sz="1300" dirty="0"/>
          </a:p>
          <a:p>
            <a:pPr marL="342900" indent="-342900">
              <a:spcAft>
                <a:spcPts val="700"/>
              </a:spcAft>
              <a:buSzPct val="100000"/>
              <a:buChar char="•"/>
            </a:pPr>
            <a:r>
              <a:rPr lang="en-US" sz="1300" dirty="0">
                <a:solidFill>
                  <a:srgbClr val="3D4A57"/>
                </a:solidFill>
                <a:latin typeface="Arial" pitchFamily="34" charset="0"/>
                <a:ea typeface="Arial" pitchFamily="34" charset="-122"/>
                <a:cs typeface="Arial" pitchFamily="34" charset="-120"/>
              </a:rPr>
              <a:t>Commit and push</a:t>
            </a:r>
            <a:endParaRPr lang="en-US" sz="1300" dirty="0"/>
          </a:p>
          <a:p>
            <a:pPr marL="342900" indent="-342900">
              <a:spcAft>
                <a:spcPts val="700"/>
              </a:spcAft>
              <a:buSzPct val="100000"/>
              <a:buChar char="•"/>
            </a:pPr>
            <a:r>
              <a:rPr lang="en-US" sz="1300" dirty="0">
                <a:solidFill>
                  <a:srgbClr val="3D4A57"/>
                </a:solidFill>
                <a:latin typeface="Arial" pitchFamily="34" charset="0"/>
                <a:ea typeface="Arial" pitchFamily="34" charset="-122"/>
                <a:cs typeface="Arial" pitchFamily="34" charset="-120"/>
              </a:rPr>
              <a:t>Deadline: before Week 3, Class 3 · Marks: 3</a:t>
            </a:r>
            <a:endParaRPr lang="en-US" sz="1300" dirty="0"/>
          </a:p>
        </p:txBody>
      </p:sp>
      <p:sp>
        <p:nvSpPr>
          <p:cNvPr id="16" name="Shape 14"/>
          <p:cNvSpPr/>
          <p:nvPr/>
        </p:nvSpPr>
        <p:spPr>
          <a:xfrm>
            <a:off x="548640" y="5394960"/>
            <a:ext cx="11064240" cy="640080"/>
          </a:xfrm>
          <a:prstGeom prst="roundRect">
            <a:avLst>
              <a:gd name="adj" fmla="val 11429"/>
            </a:avLst>
          </a:prstGeom>
          <a:solidFill>
            <a:srgbClr val="FBEAE8"/>
          </a:solidFill>
          <a:ln w="12700">
            <a:solidFill>
              <a:srgbClr val="FBEAE8"/>
            </a:solidFill>
            <a:prstDash val="solid"/>
          </a:ln>
        </p:spPr>
      </p:sp>
      <p:sp>
        <p:nvSpPr>
          <p:cNvPr id="17" name="Text 15"/>
          <p:cNvSpPr txBox="1"/>
          <p:nvPr/>
        </p:nvSpPr>
        <p:spPr>
          <a:xfrm>
            <a:off x="804672" y="5596128"/>
            <a:ext cx="10552176" cy="329184"/>
          </a:xfrm>
          <a:prstGeom prst="rect">
            <a:avLst/>
          </a:prstGeom>
          <a:noFill/>
          <a:ln/>
        </p:spPr>
        <p:txBody>
          <a:bodyPr wrap="square" lIns="0" tIns="0" rIns="0" bIns="0" rtlCol="0" anchor="ctr"/>
          <a:lstStyle/>
          <a:p>
            <a:pPr indent="0" marL="0">
              <a:buNone/>
            </a:pPr>
            <a:r>
              <a:rPr lang="en-US" sz="1350" b="1" dirty="0">
                <a:solidFill>
                  <a:srgbClr val="B3261E"/>
                </a:solidFill>
                <a:latin typeface="Arial" pitchFamily="34" charset="0"/>
                <a:ea typeface="Arial" pitchFamily="34" charset="-122"/>
                <a:cs typeface="Arial" pitchFamily="34" charset="-120"/>
              </a:rPr>
              <a:t>Mini Project 1 is due and evaluated in C4 this week. Repository link and deployed URL before the class.</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C2 · 48-50 MINUTES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Marking Rubric &amp; Exit Check</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27</a:t>
            </a:r>
            <a:endParaRPr lang="en-US" sz="900" dirty="0"/>
          </a:p>
        </p:txBody>
      </p:sp>
      <p:sp>
        <p:nvSpPr>
          <p:cNvPr id="6" name="Text 4"/>
          <p:cNvSpPr txBox="1"/>
          <p:nvPr/>
        </p:nvSpPr>
        <p:spPr>
          <a:xfrm>
            <a:off x="548640" y="1371600"/>
            <a:ext cx="6766560" cy="256032"/>
          </a:xfrm>
          <a:prstGeom prst="rect">
            <a:avLst/>
          </a:prstGeom>
          <a:noFill/>
          <a:ln/>
        </p:spPr>
        <p:txBody>
          <a:bodyPr wrap="square" lIns="0" tIns="0" rIns="0" bIns="0" rtlCol="0" anchor="ctr"/>
          <a:lstStyle/>
          <a:p>
            <a:pPr indent="0" marL="0">
              <a:buNone/>
            </a:pPr>
            <a:r>
              <a:rPr lang="en-US" sz="1200" b="1" spc="60" kern="0" dirty="0">
                <a:solidFill>
                  <a:srgbClr val="003366"/>
                </a:solidFill>
                <a:latin typeface="Arial" pitchFamily="34" charset="0"/>
                <a:ea typeface="Arial" pitchFamily="34" charset="-122"/>
                <a:cs typeface="Arial" pitchFamily="34" charset="-120"/>
              </a:rPr>
              <a:t>RUBRIC - 5 MARKS TOTAL</a:t>
            </a:r>
            <a:endParaRPr lang="en-US" sz="1200" dirty="0"/>
          </a:p>
        </p:txBody>
      </p:sp>
      <p:sp>
        <p:nvSpPr>
          <p:cNvPr id="7" name="Shape 5"/>
          <p:cNvSpPr/>
          <p:nvPr/>
        </p:nvSpPr>
        <p:spPr>
          <a:xfrm>
            <a:off x="548640" y="1691640"/>
            <a:ext cx="6492240" cy="658368"/>
          </a:xfrm>
          <a:prstGeom prst="roundRect">
            <a:avLst>
              <a:gd name="adj" fmla="val 11111"/>
            </a:avLst>
          </a:prstGeom>
          <a:solidFill>
            <a:srgbClr val="E8EEF4"/>
          </a:solidFill>
          <a:ln w="12700">
            <a:solidFill>
              <a:srgbClr val="E8EEF4"/>
            </a:solidFill>
            <a:prstDash val="solid"/>
          </a:ln>
        </p:spPr>
      </p:sp>
      <p:sp>
        <p:nvSpPr>
          <p:cNvPr id="8" name="Text 6"/>
          <p:cNvSpPr txBox="1"/>
          <p:nvPr/>
        </p:nvSpPr>
        <p:spPr>
          <a:xfrm>
            <a:off x="777240" y="1691640"/>
            <a:ext cx="5394960" cy="658368"/>
          </a:xfrm>
          <a:prstGeom prst="rect">
            <a:avLst/>
          </a:prstGeom>
          <a:noFill/>
          <a:ln/>
        </p:spPr>
        <p:txBody>
          <a:bodyPr wrap="square" lIns="0" tIns="0" rIns="0" bIns="0" rtlCol="0" anchor="ctr"/>
          <a:lstStyle/>
          <a:p>
            <a:pPr indent="0" marL="0">
              <a:buNone/>
            </a:pPr>
            <a:r>
              <a:rPr lang="en-US" sz="1300" dirty="0">
                <a:solidFill>
                  <a:srgbClr val="3D4A57"/>
                </a:solidFill>
                <a:latin typeface="Arial" pitchFamily="34" charset="0"/>
                <a:ea typeface="Arial" pitchFamily="34" charset="-122"/>
                <a:cs typeface="Arial" pitchFamily="34" charset="-120"/>
              </a:rPr>
              <a:t>Six or more of the eight planted bugs fixed</a:t>
            </a:r>
            <a:endParaRPr lang="en-US" sz="1300" dirty="0"/>
          </a:p>
        </p:txBody>
      </p:sp>
      <p:sp>
        <p:nvSpPr>
          <p:cNvPr id="9" name="Text 7"/>
          <p:cNvSpPr txBox="1"/>
          <p:nvPr/>
        </p:nvSpPr>
        <p:spPr>
          <a:xfrm>
            <a:off x="6217920" y="1691640"/>
            <a:ext cx="594360" cy="658368"/>
          </a:xfrm>
          <a:prstGeom prst="rect">
            <a:avLst/>
          </a:prstGeom>
          <a:noFill/>
          <a:ln/>
        </p:spPr>
        <p:txBody>
          <a:bodyPr wrap="square" lIns="0" tIns="0" rIns="0" bIns="0" rtlCol="0" anchor="ctr"/>
          <a:lstStyle/>
          <a:p>
            <a:pPr algn="r" indent="0" marL="0">
              <a:buNone/>
            </a:pPr>
            <a:r>
              <a:rPr lang="en-US" sz="1500" b="1" dirty="0">
                <a:solidFill>
                  <a:srgbClr val="003366"/>
                </a:solidFill>
                <a:latin typeface="Arial" pitchFamily="34" charset="0"/>
                <a:ea typeface="Arial" pitchFamily="34" charset="-122"/>
                <a:cs typeface="Arial" pitchFamily="34" charset="-120"/>
              </a:rPr>
              <a:t>1.5</a:t>
            </a:r>
            <a:endParaRPr lang="en-US" sz="1500" dirty="0"/>
          </a:p>
        </p:txBody>
      </p:sp>
      <p:sp>
        <p:nvSpPr>
          <p:cNvPr id="10" name="Shape 8"/>
          <p:cNvSpPr/>
          <p:nvPr/>
        </p:nvSpPr>
        <p:spPr>
          <a:xfrm>
            <a:off x="548640" y="2468880"/>
            <a:ext cx="6492240" cy="658368"/>
          </a:xfrm>
          <a:prstGeom prst="roundRect">
            <a:avLst>
              <a:gd name="adj" fmla="val 11111"/>
            </a:avLst>
          </a:prstGeom>
          <a:solidFill>
            <a:srgbClr val="F2F5F8"/>
          </a:solidFill>
          <a:ln w="12700">
            <a:solidFill>
              <a:srgbClr val="F2F5F8"/>
            </a:solidFill>
            <a:prstDash val="solid"/>
          </a:ln>
        </p:spPr>
      </p:sp>
      <p:sp>
        <p:nvSpPr>
          <p:cNvPr id="11" name="Text 9"/>
          <p:cNvSpPr txBox="1"/>
          <p:nvPr/>
        </p:nvSpPr>
        <p:spPr>
          <a:xfrm>
            <a:off x="777240" y="2468880"/>
            <a:ext cx="5394960" cy="658368"/>
          </a:xfrm>
          <a:prstGeom prst="rect">
            <a:avLst/>
          </a:prstGeom>
          <a:noFill/>
          <a:ln/>
        </p:spPr>
        <p:txBody>
          <a:bodyPr wrap="square" lIns="0" tIns="0" rIns="0" bIns="0" rtlCol="0" anchor="ctr"/>
          <a:lstStyle/>
          <a:p>
            <a:pPr indent="0" marL="0">
              <a:buNone/>
            </a:pPr>
            <a:r>
              <a:rPr lang="en-US" sz="1300" dirty="0">
                <a:solidFill>
                  <a:srgbClr val="3D4A57"/>
                </a:solidFill>
                <a:latin typeface="Arial" pitchFamily="34" charset="0"/>
                <a:ea typeface="Arial" pitchFamily="34" charset="-122"/>
                <a:cs typeface="Arial" pitchFamily="34" charset="-120"/>
              </a:rPr>
              <a:t>Grid gallery uses auto-fit and minmax correctly</a:t>
            </a:r>
            <a:endParaRPr lang="en-US" sz="1300" dirty="0"/>
          </a:p>
        </p:txBody>
      </p:sp>
      <p:sp>
        <p:nvSpPr>
          <p:cNvPr id="12" name="Text 10"/>
          <p:cNvSpPr txBox="1"/>
          <p:nvPr/>
        </p:nvSpPr>
        <p:spPr>
          <a:xfrm>
            <a:off x="6217920" y="2468880"/>
            <a:ext cx="594360" cy="658368"/>
          </a:xfrm>
          <a:prstGeom prst="rect">
            <a:avLst/>
          </a:prstGeom>
          <a:noFill/>
          <a:ln/>
        </p:spPr>
        <p:txBody>
          <a:bodyPr wrap="square" lIns="0" tIns="0" rIns="0" bIns="0" rtlCol="0" anchor="ctr"/>
          <a:lstStyle/>
          <a:p>
            <a:pPr algn="r" indent="0" marL="0">
              <a:buNone/>
            </a:pPr>
            <a:r>
              <a:rPr lang="en-US" sz="1500" b="1" dirty="0">
                <a:solidFill>
                  <a:srgbClr val="003366"/>
                </a:solidFill>
                <a:latin typeface="Arial" pitchFamily="34" charset="0"/>
                <a:ea typeface="Arial" pitchFamily="34" charset="-122"/>
                <a:cs typeface="Arial" pitchFamily="34" charset="-120"/>
              </a:rPr>
              <a:t>1.0</a:t>
            </a:r>
            <a:endParaRPr lang="en-US" sz="1500" dirty="0"/>
          </a:p>
        </p:txBody>
      </p:sp>
      <p:sp>
        <p:nvSpPr>
          <p:cNvPr id="13" name="Shape 11"/>
          <p:cNvSpPr/>
          <p:nvPr/>
        </p:nvSpPr>
        <p:spPr>
          <a:xfrm>
            <a:off x="548640" y="3246120"/>
            <a:ext cx="6492240" cy="658368"/>
          </a:xfrm>
          <a:prstGeom prst="roundRect">
            <a:avLst>
              <a:gd name="adj" fmla="val 11111"/>
            </a:avLst>
          </a:prstGeom>
          <a:solidFill>
            <a:srgbClr val="E8EEF4"/>
          </a:solidFill>
          <a:ln w="12700">
            <a:solidFill>
              <a:srgbClr val="E8EEF4"/>
            </a:solidFill>
            <a:prstDash val="solid"/>
          </a:ln>
        </p:spPr>
      </p:sp>
      <p:sp>
        <p:nvSpPr>
          <p:cNvPr id="14" name="Text 12"/>
          <p:cNvSpPr txBox="1"/>
          <p:nvPr/>
        </p:nvSpPr>
        <p:spPr>
          <a:xfrm>
            <a:off x="777240" y="3246120"/>
            <a:ext cx="5394960" cy="658368"/>
          </a:xfrm>
          <a:prstGeom prst="rect">
            <a:avLst/>
          </a:prstGeom>
          <a:noFill/>
          <a:ln/>
        </p:spPr>
        <p:txBody>
          <a:bodyPr wrap="square" lIns="0" tIns="0" rIns="0" bIns="0" rtlCol="0" anchor="ctr"/>
          <a:lstStyle/>
          <a:p>
            <a:pPr indent="0" marL="0">
              <a:buNone/>
            </a:pPr>
            <a:r>
              <a:rPr lang="en-US" sz="1300" dirty="0">
                <a:solidFill>
                  <a:srgbClr val="3D4A57"/>
                </a:solidFill>
                <a:latin typeface="Arial" pitchFamily="34" charset="0"/>
                <a:ea typeface="Arial" pitchFamily="34" charset="-122"/>
                <a:cs typeface="Arial" pitchFamily="34" charset="-120"/>
              </a:rPr>
              <a:t>Mobile-first, min-width only, at most two breakpoints</a:t>
            </a:r>
            <a:endParaRPr lang="en-US" sz="1300" dirty="0"/>
          </a:p>
        </p:txBody>
      </p:sp>
      <p:sp>
        <p:nvSpPr>
          <p:cNvPr id="15" name="Text 13"/>
          <p:cNvSpPr txBox="1"/>
          <p:nvPr/>
        </p:nvSpPr>
        <p:spPr>
          <a:xfrm>
            <a:off x="6217920" y="3246120"/>
            <a:ext cx="594360" cy="658368"/>
          </a:xfrm>
          <a:prstGeom prst="rect">
            <a:avLst/>
          </a:prstGeom>
          <a:noFill/>
          <a:ln/>
        </p:spPr>
        <p:txBody>
          <a:bodyPr wrap="square" lIns="0" tIns="0" rIns="0" bIns="0" rtlCol="0" anchor="ctr"/>
          <a:lstStyle/>
          <a:p>
            <a:pPr algn="r" indent="0" marL="0">
              <a:buNone/>
            </a:pPr>
            <a:r>
              <a:rPr lang="en-US" sz="1500" b="1" dirty="0">
                <a:solidFill>
                  <a:srgbClr val="003366"/>
                </a:solidFill>
                <a:latin typeface="Arial" pitchFamily="34" charset="0"/>
                <a:ea typeface="Arial" pitchFamily="34" charset="-122"/>
                <a:cs typeface="Arial" pitchFamily="34" charset="-120"/>
              </a:rPr>
              <a:t>1.5</a:t>
            </a:r>
            <a:endParaRPr lang="en-US" sz="1500" dirty="0"/>
          </a:p>
        </p:txBody>
      </p:sp>
      <p:sp>
        <p:nvSpPr>
          <p:cNvPr id="16" name="Shape 14"/>
          <p:cNvSpPr/>
          <p:nvPr/>
        </p:nvSpPr>
        <p:spPr>
          <a:xfrm>
            <a:off x="548640" y="4023360"/>
            <a:ext cx="6492240" cy="658368"/>
          </a:xfrm>
          <a:prstGeom prst="roundRect">
            <a:avLst>
              <a:gd name="adj" fmla="val 11111"/>
            </a:avLst>
          </a:prstGeom>
          <a:solidFill>
            <a:srgbClr val="F2F5F8"/>
          </a:solidFill>
          <a:ln w="12700">
            <a:solidFill>
              <a:srgbClr val="F2F5F8"/>
            </a:solidFill>
            <a:prstDash val="solid"/>
          </a:ln>
        </p:spPr>
      </p:sp>
      <p:sp>
        <p:nvSpPr>
          <p:cNvPr id="17" name="Text 15"/>
          <p:cNvSpPr txBox="1"/>
          <p:nvPr/>
        </p:nvSpPr>
        <p:spPr>
          <a:xfrm>
            <a:off x="777240" y="4023360"/>
            <a:ext cx="5394960" cy="658368"/>
          </a:xfrm>
          <a:prstGeom prst="rect">
            <a:avLst/>
          </a:prstGeom>
          <a:noFill/>
          <a:ln/>
        </p:spPr>
        <p:txBody>
          <a:bodyPr wrap="square" lIns="0" tIns="0" rIns="0" bIns="0" rtlCol="0" anchor="ctr"/>
          <a:lstStyle/>
          <a:p>
            <a:pPr indent="0" marL="0">
              <a:buNone/>
            </a:pPr>
            <a:r>
              <a:rPr lang="en-US" sz="1300" dirty="0">
                <a:solidFill>
                  <a:srgbClr val="3D4A57"/>
                </a:solidFill>
                <a:latin typeface="Arial" pitchFamily="34" charset="0"/>
                <a:ea typeface="Arial" pitchFamily="34" charset="-122"/>
                <a:cs typeface="Arial" pitchFamily="34" charset="-120"/>
              </a:rPr>
              <a:t>Target page rebuilt with Flexbox and Grid together</a:t>
            </a:r>
            <a:endParaRPr lang="en-US" sz="1300" dirty="0"/>
          </a:p>
        </p:txBody>
      </p:sp>
      <p:sp>
        <p:nvSpPr>
          <p:cNvPr id="18" name="Text 16"/>
          <p:cNvSpPr txBox="1"/>
          <p:nvPr/>
        </p:nvSpPr>
        <p:spPr>
          <a:xfrm>
            <a:off x="6217920" y="4023360"/>
            <a:ext cx="594360" cy="658368"/>
          </a:xfrm>
          <a:prstGeom prst="rect">
            <a:avLst/>
          </a:prstGeom>
          <a:noFill/>
          <a:ln/>
        </p:spPr>
        <p:txBody>
          <a:bodyPr wrap="square" lIns="0" tIns="0" rIns="0" bIns="0" rtlCol="0" anchor="ctr"/>
          <a:lstStyle/>
          <a:p>
            <a:pPr algn="r" indent="0" marL="0">
              <a:buNone/>
            </a:pPr>
            <a:r>
              <a:rPr lang="en-US" sz="1500" b="1" dirty="0">
                <a:solidFill>
                  <a:srgbClr val="003366"/>
                </a:solidFill>
                <a:latin typeface="Arial" pitchFamily="34" charset="0"/>
                <a:ea typeface="Arial" pitchFamily="34" charset="-122"/>
                <a:cs typeface="Arial" pitchFamily="34" charset="-120"/>
              </a:rPr>
              <a:t>1.0</a:t>
            </a:r>
            <a:endParaRPr lang="en-US" sz="1500" dirty="0"/>
          </a:p>
        </p:txBody>
      </p:sp>
      <p:sp>
        <p:nvSpPr>
          <p:cNvPr id="19" name="Shape 17"/>
          <p:cNvSpPr/>
          <p:nvPr/>
        </p:nvSpPr>
        <p:spPr>
          <a:xfrm>
            <a:off x="7406640" y="1371600"/>
            <a:ext cx="4206240" cy="1737360"/>
          </a:xfrm>
          <a:prstGeom prst="roundRect">
            <a:avLst>
              <a:gd name="adj" fmla="val 4211"/>
            </a:avLst>
          </a:prstGeom>
          <a:solidFill>
            <a:srgbClr val="003366"/>
          </a:solidFill>
          <a:ln w="12700">
            <a:solidFill>
              <a:srgbClr val="003366"/>
            </a:solidFill>
            <a:prstDash val="solid"/>
          </a:ln>
          <a:effectLst>
            <a:outerShdw sx="100000" sy="100000" kx="0" ky="0" algn="bl" rotWithShape="0" blurRad="76200" dist="12700" dir="5400000">
              <a:srgbClr val="9AA9B8">
                <a:alpha val="18000"/>
              </a:srgbClr>
            </a:outerShdw>
          </a:effectLst>
        </p:spPr>
      </p:sp>
      <p:sp>
        <p:nvSpPr>
          <p:cNvPr id="20" name="Text 18"/>
          <p:cNvSpPr txBox="1"/>
          <p:nvPr/>
        </p:nvSpPr>
        <p:spPr>
          <a:xfrm>
            <a:off x="7662672" y="1572768"/>
            <a:ext cx="3694176" cy="329184"/>
          </a:xfrm>
          <a:prstGeom prst="rect">
            <a:avLst/>
          </a:prstGeom>
          <a:noFill/>
          <a:ln/>
        </p:spPr>
        <p:txBody>
          <a:bodyPr wrap="square" lIns="0" tIns="0" rIns="0" bIns="0" rtlCol="0" anchor="ctr"/>
          <a:lstStyle/>
          <a:p>
            <a:pPr indent="0" marL="0">
              <a:buNone/>
            </a:pPr>
            <a:r>
              <a:rPr lang="en-US" sz="1700" b="1" dirty="0">
                <a:solidFill>
                  <a:srgbClr val="E39A18"/>
                </a:solidFill>
                <a:latin typeface="Arial" pitchFamily="34" charset="0"/>
                <a:ea typeface="Arial" pitchFamily="34" charset="-122"/>
                <a:cs typeface="Arial" pitchFamily="34" charset="-120"/>
              </a:rPr>
              <a:t>Exit question 1 - concept</a:t>
            </a:r>
            <a:endParaRPr lang="en-US" sz="1700" dirty="0"/>
          </a:p>
        </p:txBody>
      </p:sp>
      <p:sp>
        <p:nvSpPr>
          <p:cNvPr id="21" name="Text 19"/>
          <p:cNvSpPr txBox="1"/>
          <p:nvPr/>
        </p:nvSpPr>
        <p:spPr>
          <a:xfrm>
            <a:off x="7662672" y="1993392"/>
            <a:ext cx="3694176" cy="950976"/>
          </a:xfrm>
          <a:prstGeom prst="rect">
            <a:avLst/>
          </a:prstGeom>
          <a:noFill/>
          <a:ln/>
        </p:spPr>
        <p:txBody>
          <a:bodyPr wrap="square" lIns="0" tIns="0" rIns="0" bIns="0" rtlCol="0" anchor="t"/>
          <a:lstStyle/>
          <a:p>
            <a:pPr indent="0" marL="0">
              <a:spcAft>
                <a:spcPts val="600"/>
              </a:spcAft>
              <a:buNone/>
            </a:pPr>
            <a:r>
              <a:rPr lang="en-US" sz="1350" dirty="0">
                <a:solidFill>
                  <a:srgbClr val="FFFFFF"/>
                </a:solidFill>
                <a:latin typeface="Arial" pitchFamily="34" charset="0"/>
                <a:ea typeface="Arial" pitchFamily="34" charset="-122"/>
                <a:cs typeface="Arial" pitchFamily="34" charset="-120"/>
              </a:rPr>
              <a:t>Name one layout Flexbox handles better than Grid, and one the other way round.</a:t>
            </a:r>
            <a:endParaRPr lang="en-US" sz="1350" dirty="0"/>
          </a:p>
        </p:txBody>
      </p:sp>
      <p:sp>
        <p:nvSpPr>
          <p:cNvPr id="22" name="Shape 20"/>
          <p:cNvSpPr/>
          <p:nvPr/>
        </p:nvSpPr>
        <p:spPr>
          <a:xfrm>
            <a:off x="7406640" y="3337560"/>
            <a:ext cx="4206240" cy="1737360"/>
          </a:xfrm>
          <a:prstGeom prst="roundRect">
            <a:avLst>
              <a:gd name="adj" fmla="val 421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23" name="Text 21"/>
          <p:cNvSpPr txBox="1"/>
          <p:nvPr/>
        </p:nvSpPr>
        <p:spPr>
          <a:xfrm>
            <a:off x="7662672" y="3538728"/>
            <a:ext cx="369417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Exit question 2 - practical</a:t>
            </a:r>
            <a:endParaRPr lang="en-US" sz="1700" dirty="0"/>
          </a:p>
        </p:txBody>
      </p:sp>
      <p:sp>
        <p:nvSpPr>
          <p:cNvPr id="24" name="Text 22"/>
          <p:cNvSpPr txBox="1"/>
          <p:nvPr/>
        </p:nvSpPr>
        <p:spPr>
          <a:xfrm>
            <a:off x="7662672" y="3959352"/>
            <a:ext cx="3694176" cy="950976"/>
          </a:xfrm>
          <a:prstGeom prst="rect">
            <a:avLst/>
          </a:prstGeom>
          <a:noFill/>
          <a:ln/>
        </p:spPr>
        <p:txBody>
          <a:bodyPr wrap="square" lIns="0" tIns="0" rIns="0" bIns="0" rtlCol="0" anchor="t"/>
          <a:lstStyle/>
          <a:p>
            <a:pPr indent="0" marL="0">
              <a:spcAft>
                <a:spcPts val="600"/>
              </a:spcAft>
              <a:buNone/>
            </a:pPr>
            <a:r>
              <a:rPr lang="en-US" sz="1350" dirty="0">
                <a:solidFill>
                  <a:srgbClr val="3D4A57"/>
                </a:solidFill>
                <a:latin typeface="Arial" pitchFamily="34" charset="0"/>
                <a:ea typeface="Arial" pitchFamily="34" charset="-122"/>
                <a:cs typeface="Arial" pitchFamily="34" charset="-120"/>
              </a:rPr>
              <a:t>Write the one grid line that makes a gallery responsive with no media query.</a:t>
            </a:r>
            <a:endParaRPr lang="en-US" sz="1350" dirty="0"/>
          </a:p>
        </p:txBody>
      </p:sp>
      <p:sp>
        <p:nvSpPr>
          <p:cNvPr id="25" name="Text 23"/>
          <p:cNvSpPr txBox="1"/>
          <p:nvPr/>
        </p:nvSpPr>
        <p:spPr>
          <a:xfrm>
            <a:off x="548640" y="5120640"/>
            <a:ext cx="6492240" cy="548640"/>
          </a:xfrm>
          <a:prstGeom prst="rect">
            <a:avLst/>
          </a:prstGeom>
          <a:noFill/>
          <a:ln/>
        </p:spPr>
        <p:txBody>
          <a:bodyPr wrap="square" lIns="0" tIns="0" rIns="0" bIns="0" rtlCol="0" anchor="t"/>
          <a:lstStyle/>
          <a:p>
            <a:pPr algn="l" indent="0" marL="0">
              <a:lnSpc>
                <a:spcPts val="1755"/>
              </a:lnSpc>
              <a:buNone/>
            </a:pPr>
            <a:r>
              <a:rPr lang="en-US" sz="1300" i="1" dirty="0">
                <a:solidFill>
                  <a:srgbClr val="003366"/>
                </a:solidFill>
                <a:latin typeface="Arial" pitchFamily="34" charset="0"/>
                <a:ea typeface="Arial" pitchFamily="34" charset="-122"/>
                <a:cs typeface="Arial" pitchFamily="34" charset="-120"/>
              </a:rPr>
              <a:t>Next class (C3): specificity, the cascade and DevTools inspection — why one rule beats another. Then MP1 evaluation in C4.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International Islamic University Chittagong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CSE-2340 W3C1-C2 Flexbox, Grid and Responsive Design</dc:title>
  <dc:subject>Modern CSS layout</dc:subject>
  <dc:creator>Md Sadman Hafiz</dc:creator>
  <cp:lastModifiedBy>Md Sadman Hafiz</cp:lastModifiedBy>
  <cp:revision>1</cp:revision>
  <dcterms:created xsi:type="dcterms:W3CDTF">2026-09-12T02:12:56Z</dcterms:created>
  <dcterms:modified xsi:type="dcterms:W3CDTF">2026-09-12T02:12:56Z</dcterms:modified>
</cp:coreProperties>
</file>