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class. Project this deck on the screen for the whole hour so waiting students know the procedure and can prepare. Have the tracker spreadsheet open on your own machine. Check repositories and deployed URLs BEFORE the class starts.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this slide once at the start, then leave it up. Keep each student to about 4 minutes so a class of 40 is feasible across the hour; if the class is larger, run a second evaluation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broken-deployment offer matters. Students hide a broken site until they are called, which wastes everyone's time. Invite it openly at the start and you will recover three or four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 this up during the evaluations. Students who can see the criteria while waiting ask better questions and argue less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Pick questions that match what the student actually built - do not ask about Grid if they used none. Two questions maximum. The aim is evidence of ownership, not an interrogation.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Choose a modification that fits their page and is genuinely small. If a student opens the correct selector but fumbles the syntax, that is a pass - the point is orientation in their own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slide before the first student is called. Several will fix a missing alt attribute or a focus outline while waiting, which is a good outcome, not cheating.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class on the forward link. Students who did badly today need to hear that MP2 is three weeks away and that the fix is process, not talent.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3366"/>
        </a:solidFill>
      </p:bgPr>
    </p:bg>
    <p:spTree>
      <p:nvGrpSpPr>
        <p:cNvPr id="1" name=""/>
        <p:cNvGrpSpPr/>
        <p:nvPr/>
      </p:nvGrpSpPr>
      <p:grpSpPr>
        <a:xfrm>
          <a:off x="0" y="0"/>
          <a:ext cx="0" cy="0"/>
          <a:chOff x="0" y="0"/>
          <a:chExt cx="0" cy="0"/>
        </a:xfrm>
      </p:grpSpPr>
      <p:sp>
        <p:nvSpPr>
          <p:cNvPr id="2" name="Shape 0"/>
          <p:cNvSpPr/>
          <p:nvPr/>
        </p:nvSpPr>
        <p:spPr>
          <a:xfrm>
            <a:off x="9326880" y="-1463040"/>
            <a:ext cx="4754880" cy="4754880"/>
          </a:xfrm>
          <a:prstGeom prst="ellipse">
            <a:avLst/>
          </a:prstGeom>
          <a:solidFill>
            <a:srgbClr val="0A4A85"/>
          </a:solidFill>
          <a:ln w="12700">
            <a:solidFill>
              <a:srgbClr val="0A4A85"/>
            </a:solidFill>
            <a:prstDash val="solid"/>
          </a:ln>
        </p:spPr>
      </p:sp>
      <p:sp>
        <p:nvSpPr>
          <p:cNvPr id="3" name="Shape 1"/>
          <p:cNvSpPr/>
          <p:nvPr/>
        </p:nvSpPr>
        <p:spPr>
          <a:xfrm>
            <a:off x="10607040" y="4206240"/>
            <a:ext cx="3108960" cy="3108960"/>
          </a:xfrm>
          <a:prstGeom prst="ellipse">
            <a:avLst/>
          </a:prstGeom>
          <a:solidFill>
            <a:srgbClr val="07386A"/>
          </a:solidFill>
          <a:ln w="12700">
            <a:solidFill>
              <a:srgbClr val="07386A"/>
            </a:solidFill>
            <a:prstDash val="solid"/>
          </a:ln>
        </p:spPr>
      </p:sp>
      <p:sp>
        <p:nvSpPr>
          <p:cNvPr id="4" name="Text 2"/>
          <p:cNvSpPr txBox="1"/>
          <p:nvPr/>
        </p:nvSpPr>
        <p:spPr>
          <a:xfrm>
            <a:off x="548640" y="777240"/>
            <a:ext cx="8686800" cy="274320"/>
          </a:xfrm>
          <a:prstGeom prst="rect">
            <a:avLst/>
          </a:prstGeom>
          <a:noFill/>
          <a:ln/>
        </p:spPr>
        <p:txBody>
          <a:bodyPr wrap="square" lIns="0" tIns="0" rIns="0" bIns="0" rtlCol="0" anchor="ctr"/>
          <a:lstStyle/>
          <a:p>
            <a:pPr indent="0" marL="0">
              <a:buNone/>
            </a:pPr>
            <a:r>
              <a:rPr lang="en-US" sz="1200" b="1" spc="150" kern="0" dirty="0">
                <a:solidFill>
                  <a:srgbClr val="E39A18"/>
                </a:solidFill>
                <a:latin typeface="Arial" pitchFamily="34" charset="0"/>
                <a:ea typeface="Arial" pitchFamily="34" charset="-122"/>
                <a:cs typeface="Arial" pitchFamily="34" charset="-120"/>
              </a:rPr>
              <a:t>INTERNATIONAL ISLAMIC UNIVERSITY CHITTAGONG</a:t>
            </a:r>
            <a:endParaRPr lang="en-US" sz="1200" dirty="0"/>
          </a:p>
        </p:txBody>
      </p:sp>
      <p:sp>
        <p:nvSpPr>
          <p:cNvPr id="5" name="Text 3"/>
          <p:cNvSpPr txBox="1"/>
          <p:nvPr/>
        </p:nvSpPr>
        <p:spPr>
          <a:xfrm>
            <a:off x="548640" y="1078992"/>
            <a:ext cx="8686800" cy="274320"/>
          </a:xfrm>
          <a:prstGeom prst="rect">
            <a:avLst/>
          </a:prstGeom>
          <a:noFill/>
          <a:ln/>
        </p:spPr>
        <p:txBody>
          <a:bodyPr wrap="square" lIns="0" tIns="0" rIns="0" bIns="0" rtlCol="0" anchor="ctr"/>
          <a:lstStyle/>
          <a:p>
            <a:pPr indent="0" marL="0">
              <a:buNone/>
            </a:pPr>
            <a:r>
              <a:rPr lang="en-US" sz="1200" dirty="0">
                <a:solidFill>
                  <a:srgbClr val="BFD3E6"/>
                </a:solidFill>
                <a:latin typeface="Arial" pitchFamily="34" charset="0"/>
                <a:ea typeface="Arial" pitchFamily="34" charset="-122"/>
                <a:cs typeface="Arial" pitchFamily="34" charset="-120"/>
              </a:rPr>
              <a:t>Department of Computer Science and Engineering</a:t>
            </a:r>
            <a:endParaRPr lang="en-US" sz="1200" dirty="0"/>
          </a:p>
        </p:txBody>
      </p:sp>
      <p:sp>
        <p:nvSpPr>
          <p:cNvPr id="6" name="Text 4"/>
          <p:cNvSpPr txBox="1"/>
          <p:nvPr/>
        </p:nvSpPr>
        <p:spPr>
          <a:xfrm>
            <a:off x="548640" y="1828800"/>
            <a:ext cx="8686800" cy="411480"/>
          </a:xfrm>
          <a:prstGeom prst="rect">
            <a:avLst/>
          </a:prstGeom>
          <a:noFill/>
          <a:ln/>
        </p:spPr>
        <p:txBody>
          <a:bodyPr wrap="square" lIns="0" tIns="0" rIns="0" bIns="0" rtlCol="0" anchor="ctr"/>
          <a:lstStyle/>
          <a:p>
            <a:pPr indent="0" marL="0">
              <a:buNone/>
            </a:pPr>
            <a:r>
              <a:rPr lang="en-US" sz="1800" b="1" dirty="0">
                <a:solidFill>
                  <a:srgbClr val="FFFFFF"/>
                </a:solidFill>
                <a:latin typeface="Arial" pitchFamily="34" charset="0"/>
                <a:ea typeface="Arial" pitchFamily="34" charset="-122"/>
                <a:cs typeface="Arial" pitchFamily="34" charset="-120"/>
              </a:rPr>
              <a:t>CSE-2340: Software Development 1</a:t>
            </a:r>
            <a:endParaRPr lang="en-US" sz="1800" dirty="0"/>
          </a:p>
        </p:txBody>
      </p:sp>
      <p:sp>
        <p:nvSpPr>
          <p:cNvPr id="7" name="Text 5"/>
          <p:cNvSpPr txBox="1"/>
          <p:nvPr/>
        </p:nvSpPr>
        <p:spPr>
          <a:xfrm>
            <a:off x="548640" y="2331720"/>
            <a:ext cx="8778240" cy="1371600"/>
          </a:xfrm>
          <a:prstGeom prst="rect">
            <a:avLst/>
          </a:prstGeom>
          <a:noFill/>
          <a:ln/>
        </p:spPr>
        <p:txBody>
          <a:bodyPr wrap="square" lIns="0" tIns="0" rIns="0" bIns="0" rtlCol="0" anchor="ctr"/>
          <a:lstStyle/>
          <a:p>
            <a:pPr indent="0" marL="0">
              <a:lnSpc>
                <a:spcPts val="4600"/>
              </a:lnSpc>
              <a:buNone/>
            </a:pPr>
            <a:r>
              <a:rPr lang="en-US" sz="4200" b="1" dirty="0">
                <a:solidFill>
                  <a:srgbClr val="FFFFFF"/>
                </a:solidFill>
                <a:latin typeface="Arial" pitchFamily="34" charset="0"/>
                <a:ea typeface="Arial" pitchFamily="34" charset="-122"/>
                <a:cs typeface="Arial" pitchFamily="34" charset="-120"/>
              </a:rPr>
              <a:t>Mini Project 1 — Evaluation</a:t>
            </a:r>
            <a:endParaRPr lang="en-US" sz="4200" dirty="0"/>
          </a:p>
        </p:txBody>
      </p:sp>
      <p:sp>
        <p:nvSpPr>
          <p:cNvPr id="8" name="Text 6"/>
          <p:cNvSpPr txBox="1"/>
          <p:nvPr/>
        </p:nvSpPr>
        <p:spPr>
          <a:xfrm>
            <a:off x="548640" y="3794760"/>
            <a:ext cx="8778240" cy="365760"/>
          </a:xfrm>
          <a:prstGeom prst="rect">
            <a:avLst/>
          </a:prstGeom>
          <a:noFill/>
          <a:ln/>
        </p:spPr>
        <p:txBody>
          <a:bodyPr wrap="square" lIns="0" tIns="0" rIns="0" bIns="0" rtlCol="0" anchor="ctr"/>
          <a:lstStyle/>
          <a:p>
            <a:pPr indent="0" marL="0">
              <a:buNone/>
            </a:pPr>
            <a:r>
              <a:rPr lang="en-US" sz="1500" i="1" dirty="0">
                <a:solidFill>
                  <a:srgbClr val="9FC0DE"/>
                </a:solidFill>
                <a:latin typeface="Arial" pitchFamily="34" charset="0"/>
                <a:ea typeface="Arial" pitchFamily="34" charset="-122"/>
                <a:cs typeface="Arial" pitchFamily="34" charset="-120"/>
              </a:rPr>
              <a:t>Week 3 · Class 4 · Semantic HTML + CSS responsive page, deployed · 5 marks</a:t>
            </a:r>
            <a:endParaRPr lang="en-US" sz="1500" dirty="0"/>
          </a:p>
        </p:txBody>
      </p:sp>
      <p:sp>
        <p:nvSpPr>
          <p:cNvPr id="9" name="Shape 7"/>
          <p:cNvSpPr/>
          <p:nvPr/>
        </p:nvSpPr>
        <p:spPr>
          <a:xfrm>
            <a:off x="548640" y="4434840"/>
            <a:ext cx="1005840" cy="32004"/>
          </a:xfrm>
          <a:prstGeom prst="rect">
            <a:avLst/>
          </a:prstGeom>
          <a:solidFill>
            <a:srgbClr val="E39A18"/>
          </a:solidFill>
          <a:ln w="12700">
            <a:solidFill>
              <a:srgbClr val="E39A18"/>
            </a:solidFill>
            <a:prstDash val="solid"/>
          </a:ln>
        </p:spPr>
      </p:sp>
      <p:sp>
        <p:nvSpPr>
          <p:cNvPr id="10" name="Text 8"/>
          <p:cNvSpPr txBox="1"/>
          <p:nvPr/>
        </p:nvSpPr>
        <p:spPr>
          <a:xfrm>
            <a:off x="548640" y="4709160"/>
            <a:ext cx="7315200" cy="320040"/>
          </a:xfrm>
          <a:prstGeom prst="rect">
            <a:avLst/>
          </a:prstGeom>
          <a:noFill/>
          <a:ln/>
        </p:spPr>
        <p:txBody>
          <a:bodyPr wrap="square" lIns="0" tIns="0" rIns="0" bIns="0" rtlCol="0" anchor="ctr"/>
          <a:lstStyle/>
          <a:p>
            <a:pPr indent="0" marL="0">
              <a:buNone/>
            </a:pPr>
            <a:r>
              <a:rPr lang="en-US" sz="1700" b="1" dirty="0">
                <a:solidFill>
                  <a:srgbClr val="FFFFFF"/>
                </a:solidFill>
                <a:latin typeface="Arial" pitchFamily="34" charset="0"/>
                <a:ea typeface="Arial" pitchFamily="34" charset="-122"/>
                <a:cs typeface="Arial" pitchFamily="34" charset="-120"/>
              </a:rPr>
              <a:t>Md Sadman Hafiz</a:t>
            </a:r>
            <a:endParaRPr lang="en-US" sz="1700" dirty="0"/>
          </a:p>
        </p:txBody>
      </p:sp>
      <p:sp>
        <p:nvSpPr>
          <p:cNvPr id="11" name="Text 9"/>
          <p:cNvSpPr txBox="1"/>
          <p:nvPr/>
        </p:nvSpPr>
        <p:spPr>
          <a:xfrm>
            <a:off x="548640" y="5029200"/>
            <a:ext cx="7315200" cy="274320"/>
          </a:xfrm>
          <a:prstGeom prst="rect">
            <a:avLst/>
          </a:prstGeom>
          <a:noFill/>
          <a:ln/>
        </p:spPr>
        <p:txBody>
          <a:bodyPr wrap="square" lIns="0" tIns="0" rIns="0" bIns="0" rtlCol="0" anchor="ctr"/>
          <a:lstStyle/>
          <a:p>
            <a:pPr indent="0" marL="0">
              <a:buNone/>
            </a:pPr>
            <a:r>
              <a:rPr lang="en-US" sz="1300" dirty="0">
                <a:solidFill>
                  <a:srgbClr val="BFD3E6"/>
                </a:solidFill>
                <a:latin typeface="Arial" pitchFamily="34" charset="0"/>
                <a:ea typeface="Arial" pitchFamily="34" charset="-122"/>
                <a:cs typeface="Arial" pitchFamily="34" charset="-120"/>
              </a:rPr>
              <a:t>Lecturer, Dept. of CSE, IIUC</a:t>
            </a:r>
            <a:endParaRPr lang="en-US" sz="1300" dirty="0"/>
          </a:p>
        </p:txBody>
      </p:sp>
      <p:sp>
        <p:nvSpPr>
          <p:cNvPr id="12" name="Text 10"/>
          <p:cNvSpPr txBox="1"/>
          <p:nvPr/>
        </p:nvSpPr>
        <p:spPr>
          <a:xfrm>
            <a:off x="548640" y="5715000"/>
            <a:ext cx="7315200" cy="274320"/>
          </a:xfrm>
          <a:prstGeom prst="rect">
            <a:avLst/>
          </a:prstGeom>
          <a:noFill/>
          <a:ln/>
        </p:spPr>
        <p:txBody>
          <a:bodyPr wrap="square" lIns="0" tIns="0" rIns="0" bIns="0" rtlCol="0" anchor="ctr"/>
          <a:lstStyle/>
          <a:p>
            <a:pPr indent="0" marL="0">
              <a:buNone/>
            </a:pPr>
            <a:r>
              <a:rPr lang="en-US" sz="1200" dirty="0">
                <a:solidFill>
                  <a:srgbClr val="8FB3D4"/>
                </a:solidFill>
                <a:latin typeface="Arial" pitchFamily="34" charset="0"/>
                <a:ea typeface="Arial" pitchFamily="34" charset="-122"/>
                <a:cs typeface="Arial" pitchFamily="34" charset="-120"/>
              </a:rPr>
              <a:t>Autumn 2026  |  50-minute evaluation class</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PROCEDURE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How Today Works</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2</a:t>
            </a:r>
            <a:endParaRPr lang="en-US" sz="900" dirty="0"/>
          </a:p>
        </p:txBody>
      </p:sp>
      <p:sp>
        <p:nvSpPr>
          <p:cNvPr id="6" name="Shape 4"/>
          <p:cNvSpPr/>
          <p:nvPr/>
        </p:nvSpPr>
        <p:spPr>
          <a:xfrm>
            <a:off x="548640" y="1371600"/>
            <a:ext cx="5349240" cy="1417320"/>
          </a:xfrm>
          <a:prstGeom prst="roundRect">
            <a:avLst>
              <a:gd name="adj" fmla="val 5161"/>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572768"/>
            <a:ext cx="384048" cy="384048"/>
          </a:xfrm>
          <a:prstGeom prst="ellipse">
            <a:avLst/>
          </a:prstGeom>
          <a:solidFill>
            <a:srgbClr val="003366"/>
          </a:solidFill>
          <a:ln w="12700">
            <a:solidFill>
              <a:srgbClr val="003366"/>
            </a:solidFill>
            <a:prstDash val="solid"/>
          </a:ln>
        </p:spPr>
      </p:sp>
      <p:sp>
        <p:nvSpPr>
          <p:cNvPr id="8" name="Text 6"/>
          <p:cNvSpPr txBox="1"/>
          <p:nvPr/>
        </p:nvSpPr>
        <p:spPr>
          <a:xfrm>
            <a:off x="74980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9" name="Text 7"/>
          <p:cNvSpPr txBox="1"/>
          <p:nvPr/>
        </p:nvSpPr>
        <p:spPr>
          <a:xfrm>
            <a:off x="1261872" y="16002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Called in a fixed order</a:t>
            </a:r>
            <a:endParaRPr lang="en-US" sz="1400" dirty="0"/>
          </a:p>
        </p:txBody>
      </p:sp>
      <p:sp>
        <p:nvSpPr>
          <p:cNvPr id="10" name="Text 8"/>
          <p:cNvSpPr txBox="1"/>
          <p:nvPr/>
        </p:nvSpPr>
        <p:spPr>
          <a:xfrm>
            <a:off x="804672" y="19933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The list is on the board. Be ready when your name is two places away.</a:t>
            </a:r>
            <a:endParaRPr lang="en-US" sz="1250" dirty="0"/>
          </a:p>
        </p:txBody>
      </p:sp>
      <p:sp>
        <p:nvSpPr>
          <p:cNvPr id="11" name="Shape 9"/>
          <p:cNvSpPr/>
          <p:nvPr/>
        </p:nvSpPr>
        <p:spPr>
          <a:xfrm>
            <a:off x="6263640" y="1371600"/>
            <a:ext cx="534924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12" name="Shape 10"/>
          <p:cNvSpPr/>
          <p:nvPr/>
        </p:nvSpPr>
        <p:spPr>
          <a:xfrm>
            <a:off x="6464808" y="1572768"/>
            <a:ext cx="384048" cy="384048"/>
          </a:xfrm>
          <a:prstGeom prst="ellipse">
            <a:avLst/>
          </a:prstGeom>
          <a:solidFill>
            <a:srgbClr val="003366"/>
          </a:solidFill>
          <a:ln w="12700">
            <a:solidFill>
              <a:srgbClr val="003366"/>
            </a:solidFill>
            <a:prstDash val="solid"/>
          </a:ln>
        </p:spPr>
      </p:sp>
      <p:sp>
        <p:nvSpPr>
          <p:cNvPr id="13" name="Text 11"/>
          <p:cNvSpPr txBox="1"/>
          <p:nvPr/>
        </p:nvSpPr>
        <p:spPr>
          <a:xfrm>
            <a:off x="646480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6976872" y="16002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Open your deployed URL</a:t>
            </a:r>
            <a:endParaRPr lang="en-US" sz="1400" dirty="0"/>
          </a:p>
        </p:txBody>
      </p:sp>
      <p:sp>
        <p:nvSpPr>
          <p:cNvPr id="15" name="Text 13"/>
          <p:cNvSpPr txBox="1"/>
          <p:nvPr/>
        </p:nvSpPr>
        <p:spPr>
          <a:xfrm>
            <a:off x="6519672" y="19933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Not your local file. The live site, on your own screen.</a:t>
            </a:r>
            <a:endParaRPr lang="en-US" sz="1250" dirty="0"/>
          </a:p>
        </p:txBody>
      </p:sp>
      <p:sp>
        <p:nvSpPr>
          <p:cNvPr id="16" name="Shape 14"/>
          <p:cNvSpPr/>
          <p:nvPr/>
        </p:nvSpPr>
        <p:spPr>
          <a:xfrm>
            <a:off x="548640" y="2971800"/>
            <a:ext cx="5349240" cy="1417320"/>
          </a:xfrm>
          <a:prstGeom prst="roundRect">
            <a:avLst>
              <a:gd name="adj" fmla="val 5161"/>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17" name="Shape 15"/>
          <p:cNvSpPr/>
          <p:nvPr/>
        </p:nvSpPr>
        <p:spPr>
          <a:xfrm>
            <a:off x="749808" y="3172968"/>
            <a:ext cx="384048" cy="384048"/>
          </a:xfrm>
          <a:prstGeom prst="ellipse">
            <a:avLst/>
          </a:prstGeom>
          <a:solidFill>
            <a:srgbClr val="003366"/>
          </a:solidFill>
          <a:ln w="12700">
            <a:solidFill>
              <a:srgbClr val="003366"/>
            </a:solidFill>
            <a:prstDash val="solid"/>
          </a:ln>
        </p:spPr>
      </p:sp>
      <p:sp>
        <p:nvSpPr>
          <p:cNvPr id="18" name="Text 16"/>
          <p:cNvSpPr txBox="1"/>
          <p:nvPr/>
        </p:nvSpPr>
        <p:spPr>
          <a:xfrm>
            <a:off x="749808" y="3172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9" name="Text 17"/>
          <p:cNvSpPr txBox="1"/>
          <p:nvPr/>
        </p:nvSpPr>
        <p:spPr>
          <a:xfrm>
            <a:off x="1261872" y="32004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Demonstrate in 90 seconds</a:t>
            </a:r>
            <a:endParaRPr lang="en-US" sz="1400" dirty="0"/>
          </a:p>
        </p:txBody>
      </p:sp>
      <p:sp>
        <p:nvSpPr>
          <p:cNvPr id="20" name="Text 18"/>
          <p:cNvSpPr txBox="1"/>
          <p:nvPr/>
        </p:nvSpPr>
        <p:spPr>
          <a:xfrm>
            <a:off x="804672" y="35935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Show the page, resize it to a phone width, and show one thing you are proud of.</a:t>
            </a:r>
            <a:endParaRPr lang="en-US" sz="1250" dirty="0"/>
          </a:p>
        </p:txBody>
      </p:sp>
      <p:sp>
        <p:nvSpPr>
          <p:cNvPr id="21" name="Shape 19"/>
          <p:cNvSpPr/>
          <p:nvPr/>
        </p:nvSpPr>
        <p:spPr>
          <a:xfrm>
            <a:off x="6263640" y="2971800"/>
            <a:ext cx="534924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22" name="Shape 20"/>
          <p:cNvSpPr/>
          <p:nvPr/>
        </p:nvSpPr>
        <p:spPr>
          <a:xfrm>
            <a:off x="6464808" y="3172968"/>
            <a:ext cx="384048" cy="384048"/>
          </a:xfrm>
          <a:prstGeom prst="ellipse">
            <a:avLst/>
          </a:prstGeom>
          <a:solidFill>
            <a:srgbClr val="003366"/>
          </a:solidFill>
          <a:ln w="12700">
            <a:solidFill>
              <a:srgbClr val="003366"/>
            </a:solidFill>
            <a:prstDash val="solid"/>
          </a:ln>
        </p:spPr>
      </p:sp>
      <p:sp>
        <p:nvSpPr>
          <p:cNvPr id="23" name="Text 21"/>
          <p:cNvSpPr txBox="1"/>
          <p:nvPr/>
        </p:nvSpPr>
        <p:spPr>
          <a:xfrm>
            <a:off x="6464808" y="3172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4" name="Text 22"/>
          <p:cNvSpPr txBox="1"/>
          <p:nvPr/>
        </p:nvSpPr>
        <p:spPr>
          <a:xfrm>
            <a:off x="6976872" y="32004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Answer one or two questions</a:t>
            </a:r>
            <a:endParaRPr lang="en-US" sz="1400" dirty="0"/>
          </a:p>
        </p:txBody>
      </p:sp>
      <p:sp>
        <p:nvSpPr>
          <p:cNvPr id="25" name="Text 23"/>
          <p:cNvSpPr txBox="1"/>
          <p:nvPr/>
        </p:nvSpPr>
        <p:spPr>
          <a:xfrm>
            <a:off x="6519672" y="35935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About your own code. See the next slide.</a:t>
            </a:r>
            <a:endParaRPr lang="en-US" sz="1250" dirty="0"/>
          </a:p>
        </p:txBody>
      </p:sp>
      <p:sp>
        <p:nvSpPr>
          <p:cNvPr id="26" name="Shape 24"/>
          <p:cNvSpPr/>
          <p:nvPr/>
        </p:nvSpPr>
        <p:spPr>
          <a:xfrm>
            <a:off x="548640" y="4572000"/>
            <a:ext cx="5349240" cy="1417320"/>
          </a:xfrm>
          <a:prstGeom prst="roundRect">
            <a:avLst>
              <a:gd name="adj" fmla="val 5161"/>
            </a:avLst>
          </a:prstGeom>
          <a:solidFill>
            <a:srgbClr val="E8EEF4"/>
          </a:solidFill>
          <a:ln w="12700">
            <a:solidFill>
              <a:srgbClr val="E8EEF4"/>
            </a:solidFill>
            <a:prstDash val="solid"/>
          </a:ln>
          <a:effectLst>
            <a:outerShdw sx="100000" sy="100000" kx="0" ky="0" algn="bl" rotWithShape="0" blurRad="76200" dist="12700" dir="5400000">
              <a:srgbClr val="9AA9B8">
                <a:alpha val="18000"/>
              </a:srgbClr>
            </a:outerShdw>
          </a:effectLst>
        </p:spPr>
      </p:sp>
      <p:sp>
        <p:nvSpPr>
          <p:cNvPr id="27" name="Shape 25"/>
          <p:cNvSpPr/>
          <p:nvPr/>
        </p:nvSpPr>
        <p:spPr>
          <a:xfrm>
            <a:off x="749808" y="4773168"/>
            <a:ext cx="384048" cy="384048"/>
          </a:xfrm>
          <a:prstGeom prst="ellipse">
            <a:avLst/>
          </a:prstGeom>
          <a:solidFill>
            <a:srgbClr val="003366"/>
          </a:solidFill>
          <a:ln w="12700">
            <a:solidFill>
              <a:srgbClr val="003366"/>
            </a:solidFill>
            <a:prstDash val="solid"/>
          </a:ln>
        </p:spPr>
      </p:sp>
      <p:sp>
        <p:nvSpPr>
          <p:cNvPr id="28" name="Text 26"/>
          <p:cNvSpPr txBox="1"/>
          <p:nvPr/>
        </p:nvSpPr>
        <p:spPr>
          <a:xfrm>
            <a:off x="749808" y="4773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9" name="Text 27"/>
          <p:cNvSpPr txBox="1"/>
          <p:nvPr/>
        </p:nvSpPr>
        <p:spPr>
          <a:xfrm>
            <a:off x="1261872" y="48006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Make one small change live</a:t>
            </a:r>
            <a:endParaRPr lang="en-US" sz="1400" dirty="0"/>
          </a:p>
        </p:txBody>
      </p:sp>
      <p:sp>
        <p:nvSpPr>
          <p:cNvPr id="30" name="Text 28"/>
          <p:cNvSpPr txBox="1"/>
          <p:nvPr/>
        </p:nvSpPr>
        <p:spPr>
          <a:xfrm>
            <a:off x="804672" y="51937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If time allows. Two minutes maximum.</a:t>
            </a:r>
            <a:endParaRPr lang="en-US" sz="1250" dirty="0"/>
          </a:p>
        </p:txBody>
      </p:sp>
      <p:sp>
        <p:nvSpPr>
          <p:cNvPr id="31" name="Shape 29"/>
          <p:cNvSpPr/>
          <p:nvPr/>
        </p:nvSpPr>
        <p:spPr>
          <a:xfrm>
            <a:off x="6263640" y="4572000"/>
            <a:ext cx="5349240" cy="1417320"/>
          </a:xfrm>
          <a:prstGeom prst="roundRect">
            <a:avLst>
              <a:gd name="adj" fmla="val 5161"/>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32" name="Shape 30"/>
          <p:cNvSpPr/>
          <p:nvPr/>
        </p:nvSpPr>
        <p:spPr>
          <a:xfrm>
            <a:off x="6464808" y="4773168"/>
            <a:ext cx="384048" cy="384048"/>
          </a:xfrm>
          <a:prstGeom prst="ellipse">
            <a:avLst/>
          </a:prstGeom>
          <a:solidFill>
            <a:srgbClr val="003366"/>
          </a:solidFill>
          <a:ln w="12700">
            <a:solidFill>
              <a:srgbClr val="003366"/>
            </a:solidFill>
            <a:prstDash val="solid"/>
          </a:ln>
        </p:spPr>
      </p:sp>
      <p:sp>
        <p:nvSpPr>
          <p:cNvPr id="33" name="Text 31"/>
          <p:cNvSpPr txBox="1"/>
          <p:nvPr/>
        </p:nvSpPr>
        <p:spPr>
          <a:xfrm>
            <a:off x="6464808" y="47731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4" name="Text 32"/>
          <p:cNvSpPr txBox="1"/>
          <p:nvPr/>
        </p:nvSpPr>
        <p:spPr>
          <a:xfrm>
            <a:off x="6976872" y="4800600"/>
            <a:ext cx="4434840" cy="329184"/>
          </a:xfrm>
          <a:prstGeom prst="rect">
            <a:avLst/>
          </a:prstGeom>
          <a:noFill/>
          <a:ln/>
        </p:spPr>
        <p:txBody>
          <a:bodyPr wrap="square" lIns="0" tIns="0" rIns="0" bIns="0" rtlCol="0" anchor="ctr"/>
          <a:lstStyle/>
          <a:p>
            <a:pPr indent="0" marL="0">
              <a:buNone/>
            </a:pPr>
            <a:r>
              <a:rPr lang="en-US" sz="1400" b="1" dirty="0">
                <a:solidFill>
                  <a:srgbClr val="003366"/>
                </a:solidFill>
                <a:latin typeface="Arial" pitchFamily="34" charset="0"/>
                <a:ea typeface="Arial" pitchFamily="34" charset="-122"/>
                <a:cs typeface="Arial" pitchFamily="34" charset="-120"/>
              </a:rPr>
              <a:t>Result recorded immediately</a:t>
            </a:r>
            <a:endParaRPr lang="en-US" sz="1400" dirty="0"/>
          </a:p>
        </p:txBody>
      </p:sp>
      <p:sp>
        <p:nvSpPr>
          <p:cNvPr id="35" name="Text 33"/>
          <p:cNvSpPr txBox="1"/>
          <p:nvPr/>
        </p:nvSpPr>
        <p:spPr>
          <a:xfrm>
            <a:off x="6519672" y="5193792"/>
            <a:ext cx="4837176" cy="630936"/>
          </a:xfrm>
          <a:prstGeom prst="rect">
            <a:avLst/>
          </a:prstGeom>
          <a:noFill/>
          <a:ln/>
        </p:spPr>
        <p:txBody>
          <a:bodyPr wrap="square" lIns="0" tIns="0" rIns="0" bIns="0" rtlCol="0" anchor="t"/>
          <a:lstStyle/>
          <a:p>
            <a:pPr indent="0" marL="0">
              <a:spcAft>
                <a:spcPts val="600"/>
              </a:spcAft>
              <a:buNone/>
            </a:pPr>
            <a:r>
              <a:rPr lang="en-US" sz="1250" dirty="0">
                <a:solidFill>
                  <a:srgbClr val="3D4A57"/>
                </a:solidFill>
                <a:latin typeface="Arial" pitchFamily="34" charset="0"/>
                <a:ea typeface="Arial" pitchFamily="34" charset="-122"/>
                <a:cs typeface="Arial" pitchFamily="34" charset="-120"/>
              </a:rPr>
              <a:t>You will not get your mark today; results are released together.</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PROCEDURE</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While You Wait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3</a:t>
            </a:r>
            <a:endParaRPr lang="en-US" sz="900" dirty="0"/>
          </a:p>
        </p:txBody>
      </p:sp>
      <p:sp>
        <p:nvSpPr>
          <p:cNvPr id="6" name="Shape 4"/>
          <p:cNvSpPr/>
          <p:nvPr/>
        </p:nvSpPr>
        <p:spPr>
          <a:xfrm>
            <a:off x="548640" y="1371600"/>
            <a:ext cx="5486400" cy="2468880"/>
          </a:xfrm>
          <a:prstGeom prst="roundRect">
            <a:avLst>
              <a:gd name="adj" fmla="val 2963"/>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7" name="Shape 5"/>
          <p:cNvSpPr/>
          <p:nvPr/>
        </p:nvSpPr>
        <p:spPr>
          <a:xfrm>
            <a:off x="749808" y="1572768"/>
            <a:ext cx="384048" cy="384048"/>
          </a:xfrm>
          <a:prstGeom prst="ellipse">
            <a:avLst/>
          </a:prstGeom>
          <a:solidFill>
            <a:srgbClr val="1F7A55"/>
          </a:solidFill>
          <a:ln w="12700">
            <a:solidFill>
              <a:srgbClr val="1F7A55"/>
            </a:solidFill>
            <a:prstDash val="solid"/>
          </a:ln>
        </p:spPr>
      </p:sp>
      <p:sp>
        <p:nvSpPr>
          <p:cNvPr id="8" name="Text 6"/>
          <p:cNvSpPr txBox="1"/>
          <p:nvPr/>
        </p:nvSpPr>
        <p:spPr>
          <a:xfrm>
            <a:off x="74980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9" name="Text 7"/>
          <p:cNvSpPr txBox="1"/>
          <p:nvPr/>
        </p:nvSpPr>
        <p:spPr>
          <a:xfrm>
            <a:off x="1261872" y="1600200"/>
            <a:ext cx="457200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Do this now</a:t>
            </a:r>
            <a:endParaRPr lang="en-US" sz="1700" dirty="0"/>
          </a:p>
        </p:txBody>
      </p:sp>
      <p:sp>
        <p:nvSpPr>
          <p:cNvPr id="10" name="Text 8"/>
          <p:cNvSpPr txBox="1"/>
          <p:nvPr/>
        </p:nvSpPr>
        <p:spPr>
          <a:xfrm>
            <a:off x="804672" y="1993392"/>
            <a:ext cx="4974336" cy="168249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Open your deployed URL and check it loads</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Open your repository in another tab</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Press F12 and Ctrl+Shift+M, set the width to 360px</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Re-read your own CSS for two minutes</a:t>
            </a:r>
            <a:endParaRPr lang="en-US" sz="1350" dirty="0"/>
          </a:p>
        </p:txBody>
      </p:sp>
      <p:sp>
        <p:nvSpPr>
          <p:cNvPr id="11" name="Shape 9"/>
          <p:cNvSpPr/>
          <p:nvPr/>
        </p:nvSpPr>
        <p:spPr>
          <a:xfrm>
            <a:off x="6309360" y="1371600"/>
            <a:ext cx="5303520" cy="2468880"/>
          </a:xfrm>
          <a:prstGeom prst="roundRect">
            <a:avLst>
              <a:gd name="adj" fmla="val 2963"/>
            </a:avLst>
          </a:prstGeom>
          <a:solidFill>
            <a:srgbClr val="FBEAE8"/>
          </a:solidFill>
          <a:ln w="12700">
            <a:solidFill>
              <a:srgbClr val="FBEAE8"/>
            </a:solidFill>
            <a:prstDash val="solid"/>
          </a:ln>
          <a:effectLst>
            <a:outerShdw sx="100000" sy="100000" kx="0" ky="0" algn="bl" rotWithShape="0" blurRad="76200" dist="12700" dir="5400000">
              <a:srgbClr val="9AA9B8">
                <a:alpha val="18000"/>
              </a:srgbClr>
            </a:outerShdw>
          </a:effectLst>
        </p:spPr>
      </p:sp>
      <p:sp>
        <p:nvSpPr>
          <p:cNvPr id="12" name="Text 10"/>
          <p:cNvSpPr txBox="1"/>
          <p:nvPr/>
        </p:nvSpPr>
        <p:spPr>
          <a:xfrm>
            <a:off x="6565392" y="1572768"/>
            <a:ext cx="4791456" cy="329184"/>
          </a:xfrm>
          <a:prstGeom prst="rect">
            <a:avLst/>
          </a:prstGeom>
          <a:noFill/>
          <a:ln/>
        </p:spPr>
        <p:txBody>
          <a:bodyPr wrap="square" lIns="0" tIns="0" rIns="0" bIns="0" rtlCol="0" anchor="ctr"/>
          <a:lstStyle/>
          <a:p>
            <a:pPr indent="0" marL="0">
              <a:buNone/>
            </a:pPr>
            <a:r>
              <a:rPr lang="en-US" sz="1700" b="1" dirty="0">
                <a:solidFill>
                  <a:srgbClr val="B3261E"/>
                </a:solidFill>
                <a:latin typeface="Arial" pitchFamily="34" charset="0"/>
                <a:ea typeface="Arial" pitchFamily="34" charset="-122"/>
                <a:cs typeface="Arial" pitchFamily="34" charset="-120"/>
              </a:rPr>
              <a:t>Do not do this</a:t>
            </a:r>
            <a:endParaRPr lang="en-US" sz="1700" dirty="0"/>
          </a:p>
        </p:txBody>
      </p:sp>
      <p:sp>
        <p:nvSpPr>
          <p:cNvPr id="13" name="Text 11"/>
          <p:cNvSpPr txBox="1"/>
          <p:nvPr/>
        </p:nvSpPr>
        <p:spPr>
          <a:xfrm>
            <a:off x="6565392" y="1993392"/>
            <a:ext cx="4791456" cy="1682496"/>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Push new commits during the evaluation</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Ask a neighbour to explain your code to you</a:t>
            </a:r>
            <a:endParaRPr lang="en-US" sz="1350" dirty="0"/>
          </a:p>
          <a:p>
            <a:pPr marL="342900" indent="-342900">
              <a:spcAft>
                <a:spcPts val="600"/>
              </a:spcAft>
              <a:buSzPct val="100000"/>
              <a:buChar char="•"/>
            </a:pPr>
            <a:r>
              <a:rPr lang="en-US" sz="1350" dirty="0">
                <a:solidFill>
                  <a:srgbClr val="3D4A57"/>
                </a:solidFill>
                <a:latin typeface="Arial" pitchFamily="34" charset="0"/>
                <a:ea typeface="Arial" pitchFamily="34" charset="-122"/>
                <a:cs typeface="Arial" pitchFamily="34" charset="-120"/>
              </a:rPr>
              <a:t>Switch to a local copy because the live one is broken</a:t>
            </a:r>
            <a:endParaRPr lang="en-US" sz="1350" dirty="0"/>
          </a:p>
        </p:txBody>
      </p:sp>
      <p:sp>
        <p:nvSpPr>
          <p:cNvPr id="14" name="Shape 12"/>
          <p:cNvSpPr/>
          <p:nvPr/>
        </p:nvSpPr>
        <p:spPr>
          <a:xfrm>
            <a:off x="548640" y="4069080"/>
            <a:ext cx="11064240" cy="1874520"/>
          </a:xfrm>
          <a:prstGeom prst="roundRect">
            <a:avLst>
              <a:gd name="adj" fmla="val 3902"/>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5" name="Shape 13"/>
          <p:cNvSpPr/>
          <p:nvPr/>
        </p:nvSpPr>
        <p:spPr>
          <a:xfrm>
            <a:off x="749808" y="4270248"/>
            <a:ext cx="384048" cy="384048"/>
          </a:xfrm>
          <a:prstGeom prst="ellipse">
            <a:avLst/>
          </a:prstGeom>
          <a:solidFill>
            <a:srgbClr val="E39A18"/>
          </a:solidFill>
          <a:ln w="12700">
            <a:solidFill>
              <a:srgbClr val="E39A18"/>
            </a:solidFill>
            <a:prstDash val="solid"/>
          </a:ln>
        </p:spPr>
      </p:sp>
      <p:sp>
        <p:nvSpPr>
          <p:cNvPr id="16" name="Text 14"/>
          <p:cNvSpPr txBox="1"/>
          <p:nvPr/>
        </p:nvSpPr>
        <p:spPr>
          <a:xfrm>
            <a:off x="749808" y="427024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1261872" y="429768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If your deployment is broken right now</a:t>
            </a:r>
            <a:endParaRPr lang="en-US" sz="1700" dirty="0"/>
          </a:p>
        </p:txBody>
      </p:sp>
      <p:sp>
        <p:nvSpPr>
          <p:cNvPr id="18" name="Text 16"/>
          <p:cNvSpPr txBox="1"/>
          <p:nvPr/>
        </p:nvSpPr>
        <p:spPr>
          <a:xfrm>
            <a:off x="804672" y="4690872"/>
            <a:ext cx="10552176" cy="108813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Tell me at the start, not when you are called. You get the remaining time to fix it and are evaluated last.</a:t>
            </a:r>
            <a:endParaRPr lang="en-US" sz="1350" dirty="0"/>
          </a:p>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A working repository with a broken deployment loses the deployment marks, not all of them. Do not panic and do not disappear.</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RUBRIC · 5 MARKS</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What Is Being Checked</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4</a:t>
            </a:r>
            <a:endParaRPr lang="en-US" sz="900" dirty="0"/>
          </a:p>
        </p:txBody>
      </p:sp>
      <p:sp>
        <p:nvSpPr>
          <p:cNvPr id="6" name="Shape 4"/>
          <p:cNvSpPr/>
          <p:nvPr/>
        </p:nvSpPr>
        <p:spPr>
          <a:xfrm>
            <a:off x="548640" y="1371600"/>
            <a:ext cx="11064240" cy="822960"/>
          </a:xfrm>
          <a:prstGeom prst="roundRect">
            <a:avLst>
              <a:gd name="adj" fmla="val 8889"/>
            </a:avLst>
          </a:prstGeom>
          <a:solidFill>
            <a:srgbClr val="E8EEF4"/>
          </a:solidFill>
          <a:ln w="12700">
            <a:solidFill>
              <a:srgbClr val="E8EEF4"/>
            </a:solidFill>
            <a:prstDash val="solid"/>
          </a:ln>
        </p:spPr>
      </p:sp>
      <p:sp>
        <p:nvSpPr>
          <p:cNvPr id="7" name="Text 5"/>
          <p:cNvSpPr txBox="1"/>
          <p:nvPr/>
        </p:nvSpPr>
        <p:spPr>
          <a:xfrm>
            <a:off x="777240" y="1417320"/>
            <a:ext cx="283464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Core functionality</a:t>
            </a:r>
            <a:endParaRPr lang="en-US" sz="1350" dirty="0"/>
          </a:p>
        </p:txBody>
      </p:sp>
      <p:sp>
        <p:nvSpPr>
          <p:cNvPr id="8" name="Text 6"/>
          <p:cNvSpPr txBox="1"/>
          <p:nvPr/>
        </p:nvSpPr>
        <p:spPr>
          <a:xfrm>
            <a:off x="3657600" y="1417320"/>
            <a:ext cx="822960" cy="731520"/>
          </a:xfrm>
          <a:prstGeom prst="rect">
            <a:avLst/>
          </a:prstGeom>
          <a:noFill/>
          <a:ln/>
        </p:spPr>
        <p:txBody>
          <a:bodyPr wrap="square" lIns="0" tIns="0" rIns="0" bIns="0" rtlCol="0" anchor="ctr"/>
          <a:lstStyle/>
          <a:p>
            <a:pPr indent="0" marL="0">
              <a:buNone/>
            </a:pPr>
            <a:r>
              <a:rPr lang="en-US" sz="1400" b="1" dirty="0">
                <a:solidFill>
                  <a:srgbClr val="E39A18"/>
                </a:solidFill>
                <a:latin typeface="Arial" pitchFamily="34" charset="0"/>
                <a:ea typeface="Arial" pitchFamily="34" charset="-122"/>
                <a:cs typeface="Arial" pitchFamily="34" charset="-120"/>
              </a:rPr>
              <a:t>40%</a:t>
            </a:r>
            <a:endParaRPr lang="en-US" sz="1400" dirty="0"/>
          </a:p>
        </p:txBody>
      </p:sp>
      <p:sp>
        <p:nvSpPr>
          <p:cNvPr id="9" name="Text 7"/>
          <p:cNvSpPr txBox="1"/>
          <p:nvPr/>
        </p:nvSpPr>
        <p:spPr>
          <a:xfrm>
            <a:off x="4663440" y="1417320"/>
            <a:ext cx="667512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The page works, all required sections are present, and it is deployed and reachable</a:t>
            </a:r>
            <a:endParaRPr lang="en-US" sz="1250" dirty="0"/>
          </a:p>
        </p:txBody>
      </p:sp>
      <p:sp>
        <p:nvSpPr>
          <p:cNvPr id="10" name="Shape 8"/>
          <p:cNvSpPr/>
          <p:nvPr/>
        </p:nvSpPr>
        <p:spPr>
          <a:xfrm>
            <a:off x="548640" y="2304288"/>
            <a:ext cx="11064240" cy="822960"/>
          </a:xfrm>
          <a:prstGeom prst="roundRect">
            <a:avLst>
              <a:gd name="adj" fmla="val 8889"/>
            </a:avLst>
          </a:prstGeom>
          <a:solidFill>
            <a:srgbClr val="F2F5F8"/>
          </a:solidFill>
          <a:ln w="12700">
            <a:solidFill>
              <a:srgbClr val="F2F5F8"/>
            </a:solidFill>
            <a:prstDash val="solid"/>
          </a:ln>
        </p:spPr>
      </p:sp>
      <p:sp>
        <p:nvSpPr>
          <p:cNvPr id="11" name="Text 9"/>
          <p:cNvSpPr txBox="1"/>
          <p:nvPr/>
        </p:nvSpPr>
        <p:spPr>
          <a:xfrm>
            <a:off x="777240" y="2350008"/>
            <a:ext cx="283464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Technical implementation</a:t>
            </a:r>
            <a:endParaRPr lang="en-US" sz="1350" dirty="0"/>
          </a:p>
        </p:txBody>
      </p:sp>
      <p:sp>
        <p:nvSpPr>
          <p:cNvPr id="12" name="Text 10"/>
          <p:cNvSpPr txBox="1"/>
          <p:nvPr/>
        </p:nvSpPr>
        <p:spPr>
          <a:xfrm>
            <a:off x="3657600" y="2350008"/>
            <a:ext cx="822960" cy="731520"/>
          </a:xfrm>
          <a:prstGeom prst="rect">
            <a:avLst/>
          </a:prstGeom>
          <a:noFill/>
          <a:ln/>
        </p:spPr>
        <p:txBody>
          <a:bodyPr wrap="square" lIns="0" tIns="0" rIns="0" bIns="0" rtlCol="0" anchor="ctr"/>
          <a:lstStyle/>
          <a:p>
            <a:pPr indent="0" marL="0">
              <a:buNone/>
            </a:pPr>
            <a:r>
              <a:rPr lang="en-US" sz="1400" b="1" dirty="0">
                <a:solidFill>
                  <a:srgbClr val="E39A18"/>
                </a:solidFill>
                <a:latin typeface="Arial" pitchFamily="34" charset="0"/>
                <a:ea typeface="Arial" pitchFamily="34" charset="-122"/>
                <a:cs typeface="Arial" pitchFamily="34" charset="-120"/>
              </a:rPr>
              <a:t>25%</a:t>
            </a:r>
            <a:endParaRPr lang="en-US" sz="1400" dirty="0"/>
          </a:p>
        </p:txBody>
      </p:sp>
      <p:sp>
        <p:nvSpPr>
          <p:cNvPr id="13" name="Text 11"/>
          <p:cNvSpPr txBox="1"/>
          <p:nvPr/>
        </p:nvSpPr>
        <p:spPr>
          <a:xfrm>
            <a:off x="4663440" y="2350008"/>
            <a:ext cx="667512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Semantic HTML, Flexbox and Grid used appropriately, mobile-first CSS</a:t>
            </a:r>
            <a:endParaRPr lang="en-US" sz="1250" dirty="0"/>
          </a:p>
        </p:txBody>
      </p:sp>
      <p:sp>
        <p:nvSpPr>
          <p:cNvPr id="14" name="Shape 12"/>
          <p:cNvSpPr/>
          <p:nvPr/>
        </p:nvSpPr>
        <p:spPr>
          <a:xfrm>
            <a:off x="548640" y="3236976"/>
            <a:ext cx="11064240" cy="822960"/>
          </a:xfrm>
          <a:prstGeom prst="roundRect">
            <a:avLst>
              <a:gd name="adj" fmla="val 8889"/>
            </a:avLst>
          </a:prstGeom>
          <a:solidFill>
            <a:srgbClr val="E8EEF4"/>
          </a:solidFill>
          <a:ln w="12700">
            <a:solidFill>
              <a:srgbClr val="E8EEF4"/>
            </a:solidFill>
            <a:prstDash val="solid"/>
          </a:ln>
        </p:spPr>
      </p:sp>
      <p:sp>
        <p:nvSpPr>
          <p:cNvPr id="15" name="Text 13"/>
          <p:cNvSpPr txBox="1"/>
          <p:nvPr/>
        </p:nvSpPr>
        <p:spPr>
          <a:xfrm>
            <a:off x="777240" y="3282696"/>
            <a:ext cx="283464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Responsiveness / usability</a:t>
            </a:r>
            <a:endParaRPr lang="en-US" sz="1350" dirty="0"/>
          </a:p>
        </p:txBody>
      </p:sp>
      <p:sp>
        <p:nvSpPr>
          <p:cNvPr id="16" name="Text 14"/>
          <p:cNvSpPr txBox="1"/>
          <p:nvPr/>
        </p:nvSpPr>
        <p:spPr>
          <a:xfrm>
            <a:off x="3657600" y="3282696"/>
            <a:ext cx="822960" cy="731520"/>
          </a:xfrm>
          <a:prstGeom prst="rect">
            <a:avLst/>
          </a:prstGeom>
          <a:noFill/>
          <a:ln/>
        </p:spPr>
        <p:txBody>
          <a:bodyPr wrap="square" lIns="0" tIns="0" rIns="0" bIns="0" rtlCol="0" anchor="ctr"/>
          <a:lstStyle/>
          <a:p>
            <a:pPr indent="0" marL="0">
              <a:buNone/>
            </a:pPr>
            <a:r>
              <a:rPr lang="en-US" sz="1400" b="1" dirty="0">
                <a:solidFill>
                  <a:srgbClr val="E39A18"/>
                </a:solidFill>
                <a:latin typeface="Arial" pitchFamily="34" charset="0"/>
                <a:ea typeface="Arial" pitchFamily="34" charset="-122"/>
                <a:cs typeface="Arial" pitchFamily="34" charset="-120"/>
              </a:rPr>
              <a:t>15%</a:t>
            </a:r>
            <a:endParaRPr lang="en-US" sz="1400" dirty="0"/>
          </a:p>
        </p:txBody>
      </p:sp>
      <p:sp>
        <p:nvSpPr>
          <p:cNvPr id="17" name="Text 15"/>
          <p:cNvSpPr txBox="1"/>
          <p:nvPr/>
        </p:nvSpPr>
        <p:spPr>
          <a:xfrm>
            <a:off x="4663440" y="3282696"/>
            <a:ext cx="667512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Correct at 360px, 768px and 1280px; accessibility checklist passed</a:t>
            </a:r>
            <a:endParaRPr lang="en-US" sz="1250" dirty="0"/>
          </a:p>
        </p:txBody>
      </p:sp>
      <p:sp>
        <p:nvSpPr>
          <p:cNvPr id="18" name="Shape 16"/>
          <p:cNvSpPr/>
          <p:nvPr/>
        </p:nvSpPr>
        <p:spPr>
          <a:xfrm>
            <a:off x="548640" y="4169664"/>
            <a:ext cx="11064240" cy="822960"/>
          </a:xfrm>
          <a:prstGeom prst="roundRect">
            <a:avLst>
              <a:gd name="adj" fmla="val 8889"/>
            </a:avLst>
          </a:prstGeom>
          <a:solidFill>
            <a:srgbClr val="F2F5F8"/>
          </a:solidFill>
          <a:ln w="12700">
            <a:solidFill>
              <a:srgbClr val="F2F5F8"/>
            </a:solidFill>
            <a:prstDash val="solid"/>
          </a:ln>
        </p:spPr>
      </p:sp>
      <p:sp>
        <p:nvSpPr>
          <p:cNvPr id="19" name="Text 17"/>
          <p:cNvSpPr txBox="1"/>
          <p:nvPr/>
        </p:nvSpPr>
        <p:spPr>
          <a:xfrm>
            <a:off x="777240" y="4215384"/>
            <a:ext cx="283464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Code organisation</a:t>
            </a:r>
            <a:endParaRPr lang="en-US" sz="1350" dirty="0"/>
          </a:p>
        </p:txBody>
      </p:sp>
      <p:sp>
        <p:nvSpPr>
          <p:cNvPr id="20" name="Text 18"/>
          <p:cNvSpPr txBox="1"/>
          <p:nvPr/>
        </p:nvSpPr>
        <p:spPr>
          <a:xfrm>
            <a:off x="3657600" y="4215384"/>
            <a:ext cx="822960" cy="731520"/>
          </a:xfrm>
          <a:prstGeom prst="rect">
            <a:avLst/>
          </a:prstGeom>
          <a:noFill/>
          <a:ln/>
        </p:spPr>
        <p:txBody>
          <a:bodyPr wrap="square" lIns="0" tIns="0" rIns="0" bIns="0" rtlCol="0" anchor="ctr"/>
          <a:lstStyle/>
          <a:p>
            <a:pPr indent="0" marL="0">
              <a:buNone/>
            </a:pPr>
            <a:r>
              <a:rPr lang="en-US" sz="1400" b="1" dirty="0">
                <a:solidFill>
                  <a:srgbClr val="E39A18"/>
                </a:solidFill>
                <a:latin typeface="Arial" pitchFamily="34" charset="0"/>
                <a:ea typeface="Arial" pitchFamily="34" charset="-122"/>
                <a:cs typeface="Arial" pitchFamily="34" charset="-120"/>
              </a:rPr>
              <a:t>10%</a:t>
            </a:r>
            <a:endParaRPr lang="en-US" sz="1400" dirty="0"/>
          </a:p>
        </p:txBody>
      </p:sp>
      <p:sp>
        <p:nvSpPr>
          <p:cNvPr id="21" name="Text 19"/>
          <p:cNvSpPr txBox="1"/>
          <p:nvPr/>
        </p:nvSpPr>
        <p:spPr>
          <a:xfrm>
            <a:off x="4663440" y="4215384"/>
            <a:ext cx="667512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Sensible structure and naming; clean commit history</a:t>
            </a:r>
            <a:endParaRPr lang="en-US" sz="1250" dirty="0"/>
          </a:p>
        </p:txBody>
      </p:sp>
      <p:sp>
        <p:nvSpPr>
          <p:cNvPr id="22" name="Shape 20"/>
          <p:cNvSpPr/>
          <p:nvPr/>
        </p:nvSpPr>
        <p:spPr>
          <a:xfrm>
            <a:off x="548640" y="5102352"/>
            <a:ext cx="11064240" cy="822960"/>
          </a:xfrm>
          <a:prstGeom prst="roundRect">
            <a:avLst>
              <a:gd name="adj" fmla="val 8889"/>
            </a:avLst>
          </a:prstGeom>
          <a:solidFill>
            <a:srgbClr val="E8EEF4"/>
          </a:solidFill>
          <a:ln w="12700">
            <a:solidFill>
              <a:srgbClr val="E8EEF4"/>
            </a:solidFill>
            <a:prstDash val="solid"/>
          </a:ln>
        </p:spPr>
      </p:sp>
      <p:sp>
        <p:nvSpPr>
          <p:cNvPr id="23" name="Text 21"/>
          <p:cNvSpPr txBox="1"/>
          <p:nvPr/>
        </p:nvSpPr>
        <p:spPr>
          <a:xfrm>
            <a:off x="777240" y="5148072"/>
            <a:ext cx="2834640" cy="731520"/>
          </a:xfrm>
          <a:prstGeom prst="rect">
            <a:avLst/>
          </a:prstGeom>
          <a:noFill/>
          <a:ln/>
        </p:spPr>
        <p:txBody>
          <a:bodyPr wrap="square" lIns="0" tIns="0" rIns="0" bIns="0" rtlCol="0" anchor="ctr"/>
          <a:lstStyle/>
          <a:p>
            <a:pPr indent="0" marL="0">
              <a:buNone/>
            </a:pPr>
            <a:r>
              <a:rPr lang="en-US" sz="1350" b="1" dirty="0">
                <a:solidFill>
                  <a:srgbClr val="003366"/>
                </a:solidFill>
                <a:latin typeface="Arial" pitchFamily="34" charset="0"/>
                <a:ea typeface="Arial" pitchFamily="34" charset="-122"/>
                <a:cs typeface="Arial" pitchFamily="34" charset="-120"/>
              </a:rPr>
              <a:t>Individual demonstration</a:t>
            </a:r>
            <a:endParaRPr lang="en-US" sz="1350" dirty="0"/>
          </a:p>
        </p:txBody>
      </p:sp>
      <p:sp>
        <p:nvSpPr>
          <p:cNvPr id="24" name="Text 22"/>
          <p:cNvSpPr txBox="1"/>
          <p:nvPr/>
        </p:nvSpPr>
        <p:spPr>
          <a:xfrm>
            <a:off x="3657600" y="5148072"/>
            <a:ext cx="822960" cy="731520"/>
          </a:xfrm>
          <a:prstGeom prst="rect">
            <a:avLst/>
          </a:prstGeom>
          <a:noFill/>
          <a:ln/>
        </p:spPr>
        <p:txBody>
          <a:bodyPr wrap="square" lIns="0" tIns="0" rIns="0" bIns="0" rtlCol="0" anchor="ctr"/>
          <a:lstStyle/>
          <a:p>
            <a:pPr indent="0" marL="0">
              <a:buNone/>
            </a:pPr>
            <a:r>
              <a:rPr lang="en-US" sz="1400" b="1" dirty="0">
                <a:solidFill>
                  <a:srgbClr val="E39A18"/>
                </a:solidFill>
                <a:latin typeface="Arial" pitchFamily="34" charset="0"/>
                <a:ea typeface="Arial" pitchFamily="34" charset="-122"/>
                <a:cs typeface="Arial" pitchFamily="34" charset="-120"/>
              </a:rPr>
              <a:t>10%</a:t>
            </a:r>
            <a:endParaRPr lang="en-US" sz="1400" dirty="0"/>
          </a:p>
        </p:txBody>
      </p:sp>
      <p:sp>
        <p:nvSpPr>
          <p:cNvPr id="25" name="Text 23"/>
          <p:cNvSpPr txBox="1"/>
          <p:nvPr/>
        </p:nvSpPr>
        <p:spPr>
          <a:xfrm>
            <a:off x="4663440" y="5148072"/>
            <a:ext cx="6675120" cy="731520"/>
          </a:xfrm>
          <a:prstGeom prst="rect">
            <a:avLst/>
          </a:prstGeom>
          <a:noFill/>
          <a:ln/>
        </p:spPr>
        <p:txBody>
          <a:bodyPr wrap="square" lIns="0" tIns="0" rIns="0" bIns="0" rtlCol="0" anchor="ctr"/>
          <a:lstStyle/>
          <a:p>
            <a:pPr indent="0" marL="0">
              <a:buNone/>
            </a:pPr>
            <a:r>
              <a:rPr lang="en-US" sz="1250" dirty="0">
                <a:solidFill>
                  <a:srgbClr val="3D4A57"/>
                </a:solidFill>
                <a:latin typeface="Arial" pitchFamily="34" charset="0"/>
                <a:ea typeface="Arial" pitchFamily="34" charset="-122"/>
                <a:cs typeface="Arial" pitchFamily="34" charset="-120"/>
              </a:rPr>
              <a:t>You can explain, modify or debug your own work</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VIVA</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The Questions You May Be Asked</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5</a:t>
            </a:r>
            <a:endParaRPr lang="en-US" sz="900" dirty="0"/>
          </a:p>
        </p:txBody>
      </p:sp>
      <p:sp>
        <p:nvSpPr>
          <p:cNvPr id="6" name="Shape 4"/>
          <p:cNvSpPr/>
          <p:nvPr/>
        </p:nvSpPr>
        <p:spPr>
          <a:xfrm>
            <a:off x="548640" y="1371600"/>
            <a:ext cx="5349240" cy="914400"/>
          </a:xfrm>
          <a:prstGeom prst="roundRect">
            <a:avLst>
              <a:gd name="adj" fmla="val 8000"/>
            </a:avLst>
          </a:prstGeom>
          <a:solidFill>
            <a:srgbClr val="E8EEF4"/>
          </a:solidFill>
          <a:ln w="12700">
            <a:solidFill>
              <a:srgbClr val="E8EEF4"/>
            </a:solidFill>
            <a:prstDash val="solid"/>
          </a:ln>
        </p:spPr>
      </p:sp>
      <p:sp>
        <p:nvSpPr>
          <p:cNvPr id="7" name="Text 5"/>
          <p:cNvSpPr txBox="1"/>
          <p:nvPr/>
        </p:nvSpPr>
        <p:spPr>
          <a:xfrm>
            <a:off x="777240" y="144475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Why did you use Grid here and Flexbox there?</a:t>
            </a:r>
            <a:endParaRPr lang="en-US" sz="1250" dirty="0"/>
          </a:p>
        </p:txBody>
      </p:sp>
      <p:sp>
        <p:nvSpPr>
          <p:cNvPr id="8" name="Text 6"/>
          <p:cNvSpPr txBox="1"/>
          <p:nvPr/>
        </p:nvSpPr>
        <p:spPr>
          <a:xfrm>
            <a:off x="777240" y="197510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Structure</a:t>
            </a:r>
            <a:endParaRPr lang="en-US" sz="1000" dirty="0"/>
          </a:p>
        </p:txBody>
      </p:sp>
      <p:sp>
        <p:nvSpPr>
          <p:cNvPr id="9" name="Shape 7"/>
          <p:cNvSpPr/>
          <p:nvPr/>
        </p:nvSpPr>
        <p:spPr>
          <a:xfrm>
            <a:off x="6263640" y="1371600"/>
            <a:ext cx="5349240" cy="914400"/>
          </a:xfrm>
          <a:prstGeom prst="roundRect">
            <a:avLst>
              <a:gd name="adj" fmla="val 8000"/>
            </a:avLst>
          </a:prstGeom>
          <a:solidFill>
            <a:srgbClr val="F2F5F8"/>
          </a:solidFill>
          <a:ln w="12700">
            <a:solidFill>
              <a:srgbClr val="F2F5F8"/>
            </a:solidFill>
            <a:prstDash val="solid"/>
          </a:ln>
        </p:spPr>
      </p:sp>
      <p:sp>
        <p:nvSpPr>
          <p:cNvPr id="10" name="Text 8"/>
          <p:cNvSpPr txBox="1"/>
          <p:nvPr/>
        </p:nvSpPr>
        <p:spPr>
          <a:xfrm>
            <a:off x="6492240" y="144475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What does this line do?</a:t>
            </a:r>
            <a:endParaRPr lang="en-US" sz="1250" dirty="0"/>
          </a:p>
        </p:txBody>
      </p:sp>
      <p:sp>
        <p:nvSpPr>
          <p:cNvPr id="11" name="Text 9"/>
          <p:cNvSpPr txBox="1"/>
          <p:nvPr/>
        </p:nvSpPr>
        <p:spPr>
          <a:xfrm>
            <a:off x="6492240" y="197510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Any line, chosen at random</a:t>
            </a:r>
            <a:endParaRPr lang="en-US" sz="1000" dirty="0"/>
          </a:p>
        </p:txBody>
      </p:sp>
      <p:sp>
        <p:nvSpPr>
          <p:cNvPr id="12" name="Shape 10"/>
          <p:cNvSpPr/>
          <p:nvPr/>
        </p:nvSpPr>
        <p:spPr>
          <a:xfrm>
            <a:off x="548640" y="2423160"/>
            <a:ext cx="5349240" cy="914400"/>
          </a:xfrm>
          <a:prstGeom prst="roundRect">
            <a:avLst>
              <a:gd name="adj" fmla="val 8000"/>
            </a:avLst>
          </a:prstGeom>
          <a:solidFill>
            <a:srgbClr val="E8EEF4"/>
          </a:solidFill>
          <a:ln w="12700">
            <a:solidFill>
              <a:srgbClr val="E8EEF4"/>
            </a:solidFill>
            <a:prstDash val="solid"/>
          </a:ln>
        </p:spPr>
      </p:sp>
      <p:sp>
        <p:nvSpPr>
          <p:cNvPr id="13" name="Text 11"/>
          <p:cNvSpPr txBox="1"/>
          <p:nvPr/>
        </p:nvSpPr>
        <p:spPr>
          <a:xfrm>
            <a:off x="777240" y="249631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Where is your mobile-first base, and where does the first breakpoint start?</a:t>
            </a:r>
            <a:endParaRPr lang="en-US" sz="1250" dirty="0"/>
          </a:p>
        </p:txBody>
      </p:sp>
      <p:sp>
        <p:nvSpPr>
          <p:cNvPr id="14" name="Text 12"/>
          <p:cNvSpPr txBox="1"/>
          <p:nvPr/>
        </p:nvSpPr>
        <p:spPr>
          <a:xfrm>
            <a:off x="777240" y="302666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Responsive</a:t>
            </a:r>
            <a:endParaRPr lang="en-US" sz="1000" dirty="0"/>
          </a:p>
        </p:txBody>
      </p:sp>
      <p:sp>
        <p:nvSpPr>
          <p:cNvPr id="15" name="Shape 13"/>
          <p:cNvSpPr/>
          <p:nvPr/>
        </p:nvSpPr>
        <p:spPr>
          <a:xfrm>
            <a:off x="6263640" y="2423160"/>
            <a:ext cx="5349240" cy="914400"/>
          </a:xfrm>
          <a:prstGeom prst="roundRect">
            <a:avLst>
              <a:gd name="adj" fmla="val 8000"/>
            </a:avLst>
          </a:prstGeom>
          <a:solidFill>
            <a:srgbClr val="F2F5F8"/>
          </a:solidFill>
          <a:ln w="12700">
            <a:solidFill>
              <a:srgbClr val="F2F5F8"/>
            </a:solidFill>
            <a:prstDash val="solid"/>
          </a:ln>
        </p:spPr>
      </p:sp>
      <p:sp>
        <p:nvSpPr>
          <p:cNvPr id="16" name="Text 14"/>
          <p:cNvSpPr txBox="1"/>
          <p:nvPr/>
        </p:nvSpPr>
        <p:spPr>
          <a:xfrm>
            <a:off x="6492240" y="249631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Show me what happens at 360px.</a:t>
            </a:r>
            <a:endParaRPr lang="en-US" sz="1250" dirty="0"/>
          </a:p>
        </p:txBody>
      </p:sp>
      <p:sp>
        <p:nvSpPr>
          <p:cNvPr id="17" name="Text 15"/>
          <p:cNvSpPr txBox="1"/>
          <p:nvPr/>
        </p:nvSpPr>
        <p:spPr>
          <a:xfrm>
            <a:off x="6492240" y="302666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Responsive</a:t>
            </a:r>
            <a:endParaRPr lang="en-US" sz="1000" dirty="0"/>
          </a:p>
        </p:txBody>
      </p:sp>
      <p:sp>
        <p:nvSpPr>
          <p:cNvPr id="18" name="Shape 16"/>
          <p:cNvSpPr/>
          <p:nvPr/>
        </p:nvSpPr>
        <p:spPr>
          <a:xfrm>
            <a:off x="548640" y="3474720"/>
            <a:ext cx="5349240" cy="914400"/>
          </a:xfrm>
          <a:prstGeom prst="roundRect">
            <a:avLst>
              <a:gd name="adj" fmla="val 8000"/>
            </a:avLst>
          </a:prstGeom>
          <a:solidFill>
            <a:srgbClr val="E8EEF4"/>
          </a:solidFill>
          <a:ln w="12700">
            <a:solidFill>
              <a:srgbClr val="E8EEF4"/>
            </a:solidFill>
            <a:prstDash val="solid"/>
          </a:ln>
        </p:spPr>
      </p:sp>
      <p:sp>
        <p:nvSpPr>
          <p:cNvPr id="19" name="Text 17"/>
          <p:cNvSpPr txBox="1"/>
          <p:nvPr/>
        </p:nvSpPr>
        <p:spPr>
          <a:xfrm>
            <a:off x="777240" y="354787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Why does this element have box-sizing applied?</a:t>
            </a:r>
            <a:endParaRPr lang="en-US" sz="1250" dirty="0"/>
          </a:p>
        </p:txBody>
      </p:sp>
      <p:sp>
        <p:nvSpPr>
          <p:cNvPr id="20" name="Text 18"/>
          <p:cNvSpPr txBox="1"/>
          <p:nvPr/>
        </p:nvSpPr>
        <p:spPr>
          <a:xfrm>
            <a:off x="777240" y="407822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Box model</a:t>
            </a:r>
            <a:endParaRPr lang="en-US" sz="1000" dirty="0"/>
          </a:p>
        </p:txBody>
      </p:sp>
      <p:sp>
        <p:nvSpPr>
          <p:cNvPr id="21" name="Shape 19"/>
          <p:cNvSpPr/>
          <p:nvPr/>
        </p:nvSpPr>
        <p:spPr>
          <a:xfrm>
            <a:off x="6263640" y="3474720"/>
            <a:ext cx="5349240" cy="914400"/>
          </a:xfrm>
          <a:prstGeom prst="roundRect">
            <a:avLst>
              <a:gd name="adj" fmla="val 8000"/>
            </a:avLst>
          </a:prstGeom>
          <a:solidFill>
            <a:srgbClr val="F2F5F8"/>
          </a:solidFill>
          <a:ln w="12700">
            <a:solidFill>
              <a:srgbClr val="F2F5F8"/>
            </a:solidFill>
            <a:prstDash val="solid"/>
          </a:ln>
        </p:spPr>
      </p:sp>
      <p:sp>
        <p:nvSpPr>
          <p:cNvPr id="22" name="Text 20"/>
          <p:cNvSpPr txBox="1"/>
          <p:nvPr/>
        </p:nvSpPr>
        <p:spPr>
          <a:xfrm>
            <a:off x="6492240" y="354787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Which rule is setting this colour, and what is beating it?</a:t>
            </a:r>
            <a:endParaRPr lang="en-US" sz="1250" dirty="0"/>
          </a:p>
        </p:txBody>
      </p:sp>
      <p:sp>
        <p:nvSpPr>
          <p:cNvPr id="23" name="Text 21"/>
          <p:cNvSpPr txBox="1"/>
          <p:nvPr/>
        </p:nvSpPr>
        <p:spPr>
          <a:xfrm>
            <a:off x="6492240" y="407822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Cascade</a:t>
            </a:r>
            <a:endParaRPr lang="en-US" sz="1000" dirty="0"/>
          </a:p>
        </p:txBody>
      </p:sp>
      <p:sp>
        <p:nvSpPr>
          <p:cNvPr id="24" name="Shape 22"/>
          <p:cNvSpPr/>
          <p:nvPr/>
        </p:nvSpPr>
        <p:spPr>
          <a:xfrm>
            <a:off x="548640" y="4526280"/>
            <a:ext cx="5349240" cy="914400"/>
          </a:xfrm>
          <a:prstGeom prst="roundRect">
            <a:avLst>
              <a:gd name="adj" fmla="val 8000"/>
            </a:avLst>
          </a:prstGeom>
          <a:solidFill>
            <a:srgbClr val="E8EEF4"/>
          </a:solidFill>
          <a:ln w="12700">
            <a:solidFill>
              <a:srgbClr val="E8EEF4"/>
            </a:solidFill>
            <a:prstDash val="solid"/>
          </a:ln>
        </p:spPr>
      </p:sp>
      <p:sp>
        <p:nvSpPr>
          <p:cNvPr id="25" name="Text 23"/>
          <p:cNvSpPr txBox="1"/>
          <p:nvPr/>
        </p:nvSpPr>
        <p:spPr>
          <a:xfrm>
            <a:off x="777240" y="459943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Show me the alt text on this image and explain your choice.</a:t>
            </a:r>
            <a:endParaRPr lang="en-US" sz="1250" dirty="0"/>
          </a:p>
        </p:txBody>
      </p:sp>
      <p:sp>
        <p:nvSpPr>
          <p:cNvPr id="26" name="Text 24"/>
          <p:cNvSpPr txBox="1"/>
          <p:nvPr/>
        </p:nvSpPr>
        <p:spPr>
          <a:xfrm>
            <a:off x="777240" y="512978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Accessibility</a:t>
            </a:r>
            <a:endParaRPr lang="en-US" sz="1000" dirty="0"/>
          </a:p>
        </p:txBody>
      </p:sp>
      <p:sp>
        <p:nvSpPr>
          <p:cNvPr id="27" name="Shape 25"/>
          <p:cNvSpPr/>
          <p:nvPr/>
        </p:nvSpPr>
        <p:spPr>
          <a:xfrm>
            <a:off x="6263640" y="4526280"/>
            <a:ext cx="5349240" cy="914400"/>
          </a:xfrm>
          <a:prstGeom prst="roundRect">
            <a:avLst>
              <a:gd name="adj" fmla="val 8000"/>
            </a:avLst>
          </a:prstGeom>
          <a:solidFill>
            <a:srgbClr val="F2F5F8"/>
          </a:solidFill>
          <a:ln w="12700">
            <a:solidFill>
              <a:srgbClr val="F2F5F8"/>
            </a:solidFill>
            <a:prstDash val="solid"/>
          </a:ln>
        </p:spPr>
      </p:sp>
      <p:sp>
        <p:nvSpPr>
          <p:cNvPr id="28" name="Text 26"/>
          <p:cNvSpPr txBox="1"/>
          <p:nvPr/>
        </p:nvSpPr>
        <p:spPr>
          <a:xfrm>
            <a:off x="6492240" y="4599432"/>
            <a:ext cx="4892040" cy="548640"/>
          </a:xfrm>
          <a:prstGeom prst="rect">
            <a:avLst/>
          </a:prstGeom>
          <a:noFill/>
          <a:ln/>
        </p:spPr>
        <p:txBody>
          <a:bodyPr wrap="square" lIns="0" tIns="0" rIns="0" bIns="0" rtlCol="0" anchor="t"/>
          <a:lstStyle/>
          <a:p>
            <a:pPr indent="0" marL="0">
              <a:buNone/>
            </a:pPr>
            <a:r>
              <a:rPr lang="en-US" sz="1250" dirty="0">
                <a:solidFill>
                  <a:srgbClr val="3D4A57"/>
                </a:solidFill>
                <a:latin typeface="Arial" pitchFamily="34" charset="0"/>
                <a:ea typeface="Arial" pitchFamily="34" charset="-122"/>
                <a:cs typeface="Arial" pitchFamily="34" charset="-120"/>
              </a:rPr>
              <a:t>Tab to this button. What happens, and why?</a:t>
            </a:r>
            <a:endParaRPr lang="en-US" sz="1250" dirty="0"/>
          </a:p>
        </p:txBody>
      </p:sp>
      <p:sp>
        <p:nvSpPr>
          <p:cNvPr id="29" name="Text 27"/>
          <p:cNvSpPr txBox="1"/>
          <p:nvPr/>
        </p:nvSpPr>
        <p:spPr>
          <a:xfrm>
            <a:off x="6492240" y="5129784"/>
            <a:ext cx="4892040" cy="237744"/>
          </a:xfrm>
          <a:prstGeom prst="rect">
            <a:avLst/>
          </a:prstGeom>
          <a:noFill/>
          <a:ln/>
        </p:spPr>
        <p:txBody>
          <a:bodyPr wrap="square" lIns="0" tIns="0" rIns="0" bIns="0" rtlCol="0" anchor="ctr"/>
          <a:lstStyle/>
          <a:p>
            <a:pPr indent="0" marL="0">
              <a:buNone/>
            </a:pPr>
            <a:r>
              <a:rPr lang="en-US" sz="1000" b="1" dirty="0">
                <a:solidFill>
                  <a:srgbClr val="E39A18"/>
                </a:solidFill>
                <a:latin typeface="Arial" pitchFamily="34" charset="0"/>
                <a:ea typeface="Arial" pitchFamily="34" charset="-122"/>
                <a:cs typeface="Arial" pitchFamily="34" charset="-120"/>
              </a:rPr>
              <a:t>Accessibility</a:t>
            </a:r>
            <a:endParaRPr lang="en-US" sz="1000" dirty="0"/>
          </a:p>
        </p:txBody>
      </p:sp>
      <p:sp>
        <p:nvSpPr>
          <p:cNvPr id="30" name="Shape 28"/>
          <p:cNvSpPr/>
          <p:nvPr/>
        </p:nvSpPr>
        <p:spPr>
          <a:xfrm>
            <a:off x="548640" y="5715000"/>
            <a:ext cx="11064240" cy="594360"/>
          </a:xfrm>
          <a:prstGeom prst="roundRect">
            <a:avLst>
              <a:gd name="adj" fmla="val 12308"/>
            </a:avLst>
          </a:prstGeom>
          <a:solidFill>
            <a:srgbClr val="E7F4EE"/>
          </a:solidFill>
          <a:ln w="12700">
            <a:solidFill>
              <a:srgbClr val="E7F4EE"/>
            </a:solidFill>
            <a:prstDash val="solid"/>
          </a:ln>
        </p:spPr>
      </p:sp>
      <p:sp>
        <p:nvSpPr>
          <p:cNvPr id="31" name="Text 29"/>
          <p:cNvSpPr txBox="1"/>
          <p:nvPr/>
        </p:nvSpPr>
        <p:spPr>
          <a:xfrm>
            <a:off x="804672" y="5916168"/>
            <a:ext cx="10552176" cy="329184"/>
          </a:xfrm>
          <a:prstGeom prst="rect">
            <a:avLst/>
          </a:prstGeom>
          <a:noFill/>
          <a:ln/>
        </p:spPr>
        <p:txBody>
          <a:bodyPr wrap="square" lIns="0" tIns="0" rIns="0" bIns="0" rtlCol="0" anchor="ctr"/>
          <a:lstStyle/>
          <a:p>
            <a:pPr indent="0" marL="0">
              <a:buNone/>
            </a:pPr>
            <a:r>
              <a:rPr lang="en-US" sz="1300" b="1" dirty="0">
                <a:solidFill>
                  <a:srgbClr val="003366"/>
                </a:solidFill>
                <a:latin typeface="Arial" pitchFamily="34" charset="0"/>
                <a:ea typeface="Arial" pitchFamily="34" charset="-122"/>
                <a:cs typeface="Arial" pitchFamily="34" charset="-120"/>
              </a:rPr>
              <a:t>"I do not remember" is an acceptable answer once. "I did not write it" is not.</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VIVA</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The Live Modification</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6</a:t>
            </a:r>
            <a:endParaRPr lang="en-US" sz="900" dirty="0"/>
          </a:p>
        </p:txBody>
      </p:sp>
      <p:sp>
        <p:nvSpPr>
          <p:cNvPr id="6" name="Text 4"/>
          <p:cNvSpPr txBox="1"/>
          <p:nvPr/>
        </p:nvSpPr>
        <p:spPr>
          <a:xfrm>
            <a:off x="548640" y="1325880"/>
            <a:ext cx="11064240" cy="365760"/>
          </a:xfrm>
          <a:prstGeom prst="rect">
            <a:avLst/>
          </a:prstGeom>
          <a:noFill/>
          <a:ln/>
        </p:spPr>
        <p:txBody>
          <a:bodyPr wrap="square" lIns="0" tIns="0" rIns="0" bIns="0" rtlCol="0" anchor="t"/>
          <a:lstStyle/>
          <a:p>
            <a:pPr algn="l" indent="0" marL="0">
              <a:lnSpc>
                <a:spcPts val="1958"/>
              </a:lnSpc>
              <a:buNone/>
            </a:pPr>
            <a:r>
              <a:rPr lang="en-US" sz="1450" dirty="0">
                <a:solidFill>
                  <a:srgbClr val="3D4A57"/>
                </a:solidFill>
                <a:latin typeface="Arial" pitchFamily="34" charset="0"/>
                <a:ea typeface="Arial" pitchFamily="34" charset="-122"/>
                <a:cs typeface="Arial" pitchFamily="34" charset="-120"/>
              </a:rPr>
              <a:t>If time allows you will be asked to make one small change, in DevTools or in your editor. Two minutes maximum.</a:t>
            </a:r>
            <a:endParaRPr lang="en-US" sz="1450" dirty="0"/>
          </a:p>
        </p:txBody>
      </p:sp>
      <p:sp>
        <p:nvSpPr>
          <p:cNvPr id="7" name="Shape 5"/>
          <p:cNvSpPr/>
          <p:nvPr/>
        </p:nvSpPr>
        <p:spPr>
          <a:xfrm>
            <a:off x="548640" y="1828800"/>
            <a:ext cx="5349240" cy="777240"/>
          </a:xfrm>
          <a:prstGeom prst="roundRect">
            <a:avLst>
              <a:gd name="adj" fmla="val 9412"/>
            </a:avLst>
          </a:prstGeom>
          <a:solidFill>
            <a:srgbClr val="E8EEF4"/>
          </a:solidFill>
          <a:ln w="12700">
            <a:solidFill>
              <a:srgbClr val="E8EEF4"/>
            </a:solidFill>
            <a:prstDash val="solid"/>
          </a:ln>
        </p:spPr>
      </p:sp>
      <p:sp>
        <p:nvSpPr>
          <p:cNvPr id="8" name="Shape 6"/>
          <p:cNvSpPr/>
          <p:nvPr/>
        </p:nvSpPr>
        <p:spPr>
          <a:xfrm>
            <a:off x="749808" y="2029968"/>
            <a:ext cx="384048" cy="384048"/>
          </a:xfrm>
          <a:prstGeom prst="ellipse">
            <a:avLst/>
          </a:prstGeom>
          <a:solidFill>
            <a:srgbClr val="003366"/>
          </a:solidFill>
          <a:ln w="12700">
            <a:solidFill>
              <a:srgbClr val="003366"/>
            </a:solidFill>
            <a:prstDash val="solid"/>
          </a:ln>
        </p:spPr>
      </p:sp>
      <p:sp>
        <p:nvSpPr>
          <p:cNvPr id="9" name="Text 7"/>
          <p:cNvSpPr txBox="1"/>
          <p:nvPr/>
        </p:nvSpPr>
        <p:spPr>
          <a:xfrm>
            <a:off x="749808" y="2029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8"/>
          <p:cNvSpPr txBox="1"/>
          <p:nvPr/>
        </p:nvSpPr>
        <p:spPr>
          <a:xfrm>
            <a:off x="1261872" y="20574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Make this card row stack on a phone</a:t>
            </a:r>
            <a:endParaRPr lang="en-US" sz="1250" dirty="0"/>
          </a:p>
        </p:txBody>
      </p:sp>
      <p:sp>
        <p:nvSpPr>
          <p:cNvPr id="11" name="Shape 9"/>
          <p:cNvSpPr/>
          <p:nvPr/>
        </p:nvSpPr>
        <p:spPr>
          <a:xfrm>
            <a:off x="6263640" y="1828800"/>
            <a:ext cx="5349240" cy="777240"/>
          </a:xfrm>
          <a:prstGeom prst="roundRect">
            <a:avLst>
              <a:gd name="adj" fmla="val 9412"/>
            </a:avLst>
          </a:prstGeom>
          <a:solidFill>
            <a:srgbClr val="F2F5F8"/>
          </a:solidFill>
          <a:ln w="12700">
            <a:solidFill>
              <a:srgbClr val="F2F5F8"/>
            </a:solidFill>
            <a:prstDash val="solid"/>
          </a:ln>
        </p:spPr>
      </p:sp>
      <p:sp>
        <p:nvSpPr>
          <p:cNvPr id="12" name="Shape 10"/>
          <p:cNvSpPr/>
          <p:nvPr/>
        </p:nvSpPr>
        <p:spPr>
          <a:xfrm>
            <a:off x="6464808" y="2029968"/>
            <a:ext cx="384048" cy="384048"/>
          </a:xfrm>
          <a:prstGeom prst="ellipse">
            <a:avLst/>
          </a:prstGeom>
          <a:solidFill>
            <a:srgbClr val="003366"/>
          </a:solidFill>
          <a:ln w="12700">
            <a:solidFill>
              <a:srgbClr val="003366"/>
            </a:solidFill>
            <a:prstDash val="solid"/>
          </a:ln>
        </p:spPr>
      </p:sp>
      <p:sp>
        <p:nvSpPr>
          <p:cNvPr id="13" name="Text 11"/>
          <p:cNvSpPr txBox="1"/>
          <p:nvPr/>
        </p:nvSpPr>
        <p:spPr>
          <a:xfrm>
            <a:off x="6464808" y="20299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txBox="1"/>
          <p:nvPr/>
        </p:nvSpPr>
        <p:spPr>
          <a:xfrm>
            <a:off x="6976872" y="20574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Change the heading colour and keep the contrast passing</a:t>
            </a:r>
            <a:endParaRPr lang="en-US" sz="1250" dirty="0"/>
          </a:p>
        </p:txBody>
      </p:sp>
      <p:sp>
        <p:nvSpPr>
          <p:cNvPr id="15" name="Shape 13"/>
          <p:cNvSpPr/>
          <p:nvPr/>
        </p:nvSpPr>
        <p:spPr>
          <a:xfrm>
            <a:off x="548640" y="2743200"/>
            <a:ext cx="5349240" cy="777240"/>
          </a:xfrm>
          <a:prstGeom prst="roundRect">
            <a:avLst>
              <a:gd name="adj" fmla="val 9412"/>
            </a:avLst>
          </a:prstGeom>
          <a:solidFill>
            <a:srgbClr val="E8EEF4"/>
          </a:solidFill>
          <a:ln w="12700">
            <a:solidFill>
              <a:srgbClr val="E8EEF4"/>
            </a:solidFill>
            <a:prstDash val="solid"/>
          </a:ln>
        </p:spPr>
      </p:sp>
      <p:sp>
        <p:nvSpPr>
          <p:cNvPr id="16" name="Shape 14"/>
          <p:cNvSpPr/>
          <p:nvPr/>
        </p:nvSpPr>
        <p:spPr>
          <a:xfrm>
            <a:off x="749808" y="2944368"/>
            <a:ext cx="384048" cy="384048"/>
          </a:xfrm>
          <a:prstGeom prst="ellipse">
            <a:avLst/>
          </a:prstGeom>
          <a:solidFill>
            <a:srgbClr val="003366"/>
          </a:solidFill>
          <a:ln w="12700">
            <a:solidFill>
              <a:srgbClr val="003366"/>
            </a:solidFill>
            <a:prstDash val="solid"/>
          </a:ln>
        </p:spPr>
      </p:sp>
      <p:sp>
        <p:nvSpPr>
          <p:cNvPr id="17" name="Text 15"/>
          <p:cNvSpPr txBox="1"/>
          <p:nvPr/>
        </p:nvSpPr>
        <p:spPr>
          <a:xfrm>
            <a:off x="74980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6"/>
          <p:cNvSpPr txBox="1"/>
          <p:nvPr/>
        </p:nvSpPr>
        <p:spPr>
          <a:xfrm>
            <a:off x="1261872" y="29718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Add a visible focus outline to this button</a:t>
            </a:r>
            <a:endParaRPr lang="en-US" sz="1250" dirty="0"/>
          </a:p>
        </p:txBody>
      </p:sp>
      <p:sp>
        <p:nvSpPr>
          <p:cNvPr id="19" name="Shape 17"/>
          <p:cNvSpPr/>
          <p:nvPr/>
        </p:nvSpPr>
        <p:spPr>
          <a:xfrm>
            <a:off x="6263640" y="2743200"/>
            <a:ext cx="5349240" cy="777240"/>
          </a:xfrm>
          <a:prstGeom prst="roundRect">
            <a:avLst>
              <a:gd name="adj" fmla="val 9412"/>
            </a:avLst>
          </a:prstGeom>
          <a:solidFill>
            <a:srgbClr val="F2F5F8"/>
          </a:solidFill>
          <a:ln w="12700">
            <a:solidFill>
              <a:srgbClr val="F2F5F8"/>
            </a:solidFill>
            <a:prstDash val="solid"/>
          </a:ln>
        </p:spPr>
      </p:sp>
      <p:sp>
        <p:nvSpPr>
          <p:cNvPr id="20" name="Shape 18"/>
          <p:cNvSpPr/>
          <p:nvPr/>
        </p:nvSpPr>
        <p:spPr>
          <a:xfrm>
            <a:off x="6464808" y="2944368"/>
            <a:ext cx="384048" cy="384048"/>
          </a:xfrm>
          <a:prstGeom prst="ellipse">
            <a:avLst/>
          </a:prstGeom>
          <a:solidFill>
            <a:srgbClr val="003366"/>
          </a:solidFill>
          <a:ln w="12700">
            <a:solidFill>
              <a:srgbClr val="003366"/>
            </a:solidFill>
            <a:prstDash val="solid"/>
          </a:ln>
        </p:spPr>
      </p:sp>
      <p:sp>
        <p:nvSpPr>
          <p:cNvPr id="21" name="Text 19"/>
          <p:cNvSpPr txBox="1"/>
          <p:nvPr/>
        </p:nvSpPr>
        <p:spPr>
          <a:xfrm>
            <a:off x="6464808" y="29443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4</a:t>
            </a:r>
            <a:endParaRPr lang="en-US" sz="1500" dirty="0"/>
          </a:p>
        </p:txBody>
      </p:sp>
      <p:sp>
        <p:nvSpPr>
          <p:cNvPr id="22" name="Text 20"/>
          <p:cNvSpPr txBox="1"/>
          <p:nvPr/>
        </p:nvSpPr>
        <p:spPr>
          <a:xfrm>
            <a:off x="6976872" y="29718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Add one more card to the gallery</a:t>
            </a:r>
            <a:endParaRPr lang="en-US" sz="1250" dirty="0"/>
          </a:p>
        </p:txBody>
      </p:sp>
      <p:sp>
        <p:nvSpPr>
          <p:cNvPr id="23" name="Shape 21"/>
          <p:cNvSpPr/>
          <p:nvPr/>
        </p:nvSpPr>
        <p:spPr>
          <a:xfrm>
            <a:off x="548640" y="3657600"/>
            <a:ext cx="5349240" cy="777240"/>
          </a:xfrm>
          <a:prstGeom prst="roundRect">
            <a:avLst>
              <a:gd name="adj" fmla="val 9412"/>
            </a:avLst>
          </a:prstGeom>
          <a:solidFill>
            <a:srgbClr val="E8EEF4"/>
          </a:solidFill>
          <a:ln w="12700">
            <a:solidFill>
              <a:srgbClr val="E8EEF4"/>
            </a:solidFill>
            <a:prstDash val="solid"/>
          </a:ln>
        </p:spPr>
      </p:sp>
      <p:sp>
        <p:nvSpPr>
          <p:cNvPr id="24" name="Shape 22"/>
          <p:cNvSpPr/>
          <p:nvPr/>
        </p:nvSpPr>
        <p:spPr>
          <a:xfrm>
            <a:off x="749808" y="3858768"/>
            <a:ext cx="384048" cy="384048"/>
          </a:xfrm>
          <a:prstGeom prst="ellipse">
            <a:avLst/>
          </a:prstGeom>
          <a:solidFill>
            <a:srgbClr val="003366"/>
          </a:solidFill>
          <a:ln w="12700">
            <a:solidFill>
              <a:srgbClr val="003366"/>
            </a:solidFill>
            <a:prstDash val="solid"/>
          </a:ln>
        </p:spPr>
      </p:sp>
      <p:sp>
        <p:nvSpPr>
          <p:cNvPr id="25" name="Text 23"/>
          <p:cNvSpPr txBox="1"/>
          <p:nvPr/>
        </p:nvSpPr>
        <p:spPr>
          <a:xfrm>
            <a:off x="749808"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5</a:t>
            </a:r>
            <a:endParaRPr lang="en-US" sz="1500" dirty="0"/>
          </a:p>
        </p:txBody>
      </p:sp>
      <p:sp>
        <p:nvSpPr>
          <p:cNvPr id="26" name="Text 24"/>
          <p:cNvSpPr txBox="1"/>
          <p:nvPr/>
        </p:nvSpPr>
        <p:spPr>
          <a:xfrm>
            <a:off x="1261872" y="38862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Make this section full width instead of contained</a:t>
            </a:r>
            <a:endParaRPr lang="en-US" sz="1250" dirty="0"/>
          </a:p>
        </p:txBody>
      </p:sp>
      <p:sp>
        <p:nvSpPr>
          <p:cNvPr id="27" name="Shape 25"/>
          <p:cNvSpPr/>
          <p:nvPr/>
        </p:nvSpPr>
        <p:spPr>
          <a:xfrm>
            <a:off x="6263640" y="3657600"/>
            <a:ext cx="5349240" cy="777240"/>
          </a:xfrm>
          <a:prstGeom prst="roundRect">
            <a:avLst>
              <a:gd name="adj" fmla="val 9412"/>
            </a:avLst>
          </a:prstGeom>
          <a:solidFill>
            <a:srgbClr val="F2F5F8"/>
          </a:solidFill>
          <a:ln w="12700">
            <a:solidFill>
              <a:srgbClr val="F2F5F8"/>
            </a:solidFill>
            <a:prstDash val="solid"/>
          </a:ln>
        </p:spPr>
      </p:sp>
      <p:sp>
        <p:nvSpPr>
          <p:cNvPr id="28" name="Shape 26"/>
          <p:cNvSpPr/>
          <p:nvPr/>
        </p:nvSpPr>
        <p:spPr>
          <a:xfrm>
            <a:off x="6464808" y="3858768"/>
            <a:ext cx="384048" cy="384048"/>
          </a:xfrm>
          <a:prstGeom prst="ellipse">
            <a:avLst/>
          </a:prstGeom>
          <a:solidFill>
            <a:srgbClr val="003366"/>
          </a:solidFill>
          <a:ln w="12700">
            <a:solidFill>
              <a:srgbClr val="003366"/>
            </a:solidFill>
            <a:prstDash val="solid"/>
          </a:ln>
        </p:spPr>
      </p:sp>
      <p:sp>
        <p:nvSpPr>
          <p:cNvPr id="29" name="Text 27"/>
          <p:cNvSpPr txBox="1"/>
          <p:nvPr/>
        </p:nvSpPr>
        <p:spPr>
          <a:xfrm>
            <a:off x="6464808" y="3858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6</a:t>
            </a:r>
            <a:endParaRPr lang="en-US" sz="1500" dirty="0"/>
          </a:p>
        </p:txBody>
      </p:sp>
      <p:sp>
        <p:nvSpPr>
          <p:cNvPr id="30" name="Text 28"/>
          <p:cNvSpPr txBox="1"/>
          <p:nvPr/>
        </p:nvSpPr>
        <p:spPr>
          <a:xfrm>
            <a:off x="6976872" y="3886200"/>
            <a:ext cx="4434840" cy="329184"/>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Swap the nav links to the other side of the header</a:t>
            </a:r>
            <a:endParaRPr lang="en-US" sz="1250" dirty="0"/>
          </a:p>
        </p:txBody>
      </p:sp>
      <p:sp>
        <p:nvSpPr>
          <p:cNvPr id="31" name="Shape 29"/>
          <p:cNvSpPr/>
          <p:nvPr/>
        </p:nvSpPr>
        <p:spPr>
          <a:xfrm>
            <a:off x="548640" y="4846320"/>
            <a:ext cx="11064240" cy="1097280"/>
          </a:xfrm>
          <a:prstGeom prst="roundRect">
            <a:avLst>
              <a:gd name="adj" fmla="val 6667"/>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32" name="Shape 30"/>
          <p:cNvSpPr/>
          <p:nvPr/>
        </p:nvSpPr>
        <p:spPr>
          <a:xfrm>
            <a:off x="749808" y="5047488"/>
            <a:ext cx="384048" cy="384048"/>
          </a:xfrm>
          <a:prstGeom prst="ellipse">
            <a:avLst/>
          </a:prstGeom>
          <a:solidFill>
            <a:srgbClr val="E39A18"/>
          </a:solidFill>
          <a:ln w="12700">
            <a:solidFill>
              <a:srgbClr val="E39A18"/>
            </a:solidFill>
            <a:prstDash val="solid"/>
          </a:ln>
        </p:spPr>
      </p:sp>
      <p:sp>
        <p:nvSpPr>
          <p:cNvPr id="33" name="Text 31"/>
          <p:cNvSpPr txBox="1"/>
          <p:nvPr/>
        </p:nvSpPr>
        <p:spPr>
          <a:xfrm>
            <a:off x="749808" y="504748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34" name="Text 32"/>
          <p:cNvSpPr txBox="1"/>
          <p:nvPr/>
        </p:nvSpPr>
        <p:spPr>
          <a:xfrm>
            <a:off x="1261872" y="507492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You are not marked on speed</a:t>
            </a:r>
            <a:endParaRPr lang="en-US" sz="1700" dirty="0"/>
          </a:p>
        </p:txBody>
      </p:sp>
      <p:sp>
        <p:nvSpPr>
          <p:cNvPr id="35" name="Text 33"/>
          <p:cNvSpPr txBox="1"/>
          <p:nvPr/>
        </p:nvSpPr>
        <p:spPr>
          <a:xfrm>
            <a:off x="804672" y="5468112"/>
            <a:ext cx="10552176" cy="310896"/>
          </a:xfrm>
          <a:prstGeom prst="rect">
            <a:avLst/>
          </a:prstGeom>
          <a:noFill/>
          <a:ln/>
        </p:spPr>
        <p:txBody>
          <a:bodyPr wrap="square" lIns="0" tIns="0" rIns="0" bIns="0" rtlCol="0" anchor="t"/>
          <a:lstStyle/>
          <a:p>
            <a:pPr indent="0" marL="0">
              <a:spcAft>
                <a:spcPts val="600"/>
              </a:spcAft>
              <a:buNone/>
            </a:pPr>
            <a:r>
              <a:rPr lang="en-US" sz="1350" dirty="0">
                <a:solidFill>
                  <a:srgbClr val="3D4A57"/>
                </a:solidFill>
                <a:latin typeface="Arial" pitchFamily="34" charset="0"/>
                <a:ea typeface="Arial" pitchFamily="34" charset="-122"/>
                <a:cs typeface="Arial" pitchFamily="34" charset="-120"/>
              </a:rPr>
              <a:t>You are marked on whether you know where in your own file to look. Opening the right rule is most of the answer.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FEEDBACK</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Where Marks Are Usually Lost</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7</a:t>
            </a:r>
            <a:endParaRPr lang="en-US" sz="900" dirty="0"/>
          </a:p>
        </p:txBody>
      </p:sp>
      <p:sp>
        <p:nvSpPr>
          <p:cNvPr id="6" name="Shape 4"/>
          <p:cNvSpPr/>
          <p:nvPr/>
        </p:nvSpPr>
        <p:spPr>
          <a:xfrm>
            <a:off x="548640" y="1325880"/>
            <a:ext cx="11064240" cy="676656"/>
          </a:xfrm>
          <a:prstGeom prst="roundRect">
            <a:avLst>
              <a:gd name="adj" fmla="val 10811"/>
            </a:avLst>
          </a:prstGeom>
          <a:solidFill>
            <a:srgbClr val="FBEAE8"/>
          </a:solidFill>
          <a:ln w="12700">
            <a:solidFill>
              <a:srgbClr val="FBEAE8"/>
            </a:solidFill>
            <a:prstDash val="solid"/>
          </a:ln>
        </p:spPr>
      </p:sp>
      <p:sp>
        <p:nvSpPr>
          <p:cNvPr id="7" name="Text 5"/>
          <p:cNvSpPr txBox="1"/>
          <p:nvPr/>
        </p:nvSpPr>
        <p:spPr>
          <a:xfrm>
            <a:off x="777240" y="132588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One commit called "final"</a:t>
            </a:r>
            <a:endParaRPr lang="en-US" sz="1250" dirty="0"/>
          </a:p>
        </p:txBody>
      </p:sp>
      <p:sp>
        <p:nvSpPr>
          <p:cNvPr id="8" name="Text 6"/>
          <p:cNvSpPr txBox="1"/>
          <p:nvPr/>
        </p:nvSpPr>
        <p:spPr>
          <a:xfrm>
            <a:off x="4434840" y="132588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Code organisation</a:t>
            </a:r>
            <a:endParaRPr lang="en-US" sz="1100" dirty="0"/>
          </a:p>
        </p:txBody>
      </p:sp>
      <p:sp>
        <p:nvSpPr>
          <p:cNvPr id="9" name="Text 7"/>
          <p:cNvSpPr txBox="1"/>
          <p:nvPr/>
        </p:nvSpPr>
        <p:spPr>
          <a:xfrm>
            <a:off x="7315200" y="132588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Commit as you work, at least eight times</a:t>
            </a:r>
            <a:endParaRPr lang="en-US" sz="1200" dirty="0"/>
          </a:p>
        </p:txBody>
      </p:sp>
      <p:sp>
        <p:nvSpPr>
          <p:cNvPr id="10" name="Shape 8"/>
          <p:cNvSpPr/>
          <p:nvPr/>
        </p:nvSpPr>
        <p:spPr>
          <a:xfrm>
            <a:off x="548640" y="2103120"/>
            <a:ext cx="11064240" cy="676656"/>
          </a:xfrm>
          <a:prstGeom prst="roundRect">
            <a:avLst>
              <a:gd name="adj" fmla="val 10811"/>
            </a:avLst>
          </a:prstGeom>
          <a:solidFill>
            <a:srgbClr val="F2F5F8"/>
          </a:solidFill>
          <a:ln w="12700">
            <a:solidFill>
              <a:srgbClr val="F2F5F8"/>
            </a:solidFill>
            <a:prstDash val="solid"/>
          </a:ln>
        </p:spPr>
      </p:sp>
      <p:sp>
        <p:nvSpPr>
          <p:cNvPr id="11" name="Text 9"/>
          <p:cNvSpPr txBox="1"/>
          <p:nvPr/>
        </p:nvSpPr>
        <p:spPr>
          <a:xfrm>
            <a:off x="777240" y="210312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Repository fine, site not deployed</a:t>
            </a:r>
            <a:endParaRPr lang="en-US" sz="1250" dirty="0"/>
          </a:p>
        </p:txBody>
      </p:sp>
      <p:sp>
        <p:nvSpPr>
          <p:cNvPr id="12" name="Text 10"/>
          <p:cNvSpPr txBox="1"/>
          <p:nvPr/>
        </p:nvSpPr>
        <p:spPr>
          <a:xfrm>
            <a:off x="4434840" y="210312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Core functionality</a:t>
            </a:r>
            <a:endParaRPr lang="en-US" sz="1100" dirty="0"/>
          </a:p>
        </p:txBody>
      </p:sp>
      <p:sp>
        <p:nvSpPr>
          <p:cNvPr id="13" name="Text 11"/>
          <p:cNvSpPr txBox="1"/>
          <p:nvPr/>
        </p:nvSpPr>
        <p:spPr>
          <a:xfrm>
            <a:off x="7315200" y="210312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Deploy early, not the night before</a:t>
            </a:r>
            <a:endParaRPr lang="en-US" sz="1200" dirty="0"/>
          </a:p>
        </p:txBody>
      </p:sp>
      <p:sp>
        <p:nvSpPr>
          <p:cNvPr id="14" name="Shape 12"/>
          <p:cNvSpPr/>
          <p:nvPr/>
        </p:nvSpPr>
        <p:spPr>
          <a:xfrm>
            <a:off x="548640" y="2880360"/>
            <a:ext cx="11064240" cy="676656"/>
          </a:xfrm>
          <a:prstGeom prst="roundRect">
            <a:avLst>
              <a:gd name="adj" fmla="val 10811"/>
            </a:avLst>
          </a:prstGeom>
          <a:solidFill>
            <a:srgbClr val="FBEAE8"/>
          </a:solidFill>
          <a:ln w="12700">
            <a:solidFill>
              <a:srgbClr val="FBEAE8"/>
            </a:solidFill>
            <a:prstDash val="solid"/>
          </a:ln>
        </p:spPr>
      </p:sp>
      <p:sp>
        <p:nvSpPr>
          <p:cNvPr id="15" name="Text 13"/>
          <p:cNvSpPr txBox="1"/>
          <p:nvPr/>
        </p:nvSpPr>
        <p:spPr>
          <a:xfrm>
            <a:off x="777240" y="288036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Horizontal scrollbar at 360px</a:t>
            </a:r>
            <a:endParaRPr lang="en-US" sz="1250" dirty="0"/>
          </a:p>
        </p:txBody>
      </p:sp>
      <p:sp>
        <p:nvSpPr>
          <p:cNvPr id="16" name="Text 14"/>
          <p:cNvSpPr txBox="1"/>
          <p:nvPr/>
        </p:nvSpPr>
        <p:spPr>
          <a:xfrm>
            <a:off x="4434840" y="288036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Responsiveness</a:t>
            </a:r>
            <a:endParaRPr lang="en-US" sz="1100" dirty="0"/>
          </a:p>
        </p:txBody>
      </p:sp>
      <p:sp>
        <p:nvSpPr>
          <p:cNvPr id="17" name="Text 15"/>
          <p:cNvSpPr txBox="1"/>
          <p:nvPr/>
        </p:nvSpPr>
        <p:spPr>
          <a:xfrm>
            <a:off x="7315200" y="288036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Test in device mode before submitting</a:t>
            </a:r>
            <a:endParaRPr lang="en-US" sz="1200" dirty="0"/>
          </a:p>
        </p:txBody>
      </p:sp>
      <p:sp>
        <p:nvSpPr>
          <p:cNvPr id="18" name="Shape 16"/>
          <p:cNvSpPr/>
          <p:nvPr/>
        </p:nvSpPr>
        <p:spPr>
          <a:xfrm>
            <a:off x="548640" y="3657600"/>
            <a:ext cx="11064240" cy="676656"/>
          </a:xfrm>
          <a:prstGeom prst="roundRect">
            <a:avLst>
              <a:gd name="adj" fmla="val 10811"/>
            </a:avLst>
          </a:prstGeom>
          <a:solidFill>
            <a:srgbClr val="F2F5F8"/>
          </a:solidFill>
          <a:ln w="12700">
            <a:solidFill>
              <a:srgbClr val="F2F5F8"/>
            </a:solidFill>
            <a:prstDash val="solid"/>
          </a:ln>
        </p:spPr>
      </p:sp>
      <p:sp>
        <p:nvSpPr>
          <p:cNvPr id="19" name="Text 17"/>
          <p:cNvSpPr txBox="1"/>
          <p:nvPr/>
        </p:nvSpPr>
        <p:spPr>
          <a:xfrm>
            <a:off x="777240" y="365760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outline: none left in the CSS</a:t>
            </a:r>
            <a:endParaRPr lang="en-US" sz="1250" dirty="0"/>
          </a:p>
        </p:txBody>
      </p:sp>
      <p:sp>
        <p:nvSpPr>
          <p:cNvPr id="20" name="Text 18"/>
          <p:cNvSpPr txBox="1"/>
          <p:nvPr/>
        </p:nvSpPr>
        <p:spPr>
          <a:xfrm>
            <a:off x="4434840" y="365760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Responsiveness / usability</a:t>
            </a:r>
            <a:endParaRPr lang="en-US" sz="1100" dirty="0"/>
          </a:p>
        </p:txBody>
      </p:sp>
      <p:sp>
        <p:nvSpPr>
          <p:cNvPr id="21" name="Text 19"/>
          <p:cNvSpPr txBox="1"/>
          <p:nvPr/>
        </p:nvSpPr>
        <p:spPr>
          <a:xfrm>
            <a:off x="7315200" y="365760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Restyle the focus ring, never delete it</a:t>
            </a:r>
            <a:endParaRPr lang="en-US" sz="1200" dirty="0"/>
          </a:p>
        </p:txBody>
      </p:sp>
      <p:sp>
        <p:nvSpPr>
          <p:cNvPr id="22" name="Shape 20"/>
          <p:cNvSpPr/>
          <p:nvPr/>
        </p:nvSpPr>
        <p:spPr>
          <a:xfrm>
            <a:off x="548640" y="4434840"/>
            <a:ext cx="11064240" cy="676656"/>
          </a:xfrm>
          <a:prstGeom prst="roundRect">
            <a:avLst>
              <a:gd name="adj" fmla="val 10811"/>
            </a:avLst>
          </a:prstGeom>
          <a:solidFill>
            <a:srgbClr val="FBEAE8"/>
          </a:solidFill>
          <a:ln w="12700">
            <a:solidFill>
              <a:srgbClr val="FBEAE8"/>
            </a:solidFill>
            <a:prstDash val="solid"/>
          </a:ln>
        </p:spPr>
      </p:sp>
      <p:sp>
        <p:nvSpPr>
          <p:cNvPr id="23" name="Text 21"/>
          <p:cNvSpPr txBox="1"/>
          <p:nvPr/>
        </p:nvSpPr>
        <p:spPr>
          <a:xfrm>
            <a:off x="777240" y="443484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Images with no alt attribute</a:t>
            </a:r>
            <a:endParaRPr lang="en-US" sz="1250" dirty="0"/>
          </a:p>
        </p:txBody>
      </p:sp>
      <p:sp>
        <p:nvSpPr>
          <p:cNvPr id="24" name="Text 22"/>
          <p:cNvSpPr txBox="1"/>
          <p:nvPr/>
        </p:nvSpPr>
        <p:spPr>
          <a:xfrm>
            <a:off x="4434840" y="443484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Responsiveness / usability</a:t>
            </a:r>
            <a:endParaRPr lang="en-US" sz="1100" dirty="0"/>
          </a:p>
        </p:txBody>
      </p:sp>
      <p:sp>
        <p:nvSpPr>
          <p:cNvPr id="25" name="Text 23"/>
          <p:cNvSpPr txBox="1"/>
          <p:nvPr/>
        </p:nvSpPr>
        <p:spPr>
          <a:xfrm>
            <a:off x="7315200" y="443484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Run the ten-point checklist</a:t>
            </a:r>
            <a:endParaRPr lang="en-US" sz="1200" dirty="0"/>
          </a:p>
        </p:txBody>
      </p:sp>
      <p:sp>
        <p:nvSpPr>
          <p:cNvPr id="26" name="Shape 24"/>
          <p:cNvSpPr/>
          <p:nvPr/>
        </p:nvSpPr>
        <p:spPr>
          <a:xfrm>
            <a:off x="548640" y="5212080"/>
            <a:ext cx="11064240" cy="676656"/>
          </a:xfrm>
          <a:prstGeom prst="roundRect">
            <a:avLst>
              <a:gd name="adj" fmla="val 10811"/>
            </a:avLst>
          </a:prstGeom>
          <a:solidFill>
            <a:srgbClr val="F2F5F8"/>
          </a:solidFill>
          <a:ln w="12700">
            <a:solidFill>
              <a:srgbClr val="F2F5F8"/>
            </a:solidFill>
            <a:prstDash val="solid"/>
          </a:ln>
        </p:spPr>
      </p:sp>
      <p:sp>
        <p:nvSpPr>
          <p:cNvPr id="27" name="Text 25"/>
          <p:cNvSpPr txBox="1"/>
          <p:nvPr/>
        </p:nvSpPr>
        <p:spPr>
          <a:xfrm>
            <a:off x="777240" y="5212080"/>
            <a:ext cx="3566160" cy="713232"/>
          </a:xfrm>
          <a:prstGeom prst="rect">
            <a:avLst/>
          </a:prstGeom>
          <a:noFill/>
          <a:ln/>
        </p:spPr>
        <p:txBody>
          <a:bodyPr wrap="square" lIns="0" tIns="0" rIns="0" bIns="0" rtlCol="0" anchor="ctr"/>
          <a:lstStyle/>
          <a:p>
            <a:pPr indent="0" marL="0">
              <a:buNone/>
            </a:pPr>
            <a:r>
              <a:rPr lang="en-US" sz="1250" b="1" dirty="0">
                <a:solidFill>
                  <a:srgbClr val="003366"/>
                </a:solidFill>
                <a:latin typeface="Arial" pitchFamily="34" charset="0"/>
                <a:ea typeface="Arial" pitchFamily="34" charset="-122"/>
                <a:cs typeface="Arial" pitchFamily="34" charset="-120"/>
              </a:rPr>
              <a:t>Cannot explain their own code</a:t>
            </a:r>
            <a:endParaRPr lang="en-US" sz="1250" dirty="0"/>
          </a:p>
        </p:txBody>
      </p:sp>
      <p:sp>
        <p:nvSpPr>
          <p:cNvPr id="28" name="Text 26"/>
          <p:cNvSpPr txBox="1"/>
          <p:nvPr/>
        </p:nvSpPr>
        <p:spPr>
          <a:xfrm>
            <a:off x="4434840" y="5212080"/>
            <a:ext cx="2743200" cy="713232"/>
          </a:xfrm>
          <a:prstGeom prst="rect">
            <a:avLst/>
          </a:prstGeom>
          <a:noFill/>
          <a:ln/>
        </p:spPr>
        <p:txBody>
          <a:bodyPr wrap="square" lIns="0" tIns="0" rIns="0" bIns="0" rtlCol="0" anchor="ctr"/>
          <a:lstStyle/>
          <a:p>
            <a:pPr indent="0" marL="0">
              <a:buNone/>
            </a:pPr>
            <a:r>
              <a:rPr lang="en-US" sz="1100" i="1" dirty="0">
                <a:solidFill>
                  <a:srgbClr val="6B7A88"/>
                </a:solidFill>
                <a:latin typeface="Arial" pitchFamily="34" charset="0"/>
                <a:ea typeface="Arial" pitchFamily="34" charset="-122"/>
                <a:cs typeface="Arial" pitchFamily="34" charset="-120"/>
              </a:rPr>
              <a:t>Individual demonstration</a:t>
            </a:r>
            <a:endParaRPr lang="en-US" sz="1100" dirty="0"/>
          </a:p>
        </p:txBody>
      </p:sp>
      <p:sp>
        <p:nvSpPr>
          <p:cNvPr id="29" name="Text 27"/>
          <p:cNvSpPr txBox="1"/>
          <p:nvPr/>
        </p:nvSpPr>
        <p:spPr>
          <a:xfrm>
            <a:off x="7315200" y="5212080"/>
            <a:ext cx="4023360" cy="713232"/>
          </a:xfrm>
          <a:prstGeom prst="rect">
            <a:avLst/>
          </a:prstGeom>
          <a:noFill/>
          <a:ln/>
        </p:spPr>
        <p:txBody>
          <a:bodyPr wrap="square" lIns="0" tIns="0" rIns="0" bIns="0" rtlCol="0" anchor="ctr"/>
          <a:lstStyle/>
          <a:p>
            <a:pPr indent="0" marL="0">
              <a:buNone/>
            </a:pPr>
            <a:r>
              <a:rPr lang="en-US" sz="1200" dirty="0">
                <a:solidFill>
                  <a:srgbClr val="3D4A57"/>
                </a:solidFill>
                <a:latin typeface="Arial" pitchFamily="34" charset="0"/>
                <a:ea typeface="Arial" pitchFamily="34" charset="-122"/>
                <a:cs typeface="Arial" pitchFamily="34" charset="-120"/>
              </a:rPr>
              <a:t>Read it in DevTools until you can</a:t>
            </a:r>
            <a:endParaRPr lang="en-US" sz="1200" dirty="0"/>
          </a:p>
        </p:txBody>
      </p:sp>
      <p:sp>
        <p:nvSpPr>
          <p:cNvPr id="30" name="Text 28"/>
          <p:cNvSpPr txBox="1"/>
          <p:nvPr/>
        </p:nvSpPr>
        <p:spPr>
          <a:xfrm>
            <a:off x="548640" y="5989320"/>
            <a:ext cx="11064240" cy="274320"/>
          </a:xfrm>
          <a:prstGeom prst="rect">
            <a:avLst/>
          </a:prstGeom>
          <a:noFill/>
          <a:ln/>
        </p:spPr>
        <p:txBody>
          <a:bodyPr wrap="square" lIns="0" tIns="0" rIns="0" bIns="0" rtlCol="0" anchor="t"/>
          <a:lstStyle/>
          <a:p>
            <a:pPr algn="l" indent="0" marL="0">
              <a:lnSpc>
                <a:spcPts val="1620"/>
              </a:lnSpc>
              <a:buNone/>
            </a:pPr>
            <a:r>
              <a:rPr lang="en-US" sz="1200" i="1" dirty="0">
                <a:solidFill>
                  <a:srgbClr val="6B7A88"/>
                </a:solidFill>
                <a:latin typeface="Arial" pitchFamily="34" charset="0"/>
                <a:ea typeface="Arial" pitchFamily="34" charset="-122"/>
                <a:cs typeface="Arial" pitchFamily="34" charset="-120"/>
              </a:rPr>
              <a:t>None of these are about talent. All six are about doing a two-minute check before submitting.</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384048"/>
            <a:ext cx="8229600" cy="237744"/>
          </a:xfrm>
          <a:prstGeom prst="rect">
            <a:avLst/>
          </a:prstGeom>
          <a:noFill/>
          <a:ln/>
        </p:spPr>
        <p:txBody>
          <a:bodyPr wrap="square" lIns="0" tIns="0" rIns="0" bIns="0" rtlCol="0" anchor="ctr"/>
          <a:lstStyle/>
          <a:p>
            <a:pPr indent="0" marL="0">
              <a:buNone/>
            </a:pPr>
            <a:r>
              <a:rPr lang="en-US" sz="1100" b="1" spc="120" kern="0" dirty="0">
                <a:solidFill>
                  <a:srgbClr val="E39A18"/>
                </a:solidFill>
                <a:latin typeface="Arial" pitchFamily="34" charset="0"/>
                <a:ea typeface="Arial" pitchFamily="34" charset="-122"/>
                <a:cs typeface="Arial" pitchFamily="34" charset="-120"/>
              </a:rPr>
              <a:t>LOOKING AHEAD</a:t>
            </a:r>
            <a:endParaRPr lang="en-US" sz="1100" dirty="0"/>
          </a:p>
        </p:txBody>
      </p:sp>
      <p:sp>
        <p:nvSpPr>
          <p:cNvPr id="3" name="Text 1"/>
          <p:cNvSpPr txBox="1"/>
          <p:nvPr/>
        </p:nvSpPr>
        <p:spPr>
          <a:xfrm>
            <a:off x="548640" y="658368"/>
            <a:ext cx="11064240" cy="566928"/>
          </a:xfrm>
          <a:prstGeom prst="rect">
            <a:avLst/>
          </a:prstGeom>
          <a:noFill/>
          <a:ln/>
        </p:spPr>
        <p:txBody>
          <a:bodyPr wrap="square" lIns="0" tIns="0" rIns="0" bIns="0" rtlCol="0" anchor="ctr"/>
          <a:lstStyle/>
          <a:p>
            <a:pPr indent="0" marL="0">
              <a:buNone/>
            </a:pPr>
            <a:r>
              <a:rPr lang="en-US" sz="3200" b="1" dirty="0">
                <a:solidFill>
                  <a:srgbClr val="003366"/>
                </a:solidFill>
                <a:latin typeface="Arial" pitchFamily="34" charset="0"/>
                <a:ea typeface="Arial" pitchFamily="34" charset="-122"/>
                <a:cs typeface="Arial" pitchFamily="34" charset="-120"/>
              </a:rPr>
              <a:t>After Today</a:t>
            </a:r>
            <a:endParaRPr lang="en-US" sz="3200" dirty="0"/>
          </a:p>
        </p:txBody>
      </p:sp>
      <p:sp>
        <p:nvSpPr>
          <p:cNvPr id="4" name="Text 2"/>
          <p:cNvSpPr txBox="1"/>
          <p:nvPr/>
        </p:nvSpPr>
        <p:spPr>
          <a:xfrm>
            <a:off x="548640" y="6355080"/>
            <a:ext cx="5486400" cy="256032"/>
          </a:xfrm>
          <a:prstGeom prst="rect">
            <a:avLst/>
          </a:prstGeom>
          <a:noFill/>
          <a:ln/>
        </p:spPr>
        <p:txBody>
          <a:bodyPr wrap="square" lIns="0" tIns="0" rIns="0" bIns="0" rtlCol="0" anchor="ctr"/>
          <a:lstStyle/>
          <a:p>
            <a:pPr indent="0" marL="0">
              <a:buNone/>
            </a:pPr>
            <a:r>
              <a:rPr lang="en-US" sz="900" dirty="0">
                <a:solidFill>
                  <a:srgbClr val="6B7A88"/>
                </a:solidFill>
                <a:latin typeface="Arial" pitchFamily="34" charset="0"/>
                <a:ea typeface="Arial" pitchFamily="34" charset="-122"/>
                <a:cs typeface="Arial" pitchFamily="34" charset="-120"/>
              </a:rPr>
              <a:t>CSE-2340 Software Development 1</a:t>
            </a:r>
            <a:endParaRPr lang="en-US" sz="900" dirty="0"/>
          </a:p>
        </p:txBody>
      </p:sp>
      <p:sp>
        <p:nvSpPr>
          <p:cNvPr id="5" name="Text 3"/>
          <p:cNvSpPr txBox="1"/>
          <p:nvPr/>
        </p:nvSpPr>
        <p:spPr>
          <a:xfrm>
            <a:off x="10972800" y="6355080"/>
            <a:ext cx="667512" cy="256032"/>
          </a:xfrm>
          <a:prstGeom prst="rect">
            <a:avLst/>
          </a:prstGeom>
          <a:noFill/>
          <a:ln/>
        </p:spPr>
        <p:txBody>
          <a:bodyPr wrap="square" lIns="0" tIns="0" rIns="0" bIns="0" rtlCol="0" anchor="ctr"/>
          <a:lstStyle/>
          <a:p>
            <a:pPr algn="r" indent="0" marL="0">
              <a:buNone/>
            </a:pPr>
            <a:r>
              <a:rPr lang="en-US" sz="900" dirty="0">
                <a:solidFill>
                  <a:srgbClr val="6B7A88"/>
                </a:solidFill>
                <a:latin typeface="Arial" pitchFamily="34" charset="0"/>
                <a:ea typeface="Arial" pitchFamily="34" charset="-122"/>
                <a:cs typeface="Arial" pitchFamily="34" charset="-120"/>
              </a:rPr>
              <a:t>8</a:t>
            </a:r>
            <a:endParaRPr lang="en-US" sz="900" dirty="0"/>
          </a:p>
        </p:txBody>
      </p:sp>
      <p:sp>
        <p:nvSpPr>
          <p:cNvPr id="6" name="Shape 4"/>
          <p:cNvSpPr/>
          <p:nvPr/>
        </p:nvSpPr>
        <p:spPr>
          <a:xfrm>
            <a:off x="548640" y="1371600"/>
            <a:ext cx="5486400" cy="2377440"/>
          </a:xfrm>
          <a:prstGeom prst="roundRect">
            <a:avLst>
              <a:gd name="adj" fmla="val 3077"/>
            </a:avLst>
          </a:prstGeom>
          <a:solidFill>
            <a:srgbClr val="F2F5F8"/>
          </a:solidFill>
          <a:ln w="12700">
            <a:solidFill>
              <a:srgbClr val="F2F5F8"/>
            </a:solidFill>
            <a:prstDash val="solid"/>
          </a:ln>
          <a:effectLst>
            <a:outerShdw sx="100000" sy="100000" kx="0" ky="0" algn="bl" rotWithShape="0" blurRad="76200" dist="12700" dir="5400000">
              <a:srgbClr val="9AA9B8">
                <a:alpha val="18000"/>
              </a:srgbClr>
            </a:outerShdw>
          </a:effectLst>
        </p:spPr>
      </p:sp>
      <p:sp>
        <p:nvSpPr>
          <p:cNvPr id="7" name="Text 5"/>
          <p:cNvSpPr txBox="1"/>
          <p:nvPr/>
        </p:nvSpPr>
        <p:spPr>
          <a:xfrm>
            <a:off x="804672" y="1572768"/>
            <a:ext cx="4974336"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Feedback</a:t>
            </a:r>
            <a:endParaRPr lang="en-US" sz="1700" dirty="0"/>
          </a:p>
        </p:txBody>
      </p:sp>
      <p:sp>
        <p:nvSpPr>
          <p:cNvPr id="8" name="Text 6"/>
          <p:cNvSpPr txBox="1"/>
          <p:nvPr/>
        </p:nvSpPr>
        <p:spPr>
          <a:xfrm>
            <a:off x="804672" y="1993392"/>
            <a:ext cx="4974336" cy="159105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Marks and per-criterion feedback are released together, not today</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If you disagree with a mark, come to me within one week with your repository open</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Anyone who could not demonstrate today is evaluated in the next class</a:t>
            </a:r>
            <a:endParaRPr lang="en-US" sz="1300" dirty="0"/>
          </a:p>
        </p:txBody>
      </p:sp>
      <p:sp>
        <p:nvSpPr>
          <p:cNvPr id="9" name="Shape 7"/>
          <p:cNvSpPr/>
          <p:nvPr/>
        </p:nvSpPr>
        <p:spPr>
          <a:xfrm>
            <a:off x="6309360" y="1371600"/>
            <a:ext cx="5303520" cy="2377440"/>
          </a:xfrm>
          <a:prstGeom prst="roundRect">
            <a:avLst>
              <a:gd name="adj" fmla="val 3077"/>
            </a:avLst>
          </a:prstGeom>
          <a:solidFill>
            <a:srgbClr val="FDF3E1"/>
          </a:solidFill>
          <a:ln w="12700">
            <a:solidFill>
              <a:srgbClr val="FDF3E1"/>
            </a:solidFill>
            <a:prstDash val="solid"/>
          </a:ln>
          <a:effectLst>
            <a:outerShdw sx="100000" sy="100000" kx="0" ky="0" algn="bl" rotWithShape="0" blurRad="76200" dist="12700" dir="5400000">
              <a:srgbClr val="9AA9B8">
                <a:alpha val="18000"/>
              </a:srgbClr>
            </a:outerShdw>
          </a:effectLst>
        </p:spPr>
      </p:sp>
      <p:sp>
        <p:nvSpPr>
          <p:cNvPr id="10" name="Shape 8"/>
          <p:cNvSpPr/>
          <p:nvPr/>
        </p:nvSpPr>
        <p:spPr>
          <a:xfrm>
            <a:off x="6510528" y="1572768"/>
            <a:ext cx="384048" cy="384048"/>
          </a:xfrm>
          <a:prstGeom prst="ellipse">
            <a:avLst/>
          </a:prstGeom>
          <a:solidFill>
            <a:srgbClr val="E39A18"/>
          </a:solidFill>
          <a:ln w="12700">
            <a:solidFill>
              <a:srgbClr val="E39A18"/>
            </a:solidFill>
            <a:prstDash val="solid"/>
          </a:ln>
        </p:spPr>
      </p:sp>
      <p:sp>
        <p:nvSpPr>
          <p:cNvPr id="11" name="Text 9"/>
          <p:cNvSpPr txBox="1"/>
          <p:nvPr/>
        </p:nvSpPr>
        <p:spPr>
          <a:xfrm>
            <a:off x="6510528" y="157276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2" name="Text 10"/>
          <p:cNvSpPr txBox="1"/>
          <p:nvPr/>
        </p:nvSpPr>
        <p:spPr>
          <a:xfrm>
            <a:off x="7022592" y="1600200"/>
            <a:ext cx="438912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Next week: Week 4</a:t>
            </a:r>
            <a:endParaRPr lang="en-US" sz="1700" dirty="0"/>
          </a:p>
        </p:txBody>
      </p:sp>
      <p:sp>
        <p:nvSpPr>
          <p:cNvPr id="13" name="Text 11"/>
          <p:cNvSpPr txBox="1"/>
          <p:nvPr/>
        </p:nvSpPr>
        <p:spPr>
          <a:xfrm>
            <a:off x="6565392" y="1993392"/>
            <a:ext cx="4791456" cy="1591056"/>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C1: design handoff with Figma or Pixso; CSS positioning</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C3: Tailwind CSS v4 and a responsive live build</a:t>
            </a:r>
            <a:endParaRPr lang="en-US" sz="1300" dirty="0"/>
          </a:p>
          <a:p>
            <a:pPr marL="342900" indent="-342900">
              <a:spcAft>
                <a:spcPts val="600"/>
              </a:spcAft>
              <a:buSzPct val="100000"/>
              <a:buChar char="•"/>
            </a:pPr>
            <a:r>
              <a:rPr lang="en-US" sz="1300" dirty="0">
                <a:solidFill>
                  <a:srgbClr val="3D4A57"/>
                </a:solidFill>
                <a:latin typeface="Arial" pitchFamily="34" charset="0"/>
                <a:ea typeface="Arial" pitchFamily="34" charset="-122"/>
                <a:cs typeface="Arial" pitchFamily="34" charset="-120"/>
              </a:rPr>
              <a:t>Tailwind is Flexbox and Grid with shorter names — this week matters there</a:t>
            </a:r>
            <a:endParaRPr lang="en-US" sz="1300" dirty="0"/>
          </a:p>
        </p:txBody>
      </p:sp>
      <p:sp>
        <p:nvSpPr>
          <p:cNvPr id="14" name="Shape 12"/>
          <p:cNvSpPr/>
          <p:nvPr/>
        </p:nvSpPr>
        <p:spPr>
          <a:xfrm>
            <a:off x="548640" y="3977640"/>
            <a:ext cx="11064240" cy="1965960"/>
          </a:xfrm>
          <a:prstGeom prst="roundRect">
            <a:avLst>
              <a:gd name="adj" fmla="val 3721"/>
            </a:avLst>
          </a:prstGeom>
          <a:solidFill>
            <a:srgbClr val="E7F4EE"/>
          </a:solidFill>
          <a:ln w="12700">
            <a:solidFill>
              <a:srgbClr val="E7F4EE"/>
            </a:solidFill>
            <a:prstDash val="solid"/>
          </a:ln>
          <a:effectLst>
            <a:outerShdw sx="100000" sy="100000" kx="0" ky="0" algn="bl" rotWithShape="0" blurRad="76200" dist="12700" dir="5400000">
              <a:srgbClr val="9AA9B8">
                <a:alpha val="18000"/>
              </a:srgbClr>
            </a:outerShdw>
          </a:effectLst>
        </p:spPr>
      </p:sp>
      <p:sp>
        <p:nvSpPr>
          <p:cNvPr id="15" name="Shape 13"/>
          <p:cNvSpPr/>
          <p:nvPr/>
        </p:nvSpPr>
        <p:spPr>
          <a:xfrm>
            <a:off x="749808" y="4178808"/>
            <a:ext cx="384048" cy="384048"/>
          </a:xfrm>
          <a:prstGeom prst="ellipse">
            <a:avLst/>
          </a:prstGeom>
          <a:solidFill>
            <a:srgbClr val="1F7A55"/>
          </a:solidFill>
          <a:ln w="12700">
            <a:solidFill>
              <a:srgbClr val="1F7A55"/>
            </a:solidFill>
            <a:prstDash val="solid"/>
          </a:ln>
        </p:spPr>
      </p:sp>
      <p:sp>
        <p:nvSpPr>
          <p:cNvPr id="16" name="Text 14"/>
          <p:cNvSpPr txBox="1"/>
          <p:nvPr/>
        </p:nvSpPr>
        <p:spPr>
          <a:xfrm>
            <a:off x="749808" y="4178808"/>
            <a:ext cx="384048" cy="384048"/>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t>
            </a:r>
            <a:endParaRPr lang="en-US" sz="1500" dirty="0"/>
          </a:p>
        </p:txBody>
      </p:sp>
      <p:sp>
        <p:nvSpPr>
          <p:cNvPr id="17" name="Text 15"/>
          <p:cNvSpPr txBox="1"/>
          <p:nvPr/>
        </p:nvSpPr>
        <p:spPr>
          <a:xfrm>
            <a:off x="1261872" y="4206240"/>
            <a:ext cx="10149840" cy="329184"/>
          </a:xfrm>
          <a:prstGeom prst="rect">
            <a:avLst/>
          </a:prstGeom>
          <a:noFill/>
          <a:ln/>
        </p:spPr>
        <p:txBody>
          <a:bodyPr wrap="square" lIns="0" tIns="0" rIns="0" bIns="0" rtlCol="0" anchor="ctr"/>
          <a:lstStyle/>
          <a:p>
            <a:pPr indent="0" marL="0">
              <a:buNone/>
            </a:pPr>
            <a:r>
              <a:rPr lang="en-US" sz="1700" b="1" dirty="0">
                <a:solidFill>
                  <a:srgbClr val="003366"/>
                </a:solidFill>
                <a:latin typeface="Arial" pitchFamily="34" charset="0"/>
                <a:ea typeface="Arial" pitchFamily="34" charset="-122"/>
                <a:cs typeface="Arial" pitchFamily="34" charset="-120"/>
              </a:rPr>
              <a:t>Mini Project 2 is due in Week 5, C4</a:t>
            </a:r>
            <a:endParaRPr lang="en-US" sz="1700" dirty="0"/>
          </a:p>
        </p:txBody>
      </p:sp>
      <p:sp>
        <p:nvSpPr>
          <p:cNvPr id="18" name="Text 16"/>
          <p:cNvSpPr txBox="1"/>
          <p:nvPr/>
        </p:nvSpPr>
        <p:spPr>
          <a:xfrm>
            <a:off x="804672" y="4599432"/>
            <a:ext cx="10552176" cy="1179576"/>
          </a:xfrm>
          <a:prstGeom prst="rect">
            <a:avLst/>
          </a:prstGeom>
          <a:noFill/>
          <a:ln/>
        </p:spPr>
        <p:txBody>
          <a:bodyPr wrap="square" lIns="0" tIns="0" rIns="0" bIns="0" rtlCol="0" anchor="t"/>
          <a:lstStyle/>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Your own responsive design, built with Tailwind, deployed. 5 marks.</a:t>
            </a:r>
            <a:endParaRPr lang="en-US" sz="1350" dirty="0"/>
          </a:p>
          <a:p>
            <a:pPr marL="342900" indent="-342900">
              <a:spcAft>
                <a:spcPts val="400"/>
              </a:spcAft>
              <a:buSzPct val="100000"/>
              <a:buChar char="•"/>
            </a:pPr>
            <a:r>
              <a:rPr lang="en-US" sz="1350" dirty="0">
                <a:solidFill>
                  <a:srgbClr val="3D4A57"/>
                </a:solidFill>
                <a:latin typeface="Arial" pitchFamily="34" charset="0"/>
                <a:ea typeface="Arial" pitchFamily="34" charset="-122"/>
                <a:cs typeface="Arial" pitchFamily="34" charset="-120"/>
              </a:rPr>
              <a:t>It builds directly on what you submitted today, so keep the repository and keep the habits: commit often, deploy early, check before you submit.</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International Islamic University Chittagong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CSE-2340 W3C4 Mini Project 1 Evaluation</dc:title>
  <dc:subject>MP1 evaluation</dc:subject>
  <dc:creator>Md Sadman Hafiz</dc:creator>
  <cp:lastModifiedBy>Md Sadman Hafiz</cp:lastModifiedBy>
  <cp:revision>1</cp:revision>
  <dcterms:created xsi:type="dcterms:W3CDTF">2026-09-12T02:42:54Z</dcterms:created>
  <dcterms:modified xsi:type="dcterms:W3CDTF">2026-09-12T02:42:54Z</dcterms:modified>
</cp:coreProperties>
</file>